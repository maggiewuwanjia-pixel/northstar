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505050"/>
                </a:solidFill>
              </a:defRPr>
            </a:pPr>
            <a:r>
              <a:t>北极星 NorthStar</a:t>
            </a:r>
          </a:p>
          <a:p>
            <a:pPr algn="ctr">
              <a:defRPr sz="2000" b="0">
                <a:solidFill>
                  <a:srgbClr val="969696"/>
                </a:solidFill>
              </a:defRPr>
            </a:pPr>
            <a:r>
              <a:t>视频号经营者的 AI 副驾驶 · 可交互原型（2026-09）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078D7"/>
                </a:solidFill>
              </a:defRPr>
            </a:pPr>
            <a:r>
              <a:t>01  产品定位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02  设计系统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03  七大功能页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04  知识库四视图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05  数据流与部署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06  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产品定位：数据 → 结论 → 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333333"/>
                </a:solidFill>
              </a:defRPr>
            </a:pPr>
            <a:r>
              <a:t>目标用户：视频号教育类中小博主（案例：清华优优 22.4w 粉）</a:t>
            </a:r>
          </a:p>
          <a:p>
            <a:pPr>
              <a:spcAft>
                <a:spcPts val="900"/>
              </a:spcAft>
              <a:defRPr sz="1700" b="0">
                <a:solidFill>
                  <a:srgbClr val="333333"/>
                </a:solidFill>
              </a:defRPr>
            </a:pPr>
            <a:r>
              <a:t>痛点：视频号助手后台只有数据没有结论，创作者不知道下一步做什么</a:t>
            </a:r>
          </a:p>
          <a:p>
            <a:pPr>
              <a:spcAft>
                <a:spcPts val="900"/>
              </a:spcAft>
              <a:defRPr sz="1700" b="0">
                <a:solidFill>
                  <a:srgbClr val="333333"/>
                </a:solidFill>
              </a:defRPr>
            </a:pPr>
            <a:r>
              <a:t>解法：把后台数据、脚本库、直播复盘、对标监控收敛为一个工作台</a:t>
            </a:r>
          </a:p>
          <a:p>
            <a:pPr>
              <a:spcAft>
                <a:spcPts val="900"/>
              </a:spcAft>
              <a:defRPr sz="1700" b="0">
                <a:solidFill>
                  <a:srgbClr val="333333"/>
                </a:solidFill>
              </a:defRPr>
            </a:pPr>
            <a:r>
              <a:t>AI 助手 Cue 常驻右侧：回答带来源引用，结论一键落地到脚本工作台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设计系统 UI v3（苹果风 · 去 AI 味）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33333"/>
                </a:solidFill>
              </a:defRPr>
            </a:pPr>
            <a:r>
              <a:t>暖白 #FAFAF8 + 白卡片 + 1px 细边</a:t>
            </a:r>
          </a:p>
          <a:p>
            <a:pPr>
              <a:spcAft>
                <a:spcPts val="700"/>
              </a:spcAft>
              <a:defRPr sz="1500" b="0">
                <a:solidFill>
                  <a:srgbClr val="333333"/>
                </a:solidFill>
              </a:defRPr>
            </a:pPr>
            <a:r>
              <a:t>近黑 #1A1A1A 主按钮（Gumloop 风）</a:t>
            </a:r>
          </a:p>
          <a:p>
            <a:pPr>
              <a:spcAft>
                <a:spcPts val="700"/>
              </a:spcAft>
              <a:defRPr sz="1500" b="0">
                <a:solidFill>
                  <a:srgbClr val="333333"/>
                </a:solidFill>
              </a:defRPr>
            </a:pPr>
            <a:r>
              <a:t>侧栏/顶栏/Copilot 磨砂半透明 + backdrop blur</a:t>
            </a:r>
          </a:p>
          <a:p>
            <a:pPr>
              <a:spcAft>
                <a:spcPts val="700"/>
              </a:spcAft>
              <a:defRPr sz="1500" b="0">
                <a:solidFill>
                  <a:srgbClr val="333333"/>
                </a:solidFill>
              </a:defRPr>
            </a:pPr>
            <a:r>
              <a:t>微信绿只做点缀：进度条、状态点、语义标签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33333"/>
                </a:solidFill>
              </a:defRPr>
            </a:pPr>
            <a:r>
              <a:t>墨绿深色 hero #0E1F16：北极星卡 + 知识总览</a:t>
            </a:r>
          </a:p>
          <a:p>
            <a:pPr>
              <a:spcAft>
                <a:spcPts val="700"/>
              </a:spcAft>
              <a:defRPr sz="1500" b="0">
                <a:solidFill>
                  <a:srgbClr val="333333"/>
                </a:solidFill>
              </a:defRPr>
            </a:pPr>
            <a:r>
              <a:t>零空占位：全部真实封面 / 头像 / 后台截图</a:t>
            </a:r>
          </a:p>
          <a:p>
            <a:pPr>
              <a:spcAft>
                <a:spcPts val="700"/>
              </a:spcAft>
              <a:defRPr sz="1500" b="0">
                <a:solidFill>
                  <a:srgbClr val="333333"/>
                </a:solidFill>
              </a:defRPr>
            </a:pPr>
            <a:r>
              <a:t>参考：Gumloop、LocalCan、macOS</a:t>
            </a:r>
          </a:p>
          <a:p>
            <a:pPr>
              <a:spcAft>
                <a:spcPts val="700"/>
              </a:spcAft>
              <a:defRPr sz="1500" b="0">
                <a:solidFill>
                  <a:srgbClr val="333333"/>
                </a:solidFill>
              </a:defRPr>
            </a:pPr>
            <a:r>
              <a:t>已删除全部霓虹发光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AFAFA"/>
                </a:solidFill>
              </a:defRPr>
            </a:pPr>
            <a:r>
              <a:t>七大功能页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经营看板：结论先行（3 行动建议 → 北极星 → KPI → 趋势 → 画像 → 排期）</a:t>
            </a:r>
          </a:p>
        </p:txBody>
      </p:sp>
      <p:pic>
        <p:nvPicPr>
          <p:cNvPr id="7" name="Picture 6" descr="v3-dash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内容表现 TOP：真实封面，零占位</a:t>
            </a:r>
          </a:p>
        </p:txBody>
      </p:sp>
      <p:pic>
        <p:nvPicPr>
          <p:cNvPr id="7" name="Picture 6" descr="v3-dash-vide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短视频脚本：卡片工作台（封面 + 标签 + 来源）</a:t>
            </a:r>
          </a:p>
        </p:txBody>
      </p:sp>
      <p:pic>
        <p:nvPicPr>
          <p:cNvPr id="7" name="Picture 6" descr="v3-scripts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直播复盘：8 场真实场次 + 数据卡 + 视频号助手后台截图 + 画面复盘</a:t>
            </a:r>
          </a:p>
        </p:txBody>
      </p:sp>
      <p:pic>
        <p:nvPicPr>
          <p:cNvPr id="7" name="Picture 6" descr="v3-live-1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直播脚本：标准场 / 高成交场 / 节点场 三套模板</a:t>
            </a:r>
          </a:p>
        </p:txBody>
      </p:sp>
      <p:pic>
        <p:nvPicPr>
          <p:cNvPr id="7" name="Picture 6" descr="v3-live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对标账号：监控中（真实头像）+ AI 发现</a:t>
            </a:r>
          </a:p>
        </p:txBody>
      </p:sp>
      <p:pic>
        <p:nvPicPr>
          <p:cNvPr id="7" name="Picture 6" descr="v3-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爆款抓取：真实封面 + 一键拆脚本</a:t>
            </a:r>
          </a:p>
        </p:txBody>
      </p:sp>
      <p:pic>
        <p:nvPicPr>
          <p:cNvPr id="7" name="Picture 6" descr="v3-bench-vi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素材库：全局拖拽，链接/文件按域名自动归类</a:t>
            </a:r>
          </a:p>
        </p:txBody>
      </p:sp>
      <p:pic>
        <p:nvPicPr>
          <p:cNvPr id="7" name="Picture 6" descr="v3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AFAFA"/>
                </a:solidFill>
              </a:defRPr>
            </a:pPr>
            <a:r>
              <a:t>知识库 · 四视图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知识库：个人空间 / 团队空间 两级结构</a:t>
            </a:r>
          </a:p>
        </p:txBody>
      </p:sp>
      <p:pic>
        <p:nvPicPr>
          <p:cNvPr id="7" name="Picture 6" descr="v3-wi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视图一 · 原始文件：chunk 切片（序号 + 字数 + 已向量化）</a:t>
            </a:r>
          </a:p>
        </p:txBody>
      </p:sp>
      <p:pic>
        <p:nvPicPr>
          <p:cNvPr id="7" name="Picture 6" descr="v3-wiki-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视图二 · AI 摘要：知识总览 hero + 主题分区</a:t>
            </a:r>
          </a:p>
        </p:txBody>
      </p:sp>
      <p:pic>
        <p:nvPicPr>
          <p:cNvPr id="7" name="Picture 6" descr="v3-wiki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视图四 · 知识图谱：摘要 / 实体 / 概念 三层放射图</a:t>
            </a:r>
          </a:p>
        </p:txBody>
      </p:sp>
      <p:pic>
        <p:nvPicPr>
          <p:cNvPr id="7" name="Picture 6" descr="v3-wiki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AFAFA"/>
                </a:solidFill>
              </a:defRPr>
            </a:pPr>
            <a:r>
              <a:t>数据流与部署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数据流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333333"/>
                </a:solidFill>
              </a:defRPr>
            </a:pPr>
            <a:r>
              <a:t>视频号助手后台 → Playwright 扫码抓取 / CSV 导入兜底 → FastAPI + SQLite</a:t>
            </a:r>
          </a:p>
          <a:p>
            <a:pPr>
              <a:spcAft>
                <a:spcPts val="900"/>
              </a:spcAft>
              <a:defRPr sz="1700" b="0">
                <a:solidFill>
                  <a:srgbClr val="333333"/>
                </a:solidFill>
              </a:defRPr>
            </a:pPr>
            <a:r>
              <a:t>飞书文档（脚本/复盘/直播脚本）→ tenant_token + docx API → 同步入库</a:t>
            </a:r>
          </a:p>
          <a:p>
            <a:pPr>
              <a:spcAft>
                <a:spcPts val="900"/>
              </a:spcAft>
              <a:defRPr sz="1700" b="0">
                <a:solidFill>
                  <a:srgbClr val="333333"/>
                </a:solidFill>
              </a:defRPr>
            </a:pPr>
            <a:r>
              <a:t>9 组 REST API → Vue3 SPA；无后端时自动降级 dist 内置 data.json 快照</a:t>
            </a:r>
          </a:p>
          <a:p>
            <a:pPr>
              <a:spcAft>
                <a:spcPts val="900"/>
              </a:spcAft>
              <a:defRPr sz="1700" b="0">
                <a:solidFill>
                  <a:srgbClr val="333333"/>
                </a:solidFill>
              </a:defRPr>
            </a:pPr>
            <a:r>
              <a:t>混元 Hunyuan 问答（.env 填 key 即通）→ Cue 引用知识库回答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里程碑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2214" y="3291839"/>
            <a:ext cx="365760" cy="365760"/>
          </a:xfrm>
          <a:prstGeom prst="ellipse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0694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P1 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694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19 表 + 9 组 API + 种子数据 ✅</a:t>
            </a:r>
          </a:p>
        </p:txBody>
      </p:sp>
      <p:sp>
        <p:nvSpPr>
          <p:cNvPr id="11" name="Oval 10"/>
          <p:cNvSpPr/>
          <p:nvPr/>
        </p:nvSpPr>
        <p:spPr>
          <a:xfrm>
            <a:off x="3139363" y="3291839"/>
            <a:ext cx="365760" cy="36576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7843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P2 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7843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Vue3 七视图 ✅</a:t>
            </a:r>
          </a:p>
        </p:txBody>
      </p:sp>
      <p:sp>
        <p:nvSpPr>
          <p:cNvPr id="14" name="Oval 13"/>
          <p:cNvSpPr/>
          <p:nvPr/>
        </p:nvSpPr>
        <p:spPr>
          <a:xfrm>
            <a:off x="4866512" y="3291839"/>
            <a:ext cx="365760" cy="36576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4992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P3 接入层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4992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登录/抓取/飞书/混元 ✅（凭证待填）</a:t>
            </a:r>
          </a:p>
        </p:txBody>
      </p:sp>
      <p:sp>
        <p:nvSpPr>
          <p:cNvPr id="17" name="Oval 16"/>
          <p:cNvSpPr/>
          <p:nvPr/>
        </p:nvSpPr>
        <p:spPr>
          <a:xfrm>
            <a:off x="6593662" y="3291839"/>
            <a:ext cx="365760" cy="36576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2142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P4 UI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2142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真实素材 + 知识库四视图 + 磨砂 ✅</a:t>
            </a:r>
          </a:p>
        </p:txBody>
      </p:sp>
      <p:sp>
        <p:nvSpPr>
          <p:cNvPr id="20" name="Oval 19"/>
          <p:cNvSpPr/>
          <p:nvPr/>
        </p:nvSpPr>
        <p:spPr>
          <a:xfrm>
            <a:off x="8320811" y="3291839"/>
            <a:ext cx="365760" cy="36576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291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P5 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291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腾讯云轻量 + 域名 + HTTPS（待执行）</a:t>
            </a:r>
          </a:p>
        </p:txBody>
      </p:sp>
      <p:sp>
        <p:nvSpPr>
          <p:cNvPr id="23" name="Oval 22"/>
          <p:cNvSpPr/>
          <p:nvPr/>
        </p:nvSpPr>
        <p:spPr>
          <a:xfrm>
            <a:off x="10047960" y="3291839"/>
            <a:ext cx="365760" cy="36576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6440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505050"/>
                </a:solidFill>
              </a:defRPr>
            </a:pPr>
            <a:r>
              <a:t>P6 激活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6440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混元问答 / 飞书同步（填 .env）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北极星 NorthStar · 可交互原型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可交互原型已完成：7 大功能页 + 知识库四视图，全部真实素材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前后端打通，静态快照兜底，一套 dist 两种部署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PRD、部署指南已随附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下一步：买域名 + 腾讯云轻量部署上线，填 .env 激活混元与飞书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