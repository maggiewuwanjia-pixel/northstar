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00"/>
  </p:notesMasterIdLst>
  <p:sldIdLst>
    <p:sldId id="280" r:id="rId3"/>
    <p:sldId id="380" r:id="rId4"/>
    <p:sldId id="381" r:id="rId5"/>
    <p:sldId id="324" r:id="rId6"/>
    <p:sldId id="465" r:id="rId7"/>
    <p:sldId id="287" r:id="rId8"/>
    <p:sldId id="323" r:id="rId9"/>
    <p:sldId id="281" r:id="rId10"/>
    <p:sldId id="389" r:id="rId11"/>
    <p:sldId id="428" r:id="rId12"/>
    <p:sldId id="382" r:id="rId13"/>
    <p:sldId id="282" r:id="rId14"/>
    <p:sldId id="321" r:id="rId15"/>
    <p:sldId id="286" r:id="rId16"/>
    <p:sldId id="433" r:id="rId17"/>
    <p:sldId id="432" r:id="rId18"/>
    <p:sldId id="429" r:id="rId19"/>
    <p:sldId id="430" r:id="rId20"/>
    <p:sldId id="285" r:id="rId21"/>
    <p:sldId id="390" r:id="rId22"/>
    <p:sldId id="431" r:id="rId23"/>
    <p:sldId id="322" r:id="rId24"/>
    <p:sldId id="259" r:id="rId25"/>
    <p:sldId id="434" r:id="rId26"/>
    <p:sldId id="435" r:id="rId27"/>
    <p:sldId id="436" r:id="rId28"/>
    <p:sldId id="437" r:id="rId29"/>
    <p:sldId id="438" r:id="rId30"/>
    <p:sldId id="367" r:id="rId31"/>
    <p:sldId id="397" r:id="rId32"/>
    <p:sldId id="439" r:id="rId33"/>
    <p:sldId id="478" r:id="rId34"/>
    <p:sldId id="479" r:id="rId35"/>
    <p:sldId id="477" r:id="rId36"/>
    <p:sldId id="440" r:id="rId37"/>
    <p:sldId id="441" r:id="rId38"/>
    <p:sldId id="482" r:id="rId39"/>
    <p:sldId id="483" r:id="rId40"/>
    <p:sldId id="480" r:id="rId41"/>
    <p:sldId id="481" r:id="rId42"/>
    <p:sldId id="484" r:id="rId43"/>
    <p:sldId id="442" r:id="rId44"/>
    <p:sldId id="485" r:id="rId45"/>
    <p:sldId id="490" r:id="rId46"/>
    <p:sldId id="443" r:id="rId47"/>
    <p:sldId id="487" r:id="rId48"/>
    <p:sldId id="488" r:id="rId49"/>
    <p:sldId id="489" r:id="rId50"/>
    <p:sldId id="491" r:id="rId51"/>
    <p:sldId id="444" r:id="rId52"/>
    <p:sldId id="320" r:id="rId53"/>
    <p:sldId id="405" r:id="rId54"/>
    <p:sldId id="476" r:id="rId55"/>
    <p:sldId id="446" r:id="rId56"/>
    <p:sldId id="447" r:id="rId57"/>
    <p:sldId id="448" r:id="rId58"/>
    <p:sldId id="449" r:id="rId59"/>
    <p:sldId id="451" r:id="rId60"/>
    <p:sldId id="277" r:id="rId61"/>
    <p:sldId id="407" r:id="rId62"/>
    <p:sldId id="452" r:id="rId63"/>
    <p:sldId id="453" r:id="rId64"/>
    <p:sldId id="457" r:id="rId65"/>
    <p:sldId id="458" r:id="rId66"/>
    <p:sldId id="459" r:id="rId67"/>
    <p:sldId id="460" r:id="rId68"/>
    <p:sldId id="461" r:id="rId69"/>
    <p:sldId id="462" r:id="rId70"/>
    <p:sldId id="463" r:id="rId71"/>
    <p:sldId id="316" r:id="rId72"/>
    <p:sldId id="412" r:id="rId73"/>
    <p:sldId id="494" r:id="rId74"/>
    <p:sldId id="495" r:id="rId75"/>
    <p:sldId id="492" r:id="rId76"/>
    <p:sldId id="496" r:id="rId77"/>
    <p:sldId id="497" r:id="rId78"/>
    <p:sldId id="493" r:id="rId79"/>
    <p:sldId id="498" r:id="rId80"/>
    <p:sldId id="499" r:id="rId81"/>
    <p:sldId id="500" r:id="rId82"/>
    <p:sldId id="501" r:id="rId83"/>
    <p:sldId id="317" r:id="rId84"/>
    <p:sldId id="415" r:id="rId85"/>
    <p:sldId id="468" r:id="rId86"/>
    <p:sldId id="466" r:id="rId87"/>
    <p:sldId id="467" r:id="rId88"/>
    <p:sldId id="469" r:id="rId89"/>
    <p:sldId id="471" r:id="rId90"/>
    <p:sldId id="470" r:id="rId91"/>
    <p:sldId id="318" r:id="rId92"/>
    <p:sldId id="423" r:id="rId93"/>
    <p:sldId id="424" r:id="rId94"/>
    <p:sldId id="472" r:id="rId95"/>
    <p:sldId id="473" r:id="rId96"/>
    <p:sldId id="474" r:id="rId97"/>
    <p:sldId id="319" r:id="rId98"/>
    <p:sldId id="475" r:id="rId99"/>
  </p:sldIdLst>
  <p:sldSz cx="12192000" cy="6858000"/>
  <p:notesSz cx="6858000" cy="9144000"/>
  <p:custDataLst>
    <p:tags r:id="rId10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优优学姐语文学科分享" id="{889DCCC6-9B3A-4A89-A5ED-0DE8BB60518E}">
          <p14:sldIdLst>
            <p14:sldId id="280"/>
            <p14:sldId id="380"/>
            <p14:sldId id="381"/>
          </p14:sldIdLst>
        </p14:section>
        <p14:section name="个人介绍" id="{690AC3DB-B94A-9348-8614-96E2E012C06E}">
          <p14:sldIdLst>
            <p14:sldId id="324"/>
            <p14:sldId id="465"/>
            <p14:sldId id="287"/>
          </p14:sldIdLst>
        </p14:section>
        <p14:section name="初高中语文题型应对" id="{DE82F6A1-7AD9-BA4B-A65B-A9028622FA3D}">
          <p14:sldIdLst>
            <p14:sldId id="323"/>
            <p14:sldId id="281"/>
            <p14:sldId id="389"/>
            <p14:sldId id="428"/>
            <p14:sldId id="382"/>
            <p14:sldId id="282"/>
          </p14:sldIdLst>
        </p14:section>
        <p14:section name="阅读" id="{417724FA-F574-4674-B888-AE0D5D91146F}">
          <p14:sldIdLst>
            <p14:sldId id="321"/>
            <p14:sldId id="286"/>
            <p14:sldId id="433"/>
            <p14:sldId id="432"/>
            <p14:sldId id="429"/>
            <p14:sldId id="430"/>
            <p14:sldId id="285"/>
            <p14:sldId id="390"/>
            <p14:sldId id="431"/>
          </p14:sldIdLst>
        </p14:section>
        <p14:section name="完形填空" id="{3E6FC1AD-C380-4330-A8FF-4A46BC075D83}">
          <p14:sldIdLst>
            <p14:sldId id="322"/>
            <p14:sldId id="259"/>
            <p14:sldId id="434"/>
            <p14:sldId id="435"/>
            <p14:sldId id="436"/>
            <p14:sldId id="437"/>
            <p14:sldId id="438"/>
          </p14:sldIdLst>
        </p14:section>
        <p14:section name="七选五" id="{3B3F165B-6EDB-4428-92E5-8E8C9317E625}">
          <p14:sldIdLst>
            <p14:sldId id="367"/>
            <p14:sldId id="397"/>
            <p14:sldId id="439"/>
            <p14:sldId id="478"/>
            <p14:sldId id="479"/>
            <p14:sldId id="477"/>
            <p14:sldId id="440"/>
            <p14:sldId id="441"/>
            <p14:sldId id="482"/>
            <p14:sldId id="483"/>
            <p14:sldId id="480"/>
            <p14:sldId id="481"/>
            <p14:sldId id="484"/>
            <p14:sldId id="442"/>
            <p14:sldId id="485"/>
            <p14:sldId id="490"/>
            <p14:sldId id="443"/>
            <p14:sldId id="487"/>
            <p14:sldId id="488"/>
            <p14:sldId id="489"/>
            <p14:sldId id="491"/>
            <p14:sldId id="444"/>
          </p14:sldIdLst>
        </p14:section>
        <p14:section name="平时怎么积累" id="{A7E51EDC-8683-4639-BC3C-90E0501D1A01}">
          <p14:sldIdLst>
            <p14:sldId id="320"/>
            <p14:sldId id="405"/>
            <p14:sldId id="476"/>
            <p14:sldId id="446"/>
            <p14:sldId id="447"/>
            <p14:sldId id="448"/>
            <p14:sldId id="449"/>
            <p14:sldId id="451"/>
          </p14:sldIdLst>
        </p14:section>
        <p14:section name="语法" id="{68619436-E17A-4A95-B6F7-BB92DFC132BD}">
          <p14:sldIdLst>
            <p14:sldId id="277"/>
            <p14:sldId id="407"/>
            <p14:sldId id="452"/>
            <p14:sldId id="453"/>
            <p14:sldId id="457"/>
            <p14:sldId id="458"/>
            <p14:sldId id="459"/>
            <p14:sldId id="460"/>
            <p14:sldId id="461"/>
            <p14:sldId id="462"/>
            <p14:sldId id="463"/>
          </p14:sldIdLst>
        </p14:section>
        <p14:section name="口语" id="{8AFE43BF-1887-4A52-9484-48A601D61BE5}">
          <p14:sldIdLst>
            <p14:sldId id="316"/>
            <p14:sldId id="412"/>
            <p14:sldId id="494"/>
            <p14:sldId id="495"/>
            <p14:sldId id="492"/>
            <p14:sldId id="496"/>
            <p14:sldId id="497"/>
            <p14:sldId id="493"/>
            <p14:sldId id="498"/>
            <p14:sldId id="499"/>
            <p14:sldId id="500"/>
            <p14:sldId id="501"/>
          </p14:sldIdLst>
        </p14:section>
        <p14:section name="作文" id="{C75DA1AF-60E7-4BE7-A1CB-CB079AE0A22F}">
          <p14:sldIdLst>
            <p14:sldId id="317"/>
            <p14:sldId id="415"/>
            <p14:sldId id="468"/>
            <p14:sldId id="466"/>
            <p14:sldId id="467"/>
            <p14:sldId id="469"/>
            <p14:sldId id="471"/>
            <p14:sldId id="470"/>
          </p14:sldIdLst>
        </p14:section>
        <p14:section name="错题本" id="{446DAA72-6DC4-4F98-8750-383F251C792E}">
          <p14:sldIdLst>
            <p14:sldId id="318"/>
            <p14:sldId id="423"/>
            <p14:sldId id="424"/>
            <p14:sldId id="472"/>
            <p14:sldId id="473"/>
            <p14:sldId id="474"/>
          </p14:sldIdLst>
        </p14:section>
        <p14:section name="总结" id="{67F1B555-D565-42A5-9D35-727ED07D9EE7}">
          <p14:sldIdLst>
            <p14:sldId id="319"/>
            <p14:sldId id="4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AAC"/>
    <a:srgbClr val="A41AD4"/>
    <a:srgbClr val="FDF4D5"/>
    <a:srgbClr val="F9CDCC"/>
    <a:srgbClr val="FCEDEB"/>
    <a:srgbClr val="FDF5D6"/>
    <a:srgbClr val="E8F0FE"/>
    <a:srgbClr val="E9F1FF"/>
    <a:srgbClr val="EBFFE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15" autoAdjust="0"/>
    <p:restoredTop sz="94141"/>
  </p:normalViewPr>
  <p:slideViewPr>
    <p:cSldViewPr snapToGrid="0">
      <p:cViewPr varScale="1">
        <p:scale>
          <a:sx n="145" d="100"/>
          <a:sy n="145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BC06C6-1F0E-D94B-AE43-EBBB56DA1B35}" type="doc">
      <dgm:prSet loTypeId="urn:microsoft.com/office/officeart/2005/8/layout/hChevron3" loCatId="" qsTypeId="urn:microsoft.com/office/officeart/2005/8/quickstyle/simple1" qsCatId="simple" csTypeId="urn:microsoft.com/office/officeart/2005/8/colors/accent0_1" csCatId="mainScheme" phldr="1"/>
      <dgm:spPr/>
    </dgm:pt>
    <dgm:pt modelId="{3ED1B152-18E7-E544-AAED-A2FEEABA7DF9}">
      <dgm:prSet phldrT="[文本]" custT="1"/>
      <dgm:spPr/>
      <dgm:t>
        <a:bodyPr/>
        <a:lstStyle/>
        <a:p>
          <a:r>
            <a:rPr lang="zh-CN" altLang="en-US" sz="1400" dirty="0">
              <a:latin typeface="KaiTi" panose="02010609060101010101" pitchFamily="49" charset="-122"/>
              <a:ea typeface="KaiTi" panose="02010609060101010101" pitchFamily="49" charset="-122"/>
            </a:rPr>
            <a:t>通读全文</a:t>
          </a:r>
        </a:p>
      </dgm:t>
    </dgm:pt>
    <dgm:pt modelId="{99C31A62-D733-094C-AAC0-949639A555C5}" type="parTrans" cxnId="{DFB21F37-EB17-8545-86B3-733DD084EC4A}">
      <dgm:prSet/>
      <dgm:spPr/>
      <dgm:t>
        <a:bodyPr/>
        <a:lstStyle/>
        <a:p>
          <a:endParaRPr lang="zh-CN" altLang="en-US" sz="1000"/>
        </a:p>
      </dgm:t>
    </dgm:pt>
    <dgm:pt modelId="{2F2F87AA-CF84-BE45-B5AE-925DC2BBD7E2}" type="sibTrans" cxnId="{DFB21F37-EB17-8545-86B3-733DD084EC4A}">
      <dgm:prSet/>
      <dgm:spPr/>
      <dgm:t>
        <a:bodyPr/>
        <a:lstStyle/>
        <a:p>
          <a:endParaRPr lang="zh-CN" altLang="en-US" sz="1000"/>
        </a:p>
      </dgm:t>
    </dgm:pt>
    <dgm:pt modelId="{94D44259-1916-3344-9F93-2407F12FF31C}">
      <dgm:prSet phldrT="[文本]" custT="1"/>
      <dgm:spPr/>
      <dgm:t>
        <a:bodyPr/>
        <a:lstStyle/>
        <a:p>
          <a:r>
            <a:rPr lang="zh-CN" altLang="en-US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人</a:t>
          </a:r>
          <a:r>
            <a: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/</a:t>
          </a:r>
          <a:r>
            <a:rPr lang="zh-CN" altLang="en-US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事</a:t>
          </a:r>
          <a:r>
            <a: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/</a:t>
          </a:r>
          <a:r>
            <a:rPr lang="zh-CN" altLang="en-US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评</a:t>
          </a:r>
          <a:br>
            <a: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</a:br>
          <a:r>
            <a:rPr lang="zh-CN" altLang="en-US" sz="1400" dirty="0">
              <a:latin typeface="KaiTi" panose="02010609060101010101" pitchFamily="49" charset="-122"/>
              <a:ea typeface="KaiTi" panose="02010609060101010101" pitchFamily="49" charset="-122"/>
            </a:rPr>
            <a:t>要素提取</a:t>
          </a:r>
        </a:p>
      </dgm:t>
    </dgm:pt>
    <dgm:pt modelId="{6097B04D-B9C1-9C4A-A60D-251C1D869D10}" type="parTrans" cxnId="{C4D3B8B4-4183-E54B-99A5-0DF3494B36DA}">
      <dgm:prSet/>
      <dgm:spPr/>
      <dgm:t>
        <a:bodyPr/>
        <a:lstStyle/>
        <a:p>
          <a:endParaRPr lang="zh-CN" altLang="en-US" sz="1000"/>
        </a:p>
      </dgm:t>
    </dgm:pt>
    <dgm:pt modelId="{879737B1-EA64-2448-8831-1DBBB149FFAD}" type="sibTrans" cxnId="{C4D3B8B4-4183-E54B-99A5-0DF3494B36DA}">
      <dgm:prSet/>
      <dgm:spPr/>
      <dgm:t>
        <a:bodyPr/>
        <a:lstStyle/>
        <a:p>
          <a:endParaRPr lang="zh-CN" altLang="en-US" sz="1000"/>
        </a:p>
      </dgm:t>
    </dgm:pt>
    <dgm:pt modelId="{9128E747-E617-444F-94A2-6B6B4AAD6195}">
      <dgm:prSet phldrT="[文本]" custT="1"/>
      <dgm:spPr/>
      <dgm:t>
        <a:bodyPr/>
        <a:lstStyle/>
        <a:p>
          <a:r>
            <a:rPr lang="zh-CN" altLang="en-US" sz="1400" dirty="0">
              <a:latin typeface="KaiTi" panose="02010609060101010101" pitchFamily="49" charset="-122"/>
              <a:ea typeface="KaiTi" panose="02010609060101010101" pitchFamily="49" charset="-122"/>
            </a:rPr>
            <a:t>根据要求寻找文中对应</a:t>
          </a:r>
        </a:p>
      </dgm:t>
    </dgm:pt>
    <dgm:pt modelId="{E14F1EB5-5F2D-6145-AED9-0896BEB108BB}" type="parTrans" cxnId="{46E08967-5B25-A64F-9EC3-DF8D416008CF}">
      <dgm:prSet/>
      <dgm:spPr/>
      <dgm:t>
        <a:bodyPr/>
        <a:lstStyle/>
        <a:p>
          <a:endParaRPr lang="zh-CN" altLang="en-US" sz="1000"/>
        </a:p>
      </dgm:t>
    </dgm:pt>
    <dgm:pt modelId="{EE4A0D6D-8DF5-F743-B005-6144C7CC52B8}" type="sibTrans" cxnId="{46E08967-5B25-A64F-9EC3-DF8D416008CF}">
      <dgm:prSet/>
      <dgm:spPr/>
      <dgm:t>
        <a:bodyPr/>
        <a:lstStyle/>
        <a:p>
          <a:endParaRPr lang="zh-CN" altLang="en-US" sz="1000"/>
        </a:p>
      </dgm:t>
    </dgm:pt>
    <dgm:pt modelId="{F9A71999-3FFB-3243-8564-4709E48EF2E3}" type="pres">
      <dgm:prSet presAssocID="{38BC06C6-1F0E-D94B-AE43-EBBB56DA1B35}" presName="Name0" presStyleCnt="0">
        <dgm:presLayoutVars>
          <dgm:dir/>
          <dgm:resizeHandles val="exact"/>
        </dgm:presLayoutVars>
      </dgm:prSet>
      <dgm:spPr/>
    </dgm:pt>
    <dgm:pt modelId="{AB452466-3946-DF4B-9E96-1E60A1A7B1B8}" type="pres">
      <dgm:prSet presAssocID="{3ED1B152-18E7-E544-AAED-A2FEEABA7DF9}" presName="parTxOnly" presStyleLbl="node1" presStyleIdx="0" presStyleCnt="3">
        <dgm:presLayoutVars>
          <dgm:bulletEnabled val="1"/>
        </dgm:presLayoutVars>
      </dgm:prSet>
      <dgm:spPr/>
    </dgm:pt>
    <dgm:pt modelId="{B270A587-86D5-1844-A71D-32F9E98D7077}" type="pres">
      <dgm:prSet presAssocID="{2F2F87AA-CF84-BE45-B5AE-925DC2BBD7E2}" presName="parSpace" presStyleCnt="0"/>
      <dgm:spPr/>
    </dgm:pt>
    <dgm:pt modelId="{C1FC46E9-A6D0-2247-9AE6-E3700C852C34}" type="pres">
      <dgm:prSet presAssocID="{94D44259-1916-3344-9F93-2407F12FF31C}" presName="parTxOnly" presStyleLbl="node1" presStyleIdx="1" presStyleCnt="3">
        <dgm:presLayoutVars>
          <dgm:bulletEnabled val="1"/>
        </dgm:presLayoutVars>
      </dgm:prSet>
      <dgm:spPr/>
    </dgm:pt>
    <dgm:pt modelId="{366B24BA-0165-8745-A329-48717153EFF9}" type="pres">
      <dgm:prSet presAssocID="{879737B1-EA64-2448-8831-1DBBB149FFAD}" presName="parSpace" presStyleCnt="0"/>
      <dgm:spPr/>
    </dgm:pt>
    <dgm:pt modelId="{C16D7AE9-669E-1B48-81AB-FA0D349958A1}" type="pres">
      <dgm:prSet presAssocID="{9128E747-E617-444F-94A2-6B6B4AAD6195}" presName="parTxOnly" presStyleLbl="node1" presStyleIdx="2" presStyleCnt="3" custLinFactNeighborX="20331" custLinFactNeighborY="40789">
        <dgm:presLayoutVars>
          <dgm:bulletEnabled val="1"/>
        </dgm:presLayoutVars>
      </dgm:prSet>
      <dgm:spPr/>
    </dgm:pt>
  </dgm:ptLst>
  <dgm:cxnLst>
    <dgm:cxn modelId="{DFB21F37-EB17-8545-86B3-733DD084EC4A}" srcId="{38BC06C6-1F0E-D94B-AE43-EBBB56DA1B35}" destId="{3ED1B152-18E7-E544-AAED-A2FEEABA7DF9}" srcOrd="0" destOrd="0" parTransId="{99C31A62-D733-094C-AAC0-949639A555C5}" sibTransId="{2F2F87AA-CF84-BE45-B5AE-925DC2BBD7E2}"/>
    <dgm:cxn modelId="{46E08967-5B25-A64F-9EC3-DF8D416008CF}" srcId="{38BC06C6-1F0E-D94B-AE43-EBBB56DA1B35}" destId="{9128E747-E617-444F-94A2-6B6B4AAD6195}" srcOrd="2" destOrd="0" parTransId="{E14F1EB5-5F2D-6145-AED9-0896BEB108BB}" sibTransId="{EE4A0D6D-8DF5-F743-B005-6144C7CC52B8}"/>
    <dgm:cxn modelId="{B004798B-B844-5240-9AB5-66816A07580F}" type="presOf" srcId="{94D44259-1916-3344-9F93-2407F12FF31C}" destId="{C1FC46E9-A6D0-2247-9AE6-E3700C852C34}" srcOrd="0" destOrd="0" presId="urn:microsoft.com/office/officeart/2005/8/layout/hChevron3"/>
    <dgm:cxn modelId="{C4D3B8B4-4183-E54B-99A5-0DF3494B36DA}" srcId="{38BC06C6-1F0E-D94B-AE43-EBBB56DA1B35}" destId="{94D44259-1916-3344-9F93-2407F12FF31C}" srcOrd="1" destOrd="0" parTransId="{6097B04D-B9C1-9C4A-A60D-251C1D869D10}" sibTransId="{879737B1-EA64-2448-8831-1DBBB149FFAD}"/>
    <dgm:cxn modelId="{1B0815BC-0F0A-1C44-BF1C-CFF807B91121}" type="presOf" srcId="{3ED1B152-18E7-E544-AAED-A2FEEABA7DF9}" destId="{AB452466-3946-DF4B-9E96-1E60A1A7B1B8}" srcOrd="0" destOrd="0" presId="urn:microsoft.com/office/officeart/2005/8/layout/hChevron3"/>
    <dgm:cxn modelId="{69B39FCD-E54F-EC41-91A3-E2C47C9113A9}" type="presOf" srcId="{9128E747-E617-444F-94A2-6B6B4AAD6195}" destId="{C16D7AE9-669E-1B48-81AB-FA0D349958A1}" srcOrd="0" destOrd="0" presId="urn:microsoft.com/office/officeart/2005/8/layout/hChevron3"/>
    <dgm:cxn modelId="{BA91F9F0-36D9-B048-BAFE-271275B40522}" type="presOf" srcId="{38BC06C6-1F0E-D94B-AE43-EBBB56DA1B35}" destId="{F9A71999-3FFB-3243-8564-4709E48EF2E3}" srcOrd="0" destOrd="0" presId="urn:microsoft.com/office/officeart/2005/8/layout/hChevron3"/>
    <dgm:cxn modelId="{E3C3B174-9AA7-5645-AD68-50E39AC60AE3}" type="presParOf" srcId="{F9A71999-3FFB-3243-8564-4709E48EF2E3}" destId="{AB452466-3946-DF4B-9E96-1E60A1A7B1B8}" srcOrd="0" destOrd="0" presId="urn:microsoft.com/office/officeart/2005/8/layout/hChevron3"/>
    <dgm:cxn modelId="{0044970A-F92F-6B44-8B27-0597AA634E13}" type="presParOf" srcId="{F9A71999-3FFB-3243-8564-4709E48EF2E3}" destId="{B270A587-86D5-1844-A71D-32F9E98D7077}" srcOrd="1" destOrd="0" presId="urn:microsoft.com/office/officeart/2005/8/layout/hChevron3"/>
    <dgm:cxn modelId="{E0EC1526-6D49-9548-AF4E-A7D2C910EEBB}" type="presParOf" srcId="{F9A71999-3FFB-3243-8564-4709E48EF2E3}" destId="{C1FC46E9-A6D0-2247-9AE6-E3700C852C34}" srcOrd="2" destOrd="0" presId="urn:microsoft.com/office/officeart/2005/8/layout/hChevron3"/>
    <dgm:cxn modelId="{ED3853EE-6326-5C4D-9C75-201BD067DF91}" type="presParOf" srcId="{F9A71999-3FFB-3243-8564-4709E48EF2E3}" destId="{366B24BA-0165-8745-A329-48717153EFF9}" srcOrd="3" destOrd="0" presId="urn:microsoft.com/office/officeart/2005/8/layout/hChevron3"/>
    <dgm:cxn modelId="{B089D0AF-C545-2644-8B53-8694E6EF86E6}" type="presParOf" srcId="{F9A71999-3FFB-3243-8564-4709E48EF2E3}" destId="{C16D7AE9-669E-1B48-81AB-FA0D349958A1}" srcOrd="4" destOrd="0" presId="urn:microsoft.com/office/officeart/2005/8/layout/hChevron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52466-3946-DF4B-9E96-1E60A1A7B1B8}">
      <dsp:nvSpPr>
        <dsp:cNvPr id="0" name=""/>
        <dsp:cNvSpPr/>
      </dsp:nvSpPr>
      <dsp:spPr>
        <a:xfrm>
          <a:off x="1863" y="0"/>
          <a:ext cx="1629539" cy="52070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KaiTi" panose="02010609060101010101" pitchFamily="49" charset="-122"/>
              <a:ea typeface="KaiTi" panose="02010609060101010101" pitchFamily="49" charset="-122"/>
            </a:rPr>
            <a:t>通读全文</a:t>
          </a:r>
        </a:p>
      </dsp:txBody>
      <dsp:txXfrm>
        <a:off x="1863" y="0"/>
        <a:ext cx="1499364" cy="520700"/>
      </dsp:txXfrm>
    </dsp:sp>
    <dsp:sp modelId="{C1FC46E9-A6D0-2247-9AE6-E3700C852C34}">
      <dsp:nvSpPr>
        <dsp:cNvPr id="0" name=""/>
        <dsp:cNvSpPr/>
      </dsp:nvSpPr>
      <dsp:spPr>
        <a:xfrm>
          <a:off x="1305495" y="0"/>
          <a:ext cx="1629539" cy="52070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人</a:t>
          </a:r>
          <a:r>
            <a:rPr lang="en-US" altLang="zh-CN" sz="1400" kern="12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/</a:t>
          </a:r>
          <a:r>
            <a:rPr lang="zh-CN" altLang="en-US" sz="1400" kern="12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事</a:t>
          </a:r>
          <a:r>
            <a:rPr lang="en-US" altLang="zh-CN" sz="1400" kern="12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/</a:t>
          </a:r>
          <a:r>
            <a:rPr lang="zh-CN" altLang="en-US" sz="1400" kern="12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  <a:t>评</a:t>
          </a:r>
          <a:br>
            <a:rPr lang="en-US" altLang="zh-CN" sz="1400" kern="12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rPr>
          </a:br>
          <a:r>
            <a:rPr lang="zh-CN" altLang="en-US" sz="1400" kern="1200" dirty="0">
              <a:latin typeface="KaiTi" panose="02010609060101010101" pitchFamily="49" charset="-122"/>
              <a:ea typeface="KaiTi" panose="02010609060101010101" pitchFamily="49" charset="-122"/>
            </a:rPr>
            <a:t>要素提取</a:t>
          </a:r>
        </a:p>
      </dsp:txBody>
      <dsp:txXfrm>
        <a:off x="1565845" y="0"/>
        <a:ext cx="1108839" cy="520700"/>
      </dsp:txXfrm>
    </dsp:sp>
    <dsp:sp modelId="{C16D7AE9-669E-1B48-81AB-FA0D349958A1}">
      <dsp:nvSpPr>
        <dsp:cNvPr id="0" name=""/>
        <dsp:cNvSpPr/>
      </dsp:nvSpPr>
      <dsp:spPr>
        <a:xfrm>
          <a:off x="2610991" y="0"/>
          <a:ext cx="1629539" cy="52070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latin typeface="KaiTi" panose="02010609060101010101" pitchFamily="49" charset="-122"/>
              <a:ea typeface="KaiTi" panose="02010609060101010101" pitchFamily="49" charset="-122"/>
            </a:rPr>
            <a:t>根据要求寻找文中对应</a:t>
          </a:r>
        </a:p>
      </dsp:txBody>
      <dsp:txXfrm>
        <a:off x="2871341" y="0"/>
        <a:ext cx="1108839" cy="520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41FF1-9F3F-0E40-9843-E28C0A016924}" type="datetimeFigureOut">
              <a:rPr kumimoji="1" lang="zh-CN" altLang="en-US" smtClean="0"/>
              <a:t>2025/3/14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2DE8C-B653-9D41-B4D4-760D8F8C7F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855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8811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7222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0386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792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2027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1639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342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4479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2750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6799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656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6853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5342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69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2614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73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7015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75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7954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76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6252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77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2496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78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8040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79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59849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4071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56618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78058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72720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06939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5087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630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15495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0961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D1E6-9662-4091-9FAD-318FA6A43B9A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5" Type="http://schemas.openxmlformats.org/officeDocument/2006/relationships/image" Target="../media/image3.png"/><Relationship Id="rId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3.png"/><Relationship Id="rId4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tif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tif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tiff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3966519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326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689——{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分数与分数背后的故事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003229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54839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4692174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课内部分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4975197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课内文章背诵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「背景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原文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注释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翻译」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提前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理解记忆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真题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理解性默写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E97267-87E9-1A4D-99C1-E744BAF9E7CC}"/>
              </a:ext>
            </a:extLst>
          </p:cNvPr>
          <p:cNvSpPr txBox="1"/>
          <p:nvPr/>
        </p:nvSpPr>
        <p:spPr>
          <a:xfrm>
            <a:off x="1056821" y="3212594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初高中语文题型应对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817AB8-4FF7-A74C-AD60-DD12D44C8FDB}"/>
              </a:ext>
            </a:extLst>
          </p:cNvPr>
          <p:cNvSpPr txBox="1"/>
          <p:nvPr/>
        </p:nvSpPr>
        <p:spPr>
          <a:xfrm>
            <a:off x="1137158" y="3495617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题型分类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记忆式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理解式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初高中语文共性：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背诵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背什么｜怎么背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初高中语文共性：阅读理解类拆解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3966519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论述类</a:t>
            </a:r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实用类文本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阅读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划分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分段总结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覆盖不全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定义模糊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要点不准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真题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如何训练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42900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973692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75B38-9C69-1F44-B536-F91DB69FE9A1}"/>
              </a:ext>
            </a:extLst>
          </p:cNvPr>
          <p:cNvSpPr txBox="1"/>
          <p:nvPr/>
        </p:nvSpPr>
        <p:spPr>
          <a:xfrm>
            <a:off x="1056821" y="355909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5.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现代文阅读</a:t>
            </a:r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文学类文本</a:t>
            </a:r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D546B-98D0-7545-AE97-3A212842BB3F}"/>
              </a:ext>
            </a:extLst>
          </p:cNvPr>
          <p:cNvSpPr txBox="1"/>
          <p:nvPr/>
        </p:nvSpPr>
        <p:spPr>
          <a:xfrm>
            <a:off x="1137158" y="3842119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模版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要点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结合题目作答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如何研究答案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真题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内容结合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506958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诗歌鉴赏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5352609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怎么阅读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标题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注释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意向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情感基调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模版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要点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814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4169175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7.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文言文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11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阅读文言文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划分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事件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主人公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答题要点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如何解题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真题：积累与总结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如何积累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研究译文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42900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295921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75B38-9C69-1F44-B536-F91DB69FE9A1}"/>
              </a:ext>
            </a:extLst>
          </p:cNvPr>
          <p:cNvSpPr txBox="1"/>
          <p:nvPr/>
        </p:nvSpPr>
        <p:spPr>
          <a:xfrm>
            <a:off x="1056821" y="3465114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8.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语言文字运用（高中）</a:t>
            </a:r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基础客观题题（初中）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D546B-98D0-7545-AE97-3A212842BB3F}"/>
              </a:ext>
            </a:extLst>
          </p:cNvPr>
          <p:cNvSpPr txBox="1"/>
          <p:nvPr/>
        </p:nvSpPr>
        <p:spPr>
          <a:xfrm>
            <a:off x="1137158" y="3692717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真题：主观题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客观题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4381431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作文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4609034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好作文的模版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学姐高分作文拆解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作文素材积累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DB2BC6-5038-E042-9F67-06081AA0AEAB}"/>
              </a:ext>
            </a:extLst>
          </p:cNvPr>
          <p:cNvSpPr txBox="1"/>
          <p:nvPr/>
        </p:nvSpPr>
        <p:spPr>
          <a:xfrm>
            <a:off x="1056821" y="5359037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错题本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8AC1DF-68C5-054E-BD40-390502FAD553}"/>
              </a:ext>
            </a:extLst>
          </p:cNvPr>
          <p:cNvSpPr txBox="1"/>
          <p:nvPr/>
        </p:nvSpPr>
        <p:spPr>
          <a:xfrm>
            <a:off x="1137158" y="5588895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手把手教你整理错题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语文模版怎么做？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背诵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易错易混点积累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D2386F2B-85FD-C24C-9EDB-DA2A7A842B49}"/>
              </a:ext>
            </a:extLst>
          </p:cNvPr>
          <p:cNvCxnSpPr>
            <a:cxnSpLocks/>
          </p:cNvCxnSpPr>
          <p:nvPr/>
        </p:nvCxnSpPr>
        <p:spPr>
          <a:xfrm>
            <a:off x="1137158" y="5261174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5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优优学姐个人介绍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语文的分数是「抢」来的，记忆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善于答题才能踩中得分关键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学姐高中语文分数，多次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125+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82E55D1-D656-0A44-9F17-DE303A6BE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68" y="2268835"/>
            <a:ext cx="5372485" cy="378906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B8F286B-C147-8940-9CBF-47F43D497C1E}"/>
              </a:ext>
            </a:extLst>
          </p:cNvPr>
          <p:cNvSpPr/>
          <p:nvPr/>
        </p:nvSpPr>
        <p:spPr>
          <a:xfrm>
            <a:off x="1994263" y="2351313"/>
            <a:ext cx="618308" cy="104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BAA259-6380-A642-8D50-10CEACA88B9B}"/>
              </a:ext>
            </a:extLst>
          </p:cNvPr>
          <p:cNvSpPr/>
          <p:nvPr/>
        </p:nvSpPr>
        <p:spPr>
          <a:xfrm>
            <a:off x="2477587" y="2794183"/>
            <a:ext cx="1110343" cy="715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3509BF-1736-D34C-8578-3EEF22094BAD}"/>
              </a:ext>
            </a:extLst>
          </p:cNvPr>
          <p:cNvSpPr/>
          <p:nvPr/>
        </p:nvSpPr>
        <p:spPr>
          <a:xfrm>
            <a:off x="1440773" y="2681137"/>
            <a:ext cx="106673" cy="95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51BCA0C-2615-8C43-BDE2-D2625B5AA73E}"/>
              </a:ext>
            </a:extLst>
          </p:cNvPr>
          <p:cNvSpPr/>
          <p:nvPr/>
        </p:nvSpPr>
        <p:spPr>
          <a:xfrm>
            <a:off x="1592207" y="2872756"/>
            <a:ext cx="121494" cy="56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EC9D934-7336-BC48-88EB-FF1F27E6E5B3}"/>
              </a:ext>
            </a:extLst>
          </p:cNvPr>
          <p:cNvGrpSpPr/>
          <p:nvPr/>
        </p:nvGrpSpPr>
        <p:grpSpPr>
          <a:xfrm>
            <a:off x="6766539" y="2274247"/>
            <a:ext cx="4094949" cy="3783653"/>
            <a:chOff x="6766539" y="2274247"/>
            <a:chExt cx="4241066" cy="3918662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FEBE9222-C446-FA47-B2CB-959E00DC89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9465"/>
            <a:stretch/>
          </p:blipFill>
          <p:spPr>
            <a:xfrm>
              <a:off x="6766539" y="2274247"/>
              <a:ext cx="4241066" cy="1846061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F4A043EB-C254-B841-801D-745F41D46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66539" y="4274506"/>
              <a:ext cx="4241066" cy="1918403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F987BEED-0485-DD43-BB84-B76C4552BD64}"/>
              </a:ext>
            </a:extLst>
          </p:cNvPr>
          <p:cNvSpPr txBox="1"/>
          <p:nvPr/>
        </p:nvSpPr>
        <p:spPr>
          <a:xfrm>
            <a:off x="1165468" y="6303009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高三二诊语文分数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·129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329D05-009E-7C49-809D-B2FFECC354B7}"/>
              </a:ext>
            </a:extLst>
          </p:cNvPr>
          <p:cNvSpPr txBox="1"/>
          <p:nvPr/>
        </p:nvSpPr>
        <p:spPr>
          <a:xfrm>
            <a:off x="6674956" y="6303009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高三二诊作文分数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·56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高三期末考试作文分数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·54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</a:t>
            </a:r>
          </a:p>
        </p:txBody>
      </p:sp>
    </p:spTree>
    <p:extLst>
      <p:ext uri="{BB962C8B-B14F-4D97-AF65-F5344CB8AC3E}">
        <p14:creationId xmlns:p14="http://schemas.microsoft.com/office/powerpoint/2010/main" val="221278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语文的分数是「抢」来的，记忆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善于答题才能踩中得分关键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高考裸分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689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，语文多次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125+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，作文多次上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54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B71FF2-C302-6B4B-AF9D-9226A572F805}"/>
              </a:ext>
            </a:extLst>
          </p:cNvPr>
          <p:cNvSpPr txBox="1"/>
          <p:nvPr/>
        </p:nvSpPr>
        <p:spPr>
          <a:xfrm>
            <a:off x="1029994" y="2169137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清华本硕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高考四川省前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物理满分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58F83F-8A07-FE4A-B8B2-A38BA9F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8" b="11438"/>
          <a:stretch/>
        </p:blipFill>
        <p:spPr>
          <a:xfrm>
            <a:off x="8764171" y="1735282"/>
            <a:ext cx="2813333" cy="43999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A2E667D-F69D-FC4A-B398-F591C4958312}"/>
              </a:ext>
            </a:extLst>
          </p:cNvPr>
          <p:cNvSpPr/>
          <p:nvPr/>
        </p:nvSpPr>
        <p:spPr>
          <a:xfrm>
            <a:off x="9045526" y="5037475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73179E-710F-2744-AE28-66102F6B7763}"/>
              </a:ext>
            </a:extLst>
          </p:cNvPr>
          <p:cNvSpPr/>
          <p:nvPr/>
        </p:nvSpPr>
        <p:spPr>
          <a:xfrm>
            <a:off x="1029994" y="3060148"/>
            <a:ext cx="4427223" cy="1137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62121B-E71F-164E-AB7F-D2ED96C904AA}"/>
              </a:ext>
            </a:extLst>
          </p:cNvPr>
          <p:cNvSpPr/>
          <p:nvPr/>
        </p:nvSpPr>
        <p:spPr>
          <a:xfrm>
            <a:off x="1029994" y="4746052"/>
            <a:ext cx="4427223" cy="64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215806-7293-0744-A6B0-0E868DAAA474}"/>
              </a:ext>
            </a:extLst>
          </p:cNvPr>
          <p:cNvSpPr txBox="1"/>
          <p:nvPr/>
        </p:nvSpPr>
        <p:spPr>
          <a:xfrm>
            <a:off x="1029994" y="2713079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语文要掌握什么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60726E-BBA5-E84D-B945-C137CBD6137E}"/>
              </a:ext>
            </a:extLst>
          </p:cNvPr>
          <p:cNvSpPr txBox="1"/>
          <p:nvPr/>
        </p:nvSpPr>
        <p:spPr>
          <a:xfrm>
            <a:off x="949657" y="5558458"/>
            <a:ext cx="873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可以看出：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（语文的理解性记忆</a:t>
            </a:r>
            <a:r>
              <a: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模版训练）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是我们学习的重点，需要注意语文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学什么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考什么</a:t>
            </a:r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想像优优学姐一样拥有好成绩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「熟练背诵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积累模版」才能百战百胜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1A509C-079E-2746-B3B6-0336A5BDFC25}"/>
              </a:ext>
            </a:extLst>
          </p:cNvPr>
          <p:cNvSpPr txBox="1"/>
          <p:nvPr/>
        </p:nvSpPr>
        <p:spPr>
          <a:xfrm>
            <a:off x="1029994" y="4398983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 语文怎么学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EA3C46-DF57-9E45-AAD0-A6DAAD32EC14}"/>
              </a:ext>
            </a:extLst>
          </p:cNvPr>
          <p:cNvSpPr txBox="1"/>
          <p:nvPr/>
        </p:nvSpPr>
        <p:spPr>
          <a:xfrm>
            <a:off x="2583531" y="3115391"/>
            <a:ext cx="13237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理解性记忆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答题模版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写作表达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文学常识积累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课内知识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典型模版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结合题目精进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42A6F2-992D-284E-8F18-F87EDEA91C75}"/>
              </a:ext>
            </a:extLst>
          </p:cNvPr>
          <p:cNvSpPr txBox="1"/>
          <p:nvPr/>
        </p:nvSpPr>
        <p:spPr>
          <a:xfrm>
            <a:off x="8764171" y="6269985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清华学姐高考成绩查询页面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希望你也能收到这样的喜讯！</a:t>
            </a:r>
          </a:p>
        </p:txBody>
      </p:sp>
      <p:pic>
        <p:nvPicPr>
          <p:cNvPr id="21" name="图片 20" descr="图片包含 草, 人, 户外, 女孩&#10;&#10;描述已自动生成">
            <a:extLst>
              <a:ext uri="{FF2B5EF4-FFF2-40B4-BE49-F238E27FC236}">
                <a16:creationId xmlns:a16="http://schemas.microsoft.com/office/drawing/2014/main" id="{E3386503-24EF-5F4B-9853-9E2C0137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15" y="1903926"/>
            <a:ext cx="2608122" cy="3476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2320" y="1590675"/>
            <a:ext cx="1062799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Chapter-2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初高中语文题型应对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478037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5332712"/>
            <a:ext cx="950313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语文：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学考分离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课内与考试分离，需要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积累课内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】+【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把握应试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语文题型分类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记忆式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理解式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语文学习的特点？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5330370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学考分离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课内知识点与考试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关联度？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5330370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②背诵内容多且杂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341189"/>
            <a:ext cx="7266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文言文、诗歌、名著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成语、字音、病句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作文素材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3EEFD922-5B02-EF4B-8FCB-93E596FA7D72}"/>
              </a:ext>
            </a:extLst>
          </p:cNvPr>
          <p:cNvSpPr/>
          <p:nvPr/>
        </p:nvSpPr>
        <p:spPr>
          <a:xfrm>
            <a:off x="1108529" y="4375773"/>
            <a:ext cx="5330370" cy="875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171061-882C-3A45-92E8-1831DD66C3A5}"/>
              </a:ext>
            </a:extLst>
          </p:cNvPr>
          <p:cNvSpPr txBox="1"/>
          <p:nvPr/>
        </p:nvSpPr>
        <p:spPr>
          <a:xfrm>
            <a:off x="1108529" y="4375772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语文的特点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7528B7-4BF3-EE4A-931D-B5ADFF79BB2C}"/>
              </a:ext>
            </a:extLst>
          </p:cNvPr>
          <p:cNvSpPr txBox="1"/>
          <p:nvPr/>
        </p:nvSpPr>
        <p:spPr>
          <a:xfrm>
            <a:off x="1108529" y="4740962"/>
            <a:ext cx="7266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分别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应对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A6E419-B57B-E041-AEF8-DFE589582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134" y="1928711"/>
            <a:ext cx="2151505" cy="315041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D8BA145-B143-4940-B703-EA9B903A3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769" y="1928712"/>
            <a:ext cx="2151506" cy="3039002"/>
          </a:xfrm>
          <a:prstGeom prst="rect">
            <a:avLst/>
          </a:prstGeom>
          <a:ln>
            <a:solidFill>
              <a:srgbClr val="C00000"/>
            </a:solidFill>
          </a:ln>
        </p:spPr>
      </p:pic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3D293249-CE15-E743-9CB0-BA3A0F32795E}"/>
              </a:ext>
            </a:extLst>
          </p:cNvPr>
          <p:cNvCxnSpPr/>
          <p:nvPr/>
        </p:nvCxnSpPr>
        <p:spPr>
          <a:xfrm>
            <a:off x="7690981" y="3429000"/>
            <a:ext cx="684533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678262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4190496"/>
            <a:ext cx="10878878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可以看到；「记忆式」是语文必拿分数，是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课内记忆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不断积累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的结合，在考试中占比：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高中：背诵（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）；语言文字运用（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20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）；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共</a:t>
            </a:r>
            <a:r>
              <a:rPr kumimoji="1" lang="en-US" altLang="zh-CN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26/90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（占非作文题目比</a:t>
            </a:r>
            <a:r>
              <a:rPr kumimoji="1" lang="en-US" altLang="zh-CN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29%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kumimoji="1" lang="en-US" altLang="zh-CN" sz="16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初中（四川中考为例）：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卷字音字形成语（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）课内文言文（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）默写（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）；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卷名著阅读（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）语言运用（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kumimoji="1" lang="en-US" altLang="zh-CN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46/90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（占非作文题目比</a:t>
            </a:r>
            <a:r>
              <a:rPr kumimoji="1" lang="en-US" altLang="zh-CN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51%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16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背诵是语文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抢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分的基础！</a:t>
            </a:r>
            <a:endParaRPr kumimoji="1" lang="en-US" altLang="zh-CN" sz="16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语文题型分类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记忆式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理解式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语文题型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无论初高中，分为两大类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7266984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背诵默写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语言文字运用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成语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病句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字音字形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名著阅读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7266984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②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341189"/>
            <a:ext cx="7266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实用类文本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论述类文本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现代文阅读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诗歌鉴赏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40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478037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4190496"/>
            <a:ext cx="10878878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可以看到；「理解式」占语文大部分分数，是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模版记忆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综合文段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的结合，在考试中占比：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高中：现代文（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35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）；文言文（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20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）；诗歌（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共</a:t>
            </a:r>
            <a:r>
              <a:rPr kumimoji="1" lang="en-US" altLang="zh-CN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64/150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（占非作文题目比</a:t>
            </a:r>
            <a:r>
              <a:rPr kumimoji="1" lang="en-US" altLang="zh-CN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71%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kumimoji="1" lang="en-US" altLang="zh-CN" sz="16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初中（四川中考为例）：课外文言文（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）说明文（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）现代文（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）诗歌（</a:t>
            </a: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kumimoji="1" lang="en-US" altLang="zh-CN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44/90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（占比</a:t>
            </a:r>
            <a:r>
              <a:rPr kumimoji="1" lang="en-US" altLang="zh-CN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49%</a:t>
            </a:r>
            <a:r>
              <a:rPr kumimoji="1" lang="zh-CN" altLang="en-US" sz="16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16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模版化做题是语文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抢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分的重点！</a:t>
            </a:r>
            <a:endParaRPr kumimoji="1" lang="en-US" altLang="zh-CN" sz="16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语文题型分类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记忆式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理解式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语文题型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无论初高中，分为两大类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7266984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背诵默写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语言文字运用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成语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病句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字音字形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名著阅读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7266984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②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291085"/>
            <a:ext cx="7266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实用类文本</a:t>
            </a:r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论述类文本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现代文阅读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诗歌鉴赏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975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478037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4190496"/>
            <a:ext cx="950313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「提前」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「重复」是背诵课内诗歌、文言文、名著等的核心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注意：易错易混字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积累实词虚词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通假字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古今异义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初高中语文共性：背诵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背什么｜怎么背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理解记忆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千万不要死记硬背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6224702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如何理解？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课下注释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译文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6224702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背诵延伸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341189"/>
            <a:ext cx="5757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主旨大意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作者背景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文学常识</a:t>
            </a:r>
            <a:endParaRPr kumimoji="1" lang="fr-FR" altLang="zh-CN" sz="12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25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初高中语文共性：阅读理解类拆解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现代文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文言文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诗歌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都有相似的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模版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答题套路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记住：「足够的模版」，才能在考试中迅速拆分踩分点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1" lang="zh-CN" altLang="en-US" sz="1600" b="1" dirty="0">
                <a:solidFill>
                  <a:srgbClr val="223AAC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清晰化、步骤化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答题的基础！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B8A1FE-10D1-4943-8D03-FDD15B91F890}"/>
              </a:ext>
            </a:extLst>
          </p:cNvPr>
          <p:cNvSpPr/>
          <p:nvPr/>
        </p:nvSpPr>
        <p:spPr>
          <a:xfrm>
            <a:off x="655529" y="372401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1400" kern="1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千万不要凭借感觉答题！</a:t>
            </a:r>
            <a:endParaRPr lang="en-US" altLang="zh-CN" sz="1400" kern="1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*往往：答案和我想说的没有什么区别？</a:t>
            </a:r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采用模版化的答题：</a:t>
            </a:r>
            <a:endParaRPr lang="en-US" altLang="zh-CN" sz="1400" kern="1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1400" kern="1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要点</a:t>
            </a:r>
            <a:r>
              <a:rPr lang="en-US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</a:t>
            </a:r>
            <a:r>
              <a:rPr lang="zh-CN" altLang="en-US" sz="1400" dirty="0"/>
              <a:t>①、②、③</a:t>
            </a:r>
            <a:r>
              <a:rPr lang="en-US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点作答</a:t>
            </a:r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1400" kern="1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固定表达</a:t>
            </a:r>
            <a:r>
              <a:rPr lang="en-US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「烘托了</a:t>
            </a:r>
            <a:r>
              <a:rPr lang="en-US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」、「表达了</a:t>
            </a:r>
            <a:r>
              <a:rPr lang="en-US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情感」</a:t>
            </a:r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</a:t>
            </a:r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老师能够立刻识别给分点！</a:t>
            </a:r>
            <a:endParaRPr lang="zh-CN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ADF665A-8722-2B4D-BE0C-E4155A79FCF6}"/>
              </a:ext>
            </a:extLst>
          </p:cNvPr>
          <p:cNvSpPr txBox="1"/>
          <p:nvPr/>
        </p:nvSpPr>
        <p:spPr>
          <a:xfrm>
            <a:off x="234534" y="-89531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Chapter-3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课内部分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793876"/>
            <a:ext cx="3454441" cy="3539430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4368779" y="2793876"/>
            <a:ext cx="3454441" cy="353943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9887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课内文章背诵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背什么？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704096" y="2014889"/>
            <a:ext cx="494270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文言文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32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篇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必修（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篇）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论语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劝学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荀子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屈原列传节选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（司马迁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谏太宗十思疏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（魏征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师说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（韩愈）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阿房宫赋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（杜牧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六国论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（苏洵）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答司马谏议书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（王安石）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赤壁赋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苏轼）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项脊轩志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归有光）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课内文章有哪些需要背诵？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289804" y="202599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2CC062-DC53-DA42-A31A-54E15656136F}"/>
              </a:ext>
            </a:extLst>
          </p:cNvPr>
          <p:cNvSpPr txBox="1"/>
          <p:nvPr/>
        </p:nvSpPr>
        <p:spPr>
          <a:xfrm>
            <a:off x="4478292" y="2873306"/>
            <a:ext cx="39240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选择性必修（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篇）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子路、曾皙、冉有、公西华侍坐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报任安书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节选（司马迁）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、过秦论（上）（贾谊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礼运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礼记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陈情表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（李密）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归去来兮辞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（并序）（陶渊明）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种树郭橐驼传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（柳宗元）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五代史伶官传序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欧阳修）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石钟山记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苏轼）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登泰山记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（姚鼐） 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845D6B-753D-C640-AFE7-F1B9030CC7B8}"/>
              </a:ext>
            </a:extLst>
          </p:cNvPr>
          <p:cNvSpPr/>
          <p:nvPr/>
        </p:nvSpPr>
        <p:spPr>
          <a:xfrm>
            <a:off x="8127999" y="2793875"/>
            <a:ext cx="3454441" cy="3539430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402438-1B23-9547-A8FF-6E1F668CF188}"/>
              </a:ext>
            </a:extLst>
          </p:cNvPr>
          <p:cNvSpPr txBox="1"/>
          <p:nvPr/>
        </p:nvSpPr>
        <p:spPr>
          <a:xfrm>
            <a:off x="8267972" y="2873305"/>
            <a:ext cx="39240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选修（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篇）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老子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季氏将伐颛臾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论语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大学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礼记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孟子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逍遥游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庄子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谏逐客书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（李斯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兰亭集序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（王羲之）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滕王阁序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王勃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黄冈竹楼记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（王禹偁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上枢密韩太尉书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（苏辙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	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33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793876"/>
            <a:ext cx="3533213" cy="3539430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4497909" y="2793876"/>
            <a:ext cx="3533214" cy="353943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9887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课内文章背诵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背什么？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748074" y="2057921"/>
            <a:ext cx="494270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诗词曲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(40 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首） 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静女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诗经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无衣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诗经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离骚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屈原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涉江采芙蓉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古诗十九首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短歌行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（曹操）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归园田居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其一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（陶渊明）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拟行路难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其四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（鲍照）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春江花月夜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张若虚）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山居秋暝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王维）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蜀道难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（李白）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梦游天姥吟留别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（李白）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将进酒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李白） </a:t>
            </a: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497461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课内文章有哪些需要背诵？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452120" y="202599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2CC062-DC53-DA42-A31A-54E15656136F}"/>
              </a:ext>
            </a:extLst>
          </p:cNvPr>
          <p:cNvSpPr txBox="1"/>
          <p:nvPr/>
        </p:nvSpPr>
        <p:spPr>
          <a:xfrm>
            <a:off x="4497909" y="2672239"/>
            <a:ext cx="39240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13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燕歌行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（高适）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蜀相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（杜甫）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客至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（杜甫）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16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登高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（杜甫）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17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登岳阳楼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（杜甫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18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琵琶行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白居易）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19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李凭箜篌引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（李贺）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菩萨蛮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（温庭筠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21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锦瑟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（李商隐）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22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虞美人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春花秋月何时了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（李煜）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23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望海潮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柳永）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24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桂枝香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金陵怀古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王安石）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江城子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乙卯正月二十日夜记梦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（苏轼）</a:t>
            </a: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F3E3A2-D0E1-7F49-8C55-7C032E115FB8}"/>
              </a:ext>
            </a:extLst>
          </p:cNvPr>
          <p:cNvSpPr/>
          <p:nvPr/>
        </p:nvSpPr>
        <p:spPr>
          <a:xfrm>
            <a:off x="8386260" y="2793876"/>
            <a:ext cx="3533213" cy="3539430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593CF2-2A21-FD40-A8DD-9F2284D97674}"/>
              </a:ext>
            </a:extLst>
          </p:cNvPr>
          <p:cNvSpPr txBox="1"/>
          <p:nvPr/>
        </p:nvSpPr>
        <p:spPr>
          <a:xfrm>
            <a:off x="8421937" y="2982885"/>
            <a:ext cx="39240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26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念奴娇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赤壁怀古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（苏轼）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27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登快阁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黄庭坚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28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鹊桥仙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纤云弄巧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秦观）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苏幕遮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燎沉香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（周邦彦）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声声慢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（李清照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31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书愤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（陆游）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32.《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临安春雨初霁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（陆游）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33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念奴娇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过洞庭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（张孝祥）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34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永遇乐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京口北固亭怀古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（辛弃疾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35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菩萨蛮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书江西造口壁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（辛弃疾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36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青玉案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元夕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（辛弃疾）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37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贺新郎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国脉微如缕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（刘克庄）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38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扬州慢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淮左名都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（姜夔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	</a:t>
            </a: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39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长亭送别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（王实甫）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朝天子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咏喇叭</a:t>
            </a:r>
            <a:r>
              <a:rPr kumimoji="1"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》(</a:t>
            </a:r>
            <a:r>
              <a:rPr kumimoji="1"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王磐）	</a:t>
            </a:r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077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758356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9887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课内文章背诵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背景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原文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注释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翻译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63092"/>
            <a:ext cx="49427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Step1</a:t>
            </a: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理解：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通过课下注释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译文理解全文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Step2</a:t>
            </a: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默写：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保证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易错易混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字不出错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4942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课下注释背什么？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文言文：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实词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虚词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古今异义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通假字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背景知识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文学常识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课内文章如何背诵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E312A45-EE94-B64E-8F7B-5469715F6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44" y="1213536"/>
            <a:ext cx="3384982" cy="472798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F557502-F288-6F40-8B6D-FF56A5453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44" y="1200821"/>
            <a:ext cx="3360492" cy="474069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11B5DF0-66A5-C24F-A435-39D80BB73722}"/>
              </a:ext>
            </a:extLst>
          </p:cNvPr>
          <p:cNvSpPr/>
          <p:nvPr/>
        </p:nvSpPr>
        <p:spPr>
          <a:xfrm>
            <a:off x="4776515" y="5267568"/>
            <a:ext cx="1546131" cy="2080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53788A-B9C8-FC4C-ABD8-77D836960BA4}"/>
              </a:ext>
            </a:extLst>
          </p:cNvPr>
          <p:cNvSpPr/>
          <p:nvPr/>
        </p:nvSpPr>
        <p:spPr>
          <a:xfrm>
            <a:off x="8306559" y="3931138"/>
            <a:ext cx="1546131" cy="3126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EF9F31-6C49-BB42-A069-128CC0A58961}"/>
              </a:ext>
            </a:extLst>
          </p:cNvPr>
          <p:cNvSpPr txBox="1"/>
          <p:nvPr/>
        </p:nvSpPr>
        <p:spPr>
          <a:xfrm>
            <a:off x="9324202" y="406106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词类活用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8CFD44-8AA5-CC4F-8D21-7F7247B081A4}"/>
              </a:ext>
            </a:extLst>
          </p:cNvPr>
          <p:cNvSpPr txBox="1"/>
          <p:nvPr/>
        </p:nvSpPr>
        <p:spPr>
          <a:xfrm>
            <a:off x="5802229" y="509901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背景知识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3AE638-43FF-CD40-A6CA-B46BC4C55B71}"/>
              </a:ext>
            </a:extLst>
          </p:cNvPr>
          <p:cNvSpPr/>
          <p:nvPr/>
        </p:nvSpPr>
        <p:spPr>
          <a:xfrm>
            <a:off x="8306559" y="5553173"/>
            <a:ext cx="1546131" cy="345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76B40A-8B9A-114F-BE74-AE137A0227AB}"/>
              </a:ext>
            </a:extLst>
          </p:cNvPr>
          <p:cNvSpPr txBox="1"/>
          <p:nvPr/>
        </p:nvSpPr>
        <p:spPr>
          <a:xfrm>
            <a:off x="8870608" y="5704567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文学常识</a:t>
            </a:r>
            <a:r>
              <a:rPr kumimoji="1" lang="en-US" altLang="zh-CN" sz="8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8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重要实词</a:t>
            </a:r>
          </a:p>
        </p:txBody>
      </p:sp>
    </p:spTree>
    <p:extLst>
      <p:ext uri="{BB962C8B-B14F-4D97-AF65-F5344CB8AC3E}">
        <p14:creationId xmlns:p14="http://schemas.microsoft.com/office/powerpoint/2010/main" val="512001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689216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9887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课内文章背诵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背景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原文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注释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翻译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63092"/>
            <a:ext cx="49427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Step1</a:t>
            </a: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理解：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通过课下注释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译文理解全文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Step2</a:t>
            </a: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默写：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保证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易错易混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字不出错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4942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课下注释背什么？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诗歌：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意象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背景知识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典故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主旨与情感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课内文章如何背诵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E537282-3530-FD45-9F7E-9C01839F6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402" y="1038324"/>
            <a:ext cx="3878961" cy="5457872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6C184C9-A075-864E-9394-B200C6848A24}"/>
              </a:ext>
            </a:extLst>
          </p:cNvPr>
          <p:cNvSpPr/>
          <p:nvPr/>
        </p:nvSpPr>
        <p:spPr>
          <a:xfrm>
            <a:off x="6285186" y="6234179"/>
            <a:ext cx="935421" cy="1261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BB7D71-152E-B444-B69E-40C201E867F5}"/>
              </a:ext>
            </a:extLst>
          </p:cNvPr>
          <p:cNvSpPr/>
          <p:nvPr/>
        </p:nvSpPr>
        <p:spPr>
          <a:xfrm>
            <a:off x="6405335" y="2818491"/>
            <a:ext cx="3424465" cy="3027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FED906-7839-CB4B-B283-82BDDB02478D}"/>
              </a:ext>
            </a:extLst>
          </p:cNvPr>
          <p:cNvSpPr/>
          <p:nvPr/>
        </p:nvSpPr>
        <p:spPr>
          <a:xfrm>
            <a:off x="8248802" y="5875282"/>
            <a:ext cx="1712883" cy="2626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01DBF8-4F46-9046-8CD3-66AD15744165}"/>
              </a:ext>
            </a:extLst>
          </p:cNvPr>
          <p:cNvSpPr txBox="1"/>
          <p:nvPr/>
        </p:nvSpPr>
        <p:spPr>
          <a:xfrm>
            <a:off x="9412489" y="594278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重要典故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98FED5-9C61-9B45-8810-589CD971308A}"/>
              </a:ext>
            </a:extLst>
          </p:cNvPr>
          <p:cNvSpPr txBox="1"/>
          <p:nvPr/>
        </p:nvSpPr>
        <p:spPr>
          <a:xfrm>
            <a:off x="6074202" y="261463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主旨与情感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B5E24A-F7FC-974A-85D2-8A66781BD423}"/>
              </a:ext>
            </a:extLst>
          </p:cNvPr>
          <p:cNvSpPr txBox="1"/>
          <p:nvPr/>
        </p:nvSpPr>
        <p:spPr>
          <a:xfrm>
            <a:off x="7159876" y="6187737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文学常识</a:t>
            </a:r>
          </a:p>
        </p:txBody>
      </p:sp>
    </p:spTree>
    <p:extLst>
      <p:ext uri="{BB962C8B-B14F-4D97-AF65-F5344CB8AC3E}">
        <p14:creationId xmlns:p14="http://schemas.microsoft.com/office/powerpoint/2010/main" val="2412933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689216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9887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课内文章背诵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背景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原文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注释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翻译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63092"/>
            <a:ext cx="49427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Step1</a:t>
            </a: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全文阅读：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阅读全文，了解情节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初步认识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Step2</a:t>
            </a: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总结要点：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保证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易错易混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字不出错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49427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名著背什么？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小说背景：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作者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主要内容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主题思想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艺术特色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内容：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精彩情节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精彩名句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阅读感受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人物形象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名著知识如何背诵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613C11E-E5AA-C142-8581-07411311C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35" y="805696"/>
            <a:ext cx="4359510" cy="545847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0F648B3-08A9-4240-8DCF-975585CB4238}"/>
              </a:ext>
            </a:extLst>
          </p:cNvPr>
          <p:cNvSpPr/>
          <p:nvPr/>
        </p:nvSpPr>
        <p:spPr>
          <a:xfrm>
            <a:off x="6698844" y="1216060"/>
            <a:ext cx="935421" cy="1261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54A4C8-DEA5-2D49-84DF-A063B2549878}"/>
              </a:ext>
            </a:extLst>
          </p:cNvPr>
          <p:cNvSpPr/>
          <p:nvPr/>
        </p:nvSpPr>
        <p:spPr>
          <a:xfrm>
            <a:off x="6698844" y="1596377"/>
            <a:ext cx="812299" cy="1261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A81FCB-CAC5-B849-88AB-756E2D4BBCB4}"/>
              </a:ext>
            </a:extLst>
          </p:cNvPr>
          <p:cNvSpPr/>
          <p:nvPr/>
        </p:nvSpPr>
        <p:spPr>
          <a:xfrm>
            <a:off x="6698843" y="2512901"/>
            <a:ext cx="812299" cy="1261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B06376-B03C-C14E-B700-C5C227745CFE}"/>
              </a:ext>
            </a:extLst>
          </p:cNvPr>
          <p:cNvSpPr/>
          <p:nvPr/>
        </p:nvSpPr>
        <p:spPr>
          <a:xfrm>
            <a:off x="6698843" y="2920518"/>
            <a:ext cx="812299" cy="1261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297386-D4D1-734A-91B9-E8A0D05D4FB6}"/>
              </a:ext>
            </a:extLst>
          </p:cNvPr>
          <p:cNvSpPr/>
          <p:nvPr/>
        </p:nvSpPr>
        <p:spPr>
          <a:xfrm>
            <a:off x="6698843" y="3328135"/>
            <a:ext cx="812299" cy="1261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88C939-ABBC-8A4B-8E03-AD0A3F3DA93D}"/>
              </a:ext>
            </a:extLst>
          </p:cNvPr>
          <p:cNvSpPr/>
          <p:nvPr/>
        </p:nvSpPr>
        <p:spPr>
          <a:xfrm>
            <a:off x="6698842" y="3861321"/>
            <a:ext cx="812299" cy="1261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53D5DA-0CDE-7C48-9281-E2BC40681275}"/>
              </a:ext>
            </a:extLst>
          </p:cNvPr>
          <p:cNvSpPr/>
          <p:nvPr/>
        </p:nvSpPr>
        <p:spPr>
          <a:xfrm>
            <a:off x="6698841" y="4265441"/>
            <a:ext cx="812299" cy="1261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BC481D-5033-AF44-89B3-F4B945DF1624}"/>
              </a:ext>
            </a:extLst>
          </p:cNvPr>
          <p:cNvSpPr/>
          <p:nvPr/>
        </p:nvSpPr>
        <p:spPr>
          <a:xfrm>
            <a:off x="6698841" y="5430696"/>
            <a:ext cx="2096816" cy="1261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5696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7850" y="429895"/>
            <a:ext cx="10928350" cy="59397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E504CAA-CB13-344A-A051-A4C9B34B38EF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背诵方法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B6F920-4694-514B-99A0-52771F8BA78F}"/>
              </a:ext>
            </a:extLst>
          </p:cNvPr>
          <p:cNvSpPr/>
          <p:nvPr/>
        </p:nvSpPr>
        <p:spPr>
          <a:xfrm>
            <a:off x="609559" y="828139"/>
            <a:ext cx="11129686" cy="5541546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9DF3F4-143F-DA4D-A73B-2D4EEF36AB3B}"/>
              </a:ext>
            </a:extLst>
          </p:cNvPr>
          <p:cNvSpPr txBox="1"/>
          <p:nvPr/>
        </p:nvSpPr>
        <p:spPr>
          <a:xfrm>
            <a:off x="965898" y="1203790"/>
            <a:ext cx="10417008" cy="45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什么时间背？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寒暑假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提前背诵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下学期要学的文言文和诗歌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】+【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阅读名著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上课前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背诵当前要学的文章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如何检验背诵？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文章本身：全文默写，不错字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学姐的亲身经历：</a:t>
            </a:r>
            <a:b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初中时，必备篇目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文言文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诗歌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：寒暑假「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2-3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天」背诵一篇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「父母检查」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「纸质打卡记录」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注释：对照原文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口头全部翻译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名著：作者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情节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主旨 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重要细节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37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504CAA-CB13-344A-A051-A4C9B34B38EF}"/>
              </a:ext>
            </a:extLst>
          </p:cNvPr>
          <p:cNvSpPr txBox="1"/>
          <p:nvPr/>
        </p:nvSpPr>
        <p:spPr>
          <a:xfrm>
            <a:off x="538850" y="692825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真题</a:t>
            </a:r>
            <a:r>
              <a:rPr kumimoji="1" lang="en-US" altLang="zh-CN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默写句子</a:t>
            </a:r>
            <a:r>
              <a:rPr kumimoji="1" lang="en-US" altLang="zh-CN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理解性默写</a:t>
            </a:r>
            <a:r>
              <a:rPr kumimoji="1" lang="en-US" altLang="zh-CN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B6F920-4694-514B-99A0-52771F8BA78F}"/>
              </a:ext>
            </a:extLst>
          </p:cNvPr>
          <p:cNvSpPr/>
          <p:nvPr/>
        </p:nvSpPr>
        <p:spPr>
          <a:xfrm>
            <a:off x="609559" y="1139387"/>
            <a:ext cx="11129686" cy="5230297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9DF3F4-143F-DA4D-A73B-2D4EEF36AB3B}"/>
              </a:ext>
            </a:extLst>
          </p:cNvPr>
          <p:cNvSpPr txBox="1"/>
          <p:nvPr/>
        </p:nvSpPr>
        <p:spPr>
          <a:xfrm>
            <a:off x="965898" y="1203790"/>
            <a:ext cx="10417008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中考默写</a:t>
            </a:r>
            <a:endParaRPr kumimoji="1" lang="fr-FR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40C112-6F87-C04B-AEB8-412144E62D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60"/>
          <a:stretch/>
        </p:blipFill>
        <p:spPr>
          <a:xfrm>
            <a:off x="1107440" y="1863955"/>
            <a:ext cx="7018020" cy="156504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44D82F4-B5F7-5A47-A625-EC2F3637DDBA}"/>
              </a:ext>
            </a:extLst>
          </p:cNvPr>
          <p:cNvSpPr txBox="1"/>
          <p:nvPr/>
        </p:nvSpPr>
        <p:spPr>
          <a:xfrm>
            <a:off x="965898" y="3396789"/>
            <a:ext cx="10417008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初中背诵重点？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训练全诗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记忆：看到上句反应下句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/【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看到下句也能反应上句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注意易错字、易混字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098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504CAA-CB13-344A-A051-A4C9B34B38EF}"/>
              </a:ext>
            </a:extLst>
          </p:cNvPr>
          <p:cNvSpPr txBox="1"/>
          <p:nvPr/>
        </p:nvSpPr>
        <p:spPr>
          <a:xfrm>
            <a:off x="538850" y="692825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真题</a:t>
            </a:r>
            <a:r>
              <a:rPr kumimoji="1" lang="en-US" altLang="zh-CN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默写句子</a:t>
            </a:r>
            <a:r>
              <a:rPr kumimoji="1" lang="en-US" altLang="zh-CN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理解性默写</a:t>
            </a:r>
            <a:r>
              <a:rPr kumimoji="1" lang="en-US" altLang="zh-CN" sz="1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B6F920-4694-514B-99A0-52771F8BA78F}"/>
              </a:ext>
            </a:extLst>
          </p:cNvPr>
          <p:cNvSpPr/>
          <p:nvPr/>
        </p:nvSpPr>
        <p:spPr>
          <a:xfrm>
            <a:off x="609559" y="1139387"/>
            <a:ext cx="11129686" cy="5230297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9DF3F4-143F-DA4D-A73B-2D4EEF36AB3B}"/>
              </a:ext>
            </a:extLst>
          </p:cNvPr>
          <p:cNvSpPr txBox="1"/>
          <p:nvPr/>
        </p:nvSpPr>
        <p:spPr>
          <a:xfrm>
            <a:off x="965898" y="1203790"/>
            <a:ext cx="10417008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高考默写</a:t>
            </a:r>
            <a:endParaRPr kumimoji="1" lang="fr-FR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40C112-6F87-C04B-AEB8-412144E62D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6"/>
          <a:stretch/>
        </p:blipFill>
        <p:spPr>
          <a:xfrm>
            <a:off x="1046406" y="1903790"/>
            <a:ext cx="6171976" cy="1904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44D82F4-B5F7-5A47-A625-EC2F3637DDBA}"/>
              </a:ext>
            </a:extLst>
          </p:cNvPr>
          <p:cNvSpPr txBox="1"/>
          <p:nvPr/>
        </p:nvSpPr>
        <p:spPr>
          <a:xfrm>
            <a:off x="965898" y="3396789"/>
            <a:ext cx="10417008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高中背诵重点？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训练全诗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记忆：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景物描写</a:t>
            </a:r>
            <a:r>
              <a:rPr kumimoji="1" lang="en-US" altLang="zh-CN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事件描写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训练不看诗名也能反应出主旨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场景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内容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注意易错字、易混字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DB8DF5B5-BFC9-4843-B2DF-AC85E614BB74}"/>
              </a:ext>
            </a:extLst>
          </p:cNvPr>
          <p:cNvCxnSpPr/>
          <p:nvPr/>
        </p:nvCxnSpPr>
        <p:spPr>
          <a:xfrm>
            <a:off x="5228216" y="2409714"/>
            <a:ext cx="161364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A307FA69-7FC1-B748-950D-8EC846607C6A}"/>
              </a:ext>
            </a:extLst>
          </p:cNvPr>
          <p:cNvCxnSpPr>
            <a:cxnSpLocks/>
          </p:cNvCxnSpPr>
          <p:nvPr/>
        </p:nvCxnSpPr>
        <p:spPr>
          <a:xfrm>
            <a:off x="1486348" y="2691206"/>
            <a:ext cx="170867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019412F9-8ED7-F640-B4C8-369050FE3452}"/>
              </a:ext>
            </a:extLst>
          </p:cNvPr>
          <p:cNvCxnSpPr>
            <a:cxnSpLocks/>
          </p:cNvCxnSpPr>
          <p:nvPr/>
        </p:nvCxnSpPr>
        <p:spPr>
          <a:xfrm>
            <a:off x="2606936" y="2983455"/>
            <a:ext cx="133036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7B9F7721-4CDB-564C-B714-633A7E5F4099}"/>
              </a:ext>
            </a:extLst>
          </p:cNvPr>
          <p:cNvCxnSpPr>
            <a:cxnSpLocks/>
          </p:cNvCxnSpPr>
          <p:nvPr/>
        </p:nvCxnSpPr>
        <p:spPr>
          <a:xfrm>
            <a:off x="2888428" y="3512372"/>
            <a:ext cx="1048871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084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Chapter-4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论述类</a:t>
            </a:r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/</a:t>
            </a:r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实用类文本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2266921"/>
            <a:ext cx="11004232" cy="439073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论述类文本：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阅读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圈圈画画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排除干扰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答题步骤歌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44233-82F4-CE4A-8CCA-D646FFF28422}"/>
              </a:ext>
            </a:extLst>
          </p:cNvPr>
          <p:cNvSpPr txBox="1"/>
          <p:nvPr/>
        </p:nvSpPr>
        <p:spPr>
          <a:xfrm>
            <a:off x="473535" y="1386151"/>
            <a:ext cx="9354349" cy="69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速读明旨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画关键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，明确指向审题干，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圈画比较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辨真伪，排除干扰定答案。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2669114"/>
            <a:ext cx="9354349" cy="328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做论述类文本的题， 建议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先读题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，一定要读清大题 （看记忆能力可以读完，也可以读一道题）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读题的时候，要注意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选项的圈画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圈出选项里的一些词汇，如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关联词、程度词、数量词和时间词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等。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命题者命制试题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干扰项</a:t>
            </a:r>
            <a:r>
              <a:rPr kumimoji="1" lang="en-US" altLang="zh-CN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时常用的方法如下：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删减原文中的某些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修饰、 限制成分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从而造成某一概念的范围缩小或扩大。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改变原文中某些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词语或句子顺序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，从而导致原文语句的含意发生变化。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改变原文中的说法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，将未然说成已然，部分说成整体，个别说成一般，主观说成客观，因果颠倒，张冠李戴等等。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在保留原文基本内容的基础下， 看似不经意地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漏掉原文中的某个或某些词语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，制造陷阱。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在结合原文拼凑选项语句时， 命题者常常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无中生有、 牵强附会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从而造成干扰。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23846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461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26029"/>
            <a:ext cx="11004232" cy="52316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论述类文本：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解题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细节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词语判断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哪些词语容易干扰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1675065"/>
            <a:ext cx="10412179" cy="5045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、比对句中词语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表示范围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词语。如表示全部范围的有：全，都，所有，囊括，共，统统，一概等；表示大部分范围的有：大多，多数等；表示限定范围的有：只，仅仅，光等，表示范围涉及两种以上对象的有：以及，及，和，也，又等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此外，要特别注意修饰对象的词语（一般是定语） 。这些词语往往圈定了范围，比对选项和原文时，要注意选项是否有扩大或缩小原文范围的表述。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表示程度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的词语。如表示程度高、深的，有很，挺，怪，更，最，太，忒，好，真，非常，十分，特别，极其等；表示程度一般、适中的，有较，比较等，表示程度轻的，有稍微，不大，有点儿，有些等。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比对时，要注意加深或减轻程度的表述，注意轻重倒置、夸大过度的现象。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表示指代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的词语。如：这，其，它等。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比对时，要注意指代对象是否一致，特别要注意是否有张冠李戴，偷换概念等错误。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表示时间或时态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的词语。如后来，最早，近来，正在，日前，一旦，立即，马上，目前， 已经，早已， 曾经，刚刚， 即将，就要，了等。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比对时， 要注意是否有时间先后错乱，混淆已然与未然的错误。 特别要留心是否有故意将 “即将出现的情况” 表述或推断为 “已经产生的情况”的内容。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表示否定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的词语。如莫，非，否则，切记，禁止，防止，难以，忘记，忽视，放弃，杜绝，拒绝等。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表示语气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的词语。如表示肯定的有：必定，必须，一定，的确等，表示揣测的有或许，大概，可能，似乎，也许等。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比对时，要注意是否有混淆或然与必然、说法绝对化的错误。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重要的动词形容词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等。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比对时，主要是判断一些代替的词语有没有篡改原文，有没有曲解原文意。</a:t>
            </a: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1600903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848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26029"/>
            <a:ext cx="11004232" cy="52316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论述类文本：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解题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看句子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句间关系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哪些句间关系容易干扰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1675065"/>
            <a:ext cx="10412179" cy="393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、比对句间关系</a:t>
            </a:r>
            <a:endParaRPr kumimoji="1" lang="en-US" altLang="zh-CN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比对单个分句中的各种成分间的关系与原文表述是否一致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。这就要求分析句子的主、谓、宾、定、状、补等成分，划分句子的主干，从而判断选项有没有杂糅、笼统、混淆等错误。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例： 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陈淳学习文徵明用水墨的干湿浓淡和渗透表现花叶的技法， 画风简练放逸又不失法度。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原文：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陈淳早年习元代绘画，后学于文徵明，花鸟、山水兼擅。他将书法和山水画笔法融入花鸟画， 运用水墨的干湿浓淡和渗透， 巧妙的表现花叶的形态与阴阳向背， 简练放逸又不是法度，开写意花鸟一代新风。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比对分析；选项第 </a:t>
            </a:r>
            <a:r>
              <a:rPr kumimoji="1" lang="en-US" altLang="zh-CN" sz="12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12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个分句的主干是 “陈淳学习技法”，“用水墨的干湿浓淡和渗透表现花叶”，成了文徵明的技法， 而从原文的表述中可以看出， 这是陈淳的创新。 选项故意将陈淳的技法与文徵明的技法杂糅，考查的其实是对句子中各成分间的关系的把握。</a:t>
            </a:r>
            <a:endParaRPr kumimoji="1" lang="en-US" altLang="zh-CN" sz="12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比对复句中各个分句间的关系与原文表述是否一致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。分句间的关系主要有因果、条件、假设、目的、转折、并列等。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比对时，特别要注意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强加因果、因果倒置、必要条件变成充分条件、并列变成转折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等错误。</a:t>
            </a: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1600903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97CF7C14-C04E-3E4E-9023-1B6C36DE5140}"/>
              </a:ext>
            </a:extLst>
          </p:cNvPr>
          <p:cNvCxnSpPr>
            <a:cxnSpLocks/>
          </p:cNvCxnSpPr>
          <p:nvPr/>
        </p:nvCxnSpPr>
        <p:spPr>
          <a:xfrm>
            <a:off x="952507" y="3005160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D338F355-8EE7-8542-9911-CAC5CCAB253A}"/>
              </a:ext>
            </a:extLst>
          </p:cNvPr>
          <p:cNvCxnSpPr>
            <a:cxnSpLocks/>
          </p:cNvCxnSpPr>
          <p:nvPr/>
        </p:nvCxnSpPr>
        <p:spPr>
          <a:xfrm>
            <a:off x="952507" y="4638017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736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26029"/>
            <a:ext cx="11004232" cy="52316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论述类文本：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解题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事实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论点论据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哪些论点论据容易干扰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1975101"/>
            <a:ext cx="10412179" cy="4214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、比对论点论据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）对理解与分析作者关联的题目， 需要综合全文进行比对， 这种题目的选项有两种，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一种是单一判断型，一种是完整推断型。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单一判断型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首先要看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原文有没有类似的表述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如果没有，看它</a:t>
            </a:r>
            <a:r>
              <a:rPr kumimoji="1" lang="zh-CN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是否符合客观事实与逻辑事理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； 如果有， 看它</a:t>
            </a:r>
            <a:r>
              <a:rPr kumimoji="1" lang="zh-CN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是否与原文表述一致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看它在文中的地位和作用， 比对选项之间的关系。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完整推断型。</a:t>
            </a:r>
            <a:endParaRPr kumimoji="1" lang="en-US" altLang="zh-CN" sz="12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原因与结果、条件与结论同时出现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比对时：一要看</a:t>
            </a:r>
            <a:r>
              <a:rPr kumimoji="1" lang="zh-CN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原因与条件在原文中是否要有依据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；二要看结果与结论在原文中</a:t>
            </a:r>
            <a:r>
              <a:rPr kumimoji="1" lang="zh-CN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是否有现成的句子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；三要看原因与结果、条件与结论之间的</a:t>
            </a:r>
            <a:r>
              <a:rPr kumimoji="1" lang="zh-CN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逻辑关系是否合理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1600903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46201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634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26029"/>
            <a:ext cx="11004232" cy="52316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实用类文本：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非连续性文本阅读题的解题技巧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读材料的关键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1975101"/>
            <a:ext cx="10412179" cy="393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zh-CN" altLang="en-US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读文字材料。</a:t>
            </a:r>
            <a:endParaRPr kumimoji="1" lang="en-US" altLang="zh-CN" sz="12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如果讲述一个主题，更应探究它们的个性；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有些材料看似讲述不同的主题，其实只是形式不同，实质是相同的。（对于这样的材料，进行</a:t>
            </a:r>
            <a:r>
              <a:rPr kumimoji="1" lang="zh-CN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分析比较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，找出它们的共性。） 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通过同中求异， 异中求同， 找出材料的内在联系， 从而发现规律，得出结论。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2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读图表材料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首先要看清楚</a:t>
            </a:r>
            <a:r>
              <a:rPr kumimoji="1" lang="zh-CN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图表的标题、内容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，了解图表说明的内容和比较的角度。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再通过准确获取图表中的</a:t>
            </a:r>
            <a:r>
              <a:rPr kumimoji="1" lang="zh-CN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文字提示及细节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等，汲取有价值的信息。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根据题目，回归文本，</a:t>
            </a:r>
            <a:r>
              <a:rPr kumimoji="1" lang="zh-CN" altLang="en-US" sz="12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圈画重点，比对作答。</a:t>
            </a: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1600903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46201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874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26029"/>
            <a:ext cx="11004232" cy="52316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实用类文本：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68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传记阅读题中的选择题的解题技巧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解题的关键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1975101"/>
            <a:ext cx="10412179" cy="3660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zh-CN" altLang="en-US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谨防选项概括上的错误。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关注传主的主要生平事迹，切忌断章取义、以偏概全或者在范围、作用、程度上表述不正确。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警惕选项中出现的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“凡” “全”“都” “所有” “一切” “各种”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之类的字眼。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谨防选项内容上的错误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。关注传记中的人物和事件，谨防人物与事件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张冠李戴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、事件发生的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先后顺序颠倒或错位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、事件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无中生有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谨防选项逻辑上的错误。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关注传主与其他人物或事件之间的关系，谨防题干在传主与其他人物或事件之间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强加关系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）传记阅读中分析传主取得成就的原因的技巧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答题时，要从</a:t>
            </a:r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客观、主观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两方面进行分析。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客观因素： ①传主所处的特定时代、 社会背景； ②家庭背景； ③父母、 师长、亲友及其他人对传主的影响</a:t>
            </a:r>
          </a:p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主观因素：①个人的天赋、性格；②后天的勤奋、性格；③高远的理想；④专注、持之以恒等品质；⑤善于抓住机遇。</a:t>
            </a:r>
          </a:p>
          <a:p>
            <a:pPr>
              <a:lnSpc>
                <a:spcPct val="150000"/>
              </a:lnSpc>
            </a:pP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1600903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46201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845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Chapter-5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现代文阅读</a:t>
            </a:r>
            <a:endParaRPr lang="en-US" altLang="zh-CN" sz="7200" b="1" dirty="0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{</a:t>
            </a:r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文学类文本</a:t>
            </a:r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}</a:t>
            </a:r>
            <a:endParaRPr lang="zh-CN" altLang="en-US" sz="7200" b="1" dirty="0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437175-892E-3F4C-AC0F-E093B6867A88}"/>
              </a:ext>
            </a:extLst>
          </p:cNvPr>
          <p:cNvSpPr/>
          <p:nvPr/>
        </p:nvSpPr>
        <p:spPr>
          <a:xfrm>
            <a:off x="574024" y="1347341"/>
            <a:ext cx="11043316" cy="3353553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FA99D3-4736-A246-A135-8AE4C99273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文学类文本阅读答题模版：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0E6817-B62F-4E44-80B3-EAE331DC2CB9}"/>
              </a:ext>
            </a:extLst>
          </p:cNvPr>
          <p:cNvSpPr/>
          <p:nvPr/>
        </p:nvSpPr>
        <p:spPr>
          <a:xfrm>
            <a:off x="633528" y="13933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A4B85-B5BE-C24B-94A2-47ED81E37822}"/>
              </a:ext>
            </a:extLst>
          </p:cNvPr>
          <p:cNvSpPr txBox="1"/>
          <p:nvPr/>
        </p:nvSpPr>
        <p:spPr>
          <a:xfrm>
            <a:off x="968747" y="1372424"/>
            <a:ext cx="9354349" cy="360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题目无非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【3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类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分类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形象赏析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小说中人物主要形象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次要人物形象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分类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手法赏析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语言特色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环境描写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情节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标题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分类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含义与概括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语句含义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语言特色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中心思想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0E9FAD-86FB-6444-A3D8-9DEBA4E38E22}"/>
              </a:ext>
            </a:extLst>
          </p:cNvPr>
          <p:cNvSpPr txBox="1"/>
          <p:nvPr/>
        </p:nvSpPr>
        <p:spPr>
          <a:xfrm>
            <a:off x="582977" y="5145112"/>
            <a:ext cx="72763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强调！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一定要先阅读全文 「把握文章写了什么」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把握文章「标题」，和文中「首尾段」！！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482DC0-3144-024F-BF25-1A61FFF454A7}"/>
              </a:ext>
            </a:extLst>
          </p:cNvPr>
          <p:cNvCxnSpPr>
            <a:cxnSpLocks/>
          </p:cNvCxnSpPr>
          <p:nvPr/>
        </p:nvCxnSpPr>
        <p:spPr>
          <a:xfrm>
            <a:off x="582977" y="4980918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A01DCFA-C36E-8142-A5D9-0C121720ED2B}"/>
              </a:ext>
            </a:extLst>
          </p:cNvPr>
          <p:cNvCxnSpPr>
            <a:cxnSpLocks/>
          </p:cNvCxnSpPr>
          <p:nvPr/>
        </p:nvCxnSpPr>
        <p:spPr>
          <a:xfrm>
            <a:off x="582977" y="6163794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937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鉴赏小说中人物形象的技巧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3801601" cy="446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情节的发展变化中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把握人物性格。情节发展的过程往往是人物性格形成发展的过程。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从矛盾冲突中认识人物性格。在激烈的矛盾冲突中，人物的思想性格往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往反映得最充分、最深刻。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从描写方法中认识人物性格。注意肖像、语言、动作、心理等描写。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从社会环境、活动场景及人物的典型意义。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(5)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借助作者对人物的介绍的评价把握人物的基本特征。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172087"/>
            <a:ext cx="3801601" cy="2547557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467225" y="4288858"/>
            <a:ext cx="37522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【2022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全国高考甲卷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8.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老胡这一人物形象有哪些特点？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请结合文本一简要分析。</a:t>
            </a: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情节发展变化：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“你看今天敌人还会不会再跟上来”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后面还有追兵，腿部中弹、伤口化脓、病情严重，为了继续战斗，在缺医少药的情况之下忍受巨大痛苦用土法疗伤 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形象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1: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坚定的革命信念 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）刚毅果敢。腿部受伤化脓，他果断决定让人挤出脓血，体现出铮铮铁骨。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）意志坚强。没有医疗器械和麻药，他忍受剧痛，有不屈的意志。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）信念坚定。环境的艰苦和身体的痛苦都不能改变他革命的信念。 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319C1B-C24B-804D-8D82-667FA56C4650}"/>
              </a:ext>
            </a:extLst>
          </p:cNvPr>
          <p:cNvSpPr/>
          <p:nvPr/>
        </p:nvSpPr>
        <p:spPr>
          <a:xfrm>
            <a:off x="4337579" y="138355"/>
            <a:ext cx="7436591" cy="658128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文本一：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fontAlgn="ctr">
              <a:lnSpc>
                <a:spcPts val="1100"/>
              </a:lnSpc>
              <a:spcAft>
                <a:spcPts val="0"/>
              </a:spcAft>
            </a:pPr>
            <a:r>
              <a:rPr lang="zh-CN" altLang="zh-CN" sz="1000" b="1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支队政委（节选）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fontAlgn="ctr">
              <a:lnSpc>
                <a:spcPts val="1100"/>
              </a:lnSpc>
              <a:spcAft>
                <a:spcPts val="0"/>
              </a:spcAft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王愿坚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我做了一个梦，梦见我像是负了伤，正在爬一个崖头，怎么也爬不上去。忽然，老胡来了，他变得跟棵老黄松似的，又高又大，伸出小葵扇那么大的一只手，拉住了我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一睁眼，可不是，我的手正在他手里攥着呢。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见我醒了，他把我的手捏紧了，突然问我：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老黄，我求你个事成不成？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怎么不成！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我奇怪地看了他一眼。他的脸被拂晓时的月光一照，更是苍白，简直像是块白石头刻出来的。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我让你干什么你干什么？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一定！</a:t>
            </a:r>
            <a:r>
              <a:rPr lang="zh-CN" altLang="en-US" sz="1000" kern="100" dirty="0">
                <a:solidFill>
                  <a:srgbClr val="000000"/>
                </a:solidFill>
                <a:ea typeface="宋体" panose="02010600030101010101" pitchFamily="2" charset="-122"/>
                <a:cs typeface="楷体" panose="02010609060101010101" pitchFamily="49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他扭身戳了戳正在酣睡的林大富。小伙子一骨碌爬起来，愣眉愣眼地问：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政委，要出发？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不，有任务！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老胡说着抓起一个挎包，对我说：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咱们到那边竹林里去。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我疑疑惑惑地背起他，来到了那片竹林边上。这时，启明星贼亮贼亮的，东方已经现出鱼肚白了。老胡四下里看了看，选了一棵大毛竹，靠在上面坐下来，又问了我一句：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真的叫你干啥你干啥？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真的，快说吧！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我被他弄得又糊涂又心焦。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好！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他伸手从挎包里掏出两根绳子，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噗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的一声扔在我面前，然后两手往竹子后面一背，厉声说：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把我绑起来！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该不是叫伤口疼得他神经错乱了吧？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我想，本想不干，无奈已经有言在先了，我一面绑，一面问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这是干啥？你疯啦？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他没搭我的腔，只是一个劲叫着：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绑紧点，绑紧点！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等我们把他两手绑好，他又把那条伤腿伸开，蹬住了另一棵竹子：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把这也绑住！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我们也照办了。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看看我们都弄妥了，他咬咬牙说：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来，使劲挤它！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直到这时，我才明白他的意思，我叫过小林，轻经地打开了他伤口上的布带子。伤口，像个发得过了火的开花馒头，又红又肿，没有器械，没有麻药，硬是把脓血从伤口里挤出来，这痛苦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快，快下手哇！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他在催我。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我，我干不来！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我痛苦地说。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你答应过我嘛，黄兴和同志！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他哀求似地说，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你总不能瞪着眼看我受罪呀，是不是？俗话说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‘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伤口出了脓，比不长还受用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’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，帮我挤挤就好了。好了，那不给队上减少了个累赘？又可以多帮你干点工作。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对我说完软的，又对小林来硬的：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林大富同志，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‘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三大纪律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’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头一条就是服从命今，我命令你：挤！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我横了横心：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干！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便让小林抱住他的腿，我两手握着伤口按下去。随着手劲，我觉得手底下他的肌肉猛地哆嗦了一下。我问：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老胡，怎么样？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没关系，你，你别管我！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我继续用力挤着伤口，这会儿我真想看看他是不是吃得消，却又不敢看。为了分散他的注意，减少些痛苦，我故意把话岔开来：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老胡，你看今天敌人还会不会再跟上来？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说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说不上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他低声回答。他把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上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字说成了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桑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，听得出话是从牙缝里挤出来的。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再追上来怎么办呢？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我又问。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嗯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他猛地抖了一下，那两株竹子也跟着索索地抖一阵。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要是真来了，咱就再干他一下，好不好？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嗯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他又是一阵猛抖。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一连两次问话没有回答，我心慌了，扭头向他望了望，只见他两手紧紧抠住地面，那被痛苦扭歪了的脸上，汗水顺着那浓黑的眉毛和鬓角，一串串地流着。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我费了好大的劲才压下想住手的打算，火辣辣地喊了声小林：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快，快去化杯盐水来！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蓦地，竹子剧烈地颤动了一下，两片硬硬的小碎骨片跳到了我的手上，然后滑过指缝掉落到脚下的草丛里。我停住了手。这才觉得自己的脊背一阵发冷，原来衣服不知什么时候已经被汗水湿透了。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我俩把他的伤口用盐水洗净，包扎好了，然后解开绳子，扶他在草地上平躺下来。他紧闭着眼，像睡着了似的。我撩把野草擦着手，坐到他的身边，小林正在掰着他的手指，他手里紧握着一把潮湿的泥土。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太阳已经出来了。阳光淡淡地洒在他的险上。他无力地睁开了眼，深深地吸了口气，说：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老黄，痛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——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啊！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汗珠映着阳光，晶亮晶亮的。我觉得自己的眼睛仿佛被这晶亮的反光刺得发痛，一滴咸咸的东西滚下来，流到了嘴角上。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（有删改）</a:t>
            </a:r>
            <a:r>
              <a:rPr lang="zh-CN" altLang="zh-CN" sz="1000" dirty="0"/>
              <a:t> </a:t>
            </a:r>
            <a:endParaRPr lang="zh-CN" altLang="en-US" sz="1000" dirty="0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BFC2728-FFB0-EA44-A359-B41AE3060335}"/>
              </a:ext>
            </a:extLst>
          </p:cNvPr>
          <p:cNvCxnSpPr/>
          <p:nvPr/>
        </p:nvCxnSpPr>
        <p:spPr>
          <a:xfrm>
            <a:off x="10163743" y="2273702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4FA38DE-CEE8-7042-883D-930451E63A8A}"/>
              </a:ext>
            </a:extLst>
          </p:cNvPr>
          <p:cNvCxnSpPr/>
          <p:nvPr/>
        </p:nvCxnSpPr>
        <p:spPr>
          <a:xfrm>
            <a:off x="6601326" y="2830898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14FA7543-190F-C349-BCBC-DB8C05E030E6}"/>
              </a:ext>
            </a:extLst>
          </p:cNvPr>
          <p:cNvCxnSpPr>
            <a:cxnSpLocks/>
          </p:cNvCxnSpPr>
          <p:nvPr/>
        </p:nvCxnSpPr>
        <p:spPr>
          <a:xfrm>
            <a:off x="4388861" y="3131688"/>
            <a:ext cx="347497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795D8A97-78C7-014E-BEA7-DCF18F60044D}"/>
              </a:ext>
            </a:extLst>
          </p:cNvPr>
          <p:cNvCxnSpPr>
            <a:cxnSpLocks/>
          </p:cNvCxnSpPr>
          <p:nvPr/>
        </p:nvCxnSpPr>
        <p:spPr>
          <a:xfrm>
            <a:off x="6461501" y="5763128"/>
            <a:ext cx="212369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7427553-0FF1-2045-A226-93543333A392}"/>
              </a:ext>
            </a:extLst>
          </p:cNvPr>
          <p:cNvSpPr/>
          <p:nvPr/>
        </p:nvSpPr>
        <p:spPr>
          <a:xfrm>
            <a:off x="10023631" y="178700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语言描写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D2A0C8-E307-ED4A-89CF-CA03DCA44BA8}"/>
              </a:ext>
            </a:extLst>
          </p:cNvPr>
          <p:cNvSpPr/>
          <p:nvPr/>
        </p:nvSpPr>
        <p:spPr>
          <a:xfrm>
            <a:off x="7656397" y="24824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语言描写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A6CD95-143C-8F43-84D9-4F32160A680B}"/>
              </a:ext>
            </a:extLst>
          </p:cNvPr>
          <p:cNvSpPr/>
          <p:nvPr/>
        </p:nvSpPr>
        <p:spPr>
          <a:xfrm>
            <a:off x="7909185" y="29607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动作描写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B57D69-460F-694D-8804-D6C8A1A296BD}"/>
              </a:ext>
            </a:extLst>
          </p:cNvPr>
          <p:cNvSpPr/>
          <p:nvPr/>
        </p:nvSpPr>
        <p:spPr>
          <a:xfrm>
            <a:off x="8116538" y="5261199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细节描写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4096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鉴赏小说中人物形象的技巧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3801601" cy="446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从情节的发展变化中把握人物性格。情节发展的过程往往是人物性格形成发展的过程。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矛盾冲突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中认识人物性格。在激烈的矛盾冲突中，人物的思想性格往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往反映得最充分、最深刻。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从描写方法中认识人物性格。注意肖像、语言、动作、心理等描写。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从社会环境、活动场景及人物的典型意义。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(5)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借助作者对人物的介绍的评价把握人物的基本特征。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172087"/>
            <a:ext cx="3801601" cy="2547557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467225" y="4288858"/>
            <a:ext cx="375220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【2022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全国高考甲卷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8.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老胡这一人物形象有哪些特点？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请结合文本一简要分析。</a:t>
            </a: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矛盾冲突：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“老黄”与“老胡”在对伤口的处理上有矛盾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老胡一直坚持挤出脓血，老黄对老胡的“痛苦”、“哀求”有深刻的共鸣，“生生挤出腿部的脓血，甚至挤出了两片碎骨片 ”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形象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2: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坚强不屈的意志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	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）刚毅果敢。腿部受伤化脓，他果断决定让人挤出脓血，体现出铮铮铁骨。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）意志坚强。没有医疗器械和麻药，他忍受剧痛，有不屈的意志。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）信念坚定。环境的艰苦和身体的痛苦都不能改变他革命的信念。 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319C1B-C24B-804D-8D82-667FA56C4650}"/>
              </a:ext>
            </a:extLst>
          </p:cNvPr>
          <p:cNvSpPr/>
          <p:nvPr/>
        </p:nvSpPr>
        <p:spPr>
          <a:xfrm>
            <a:off x="4337579" y="138355"/>
            <a:ext cx="7436591" cy="658128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文本一：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fontAlgn="ctr">
              <a:lnSpc>
                <a:spcPts val="1100"/>
              </a:lnSpc>
              <a:spcAft>
                <a:spcPts val="0"/>
              </a:spcAft>
            </a:pPr>
            <a:r>
              <a:rPr lang="zh-CN" altLang="zh-CN" sz="1000" b="1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支队政委（节选）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fontAlgn="ctr">
              <a:lnSpc>
                <a:spcPts val="1100"/>
              </a:lnSpc>
              <a:spcAft>
                <a:spcPts val="0"/>
              </a:spcAft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王愿坚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我做了一个梦，梦见我像是负了伤，正在爬一个崖头，怎么也爬不上去。忽然，老胡来了，他变得跟棵老黄松似的，又高又大，伸出小葵扇那么大的一只手，拉住了我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一睁眼，可不是，我的手正在他手里攥着呢。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见我醒了，他把我的手捏紧了，突然问我：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老黄，我求你个事成不成？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怎么不成！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我奇怪地看了他一眼。他的脸被拂晓时的月光一照，更是苍白，简直像是块白石头刻出来的。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我让你干什么你干什么？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一定！</a:t>
            </a:r>
            <a:r>
              <a:rPr lang="zh-CN" altLang="en-US" sz="1000" kern="100" dirty="0">
                <a:solidFill>
                  <a:srgbClr val="000000"/>
                </a:solidFill>
                <a:ea typeface="宋体" panose="02010600030101010101" pitchFamily="2" charset="-122"/>
                <a:cs typeface="楷体" panose="02010609060101010101" pitchFamily="49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他扭身戳了戳正在酣睡的林大富。小伙子一骨碌爬起来，愣眉愣眼地问：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政委，要出发？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不，有任务！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老胡说着抓起一个挎包，对我说：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咱们到那边竹林里去。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我疑疑惑惑地背起他，来到了那片竹林边上。这时，启明星贼亮贼亮的，东方已经现出鱼肚白了。老胡四下里看了看，选了一棵大毛竹，靠在上面坐下来，又问了我一句：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真的叫你干啥你干啥？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真的，快说吧！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我被他弄得又糊涂又心焦。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好！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他伸手从挎包里掏出两根绳子，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噗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的一声扔在我面前，然后两手往竹子后面一背，厉声说：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把我绑起来！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该不是叫伤口疼得他神经错乱了吧？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我想，本想不干，无奈已经有言在先了，我一面绑，一面问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这是干啥？你疯啦？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他没搭我的腔，只是一个劲叫着：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绑紧点，绑紧点！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等我们把他两手绑好，他又把那条伤腿伸开，蹬住了另一棵竹子：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把这也绑住！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我们也照办了。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看看我们都弄妥了，他咬咬牙说：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来，使劲挤它！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直到这时，我才明白他的意思，我叫过小林，轻经地打开了他伤口上的布带子。伤口，像个发得过了火的开花馒头，又红又肿，没有器械，没有麻药，硬是把脓血从伤口里挤出来，这痛苦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快，快下手哇！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他在催我。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我，我干不来！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我痛苦地说。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你答应过我嘛，黄兴和同志！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他哀求似地说，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你总不能瞪着眼看我受罪呀，是不是？俗话说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‘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伤口出了脓，比不长还受用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’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，帮我挤挤就好了。好了，那不给队上减少了个累赘？又可以多帮你干点工作。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对我说完软的，又对小林来硬的：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林大富同志，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‘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三大纪律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’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头一条就是服从命今，我命令你：挤！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我横了横心：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干！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便让小林抱住他的腿，我两手握着伤口按下去。随着手劲，我觉得手底下他的肌肉猛地哆嗦了一下。我问：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老胡，怎么样？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没关系，你，你别管我！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我继续用力挤着伤口，这会儿我真想看看他是不是吃得消，却又不敢看。为了分散他的注意，减少些痛苦，我故意把话岔开来：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老胡，你看今天敌人还会不会再跟上来？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说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说不上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他低声回答。他把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上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字说成了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桑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，听得出话是从牙缝里挤出来的。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再追上来怎么办呢？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我又问。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嗯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他猛地抖了一下，那两株竹子也跟着索索地抖一阵。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要是真来了，咱就再干他一下，好不好？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嗯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他又是一阵猛抖。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一连两次问话没有回答，我心慌了，扭头向他望了望，只见他两手紧紧抠住地面，那被痛苦扭歪了的脸上，汗水顺着那浓黑的眉毛和鬓角，一串串地流着。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我费了好大的劲才压下想住手的打算，火辣辣地喊了声小林：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快，快去化杯盐水来！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蓦地，竹子剧烈地颤动了一下，两片硬硬的小碎骨片跳到了我的手上，然后滑过指缝掉落到脚下的草丛里。我停住了手。这才觉得自己的脊背一阵发冷，原来衣服不知什么时候已经被汗水湿透了。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我俩把他的伤口用盐水洗净，包扎好了，然后解开绳子，扶他在草地上平躺下来。他紧闭着眼，像睡着了似的。我撩把野草擦着手，坐到他的身边，小林正在掰着他的手指，他手里紧握着一把潮湿的泥土。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太阳已经出来了。阳光淡淡地洒在他的险上。他无力地睁开了眼，深深地吸了口气，说：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老黄，痛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——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啊！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汗珠映着阳光，晶亮晶亮的。我觉得自己的眼睛仿佛被这晶亮的反光刺得发痛，一滴咸咸的东西滚下来，流到了嘴角上。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（有删改）</a:t>
            </a:r>
            <a:r>
              <a:rPr lang="zh-CN" altLang="zh-CN" sz="1000" dirty="0"/>
              <a:t> </a:t>
            </a:r>
            <a:endParaRPr lang="zh-CN" altLang="en-US" sz="1000" dirty="0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BFC2728-FFB0-EA44-A359-B41AE3060335}"/>
              </a:ext>
            </a:extLst>
          </p:cNvPr>
          <p:cNvCxnSpPr/>
          <p:nvPr/>
        </p:nvCxnSpPr>
        <p:spPr>
          <a:xfrm>
            <a:off x="10163743" y="2273702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4FA38DE-CEE8-7042-883D-930451E63A8A}"/>
              </a:ext>
            </a:extLst>
          </p:cNvPr>
          <p:cNvCxnSpPr/>
          <p:nvPr/>
        </p:nvCxnSpPr>
        <p:spPr>
          <a:xfrm>
            <a:off x="6601326" y="2830898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14FA7543-190F-C349-BCBC-DB8C05E030E6}"/>
              </a:ext>
            </a:extLst>
          </p:cNvPr>
          <p:cNvCxnSpPr>
            <a:cxnSpLocks/>
          </p:cNvCxnSpPr>
          <p:nvPr/>
        </p:nvCxnSpPr>
        <p:spPr>
          <a:xfrm>
            <a:off x="4388861" y="3131688"/>
            <a:ext cx="347497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795D8A97-78C7-014E-BEA7-DCF18F60044D}"/>
              </a:ext>
            </a:extLst>
          </p:cNvPr>
          <p:cNvCxnSpPr>
            <a:cxnSpLocks/>
          </p:cNvCxnSpPr>
          <p:nvPr/>
        </p:nvCxnSpPr>
        <p:spPr>
          <a:xfrm>
            <a:off x="6461501" y="5763128"/>
            <a:ext cx="212369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7427553-0FF1-2045-A226-93543333A392}"/>
              </a:ext>
            </a:extLst>
          </p:cNvPr>
          <p:cNvSpPr/>
          <p:nvPr/>
        </p:nvSpPr>
        <p:spPr>
          <a:xfrm>
            <a:off x="10023631" y="178700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语言描写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D2A0C8-E307-ED4A-89CF-CA03DCA44BA8}"/>
              </a:ext>
            </a:extLst>
          </p:cNvPr>
          <p:cNvSpPr/>
          <p:nvPr/>
        </p:nvSpPr>
        <p:spPr>
          <a:xfrm>
            <a:off x="7656397" y="24824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语言描写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A6CD95-143C-8F43-84D9-4F32160A680B}"/>
              </a:ext>
            </a:extLst>
          </p:cNvPr>
          <p:cNvSpPr/>
          <p:nvPr/>
        </p:nvSpPr>
        <p:spPr>
          <a:xfrm>
            <a:off x="7909185" y="29607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动作描写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B57D69-460F-694D-8804-D6C8A1A296BD}"/>
              </a:ext>
            </a:extLst>
          </p:cNvPr>
          <p:cNvSpPr/>
          <p:nvPr/>
        </p:nvSpPr>
        <p:spPr>
          <a:xfrm>
            <a:off x="8116538" y="5261199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细节描写</a:t>
            </a:r>
            <a:endParaRPr lang="zh-CN" altLang="en-US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0AA7C59-25D6-6D4D-BF2E-90D487F654D4}"/>
              </a:ext>
            </a:extLst>
          </p:cNvPr>
          <p:cNvCxnSpPr/>
          <p:nvPr/>
        </p:nvCxnSpPr>
        <p:spPr>
          <a:xfrm>
            <a:off x="6753726" y="2983298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83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鉴赏小说中人物形象的技巧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3801601" cy="446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从情节的发展变化中把握人物性格。情节发展的过程往往是人物性格形成发展的过程。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从矛盾冲突中认识人物性格。在激烈的矛盾冲突中，人物的思想性格往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往反映得最充分、最深刻。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描写方法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中认识人物性格。注意肖像、语言、动作、心理等描写。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从社会环境、活动场景及人物的典型意义。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(5)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借助作者对人物的介绍的评价把握人物的基本特征。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172087"/>
            <a:ext cx="3801601" cy="2547557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467225" y="4288858"/>
            <a:ext cx="376380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【2022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全国高考甲卷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8.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老胡这一人物形象有哪些特点？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请结合文本一简要分析。</a:t>
            </a: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描写方法：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语言描写、动作描写、细节描写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老胡毅然让人帮助把腿部的脓血挤出，精神上、肉体上都到了崩溃的边缘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形象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3: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刚毅果敢的战士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319C1B-C24B-804D-8D82-667FA56C4650}"/>
              </a:ext>
            </a:extLst>
          </p:cNvPr>
          <p:cNvSpPr/>
          <p:nvPr/>
        </p:nvSpPr>
        <p:spPr>
          <a:xfrm>
            <a:off x="4337579" y="138355"/>
            <a:ext cx="7436591" cy="658128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文本一：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fontAlgn="ctr">
              <a:lnSpc>
                <a:spcPts val="1100"/>
              </a:lnSpc>
              <a:spcAft>
                <a:spcPts val="0"/>
              </a:spcAft>
            </a:pPr>
            <a:r>
              <a:rPr lang="zh-CN" altLang="zh-CN" sz="1000" b="1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支队政委（节选）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fontAlgn="ctr">
              <a:lnSpc>
                <a:spcPts val="1100"/>
              </a:lnSpc>
              <a:spcAft>
                <a:spcPts val="0"/>
              </a:spcAft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王愿坚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我做了一个梦，梦见我像是负了伤，正在爬一个崖头，怎么也爬不上去。忽然，老胡来了，他变得跟棵老黄松似的，又高又大，伸出小葵扇那么大的一只手，拉住了我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一睁眼，可不是，我的手正在他手里攥着呢。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见我醒了，他把我的手捏紧了，突然问我：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老黄，我求你个事成不成？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怎么不成！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我奇怪地看了他一眼。他的脸被拂晓时的月光一照，更是苍白，简直像是块白石头刻出来的。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我让你干什么你干什么？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一定！</a:t>
            </a:r>
            <a:r>
              <a:rPr lang="zh-CN" altLang="en-US" sz="1000" kern="100" dirty="0">
                <a:solidFill>
                  <a:srgbClr val="000000"/>
                </a:solidFill>
                <a:ea typeface="宋体" panose="02010600030101010101" pitchFamily="2" charset="-122"/>
                <a:cs typeface="楷体" panose="02010609060101010101" pitchFamily="49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他扭身戳了戳正在酣睡的林大富。小伙子一骨碌爬起来，愣眉愣眼地问：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政委，要出发？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不，有任务！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老胡说着抓起一个挎包，对我说：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咱们到那边竹林里去。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我疑疑惑惑地背起他，来到了那片竹林边上。这时，启明星贼亮贼亮的，东方已经现出鱼肚白了。老胡四下里看了看，选了一棵大毛竹，靠在上面坐下来，又问了我一句：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真的叫你干啥你干啥？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真的，快说吧！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我被他弄得又糊涂又心焦。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好！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他伸手从挎包里掏出两根绳子，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噗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的一声扔在我面前，然后两手往竹子后面一背，厉声说：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把我绑起来！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该不是叫伤口疼得他神经错乱了吧？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我想，本想不干，无奈已经有言在先了，我一面绑，一面问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这是干啥？你疯啦？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他没搭我的腔，只是一个劲叫着：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绑紧点，绑紧点！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等我们把他两手绑好，他又把那条伤腿伸开，蹬住了另一棵竹子：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把这也绑住！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我们也照办了。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看看我们都弄妥了，他咬咬牙说：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来，使劲挤它！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直到这时，我才明白他的意思，我叫过小林，轻经地打开了他伤口上的布带子。伤口，像个发得过了火的开花馒头，又红又肿，没有器械，没有麻药，硬是把脓血从伤口里挤出来，这痛苦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快，快下手哇！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他在催我。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我，我干不来！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我痛苦地说。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你答应过我嘛，黄兴和同志！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他哀求似地说，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你总不能瞪着眼看我受罪呀，是不是？俗话说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‘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伤口出了脓，比不长还受用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’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，帮我挤挤就好了。好了，那不给队上减少了个累赘？又可以多帮你干点工作。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对我说完软的，又对小林来硬的：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林大富同志，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‘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三大纪律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’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头一条就是服从命今，我命令你：挤！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我横了横心：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干！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便让小林抱住他的腿，我两手握着伤口按下去。随着手劲，我觉得手底下他的肌肉猛地哆嗦了一下。我问：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老胡，怎么样？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没关系，你，你别管我！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我继续用力挤着伤口，这会儿我真想看看他是不是吃得消，却又不敢看。为了分散他的注意，减少些痛苦，我故意把话岔开来：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老胡，你看今天敌人还会不会再跟上来？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说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说不上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他低声回答。他把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上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字说成了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桑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，听得出话是从牙缝里挤出来的。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再追上来怎么办呢？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我又问。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嗯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他猛地抖了一下，那两株竹子也跟着索索地抖一阵。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要是真来了，咱就再干他一下，好不好？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嗯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他又是一阵猛抖。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一连两次问话没有回答，我心慌了，扭头向他望了望，只见他两手紧紧抠住地面，那被痛苦扭歪了的脸上，汗水顺着那浓黑的眉毛和鬓角，一串串地流着。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我费了好大的劲才压下想住手的打算，火辣辣地喊了声小林：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快，快去化杯盐水来！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蓦地，竹子剧烈地颤动了一下，两片硬硬的小碎骨片跳到了我的手上，然后滑过指缝掉落到脚下的草丛里。我停住了手。这才觉得自己的脊背一阵发冷，原来衣服不知什么时候已经被汗水湿透了。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我俩把他的伤口用盐水洗净，包扎好了，然后解开绳子，扶他在草地上平躺下来。他紧闭着眼，像睡着了似的。我撩把野草擦着手，坐到他的身边，小林正在掰着他的手指，他手里紧握着一把潮湿的泥土。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太阳已经出来了。阳光淡淡地洒在他的险上。他无力地睁开了眼，深深地吸了口气，说：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老黄，痛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——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啊！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汗珠映着阳光，晶亮晶亮的。我觉得自己的眼睛仿佛被这晶亮的反光刺得发痛，一滴咸咸的东西滚下来，流到了嘴角上。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（有删改）</a:t>
            </a:r>
            <a:r>
              <a:rPr lang="zh-CN" altLang="zh-CN" sz="1000" dirty="0"/>
              <a:t> </a:t>
            </a:r>
            <a:endParaRPr lang="zh-CN" altLang="en-US" sz="1000" dirty="0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BFC2728-FFB0-EA44-A359-B41AE3060335}"/>
              </a:ext>
            </a:extLst>
          </p:cNvPr>
          <p:cNvCxnSpPr/>
          <p:nvPr/>
        </p:nvCxnSpPr>
        <p:spPr>
          <a:xfrm>
            <a:off x="10163743" y="2273702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4FA38DE-CEE8-7042-883D-930451E63A8A}"/>
              </a:ext>
            </a:extLst>
          </p:cNvPr>
          <p:cNvCxnSpPr/>
          <p:nvPr/>
        </p:nvCxnSpPr>
        <p:spPr>
          <a:xfrm>
            <a:off x="6601326" y="2830898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14FA7543-190F-C349-BCBC-DB8C05E030E6}"/>
              </a:ext>
            </a:extLst>
          </p:cNvPr>
          <p:cNvCxnSpPr>
            <a:cxnSpLocks/>
          </p:cNvCxnSpPr>
          <p:nvPr/>
        </p:nvCxnSpPr>
        <p:spPr>
          <a:xfrm>
            <a:off x="4388861" y="3131688"/>
            <a:ext cx="347497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795D8A97-78C7-014E-BEA7-DCF18F60044D}"/>
              </a:ext>
            </a:extLst>
          </p:cNvPr>
          <p:cNvCxnSpPr>
            <a:cxnSpLocks/>
          </p:cNvCxnSpPr>
          <p:nvPr/>
        </p:nvCxnSpPr>
        <p:spPr>
          <a:xfrm>
            <a:off x="6461501" y="5763128"/>
            <a:ext cx="212369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7427553-0FF1-2045-A226-93543333A392}"/>
              </a:ext>
            </a:extLst>
          </p:cNvPr>
          <p:cNvSpPr/>
          <p:nvPr/>
        </p:nvSpPr>
        <p:spPr>
          <a:xfrm>
            <a:off x="10023631" y="178700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语言描写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D2A0C8-E307-ED4A-89CF-CA03DCA44BA8}"/>
              </a:ext>
            </a:extLst>
          </p:cNvPr>
          <p:cNvSpPr/>
          <p:nvPr/>
        </p:nvSpPr>
        <p:spPr>
          <a:xfrm>
            <a:off x="7656397" y="24824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语言描写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A6CD95-143C-8F43-84D9-4F32160A680B}"/>
              </a:ext>
            </a:extLst>
          </p:cNvPr>
          <p:cNvSpPr/>
          <p:nvPr/>
        </p:nvSpPr>
        <p:spPr>
          <a:xfrm>
            <a:off x="7909185" y="29607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动作描写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B57D69-460F-694D-8804-D6C8A1A296BD}"/>
              </a:ext>
            </a:extLst>
          </p:cNvPr>
          <p:cNvSpPr/>
          <p:nvPr/>
        </p:nvSpPr>
        <p:spPr>
          <a:xfrm>
            <a:off x="8116538" y="5261199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细节描写</a:t>
            </a:r>
            <a:endParaRPr lang="zh-CN" altLang="en-US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8BFA6251-4FE2-A040-AD98-1CAC31FB7C1B}"/>
              </a:ext>
            </a:extLst>
          </p:cNvPr>
          <p:cNvCxnSpPr>
            <a:cxnSpLocks/>
          </p:cNvCxnSpPr>
          <p:nvPr/>
        </p:nvCxnSpPr>
        <p:spPr>
          <a:xfrm>
            <a:off x="10023631" y="4008090"/>
            <a:ext cx="133101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6D32B79B-002B-944A-BEC5-3B7F28BABC24}"/>
              </a:ext>
            </a:extLst>
          </p:cNvPr>
          <p:cNvSpPr/>
          <p:nvPr/>
        </p:nvSpPr>
        <p:spPr>
          <a:xfrm>
            <a:off x="10035230" y="39442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动作描写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0787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鉴赏小说中人物形象的技巧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3801601" cy="446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情节的发展变化中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把握人物性格。情节发展的过程往往是人物性格形成发展的过程。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从矛盾冲突中认识人物性格。在激烈的矛盾冲突中，人物的思想性格往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往反映得最充分、最深刻。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从描写方法中认识人物性格。注意肖像、语言、动作、心理等描写。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从社会环境、活动场景及人物的典型意义。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(5)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借助作者对人物的介绍的评价把握人物的基本特征。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172087"/>
            <a:ext cx="3801601" cy="2547557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467225" y="4288858"/>
            <a:ext cx="37991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【2022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全国高考甲卷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8.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老胡这一人物形象有哪些特点？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请结合文本一简要分析。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答：</a:t>
            </a: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）刚毅果敢。腿部受伤化脓，他果断决定让人挤出脓血，体现出铮铮铁骨。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）意志坚强。没有医疗器械和麻药，他忍受剧痛，有不屈的意志。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）信念坚定。环境的艰苦和身体的痛苦都不能改变他革命的信念。 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319C1B-C24B-804D-8D82-667FA56C4650}"/>
              </a:ext>
            </a:extLst>
          </p:cNvPr>
          <p:cNvSpPr/>
          <p:nvPr/>
        </p:nvSpPr>
        <p:spPr>
          <a:xfrm>
            <a:off x="4337579" y="138355"/>
            <a:ext cx="7436591" cy="658128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文本一：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fontAlgn="ctr">
              <a:lnSpc>
                <a:spcPts val="1100"/>
              </a:lnSpc>
              <a:spcAft>
                <a:spcPts val="0"/>
              </a:spcAft>
            </a:pPr>
            <a:r>
              <a:rPr lang="zh-CN" altLang="zh-CN" sz="1000" b="1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支队政委（节选）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fontAlgn="ctr">
              <a:lnSpc>
                <a:spcPts val="1100"/>
              </a:lnSpc>
              <a:spcAft>
                <a:spcPts val="0"/>
              </a:spcAft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王愿坚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我做了一个梦，梦见我像是负了伤，正在爬一个崖头，怎么也爬不上去。忽然，老胡来了，他变得跟棵老黄松似的，又高又大，伸出小葵扇那么大的一只手，拉住了我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一睁眼，可不是，我的手正在他手里攥着呢。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见我醒了，他把我的手捏紧了，突然问我：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老黄，我求你个事成不成？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怎么不成！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我奇怪地看了他一眼。他的脸被拂晓时的月光一照，更是苍白，简直像是块白石头刻出来的。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我让你干什么你干什么？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一定！</a:t>
            </a:r>
            <a:r>
              <a:rPr lang="zh-CN" altLang="en-US" sz="1000" kern="100" dirty="0">
                <a:solidFill>
                  <a:srgbClr val="000000"/>
                </a:solidFill>
                <a:ea typeface="宋体" panose="02010600030101010101" pitchFamily="2" charset="-122"/>
                <a:cs typeface="楷体" panose="02010609060101010101" pitchFamily="49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他扭身戳了戳正在酣睡的林大富。小伙子一骨碌爬起来，愣眉愣眼地问：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政委，要出发？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不，有任务！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老胡说着抓起一个挎包，对我说：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咱们到那边竹林里去。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我疑疑惑惑地背起他，来到了那片竹林边上。这时，启明星贼亮贼亮的，东方已经现出鱼肚白了。老胡四下里看了看，选了一棵大毛竹，靠在上面坐下来，又问了我一句：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真的叫你干啥你干啥？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真的，快说吧！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我被他弄得又糊涂又心焦。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好！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他伸手从挎包里掏出两根绳子，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噗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的一声扔在我面前，然后两手往竹子后面一背，厉声说：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把我绑起来！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该不是叫伤口疼得他神经错乱了吧？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我想，本想不干，无奈已经有言在先了，我一面绑，一面问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这是干啥？你疯啦？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他没搭我的腔，只是一个劲叫着：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绑紧点，绑紧点！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等我们把他两手绑好，他又把那条伤腿伸开，蹬住了另一棵竹子：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把这也绑住！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我们也照办了。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看看我们都弄妥了，他咬咬牙说：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来，使劲挤它！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直到这时，我才明白他的意思，我叫过小林，轻经地打开了他伤口上的布带子。伤口，像个发得过了火的开花馒头，又红又肿，没有器械，没有麻药，硬是把脓血从伤口里挤出来，这痛苦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快，快下手哇！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他在催我。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我，我干不来！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我痛苦地说。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你答应过我嘛，黄兴和同志！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他哀求似地说，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你总不能瞪着眼看我受罪呀，是不是？俗话说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‘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伤口出了脓，比不长还受用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’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，帮我挤挤就好了。好了，那不给队上减少了个累赘？又可以多帮你干点工作。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对我说完软的，又对小林来硬的：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林大富同志，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‘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三大纪律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’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头一条就是服从命今，我命令你：挤！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我横了横心：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干！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便让小林抱住他的腿，我两手握着伤口按下去。随着手劲，我觉得手底下他的肌肉猛地哆嗦了一下。我问：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老胡，怎么样？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没关系，你，你别管我！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我继续用力挤着伤口，这会儿我真想看看他是不是吃得消，却又不敢看。为了分散他的注意，减少些痛苦，我故意把话岔开来：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老胡，你看今天敌人还会不会再跟上来？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说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说不上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他低声回答。他把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上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字说成了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桑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，听得出话是从牙缝里挤出来的。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再追上来怎么办呢？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我又问。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嗯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他猛地抖了一下，那两株竹子也跟着索索地抖一阵。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要是真来了，咱就再干他一下，好不好？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嗯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……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他又是一阵猛抖。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一连两次问话没有回答，我心慌了，扭头向他望了望，只见他两手紧紧抠住地面，那被痛苦扭歪了的脸上，汗水顺着那浓黑的眉毛和鬓角，一串串地流着。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我费了好大的劲才压下想住手的打算，火辣辣地喊了声小林：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快，快去化杯盐水来！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蓦地，竹子剧烈地颤动了一下，两片硬硬的小碎骨片跳到了我的手上，然后滑过指缝掉落到脚下的草丛里。我停住了手。这才觉得自己的脊背一阵发冷，原来衣服不知什么时候已经被汗水湿透了。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我俩把他的伤口用盐水洗净，包扎好了，然后解开绳子，扶他在草地上平躺下来。他紧闭着眼，像睡着了似的。我撩把野草擦着手，坐到他的身边，小林正在掰着他的手指，他手里紧握着一把潮湿的泥土。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太阳已经出来了。阳光淡淡地洒在他的险上。他无力地睁开了眼，深深地吸了口气，说：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老黄，痛</a:t>
            </a:r>
            <a:r>
              <a:rPr lang="en-US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——</a:t>
            </a: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啊！</a:t>
            </a:r>
            <a:r>
              <a:rPr lang="en-US" altLang="zh-CN" sz="1000" kern="100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fontAlgn="ctr"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汗珠映着阳光，晶亮晶亮的。我觉得自己的眼睛仿佛被这晶亮的反光刺得发痛，一滴咸咸的东西滚下来，流到了嘴角上。</a:t>
            </a:r>
            <a:endParaRPr lang="zh-CN" altLang="zh-CN" sz="1000" kern="1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1100"/>
              </a:lnSpc>
            </a:pPr>
            <a:r>
              <a:rPr lang="zh-CN" altLang="zh-CN" sz="1000" kern="100" dirty="0">
                <a:solidFill>
                  <a:srgbClr val="000000"/>
                </a:solidFill>
                <a:ea typeface="楷体" panose="02010609060101010101" pitchFamily="49" charset="-122"/>
                <a:cs typeface="楷体" panose="02010609060101010101" pitchFamily="49" charset="-122"/>
              </a:rPr>
              <a:t>（有删改）</a:t>
            </a:r>
            <a:r>
              <a:rPr lang="zh-CN" altLang="zh-CN" sz="1000" dirty="0"/>
              <a:t> </a:t>
            </a:r>
            <a:endParaRPr lang="zh-CN" altLang="en-US" sz="1000" dirty="0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BFC2728-FFB0-EA44-A359-B41AE3060335}"/>
              </a:ext>
            </a:extLst>
          </p:cNvPr>
          <p:cNvCxnSpPr/>
          <p:nvPr/>
        </p:nvCxnSpPr>
        <p:spPr>
          <a:xfrm>
            <a:off x="10163743" y="2273702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4FA38DE-CEE8-7042-883D-930451E63A8A}"/>
              </a:ext>
            </a:extLst>
          </p:cNvPr>
          <p:cNvCxnSpPr/>
          <p:nvPr/>
        </p:nvCxnSpPr>
        <p:spPr>
          <a:xfrm>
            <a:off x="6601326" y="2830898"/>
            <a:ext cx="82777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14FA7543-190F-C349-BCBC-DB8C05E030E6}"/>
              </a:ext>
            </a:extLst>
          </p:cNvPr>
          <p:cNvCxnSpPr>
            <a:cxnSpLocks/>
          </p:cNvCxnSpPr>
          <p:nvPr/>
        </p:nvCxnSpPr>
        <p:spPr>
          <a:xfrm>
            <a:off x="4388861" y="3131688"/>
            <a:ext cx="347497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795D8A97-78C7-014E-BEA7-DCF18F60044D}"/>
              </a:ext>
            </a:extLst>
          </p:cNvPr>
          <p:cNvCxnSpPr>
            <a:cxnSpLocks/>
          </p:cNvCxnSpPr>
          <p:nvPr/>
        </p:nvCxnSpPr>
        <p:spPr>
          <a:xfrm>
            <a:off x="6461501" y="5763128"/>
            <a:ext cx="212369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998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分析小说中次要人物的作用的技巧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5850795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次要人物即陪衬人物或线索人物，其作用一般有：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主要人物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起陪衬作用；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贯穿全文的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线索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，特别是以第一人称叙述的小说中的“我”，多起到叙述者和见证人的作用，增强小说的真实性；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）同主要人物一同揭示或凸显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主旨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）推动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发展。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172087"/>
            <a:ext cx="11177270" cy="220331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486158" y="42545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7" y="4271227"/>
            <a:ext cx="67732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人物作用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区分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人物形象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形象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侧重内容、主旨等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｜｜区分：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作用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侧重对两方面：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其他小说要素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】+</a:t>
            </a:r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行文结构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lang="en-US" altLang="zh-CN" sz="12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对人物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线索 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文章结构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情节的作用</a:t>
            </a:r>
            <a:r>
              <a:rPr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en-US" altLang="zh-CN" sz="12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463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分析小说中环境描写的作用的技巧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272124"/>
            <a:ext cx="7607551" cy="261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环境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 </a:t>
            </a:r>
            <a:b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交代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 （背景），营造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氛围， 渲染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气氛，奠定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感情基调。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b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侧面写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性格，烘托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心理。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主题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b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推动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发展，暗示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转换，勾连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情节，为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做铺垫，为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埋下伏笔。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表达（寄托、暗示、揭示、深化）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主旨。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5280082"/>
            <a:ext cx="11177270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6" y="5353914"/>
            <a:ext cx="8499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【2019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）小说中有多处景物描写，请分析其功能。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244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分析小说中环境描写的作用的技巧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5280082"/>
            <a:ext cx="11177270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7" y="5353914"/>
            <a:ext cx="67732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【2019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）小说中有多处景物描写，请分析其功能。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AEB3E1-48F5-C24E-99BE-ED580395D969}"/>
              </a:ext>
            </a:extLst>
          </p:cNvPr>
          <p:cNvSpPr/>
          <p:nvPr/>
        </p:nvSpPr>
        <p:spPr>
          <a:xfrm>
            <a:off x="276997" y="1093773"/>
            <a:ext cx="11428845" cy="4260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355" algn="ctr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到梨花屯去</a:t>
            </a:r>
          </a:p>
          <a:p>
            <a:pPr marL="173355" algn="ctr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何士光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3355" algn="ctr">
              <a:lnSpc>
                <a:spcPts val="1300"/>
              </a:lnSpc>
              <a:spcAft>
                <a:spcPts val="0"/>
              </a:spcAft>
            </a:pP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这故事开场时是颇为平淡的，只是后来，马车快要进梨花屯，而两个乘客也沉默时，回过头来看一看，兴许才有一点故事的意味……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一辆马车从白杨坝出来，车夫是个老人家。在一座石桥旁，他把一个中年人让到车上来。看得出，这是位下乡干部。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天色好晴朗。水田还没有栽上秧子，但包谷已长得十分青葱，初夏的山野，透露着旺盛的生命力，叫人沉醉不已。碎石的马路拐弯了，爬坡了，又拐弯了，又爬坡了。不时有布谷在啼叫，车上的人似乎打起盹来了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不知过了多久，马车停住。打盹的干部猛地抬头，看见有人正上到车上来。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“啊，谢主任？”来人犹豫地打招呼，似乎有些意外。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“是……老赵同志？”谢主任嗫嚅了一下，也有些突然。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车抖了一下，从横过路面的小小水沟上驶过。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谢主任把香烟掏出来，递一支给老赵：“去梨花屯？”语气中有和解的意味。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老赵谨慎地回答：“是。”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“去包队吗？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“是。胜利大队。”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“我也是！”谢主任和蔼地笑起来，“我们都是十回下乡九回在，老走梨花这一方！”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笑颜使气氛松动起来。三只白鹤高高飞过，不慌不忙扇动着长长的翅膀，在蓝天里显得又白又亮……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“老赵，”谢主任开诚布公地谈起来，“我一直想找机会和你谈谈呢！为七六年秋天在梨花挖那条沟，你怕还对我有些意见呐！”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“谢主任，你说到哪里去了！”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“实事求是嘛！当时我是工作队的负责人，瞎指挥是我搞的，该由我负责！有人把责任归到你头上，当然不应当！”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“我……”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“我也明知那条沟不该挖，一气就占了四十亩良田。但当时压力大啊；上边决定要挖，社员不同意挖，是我硬表了态：我叫挖的，我负责！”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“这种表态，”老赵想了一想，“我也表过……”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“那是因为我先表嘛！”谢主任接过话头，“老赵，去年报上有篇报道，你读过没有？”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“哪一篇？”</a:t>
            </a:r>
          </a:p>
        </p:txBody>
      </p:sp>
    </p:spTree>
    <p:extLst>
      <p:ext uri="{BB962C8B-B14F-4D97-AF65-F5344CB8AC3E}">
        <p14:creationId xmlns:p14="http://schemas.microsoft.com/office/powerpoint/2010/main" val="8578013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5421291"/>
            <a:ext cx="11288012" cy="1129137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486158" y="5486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7" y="5486914"/>
            <a:ext cx="67732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【2019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）小说中有多处景物描写，请分析其功能。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6FBAE2-69CD-134A-8CC7-CFCE243D9367}"/>
              </a:ext>
            </a:extLst>
          </p:cNvPr>
          <p:cNvSpPr/>
          <p:nvPr/>
        </p:nvSpPr>
        <p:spPr>
          <a:xfrm>
            <a:off x="346247" y="444878"/>
            <a:ext cx="11359595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ts val="1300"/>
              </a:lnSpc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“谈得真好！”谢主任不胜感慨地说，“是基层干部座谈。总结说：上面是‘嘴巴硬’，基层干部是‘肩膀硬’！基层干部负责任。像是报道的安徽……”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路转了一个大弯一一在一座杉树土岗前好像到了尽头，接着又一下子在马车前重新展现出来，一直延伸到老远的山垭口……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“正是这样嘛！”谢主任点头，“那条沟，责任由我负！”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“我也有责任！那是分派给我的任务。如果不是我催得紧，态度那样硬，说不定就挖不成！责任归我负！”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双方都有诚恳的态度，气氛十分亲切了，甚至到了甜蜜的地步。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路旁出现了一条水沟，水欢快地流淌着，发出叫人喜悦的响声……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他们无拘无束地谈下去了。谈形势，谈这次去梨花屯纠正“定产到组”中出现的种种偏差，等等。后来，拉起家常来了……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越近梨花屯，地势就越平坦，心里也越舒畅。突然，谢主任拍了拍赶车老汉的肩膀：“停一停！”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老人家把缰收住了。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“两年多没到梨花，看看那条沟怎样了！”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坝子上水田一块接着一块，已经犁过了。带着铧印的泥土静静地横陈着，吸收着阳光，像刚切开的梨子一样新鲜，透着沁人心脾的气息……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看不见那条沟。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谢主任问车夫：“老同志，那条沟是不是在这一带？”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“咹？”老人家听不清。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老赵大声说：“沟一一挖过一条沟啊！”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“嗯，”老人家听懂了，点点头，“是挖过一条沟。唔，大前年的事喽，立冬后开挖的。分给我们六个生产队，每个劳力摊一截。我都有一截呢！顶上头一段，是红星队……”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看来老人家说起话来是絮絮不休的。老赵终于打断了他：“现在沟在哪里？”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“哪里？”老人家摇着头，“后来填了嘛，去年，开春过后……”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谢主任问：“哪个喊填的？”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“哪个？”老人家认真地想了一回，“没有哪个。是我们六个队的人商量的。总不成就让它摆在那里，沟不沟坎不坎的！唔，先是抬那些石头。论挑抬活路，这一带的人都是好手，肩膀最硬……”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像我们在乡下会碰到的许多老人家一样，这位老人也有着对往事的惊人记忆。也许平时不大有机会说话，一旦有人听，他们就会把点点滴滴说得详详细细，有几分像自言自语，牵连不断地说下去。说下去，平平静静的，像是在叙述别人的而不是自身的事情，多少波澜都化为了涓涓细流，想当初虽未必如此简单，而今却尽掩在老人家略带沙哑的嗓音里了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后来，老赵提醒他：“老人家，我们走吧！”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老赵的声音，柔和得有些异样。而且不知为什么，这以后不论是老赵还是谢主任，都没再说一句话。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啊，前面，杂树的碧绿和砖瓦的青灰看得见了。是的，梨花屯就要到了！</a:t>
            </a:r>
          </a:p>
          <a:p>
            <a:pPr marL="173355" algn="r">
              <a:lnSpc>
                <a:spcPts val="1300"/>
              </a:lnSpc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77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分析小说中环境描写的作用的技巧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5280082"/>
            <a:ext cx="11177270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7" y="5353914"/>
            <a:ext cx="67732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【2019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）小说中有多处景物描写，请分析其功能。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分析：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环境描写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】-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找出文章</a:t>
            </a:r>
            <a:r>
              <a:rPr kumimoji="1" lang="zh-CN" altLang="en-US" sz="1400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描写环境的语句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，结合</a:t>
            </a:r>
            <a:r>
              <a:rPr kumimoji="1" lang="zh-CN" altLang="en-US" sz="1400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上下文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进行具体分析 </a:t>
            </a:r>
          </a:p>
          <a:p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AEB3E1-48F5-C24E-99BE-ED580395D969}"/>
              </a:ext>
            </a:extLst>
          </p:cNvPr>
          <p:cNvSpPr/>
          <p:nvPr/>
        </p:nvSpPr>
        <p:spPr>
          <a:xfrm>
            <a:off x="276997" y="1093773"/>
            <a:ext cx="11428845" cy="4260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355" algn="ctr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到梨花屯去</a:t>
            </a:r>
          </a:p>
          <a:p>
            <a:pPr marL="173355" algn="ctr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何士光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3355" algn="ctr">
              <a:lnSpc>
                <a:spcPts val="1300"/>
              </a:lnSpc>
              <a:spcAft>
                <a:spcPts val="0"/>
              </a:spcAft>
            </a:pP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这故事开场时是颇为平淡的，只是后来，马车快要进梨花屯，而两个乘客也沉默时，回过头来看一看，兴许才有一点故事的意味……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一辆马车从白杨坝出来，车夫是个老人家。在一座石桥旁，他把一个中年人让到车上来。看得出，这是位下乡干部。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天色好晴朗。水田还没有栽上秧子，但包谷已长得十分青葱，初夏的山野，透露着旺盛的生命力，叫人沉醉不已。碎石的马路拐弯了，爬坡了，又拐弯了，又爬坡了。不时有布谷在啼叫，车上的人似乎打起盹来了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不知过了多久，马车停住。打盹的干部猛地抬头，看见有人正上到车上来。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“啊，谢主任？”来人犹豫地打招呼，似乎有些意外。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“是……老赵同志？”谢主任嗫嚅了一下，也有些突然。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车抖了一下，从横过路面的小小水沟上驶过。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谢主任把香烟掏出来，递一支给老赵：“去梨花屯？”语气中有和解的意味。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老赵谨慎地回答：“是。”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“去包队吗？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“是。胜利大队。”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“我也是！”谢主任和蔼地笑起来，“我们都是十回下乡九回在，老走梨花这一方！”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笑颜使气氛松动起来。三只白鹤高高飞过，不慌不忙扇动着长长的翅膀，在蓝天里显得又白又亮……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“老赵，”谢主任开诚布公地谈起来，“我一直想找机会和你谈谈呢！为七六年秋天在梨花挖那条沟，你怕还对我有些意见呐！”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“谢主任，你说到哪里去了！”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“实事求是嘛！当时我是工作队的负责人，瞎指挥是我搞的，该由我负责！有人把责任归到你头上，当然不应当！”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“我……”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“我也明知那条沟不该挖，一气就占了四十亩良田。但当时压力大啊；上边决定要挖，社员不同意挖，是我硬表了态：我叫挖的，我负责！”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“这种表态，”老赵想了一想，“我也表过……”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“那是因为我先表嘛！”谢主任接过话头，“老赵，去年报上有篇报道，你读过没有？”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“哪一篇？”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0E3950-B0FA-974D-B72B-0FCEEC167867}"/>
              </a:ext>
            </a:extLst>
          </p:cNvPr>
          <p:cNvSpPr/>
          <p:nvPr/>
        </p:nvSpPr>
        <p:spPr>
          <a:xfrm>
            <a:off x="693907" y="1973782"/>
            <a:ext cx="11011935" cy="154276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A40E8B-C7A3-DC42-A1D0-1BBA10A71535}"/>
              </a:ext>
            </a:extLst>
          </p:cNvPr>
          <p:cNvSpPr/>
          <p:nvPr/>
        </p:nvSpPr>
        <p:spPr>
          <a:xfrm>
            <a:off x="276998" y="2118763"/>
            <a:ext cx="3846116" cy="216131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BB037B-D54B-3243-80AD-E94CD6EFCF80}"/>
              </a:ext>
            </a:extLst>
          </p:cNvPr>
          <p:cNvSpPr/>
          <p:nvPr/>
        </p:nvSpPr>
        <p:spPr>
          <a:xfrm>
            <a:off x="590032" y="3735971"/>
            <a:ext cx="7905575" cy="216131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98D21C-EBAA-7043-8557-F360DD34861D}"/>
              </a:ext>
            </a:extLst>
          </p:cNvPr>
          <p:cNvSpPr/>
          <p:nvPr/>
        </p:nvSpPr>
        <p:spPr>
          <a:xfrm>
            <a:off x="7171205" y="2102137"/>
            <a:ext cx="639525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指向环境：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介绍了去梨花屯沿途的风景，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交代了小说发生的地点与环境</a:t>
            </a:r>
            <a:r>
              <a:rPr lang="zh-CN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zh-CN" altLang="en-US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F02334-08DE-374D-B614-6CE16DE655E4}"/>
              </a:ext>
            </a:extLst>
          </p:cNvPr>
          <p:cNvSpPr/>
          <p:nvPr/>
        </p:nvSpPr>
        <p:spPr>
          <a:xfrm>
            <a:off x="8537853" y="3213438"/>
            <a:ext cx="305724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指向人物：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景物的变化与谢、赵二人交谈的氛围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和心情相照应</a:t>
            </a:r>
            <a:r>
              <a:rPr lang="zh-CN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zh-CN" altLang="en-US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弧 17">
            <a:extLst>
              <a:ext uri="{FF2B5EF4-FFF2-40B4-BE49-F238E27FC236}">
                <a16:creationId xmlns:a16="http://schemas.microsoft.com/office/drawing/2014/main" id="{22D542EF-54AE-A441-B1B2-D1BE61C332BF}"/>
              </a:ext>
            </a:extLst>
          </p:cNvPr>
          <p:cNvSpPr/>
          <p:nvPr/>
        </p:nvSpPr>
        <p:spPr>
          <a:xfrm rot="10469758">
            <a:off x="6563212" y="1784273"/>
            <a:ext cx="1215985" cy="737030"/>
          </a:xfrm>
          <a:prstGeom prst="arc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弧 18">
            <a:extLst>
              <a:ext uri="{FF2B5EF4-FFF2-40B4-BE49-F238E27FC236}">
                <a16:creationId xmlns:a16="http://schemas.microsoft.com/office/drawing/2014/main" id="{20B7F208-D093-5344-ABCF-17B0BD916773}"/>
              </a:ext>
            </a:extLst>
          </p:cNvPr>
          <p:cNvSpPr/>
          <p:nvPr/>
        </p:nvSpPr>
        <p:spPr>
          <a:xfrm rot="17796770">
            <a:off x="7614268" y="3574053"/>
            <a:ext cx="1215985" cy="737030"/>
          </a:xfrm>
          <a:prstGeom prst="arc">
            <a:avLst>
              <a:gd name="adj1" fmla="val 17784639"/>
              <a:gd name="adj2" fmla="val 21256098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0696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5421291"/>
            <a:ext cx="11288012" cy="1129137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486158" y="5486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7" y="5486914"/>
            <a:ext cx="67732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【2019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）小说中有多处景物描写，请分析其功能。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分析：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环境描写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】-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找出文章</a:t>
            </a:r>
            <a:r>
              <a:rPr kumimoji="1" lang="zh-CN" altLang="en-US" sz="1400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描写环境的语句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，结合</a:t>
            </a:r>
            <a:r>
              <a:rPr kumimoji="1" lang="zh-CN" altLang="en-US" sz="1400" u="sng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上下文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进行具体分析 </a:t>
            </a:r>
          </a:p>
          <a:p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6FBAE2-69CD-134A-8CC7-CFCE243D9367}"/>
              </a:ext>
            </a:extLst>
          </p:cNvPr>
          <p:cNvSpPr/>
          <p:nvPr/>
        </p:nvSpPr>
        <p:spPr>
          <a:xfrm>
            <a:off x="346247" y="444878"/>
            <a:ext cx="11359595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ts val="1300"/>
              </a:lnSpc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“谈得真好！”谢主任不胜感慨地说，“是基层干部座谈。总结说：上面是‘嘴巴硬’，基层干部是‘肩膀硬’！基层干部负责任。像是报道的安徽……”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路转了一个大弯一一在一座杉树土岗前好像到了尽头，接着又一下子在马车前重新展现出来，一直延伸到老远的山垭口……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“正是这样嘛！”谢主任点头，“那条沟，责任由我负！”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“我也有责任！那是分派给我的任务。如果不是我催得紧，态度那样硬，说不定就挖不成！责任归我负！”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双方都有诚恳的态度，气氛十分亲切了，甚至到了甜蜜的地步。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路旁出现了一条水沟，水欢快地流淌着，发出叫人喜悦的响声……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他们无拘无束地谈下去了。谈形势，谈这次去梨花屯纠正“定产到组”中出现的种种偏差，等等。后来，拉起家常来了……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越近梨花屯，地势就越平坦，心里也越舒畅。突然，谢主任拍了拍赶车老汉的肩膀：“停一停！”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老人家把缰收住了。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“两年多没到梨花，看看那条沟怎样了！”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坝子上水田一块接着一块，已经犁过了。带着铧印的泥土静静地横陈着，吸收着阳光，像刚切开的梨子一样新鲜，透着沁人心脾的气息……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看不见那条沟。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谢主任问车夫：“老同志，那条沟是不是在这一带？”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“咹？”老人家听不清。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老赵大声说：“沟一一挖过一条沟啊！”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“嗯，”老人家听懂了，点点头，“是挖过一条沟。唔，大前年的事喽，立冬后开挖的。分给我们六个生产队，每个劳力摊一截。我都有一截呢！顶上头一段，是红星队……”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看来老人家说起话来是絮絮不休的。老赵终于打断了他：“现在沟在哪里？”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“哪里？”老人家摇着头，“后来填了嘛，去年，开春过后……”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谢主任问：“哪个喊填的？”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“哪个？”老人家认真地想了一回，“没有哪个。是我们六个队的人商量的。总不成就让它摆在那里，沟不沟坎不坎的！唔，先是抬那些石头。论挑抬活路，这一带的人都是好手，肩膀最硬……”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像我们在乡下会碰到的许多老人家一样，这位老人也有着对往事的惊人记忆。也许平时不大有机会说话，一旦有人听，他们就会把点点滴滴说得详详细细，有几分像自言自语，牵连不断地说下去。说下去，平平静静的，像是在叙述别人的而不是自身的事情，多少波澜都化为了涓涓细流，想当初虽未必如此简单，而今却尽掩在老人家略带沙哑的嗓音里了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后来，老赵提醒他：“老人家，我们走吧！”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老赵的声音，柔和得有些异样。而且不知为什么，这以后不论是老赵还是谢主任，都没再说一句话。</a:t>
            </a:r>
          </a:p>
          <a:p>
            <a:pPr indent="266700" algn="just">
              <a:lnSpc>
                <a:spcPts val="13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啊，前面，杂树的碧绿和砖瓦的青灰看得见了。是的，梨花屯就要到了！</a:t>
            </a:r>
          </a:p>
          <a:p>
            <a:pPr marL="173355" algn="r">
              <a:lnSpc>
                <a:spcPts val="1300"/>
              </a:lnSpc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464A91-CDEE-6348-8510-7EB303A4C42E}"/>
              </a:ext>
            </a:extLst>
          </p:cNvPr>
          <p:cNvSpPr/>
          <p:nvPr/>
        </p:nvSpPr>
        <p:spPr>
          <a:xfrm>
            <a:off x="590032" y="1464024"/>
            <a:ext cx="5361881" cy="215148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5531C6-1C84-EE40-8C69-872C8B4A4F05}"/>
              </a:ext>
            </a:extLst>
          </p:cNvPr>
          <p:cNvSpPr/>
          <p:nvPr/>
        </p:nvSpPr>
        <p:spPr>
          <a:xfrm>
            <a:off x="6890549" y="1332086"/>
            <a:ext cx="53014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指向人物：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景物的变化与谢、赵二人交谈的氛围和心情相照应</a:t>
            </a:r>
            <a:r>
              <a:rPr lang="zh-CN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zh-CN" altLang="en-US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E42D1C-2AFD-544E-A26F-0261D6E1D164}"/>
              </a:ext>
            </a:extLst>
          </p:cNvPr>
          <p:cNvSpPr/>
          <p:nvPr/>
        </p:nvSpPr>
        <p:spPr>
          <a:xfrm>
            <a:off x="6890549" y="3207834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指向主题：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生机勃勃、清新恬淡的乡村景象，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使得小说充满了田园美，同时也有了那个时代百废待兴的生机感</a:t>
            </a:r>
            <a:r>
              <a:rPr lang="zh-CN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zh-CN" altLang="en-US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1B99DD-BC65-9346-BC04-DA39D910C1D3}"/>
              </a:ext>
            </a:extLst>
          </p:cNvPr>
          <p:cNvSpPr/>
          <p:nvPr/>
        </p:nvSpPr>
        <p:spPr>
          <a:xfrm>
            <a:off x="3772872" y="2256558"/>
            <a:ext cx="7465935" cy="215148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弧 13">
            <a:extLst>
              <a:ext uri="{FF2B5EF4-FFF2-40B4-BE49-F238E27FC236}">
                <a16:creationId xmlns:a16="http://schemas.microsoft.com/office/drawing/2014/main" id="{B2DB8BC3-B1BA-F447-A02A-9E74CEE6BA73}"/>
              </a:ext>
            </a:extLst>
          </p:cNvPr>
          <p:cNvSpPr/>
          <p:nvPr/>
        </p:nvSpPr>
        <p:spPr>
          <a:xfrm rot="20208530">
            <a:off x="5813239" y="1435809"/>
            <a:ext cx="1215985" cy="737030"/>
          </a:xfrm>
          <a:prstGeom prst="arc">
            <a:avLst>
              <a:gd name="adj1" fmla="val 13636983"/>
              <a:gd name="adj2" fmla="val 20194376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弧 14">
            <a:extLst>
              <a:ext uri="{FF2B5EF4-FFF2-40B4-BE49-F238E27FC236}">
                <a16:creationId xmlns:a16="http://schemas.microsoft.com/office/drawing/2014/main" id="{9DF622FC-4FB5-2A4B-B400-2019945E829A}"/>
              </a:ext>
            </a:extLst>
          </p:cNvPr>
          <p:cNvSpPr/>
          <p:nvPr/>
        </p:nvSpPr>
        <p:spPr>
          <a:xfrm rot="11621898">
            <a:off x="5602414" y="1572919"/>
            <a:ext cx="3045607" cy="1770099"/>
          </a:xfrm>
          <a:prstGeom prst="arc">
            <a:avLst>
              <a:gd name="adj1" fmla="val 16200000"/>
              <a:gd name="adj2" fmla="val 20799013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64BF8E-A2A1-5C4F-B739-E7185A661DE5}"/>
              </a:ext>
            </a:extLst>
          </p:cNvPr>
          <p:cNvSpPr/>
          <p:nvPr/>
        </p:nvSpPr>
        <p:spPr>
          <a:xfrm>
            <a:off x="576896" y="5099539"/>
            <a:ext cx="3828850" cy="215148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弧 16">
            <a:extLst>
              <a:ext uri="{FF2B5EF4-FFF2-40B4-BE49-F238E27FC236}">
                <a16:creationId xmlns:a16="http://schemas.microsoft.com/office/drawing/2014/main" id="{D5D26925-DEF0-744A-8F7A-DD51ABA59C2C}"/>
              </a:ext>
            </a:extLst>
          </p:cNvPr>
          <p:cNvSpPr/>
          <p:nvPr/>
        </p:nvSpPr>
        <p:spPr>
          <a:xfrm rot="16458443">
            <a:off x="5086939" y="3185654"/>
            <a:ext cx="3260777" cy="4175434"/>
          </a:xfrm>
          <a:prstGeom prst="arc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6955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分析小说中环境描写的作用的技巧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272124"/>
            <a:ext cx="4016453" cy="3727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环境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 </a:t>
            </a:r>
            <a:b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交代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 （背景），营造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氛围， 渲染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气氛，奠定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感情基调。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b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侧面写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性格，烘托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心理。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主题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b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推动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发展，暗示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转换，勾连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情节，为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做铺垫，为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埋下伏笔。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表达（寄托、暗示、揭示、深化）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主旨。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29" y="5280082"/>
            <a:ext cx="11035743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6" y="5353914"/>
            <a:ext cx="8499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【2019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）小说中有多处景物描写，请分析其功能。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91C58A-D435-F149-853F-5F037488B407}"/>
              </a:ext>
            </a:extLst>
          </p:cNvPr>
          <p:cNvSpPr/>
          <p:nvPr/>
        </p:nvSpPr>
        <p:spPr>
          <a:xfrm>
            <a:off x="6227452" y="2517045"/>
            <a:ext cx="5226120" cy="133446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答：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到梨花屯去的沿途风景，为故事展开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提供自然的背景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景物描写的插入来配合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氛围的变化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及谢、赵二人的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心理变化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使小说具有清新的田园风格，流露出生机勃勃的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时代气息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弧 7">
            <a:extLst>
              <a:ext uri="{FF2B5EF4-FFF2-40B4-BE49-F238E27FC236}">
                <a16:creationId xmlns:a16="http://schemas.microsoft.com/office/drawing/2014/main" id="{E6AA8052-97DA-AF45-B697-6EF727323F40}"/>
              </a:ext>
            </a:extLst>
          </p:cNvPr>
          <p:cNvSpPr/>
          <p:nvPr/>
        </p:nvSpPr>
        <p:spPr>
          <a:xfrm rot="11372570">
            <a:off x="4412896" y="1055807"/>
            <a:ext cx="3045607" cy="1770099"/>
          </a:xfrm>
          <a:prstGeom prst="arc">
            <a:avLst>
              <a:gd name="adj1" fmla="val 16200000"/>
              <a:gd name="adj2" fmla="val 20799013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弧 8">
            <a:extLst>
              <a:ext uri="{FF2B5EF4-FFF2-40B4-BE49-F238E27FC236}">
                <a16:creationId xmlns:a16="http://schemas.microsoft.com/office/drawing/2014/main" id="{3893E599-E998-5A4E-B56F-23ABE2B72115}"/>
              </a:ext>
            </a:extLst>
          </p:cNvPr>
          <p:cNvSpPr/>
          <p:nvPr/>
        </p:nvSpPr>
        <p:spPr>
          <a:xfrm rot="11061255">
            <a:off x="2950944" y="946308"/>
            <a:ext cx="5869760" cy="2432548"/>
          </a:xfrm>
          <a:prstGeom prst="arc">
            <a:avLst>
              <a:gd name="adj1" fmla="val 16200000"/>
              <a:gd name="adj2" fmla="val 1923338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弧 9">
            <a:extLst>
              <a:ext uri="{FF2B5EF4-FFF2-40B4-BE49-F238E27FC236}">
                <a16:creationId xmlns:a16="http://schemas.microsoft.com/office/drawing/2014/main" id="{58AB0301-FFFD-5C4B-AF48-AE32260B908F}"/>
              </a:ext>
            </a:extLst>
          </p:cNvPr>
          <p:cNvSpPr/>
          <p:nvPr/>
        </p:nvSpPr>
        <p:spPr>
          <a:xfrm rot="20036247">
            <a:off x="2149980" y="4196770"/>
            <a:ext cx="5424688" cy="1770099"/>
          </a:xfrm>
          <a:prstGeom prst="arc">
            <a:avLst>
              <a:gd name="adj1" fmla="val 16200000"/>
              <a:gd name="adj2" fmla="val 1990049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1586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0" y="1182807"/>
            <a:ext cx="11285125" cy="519259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分析小说中的情节的作用的技巧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871429" y="1545799"/>
            <a:ext cx="9702359" cy="446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）内容方面：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①对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环境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的作用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交代或突出人物活动的环境，使环境更具典型性等；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②对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的作用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塑造人物形象，表现人物的性格或精神，刻画人物的心理，使人物形象更加丰满等；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③对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主题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的作用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揭示或深化主题，丰富主题等；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④对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读者感受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的作用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设置悬念，吸引读者注意力，引起读者的阅读兴趣，引发读者思考。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）结构方面：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①照应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上文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，前后呼应，使结构严谨；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②为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下文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情节做铺垫或埋下伏笔，使情节发展合理；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③推动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情节发展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，使情节波澜再起或丰富故事情节；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④作为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线索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，贯穿全文。</a:t>
            </a:r>
          </a:p>
        </p:txBody>
      </p:sp>
    </p:spTree>
    <p:extLst>
      <p:ext uri="{BB962C8B-B14F-4D97-AF65-F5344CB8AC3E}">
        <p14:creationId xmlns:p14="http://schemas.microsoft.com/office/powerpoint/2010/main" val="2258269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0" y="1182807"/>
            <a:ext cx="11035741" cy="381445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探究小说中标题作用或寓意的技巧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423992"/>
            <a:ext cx="10423794" cy="298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时间、地点、环境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为题：可能具有点明时间地点、创设故事背景、渲染环境氛围的作用。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物件（物象）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为题： 可能具有作为结构线索贯穿全文、 寄托作者情感、揭示文章主题的作用。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标题包含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深层含义（比喻义、象征义、双关义）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：先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解释表层含义，再解释深层含义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 最后再结合文本对社会现实进行深入的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剖析和理解， 进而理解主题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）以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人物形象特征或地方的典型风俗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为题： 可能具有铺开情节、 呼应细节、对比讽刺、强化效果的作用。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D8A18C-5E6B-C144-AA62-D6C83B608080}"/>
              </a:ext>
            </a:extLst>
          </p:cNvPr>
          <p:cNvSpPr/>
          <p:nvPr/>
        </p:nvSpPr>
        <p:spPr>
          <a:xfrm>
            <a:off x="417829" y="5280082"/>
            <a:ext cx="11035743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96179A-AEB9-7244-BBEF-3D213A9F5963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BEA667-DC17-9147-8798-5E20200EA4EB}"/>
              </a:ext>
            </a:extLst>
          </p:cNvPr>
          <p:cNvSpPr txBox="1"/>
          <p:nvPr/>
        </p:nvSpPr>
        <p:spPr>
          <a:xfrm>
            <a:off x="693906" y="5353914"/>
            <a:ext cx="8499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）从文章谋篇布局的角度，分析题目“记忆里的光”是如何统摄全文的 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403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0" y="1182807"/>
            <a:ext cx="11035741" cy="381445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探究小说中标题作用或寓意的技巧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423992"/>
            <a:ext cx="10423794" cy="298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以时间、地点、环境为题：可能具有点明时间地点、创设故事背景、渲染环境氛围的作用。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以物件（物象）为题： 可能具有作为结构线索贯穿全文、寄托作者情感、揭示文章主题的作用。</a:t>
            </a:r>
            <a:endParaRPr kumimoji="1" lang="en-US" altLang="zh-CN" sz="16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标题包含深层含义（比喻义、象征义、双关义）：先</a:t>
            </a:r>
            <a:r>
              <a:rPr kumimoji="1" lang="zh-CN" altLang="en-US" sz="16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解释表层含义，再解释深层含义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 最后再结合文本对社会现实进行深入的</a:t>
            </a:r>
            <a:r>
              <a:rPr kumimoji="1" lang="zh-CN" altLang="en-US" sz="16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剖析和理解， 进而理解主题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6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）以人物形象特征或地方的典型风俗为题： 可能具有铺开情节、 呼应细节、对比讽刺、强化效果的作用。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D8A18C-5E6B-C144-AA62-D6C83B608080}"/>
              </a:ext>
            </a:extLst>
          </p:cNvPr>
          <p:cNvSpPr/>
          <p:nvPr/>
        </p:nvSpPr>
        <p:spPr>
          <a:xfrm>
            <a:off x="417829" y="5280082"/>
            <a:ext cx="11035743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96179A-AEB9-7244-BBEF-3D213A9F5963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BEA667-DC17-9147-8798-5E20200EA4EB}"/>
              </a:ext>
            </a:extLst>
          </p:cNvPr>
          <p:cNvSpPr txBox="1"/>
          <p:nvPr/>
        </p:nvSpPr>
        <p:spPr>
          <a:xfrm>
            <a:off x="693906" y="5353914"/>
            <a:ext cx="8499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）从文章谋篇布局的角度，分析题目“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记忆里的光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”是如何统摄全文的 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07F386-E285-5A46-80E0-FCE84EE6AD15}"/>
              </a:ext>
            </a:extLst>
          </p:cNvPr>
          <p:cNvSpPr/>
          <p:nvPr/>
        </p:nvSpPr>
        <p:spPr>
          <a:xfrm>
            <a:off x="486158" y="2203554"/>
            <a:ext cx="10681514" cy="152899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5E9A5D12-F6B1-F647-8D6F-CEC3EB1474B4}"/>
              </a:ext>
            </a:extLst>
          </p:cNvPr>
          <p:cNvCxnSpPr/>
          <p:nvPr/>
        </p:nvCxnSpPr>
        <p:spPr>
          <a:xfrm flipV="1">
            <a:off x="4482059" y="3837482"/>
            <a:ext cx="0" cy="188576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9027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探究小说中标题作用或寓意的技巧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8836D7-3039-0A49-984D-CC8A7B903085}"/>
              </a:ext>
            </a:extLst>
          </p:cNvPr>
          <p:cNvSpPr/>
          <p:nvPr/>
        </p:nvSpPr>
        <p:spPr>
          <a:xfrm>
            <a:off x="417830" y="1055807"/>
            <a:ext cx="1135634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记忆里的光 蒋子龙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我八岁才第一次见到火车。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1949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年初冬，我正式走进学校，在班上算年龄小的。一位见多识广的大同学，炫耀他见过火车的经历，说火车是世界上最神奇、最巨大的怪物，特别是在夜晚，头顶放射着万丈光芒，喘气像打雷，如天神下界，轰轰隆隆，地动山摇，令人胆战心惊。许多同学都萌生了夜晚去看火车的念头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天晚上，真要付诸行动了，却只集合起我和三个大一点的同学。离我们村最近的火车站叫姚官屯，十来里地，当时对我来说，就像天边儿一样远。最恐怖的是要穿过村西一大片浓密的森林。里面长满奇形怪状的参天大树。森林中间还有一片凶恶的坟场，曾经听过的所有鬼故事，几乎都发生在那里面，即便大白天我一个人也不敢从里面穿过。进了林子以后我们都不敢出声了，我怕被落下，不得不一路小跑，我跑他们也跑，越跑就越瘆得慌，只觉得每根头发梢都竖了起来。当时天气已经很凉，跑出林子后却浑身都湿透了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好不容易奔到铁道边上，强烈的兴奋和好奇立刻赶跑了心里的恐惧，我们迫不及待地将耳朵贴在道轨上。大同学说有火车过来会先从道轨上听到。我屏住气听了好半天，却什么动静也听不到，甚至连虫子的叫声都没有，四野漆黑而安静。一只耳朵被铁轨冰得太疼了，就换另一只耳朵贴上去，生怕错过火车开过来的讯息。铁轨上终于有了动静，嘎登嘎登……由轻到重，由弱到强，响声越来越大，直到半个脸都感觉到了它的震动，领头的同学一声吆喝，我们都跑到路基下面去等着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渐渐看到从远处投射过来一股强大的光束，穿透了无边无际的黑暗，向我们扫过来。光束越来越刺眼，轰隆声也越来越震耳，从黑暗中冲出一个通亮的庞然大物，喷吐着白汽，呼啸着逼过来。我赶紧捂紧耳朵睁大双眼，猛然间看到在火车头的上端，就像脑门的部位，挂着一个光芒闪烁的图标：一把镰刀和一个大锤头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领头的同学却大声说是镰刀斧头。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且不管它是锤是斧，那把镰刀让我感到亲近，特别地高兴。农村的孩子从会走路就得学着使用镰刀，一把磨得飞快、使着顺手的好镰，那可是宝贝。火车头上还顶着镰刀锤头的图标，让我感到很特别，仿佛这火车跟家乡、跟我有了点关联，或者预示着还会有别的我不懂的事情将要发生…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9A3BD0-76BC-2E4B-A1F6-FC015C0157C3}"/>
              </a:ext>
            </a:extLst>
          </p:cNvPr>
          <p:cNvSpPr/>
          <p:nvPr/>
        </p:nvSpPr>
        <p:spPr>
          <a:xfrm>
            <a:off x="417829" y="5280082"/>
            <a:ext cx="11035743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2BFE82-5B4B-4749-B3D3-F1617080AF5A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008E20-B76D-D142-9D69-0F427E9F2B10}"/>
              </a:ext>
            </a:extLst>
          </p:cNvPr>
          <p:cNvSpPr txBox="1"/>
          <p:nvPr/>
        </p:nvSpPr>
        <p:spPr>
          <a:xfrm>
            <a:off x="693906" y="5353914"/>
            <a:ext cx="8499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）从文章谋篇布局的角度，分析题目“记忆里的光”是如何统摄全文的 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9216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探究小说中标题作用或寓意的技巧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8836D7-3039-0A49-984D-CC8A7B903085}"/>
              </a:ext>
            </a:extLst>
          </p:cNvPr>
          <p:cNvSpPr/>
          <p:nvPr/>
        </p:nvSpPr>
        <p:spPr>
          <a:xfrm>
            <a:off x="417830" y="1740452"/>
            <a:ext cx="113563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十年后，我以第一名的成绩入伍，进入海军制图学校，毕业后成为海军制图员，接受的第一批任务就是绘制中国领海图，并由此结识了负责海洋测量的贾队长。贾队长有个破旧的土灰色挎包，缝了又缝，补了又补，唯一醒目的是用红线绣的镰刀锤头图案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既然已经站在了军旗下，自然也希望有一天能站在镰刀锤头下，我对这个图案有一种特殊的亲近和敬意，于是就想用自己的新挎包跟他换。不料贾队长断然拒绝，他说这个挎包对他有特殊的纪念意义，目前还有很重要的用途，绝不能送人。有一次他在测量一个荒岛时遇上了大风暴，在没有淡水没有干粮的情况下硬是坚持了十三天，另外的两个测绘兵却都牺牲了。他用绳子把自己连同图纸资料和测量仪器牢牢地捆在礁石上，接雨水喝，抓住一切被海浪打到身边的活物充饥……后来一位老首长把这个挎包奖给了他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贾队长答应在我回家探亲的时候可以把挎包借给我，但回队时必须带来一挎包当地的土和菜籽、瓜子或粮食种子。原来他每次出海测量都要带一挎包土和各样的种子，有些岛礁最缺的就是泥土。黄海最外边有个黑熊礁，礁上只驻扎着一个雷达兵，一个气象兵，一个潮汐兵，他们就是用贾队长带去的土和种子养活了一棵西瓜苗，心肝宝贝般地呵护到秋后，果真还结了个小西瓜，三个人却说什么也舍不得吃……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又过了几年，我复员回到工厂干锻工。锻工就是打铁，过去叫“铁匠”。虽然大锤换成了水压机和蒸汽锤，但往产品上打钢号、印序号，还都要靠人来抡大锤。我很快就喜欢上了打铁，越干越有味道，一干就是十年。 在锻钢打铁的同时，也锻造了自己，改变了人生，甚至成全了我的文学创作。我成了民间所说的“全科人”：少年时代拿镰刀，青年当兵，中年以后握大锤，对镰刀锤头有了一种说不出的特殊感情。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9A3BD0-76BC-2E4B-A1F6-FC015C0157C3}"/>
              </a:ext>
            </a:extLst>
          </p:cNvPr>
          <p:cNvSpPr/>
          <p:nvPr/>
        </p:nvSpPr>
        <p:spPr>
          <a:xfrm>
            <a:off x="417829" y="5280082"/>
            <a:ext cx="11035743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2BFE82-5B4B-4749-B3D3-F1617080AF5A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008E20-B76D-D142-9D69-0F427E9F2B10}"/>
              </a:ext>
            </a:extLst>
          </p:cNvPr>
          <p:cNvSpPr txBox="1"/>
          <p:nvPr/>
        </p:nvSpPr>
        <p:spPr>
          <a:xfrm>
            <a:off x="693906" y="5353914"/>
            <a:ext cx="8499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）从文章谋篇布局的角度，分析题目“记忆里的光”是如何统摄全文的 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5475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探究小说中标题作用或寓意的技巧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8836D7-3039-0A49-984D-CC8A7B903085}"/>
              </a:ext>
            </a:extLst>
          </p:cNvPr>
          <p:cNvSpPr/>
          <p:nvPr/>
        </p:nvSpPr>
        <p:spPr>
          <a:xfrm>
            <a:off x="417830" y="1055807"/>
            <a:ext cx="1135634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记忆里的光 蒋子龙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我八岁才第一次见到火车。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1949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年初冬，我正式走进学校，在班上算年龄小的。一位见多识广的大同学，炫耀他见过火车的经历，说火车是世界上最神奇、最巨大的怪物，特别是在夜晚，头顶放射着万丈光芒，喘气像打雷，如天神下界，轰轰隆隆，地动山摇，令人胆战心惊。许多同学都萌生了夜晚去看火车的念头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天晚上，真要付诸行动了，却只集合起我和三个大一点的同学。离我们村最近的火车站叫姚官屯，十来里地，当时对我来说，就像天边儿一样远。最恐怖的是要穿过村西一大片浓密的森林。里面长满奇形怪状的参天大树。森林中间还有一片凶恶的坟场，曾经听过的所有鬼故事，几乎都发生在那里面，即便大白天我一个人也不敢从里面穿过。进了林子以后我们都不敢出声了，我怕被落下，不得不一路小跑，我跑他们也跑，越跑就越瘆得慌，只觉得每根头发梢都竖了起来。当时天气已经很凉，跑出林子后却浑身都湿透了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好不容易奔到铁道边上，强烈的兴奋和好奇立刻赶跑了心里的恐惧，我们迫不及待地将耳朵贴在道轨上。大同学说有火车过来会先从道轨上听到。我屏住气听了好半天，却什么动静也听不到，甚至连虫子的叫声都没有，四野漆黑而安静。一只耳朵被铁轨冰得太疼了，就换另一只耳朵贴上去，生怕错过火车开过来的讯息。铁轨上终于有了动静，嘎登嘎登……由轻到重，由弱到强，响声越来越大，直到半个脸都感觉到了它的震动，领头的同学一声吆喝，我们都跑到路基下面去等着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渐渐看到从远处投射过来一股强大的光束，穿透了无边无际的黑暗，向我们扫过来。光束越来越刺眼，轰隆声也越来越震耳，从黑暗中冲出一个通亮的庞然大物，喷吐着白汽，呼啸着逼过来。我赶紧捂紧耳朵睁大双眼，猛然间看到在火车头的上端，就像脑门的部位，挂着一个光芒闪烁的图标：一把镰刀和一个大锤头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领头的同学却大声说是镰刀斧头。</a:t>
            </a: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且不管它是锤是斧，那把镰刀让我感到亲近，特别地高兴。农村的孩子从会走路就得学着使用镰刀，一把磨得飞快、使着顺手的好镰，那可是宝贝。火车头上还顶着镰刀锤头的图标，让我感到很特别，仿佛这火车跟家乡、跟我有了点关联，或者预示着还会有别的我不懂的事情将要发生…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9A3BD0-76BC-2E4B-A1F6-FC015C0157C3}"/>
              </a:ext>
            </a:extLst>
          </p:cNvPr>
          <p:cNvSpPr/>
          <p:nvPr/>
        </p:nvSpPr>
        <p:spPr>
          <a:xfrm>
            <a:off x="417829" y="5280082"/>
            <a:ext cx="11035743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2BFE82-5B4B-4749-B3D3-F1617080AF5A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008E20-B76D-D142-9D69-0F427E9F2B10}"/>
              </a:ext>
            </a:extLst>
          </p:cNvPr>
          <p:cNvSpPr txBox="1"/>
          <p:nvPr/>
        </p:nvSpPr>
        <p:spPr>
          <a:xfrm>
            <a:off x="693906" y="5353914"/>
            <a:ext cx="84999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）从文章谋篇布局的角度，分析题目“记忆里的光”是如何统摄全文的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重点：谋篇布局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文章结构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的角度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找到每次出现处，结合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线索、情感、主旨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07B27C-8090-594D-857D-3DCEB7A7A8C4}"/>
              </a:ext>
            </a:extLst>
          </p:cNvPr>
          <p:cNvSpPr/>
          <p:nvPr/>
        </p:nvSpPr>
        <p:spPr>
          <a:xfrm>
            <a:off x="486159" y="3652265"/>
            <a:ext cx="11288012" cy="695448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049736-9F51-F049-A66B-55AB3D5868D6}"/>
              </a:ext>
            </a:extLst>
          </p:cNvPr>
          <p:cNvSpPr/>
          <p:nvPr/>
        </p:nvSpPr>
        <p:spPr>
          <a:xfrm>
            <a:off x="3918639" y="4135188"/>
            <a:ext cx="5795176" cy="30777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记忆里的光：首次出现，看火车时所看到的火车头上镰刀和锤头的图标 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1020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探究小说中标题作用或寓意的技巧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8836D7-3039-0A49-984D-CC8A7B903085}"/>
              </a:ext>
            </a:extLst>
          </p:cNvPr>
          <p:cNvSpPr/>
          <p:nvPr/>
        </p:nvSpPr>
        <p:spPr>
          <a:xfrm>
            <a:off x="417830" y="1740452"/>
            <a:ext cx="113563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十年后，我以第一名的成绩入伍，进入海军制图学校，毕业后成为海军制图员，接受的第一批任务就是绘制中国领海图，并由此结识了负责海洋测量的贾队长。</a:t>
            </a:r>
            <a:r>
              <a:rPr lang="zh-CN" altLang="zh-CN" sz="1400" kern="1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贾队长有个破旧的土灰色挎包，缝了又缝，补了又补，唯一醒目的是用红线绣的镰刀锤头图案。</a:t>
            </a:r>
          </a:p>
          <a:p>
            <a:pPr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既然已经站在了军旗下，自然也希望有一天能站在镰刀锤头下，我对这个图案有一种特殊的亲近和敬意，于是就想用自己的新挎包跟他换。不料贾队长断然拒绝，他说这个挎包对他有特殊的纪念意义，目前还有很重要的用途，绝不能送人。有一次他在测量一个荒岛时遇上了大风暴，在没有淡水没有干粮的情况下硬是坚持了十三天，另外的两个测绘兵却都牺牲了。他用绳子把自己连同图纸资料和测量仪器牢牢地捆在礁石上，接雨水喝，抓住一切被海浪打到身边的活物充饥……后来一位老首长把这个挎包奖给了他。</a:t>
            </a:r>
          </a:p>
          <a:p>
            <a:pPr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贾队长答应在我回家探亲的时候可以把挎包借给我，但回队时必须带来一挎包当地的土和菜籽、瓜子或粮食种子。原来他每次出海测量都要带一挎包土和各样的种子，有些岛礁最缺的就是泥土。黄海最外边有个黑熊礁，礁上只驻扎着一个雷达兵，一个气象兵，一个潮汐兵，他们就是用贾队长带去的土和种子养活了一棵西瓜苗，心肝宝贝般地呵护到秋后，果真还结了个小西瓜，三个人却说什么也舍不得吃……</a:t>
            </a:r>
          </a:p>
          <a:p>
            <a:pPr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又过了几年，</a:t>
            </a:r>
            <a:r>
              <a:rPr lang="zh-CN" altLang="zh-CN" sz="1400" kern="1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我复员回到工厂干锻工。锻工就是打铁，过去叫“铁匠”。虽然大锤换成了水压机和蒸汽锤，但往产品上打钢号、印序号，还都要靠人来抡大锤。我很快就喜欢上了打铁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，越干越有味道，一干就是十年。 在锻钢打铁的同时，也锻造了自己，改变了人生，甚至成全了我的文学创作。</a:t>
            </a:r>
            <a:r>
              <a:rPr lang="zh-CN" altLang="zh-CN" sz="1400" kern="1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我成了民间所说的“全科人”：少年时代拿镰刀，青年当兵，中年以后握大锤，对镰刀锤头有了一种</a:t>
            </a:r>
            <a:r>
              <a:rPr lang="zh-CN" altLang="zh-CN" sz="1400" kern="100" dirty="0">
                <a:solidFill>
                  <a:srgbClr val="C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说不出的特殊感情</a:t>
            </a:r>
            <a:r>
              <a:rPr lang="zh-CN" altLang="zh-CN" sz="1400" kern="1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9A3BD0-76BC-2E4B-A1F6-FC015C0157C3}"/>
              </a:ext>
            </a:extLst>
          </p:cNvPr>
          <p:cNvSpPr/>
          <p:nvPr/>
        </p:nvSpPr>
        <p:spPr>
          <a:xfrm>
            <a:off x="417829" y="5280082"/>
            <a:ext cx="11035743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2BFE82-5B4B-4749-B3D3-F1617080AF5A}"/>
              </a:ext>
            </a:extLst>
          </p:cNvPr>
          <p:cNvSpPr/>
          <p:nvPr/>
        </p:nvSpPr>
        <p:spPr>
          <a:xfrm>
            <a:off x="486158" y="53539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008E20-B76D-D142-9D69-0F427E9F2B10}"/>
              </a:ext>
            </a:extLst>
          </p:cNvPr>
          <p:cNvSpPr txBox="1"/>
          <p:nvPr/>
        </p:nvSpPr>
        <p:spPr>
          <a:xfrm>
            <a:off x="693906" y="5353914"/>
            <a:ext cx="84999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）从文章谋篇布局的角度，分析题目“记忆里的光”是如何统摄全文的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重点：谋篇布局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文章结构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的角度 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找到每次出现处，结合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线索、情感、主旨</a:t>
            </a:r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F8D89D-C7FF-B04D-B84E-E951F6FF6709}"/>
              </a:ext>
            </a:extLst>
          </p:cNvPr>
          <p:cNvSpPr/>
          <p:nvPr/>
        </p:nvSpPr>
        <p:spPr>
          <a:xfrm>
            <a:off x="6362036" y="1432675"/>
            <a:ext cx="3829895" cy="30777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记忆里的光：二次出现，入伍的人生阶段回忆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727614-F21E-4543-9F5C-99988BEB8FB4}"/>
              </a:ext>
            </a:extLst>
          </p:cNvPr>
          <p:cNvSpPr/>
          <p:nvPr/>
        </p:nvSpPr>
        <p:spPr>
          <a:xfrm>
            <a:off x="8148364" y="2816473"/>
            <a:ext cx="3416320" cy="30777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记忆里的光：三次出现，复员的人生回忆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EE5DC6-51B8-E441-8B02-FA7BEA7846CF}"/>
              </a:ext>
            </a:extLst>
          </p:cNvPr>
          <p:cNvSpPr/>
          <p:nvPr/>
        </p:nvSpPr>
        <p:spPr>
          <a:xfrm>
            <a:off x="6466967" y="4404353"/>
            <a:ext cx="4597296" cy="73866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记忆里的光：四次出现，“镰刀锤头”这一束记忆里的光，既成就了作为劳动者的自己，又成就了作为文学创作者的自己，透露出自己对镰刀锤头的深刻感情。</a:t>
            </a:r>
          </a:p>
        </p:txBody>
      </p:sp>
    </p:spTree>
    <p:extLst>
      <p:ext uri="{BB962C8B-B14F-4D97-AF65-F5344CB8AC3E}">
        <p14:creationId xmlns:p14="http://schemas.microsoft.com/office/powerpoint/2010/main" val="10015720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0" y="2546657"/>
            <a:ext cx="11035741" cy="381445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探究小说中标题作用或寓意的技巧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2787842"/>
            <a:ext cx="6181578" cy="3358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以时间、地点、环境为题：可能具有点明时间地点、创设故事背景、渲染环境氛围的作用。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以物件（物象）为题： 可能具有作为结构线索贯穿全文、寄托作者情感、揭示文章主题的作用。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标题包含深层含义（比喻义、象征义、双关义）：先</a:t>
            </a:r>
            <a:r>
              <a:rPr kumimoji="1" lang="zh-CN" altLang="en-US" sz="16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解释表层含义，再解释深层含义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 最后再结合文本对社会现实进行深入的</a:t>
            </a:r>
            <a:r>
              <a:rPr kumimoji="1" lang="zh-CN" altLang="en-US" sz="16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剖析和理解， 进而理解主题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）以人物形象特征或地方的典型风俗为题： 可能具有铺开情节、 呼应细节、对比讽刺、强化效果的作用。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D8A18C-5E6B-C144-AA62-D6C83B608080}"/>
              </a:ext>
            </a:extLst>
          </p:cNvPr>
          <p:cNvSpPr/>
          <p:nvPr/>
        </p:nvSpPr>
        <p:spPr>
          <a:xfrm>
            <a:off x="417829" y="1250522"/>
            <a:ext cx="11035743" cy="109531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96179A-AEB9-7244-BBEF-3D213A9F5963}"/>
              </a:ext>
            </a:extLst>
          </p:cNvPr>
          <p:cNvSpPr/>
          <p:nvPr/>
        </p:nvSpPr>
        <p:spPr>
          <a:xfrm>
            <a:off x="486158" y="132435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BEA667-DC17-9147-8798-5E20200EA4EB}"/>
              </a:ext>
            </a:extLst>
          </p:cNvPr>
          <p:cNvSpPr txBox="1"/>
          <p:nvPr/>
        </p:nvSpPr>
        <p:spPr>
          <a:xfrm>
            <a:off x="693906" y="1324354"/>
            <a:ext cx="8499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全国高考新课标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Ⅲ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）从文章谋篇布局的角度，分析题目“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记忆里的光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”是如何统摄全文的 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07F386-E285-5A46-80E0-FCE84EE6AD15}"/>
              </a:ext>
            </a:extLst>
          </p:cNvPr>
          <p:cNvSpPr/>
          <p:nvPr/>
        </p:nvSpPr>
        <p:spPr>
          <a:xfrm>
            <a:off x="486159" y="3567404"/>
            <a:ext cx="6181578" cy="187377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9CE1C0-9B53-404C-A110-35CCAE34005A}"/>
              </a:ext>
            </a:extLst>
          </p:cNvPr>
          <p:cNvSpPr/>
          <p:nvPr/>
        </p:nvSpPr>
        <p:spPr>
          <a:xfrm>
            <a:off x="7117590" y="2594470"/>
            <a:ext cx="4152570" cy="3596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35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答：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335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解释深层含义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335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“记忆里的光”，指火车头上“光芒闪烁的图标”，即镰刀锤头，是本文的核心意象；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335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结构线索功能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335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围绕这一核心按照时间顺序，安排了“我”少年、青年、中年的人生片段，每一片段都同“镰刀和锤头”相关。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335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寄托情感、揭示主题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335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最后，以“全科人”的身份表达出“我”对“镰刀锤头”的深厚感情，呼应题目，升华主题。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FC946F5-1227-B549-B4E5-35CC1984BAE0}"/>
              </a:ext>
            </a:extLst>
          </p:cNvPr>
          <p:cNvCxnSpPr>
            <a:endCxn id="5" idx="1"/>
          </p:cNvCxnSpPr>
          <p:nvPr/>
        </p:nvCxnSpPr>
        <p:spPr>
          <a:xfrm>
            <a:off x="6736066" y="4392783"/>
            <a:ext cx="381524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718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8A6D0E8-E30B-534A-AEF3-272E370A0824}"/>
              </a:ext>
            </a:extLst>
          </p:cNvPr>
          <p:cNvSpPr/>
          <p:nvPr/>
        </p:nvSpPr>
        <p:spPr>
          <a:xfrm>
            <a:off x="6275703" y="1182807"/>
            <a:ext cx="5363037" cy="538847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1" y="1182807"/>
            <a:ext cx="5363037" cy="538847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6.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理解散文重要语句含意的技巧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529988" y="1274408"/>
            <a:ext cx="4718386" cy="5205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）句内三看：</a:t>
            </a:r>
            <a:endParaRPr kumimoji="1" lang="en-US" altLang="zh-CN" sz="16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①看句中的关键词。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②看句子内部结构关系，对象是什么，明确句子的表层含意。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③看句子本身表达的特点，是否使用修辞手法，表达了怎样的情与理。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）句外三看： </a:t>
            </a:r>
            <a:endParaRPr kumimoji="1" lang="en-US" altLang="zh-CN" sz="16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①看该句位置特点 （段首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文章开头，段尾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文末），明确结构上的作用。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②看相邻句，主要是上下文。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③看段、章的中心，联系文章主旨与写作目的，弄清楚其深层含意。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66E92F-9B58-3D4C-B0B5-89020C42C95E}"/>
              </a:ext>
            </a:extLst>
          </p:cNvPr>
          <p:cNvSpPr txBox="1"/>
          <p:nvPr/>
        </p:nvSpPr>
        <p:spPr>
          <a:xfrm>
            <a:off x="6096000" y="748030"/>
            <a:ext cx="3461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7.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鉴赏散文语言特色的技巧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E3781C-611D-224D-BCEF-7288BF310D5A}"/>
              </a:ext>
            </a:extLst>
          </p:cNvPr>
          <p:cNvSpPr txBox="1"/>
          <p:nvPr/>
        </p:nvSpPr>
        <p:spPr>
          <a:xfrm>
            <a:off x="6275703" y="1182807"/>
            <a:ext cx="4743592" cy="5205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Both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遣词造句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的角度鉴赏。包括用词、句式，如叠词、动词、形容词、量词的选用，整句散句、长句短句的运用等。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arenBoth"/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修辞手法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的角度鉴赏。如比喻、 夸张、引用、对偶、借代等。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表现手法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角度鉴赏。如象征、衬托、动静结合、虚实结合、正侧结合、欲扬先抑、卒章显志等。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语言风格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的角度鉴赏。如自然淡雅、苍劲雄健、清婉隽永等。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(5)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情感的角度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鉴赏。 要善于体味作者在字里行间所表露出来的感情， 或含蓄，或直白。分析品味景中情、事中情、理中情等。</a:t>
            </a:r>
          </a:p>
        </p:txBody>
      </p:sp>
    </p:spTree>
    <p:extLst>
      <p:ext uri="{BB962C8B-B14F-4D97-AF65-F5344CB8AC3E}">
        <p14:creationId xmlns:p14="http://schemas.microsoft.com/office/powerpoint/2010/main" val="11522362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Chapter-6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诗歌鉴赏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4512364"/>
            <a:ext cx="11356340" cy="1335305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诗歌鉴赏几类题目？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652670" y="1055807"/>
            <a:ext cx="9503133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）形象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人物形象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景物形象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2063060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1D35ACD-135F-314A-9F1E-FE71E76D5812}"/>
              </a:ext>
            </a:extLst>
          </p:cNvPr>
          <p:cNvSpPr txBox="1"/>
          <p:nvPr/>
        </p:nvSpPr>
        <p:spPr>
          <a:xfrm>
            <a:off x="652670" y="2136873"/>
            <a:ext cx="9503133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）语言特色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炼字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炼句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F4CE9E-2E61-FB4A-9503-32B0AEB0B89D}"/>
              </a:ext>
            </a:extLst>
          </p:cNvPr>
          <p:cNvSpPr txBox="1"/>
          <p:nvPr/>
        </p:nvSpPr>
        <p:spPr>
          <a:xfrm>
            <a:off x="652670" y="3191398"/>
            <a:ext cx="9503133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）主旨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思想内容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6BF18B55-97B4-F347-8D5C-52AAF5B6A101}"/>
              </a:ext>
            </a:extLst>
          </p:cNvPr>
          <p:cNvCxnSpPr>
            <a:cxnSpLocks/>
          </p:cNvCxnSpPr>
          <p:nvPr/>
        </p:nvCxnSpPr>
        <p:spPr>
          <a:xfrm>
            <a:off x="582977" y="3191398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F1695F77-3A81-3448-8E19-809186AC76CA}"/>
              </a:ext>
            </a:extLst>
          </p:cNvPr>
          <p:cNvCxnSpPr>
            <a:cxnSpLocks/>
          </p:cNvCxnSpPr>
          <p:nvPr/>
        </p:nvCxnSpPr>
        <p:spPr>
          <a:xfrm>
            <a:off x="575980" y="4288015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99CA84A9-8813-234D-8913-A83C8C39A20D}"/>
              </a:ext>
            </a:extLst>
          </p:cNvPr>
          <p:cNvSpPr/>
          <p:nvPr/>
        </p:nvSpPr>
        <p:spPr>
          <a:xfrm>
            <a:off x="652670" y="4420597"/>
            <a:ext cx="6096000" cy="13344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拿到诗歌先看：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①标题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②注释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③诗歌中「重要意象」</a:t>
            </a:r>
          </a:p>
        </p:txBody>
      </p:sp>
    </p:spTree>
    <p:extLst>
      <p:ext uri="{BB962C8B-B14F-4D97-AF65-F5344CB8AC3E}">
        <p14:creationId xmlns:p14="http://schemas.microsoft.com/office/powerpoint/2010/main" val="42166851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1" y="2452427"/>
            <a:ext cx="4748529" cy="392297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4555395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①标题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②注释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③诗歌中「重要意象」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C0F234-C79D-2143-B484-50822F1289C7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如何读懂诗歌？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B33CBF-0DB8-2F41-96B5-B6B1CB9365F5}"/>
              </a:ext>
            </a:extLst>
          </p:cNvPr>
          <p:cNvSpPr/>
          <p:nvPr/>
        </p:nvSpPr>
        <p:spPr>
          <a:xfrm>
            <a:off x="5178857" y="2777173"/>
            <a:ext cx="6610646" cy="2954655"/>
          </a:xfrm>
          <a:prstGeom prst="rect">
            <a:avLst/>
          </a:prstGeom>
          <a:ln>
            <a:solidFill>
              <a:srgbClr val="A41AD4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zh-CN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（二）古代诗歌阅读（本题共</a:t>
            </a:r>
            <a:r>
              <a:rPr lang="en-US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2 </a:t>
            </a:r>
            <a:r>
              <a:rPr lang="zh-CN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小题，</a:t>
            </a:r>
            <a:r>
              <a:rPr lang="en-US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9</a:t>
            </a:r>
            <a:r>
              <a:rPr lang="zh-CN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分）</a:t>
            </a:r>
            <a:endParaRPr lang="zh-C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r>
              <a:rPr lang="zh-CN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阅读下面这首宋诗，完成各题。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endParaRPr lang="zh-C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fontAlgn="ctr"/>
            <a:r>
              <a:rPr lang="zh-CN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临江仙</a:t>
            </a:r>
            <a:endParaRPr lang="en-US" altLang="zh-CN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fontAlgn="ctr"/>
            <a:endParaRPr lang="zh-C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fontAlgn="ctr"/>
            <a:r>
              <a:rPr lang="zh-CN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晃补之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fontAlgn="ctr"/>
            <a:endParaRPr lang="zh-C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fontAlgn="ctr"/>
            <a:r>
              <a:rPr lang="zh-CN" altLang="zh-CN" sz="1200" dirty="0">
                <a:latin typeface="KaiTi" panose="02010609060101010101" pitchFamily="49" charset="-122"/>
                <a:ea typeface="KaiTi" panose="02010609060101010101" pitchFamily="49" charset="-122"/>
              </a:rPr>
              <a:t>身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外闲愁空满眼，就中欢事常稀。明年应赋送君诗。试从今夜数，相会几多时。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fontAlgn="ctr"/>
            <a:endParaRPr lang="zh-CN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 fontAlgn="ctr"/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浅酒欲邀谁共劝，深情唯有君知。东溪春近好同归。柳垂江上影，梅谢雪中枝。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6338F7-444E-C84A-9501-61586F916635}"/>
              </a:ext>
            </a:extLst>
          </p:cNvPr>
          <p:cNvSpPr/>
          <p:nvPr/>
        </p:nvSpPr>
        <p:spPr>
          <a:xfrm>
            <a:off x="354628" y="2452427"/>
            <a:ext cx="4555395" cy="4242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真题解析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】(2023•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全国甲卷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</a:p>
          <a:p>
            <a:pPr algn="just">
              <a:lnSpc>
                <a:spcPct val="150000"/>
              </a:lnSpc>
            </a:pP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“明年应赋送君诗。试从今夜数，相会几多时”</a:t>
            </a: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｜｜</a:t>
            </a: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）事件：</a:t>
            </a: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眼前虽是相聚，明年肯定又要送别你了。从今夜开始细数，到明年分离时还有多少相聚的时候。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”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据此看出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事件：</a:t>
            </a:r>
            <a:r>
              <a:rPr lang="zh-CN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词人是明年送别朋友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2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）意象：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“柳影”和“梅花”：柳的婀娜多姿和梅花绽放后的零落之态 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伤感的春光美景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3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）情感：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想象未来再聚之景，对即将再会的期盼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  <a:sym typeface="Wingdings" pitchFamily="2" charset="2"/>
              </a:rPr>
              <a:t>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安慰友人、离别的不舍之情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-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  <a:sym typeface="Wingdings" pitchFamily="2" charset="2"/>
              </a:rPr>
              <a:t>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伤感中又带有乐观豁达的情愫。</a:t>
            </a:r>
          </a:p>
          <a:p>
            <a:pPr algn="just">
              <a:lnSpc>
                <a:spcPct val="150000"/>
              </a:lnSpc>
            </a:pP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90F85E-422A-DB47-9157-79A1C1A4F2F9}"/>
              </a:ext>
            </a:extLst>
          </p:cNvPr>
          <p:cNvSpPr/>
          <p:nvPr/>
        </p:nvSpPr>
        <p:spPr>
          <a:xfrm>
            <a:off x="7985760" y="4907280"/>
            <a:ext cx="1386840" cy="3657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7EC7C0-27D2-5A43-96F5-E7B82F22710D}"/>
              </a:ext>
            </a:extLst>
          </p:cNvPr>
          <p:cNvSpPr/>
          <p:nvPr/>
        </p:nvSpPr>
        <p:spPr>
          <a:xfrm>
            <a:off x="9372600" y="5366068"/>
            <a:ext cx="2194560" cy="3657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49169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1" y="4254501"/>
            <a:ext cx="5678170" cy="21209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5606955" cy="298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Both"/>
            </a:pP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描绘诗中展现的画面。</a:t>
            </a:r>
            <a:endParaRPr kumimoji="1" lang="en-US" altLang="zh-CN" sz="1600" u="sng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抓住诗中的主要景物，用自己的语言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再现画面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概括诗中景物所营造的氛围特点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。概括时一般用两个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双音节词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，如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孤寂冷清、 恬静优美、 雄浑壮阔、 萧瑟凄凉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等，注意要能准确地体现景物的特点和情调。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分析景物在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营造氛围、 表情达意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等方面的作用。 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*回答要具体， 切忌空洞，比如只答“表达了作者的伤感之情”是不行的，应答出</a:t>
            </a:r>
            <a:r>
              <a:rPr kumimoji="1" lang="en-US" altLang="zh-CN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为什么</a:t>
            </a:r>
            <a:r>
              <a:rPr kumimoji="1" lang="en-US" altLang="zh-CN" sz="16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伤感。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C0F234-C79D-2143-B484-50822F1289C7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鉴赏古代诗歌的景物形象步骤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B33CBF-0DB8-2F41-96B5-B6B1CB9365F5}"/>
              </a:ext>
            </a:extLst>
          </p:cNvPr>
          <p:cNvSpPr/>
          <p:nvPr/>
        </p:nvSpPr>
        <p:spPr>
          <a:xfrm>
            <a:off x="6364224" y="1881863"/>
            <a:ext cx="5473148" cy="4493538"/>
          </a:xfrm>
          <a:prstGeom prst="rect">
            <a:avLst/>
          </a:prstGeom>
          <a:ln>
            <a:solidFill>
              <a:srgbClr val="A41AD4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（二）古代诗歌阅读（本题共</a:t>
            </a:r>
            <a:r>
              <a:rPr lang="en-US" altLang="zh-CN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小题，</a:t>
            </a:r>
            <a:r>
              <a:rPr lang="en-US" altLang="zh-CN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</a:t>
            </a:r>
            <a:r>
              <a:rPr lang="zh-CN" altLang="en-US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分）</a:t>
            </a:r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阅读下面诗歌，回答后面问题。</a:t>
            </a:r>
            <a:endParaRPr lang="en-US" altLang="zh-CN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次韵钱逊叔泛舟虹桥</a:t>
            </a:r>
            <a:r>
              <a:rPr lang="zh-CN" altLang="en-US" sz="14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①</a:t>
            </a:r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宋</a:t>
            </a:r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吕本中</a:t>
            </a: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半篙春涨绿平溪，二月江城草色齐。</a:t>
            </a: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舟比蜉蝣千顷外，身同斥鷃一枝栖</a:t>
            </a:r>
            <a:r>
              <a:rPr lang="zh-CN" altLang="en-US" sz="14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②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野桥柳线斜风软，曲槛花光夕照低。</a:t>
            </a: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却讶探骊人不至</a:t>
            </a:r>
            <a:r>
              <a:rPr lang="zh-CN" altLang="en-US" sz="14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③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，清樽画航倩分题</a:t>
            </a:r>
            <a:r>
              <a:rPr lang="zh-CN" altLang="en-US" sz="14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④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</a:t>
            </a:r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]①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次韵：依次用所和诗中的韵作诗。②本句首字原缺。③探骊：这里指精通写诗作文。④分题：诗人聚会，分题目而赋诗。</a:t>
            </a:r>
            <a:endParaRPr lang="en-US" altLang="zh-CN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14. 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下列对这首诗的理解和赏析，不正确的一项是（  ）</a:t>
            </a:r>
          </a:p>
          <a:p>
            <a:r>
              <a:rPr lang="fr-FR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A. 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诗歌开篇写春水、草色，围绕色彩落笔，营造出一种愉悦的情感氛围。</a:t>
            </a:r>
          </a:p>
          <a:p>
            <a:r>
              <a:rPr lang="fr-FR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B. 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春水新涨，水面辽阔宽广，在波间漂浮的船只显得如同蜉蝣一样细小。</a:t>
            </a:r>
          </a:p>
          <a:p>
            <a:r>
              <a:rPr lang="fr-FR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C. 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斥鷃见于</a:t>
            </a:r>
            <a:r>
              <a:rPr lang="en-US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《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庄子</a:t>
            </a:r>
            <a:r>
              <a:rPr lang="en-US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逍遥游</a:t>
            </a:r>
            <a:r>
              <a:rPr lang="en-US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》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，用来与鹏做对比，因此诗中缺字应是“鹏”。</a:t>
            </a:r>
          </a:p>
          <a:p>
            <a:r>
              <a:rPr lang="fr-FR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D. 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诗歌的尾联写到了“分题”，以此收束，与题目中的“次韵”形成照应。</a:t>
            </a:r>
            <a:endParaRPr lang="en-US" altLang="zh-CN" sz="12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15. 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请赏析颈联“野桥柳线斜风软，曲槛花光夕照低”中“软”“低”二字的艺术效果。</a:t>
            </a:r>
            <a:endParaRPr lang="zh-CN" altLang="en-US" sz="1400" b="0" i="0" u="none" strike="noStrike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6338F7-444E-C84A-9501-61586F916635}"/>
              </a:ext>
            </a:extLst>
          </p:cNvPr>
          <p:cNvSpPr/>
          <p:nvPr/>
        </p:nvSpPr>
        <p:spPr>
          <a:xfrm>
            <a:off x="354628" y="4254501"/>
            <a:ext cx="6096000" cy="38549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真题解析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】(2024•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全国甲卷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A1C26B-C82E-644D-AAE0-B9BDCA3A135D}"/>
              </a:ext>
            </a:extLst>
          </p:cNvPr>
          <p:cNvSpPr/>
          <p:nvPr/>
        </p:nvSpPr>
        <p:spPr>
          <a:xfrm>
            <a:off x="7645706" y="2985571"/>
            <a:ext cx="1297236" cy="2162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4A1130-8461-B046-B654-D17E467B670B}"/>
              </a:ext>
            </a:extLst>
          </p:cNvPr>
          <p:cNvSpPr/>
          <p:nvPr/>
        </p:nvSpPr>
        <p:spPr>
          <a:xfrm>
            <a:off x="425308" y="4885762"/>
            <a:ext cx="6096000" cy="8583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14.A </a:t>
            </a:r>
            <a:r>
              <a:rPr lang="zh-CN" altLang="en-US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意象：“春”</a:t>
            </a:r>
            <a:r>
              <a:rPr lang="en-US" altLang="zh-CN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&amp;</a:t>
            </a:r>
            <a:r>
              <a:rPr lang="zh-CN" altLang="en-US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“绿”</a:t>
            </a:r>
            <a:r>
              <a:rPr lang="zh-CN" altLang="en-US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：春水涨、草长平溪</a:t>
            </a:r>
            <a:endParaRPr lang="en-US" altLang="zh-CN" kern="100" dirty="0"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充满希望的春光美景</a:t>
            </a:r>
            <a:r>
              <a:rPr lang="en-US" altLang="zh-CN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】-</a:t>
            </a:r>
            <a:r>
              <a:rPr lang="zh-CN" altLang="en-US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愉悦，正确</a:t>
            </a:r>
            <a:endParaRPr lang="en-US" altLang="zh-CN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60534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0" y="4254501"/>
            <a:ext cx="7049363" cy="21209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4" y="1182807"/>
            <a:ext cx="7049363" cy="4835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审读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题目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，明确鉴赏的对象和要求。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了解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背景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，知人论世，联系作者的机遇和所处时代进行分析。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从细节入手，抓住人物的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外貌、动作、语言、神态、心理等描写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进行分析。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时间、 地点、 景物，注意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意境的烘托作用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理解诗歌中出现的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意象所承载的思想感情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，注意意象的衬托作用。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答题模式：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①用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概括性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词语总括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形象特征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②结合诗歌， 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多角度分析形象的基本特征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③知人论世，从作者的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创作目的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出发，分析形象的意义。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C0F234-C79D-2143-B484-50822F1289C7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鉴赏古代诗歌的人物形象的方法</a:t>
            </a:r>
          </a:p>
        </p:txBody>
      </p:sp>
    </p:spTree>
    <p:extLst>
      <p:ext uri="{BB962C8B-B14F-4D97-AF65-F5344CB8AC3E}">
        <p14:creationId xmlns:p14="http://schemas.microsoft.com/office/powerpoint/2010/main" val="25740899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1" y="3657600"/>
            <a:ext cx="5696232" cy="271780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5473148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释词义，明手法。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先看该字是什么词性，结合词性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解释字的含义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，明确该字是否有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特殊用法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，如手法。 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描景象，摹情态。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把该字放入具体诗句中，展开联想和想像，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描摹情景情态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点作用，表感情。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结合诗歌分析该字在表达方面有什么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艺术效果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，表达了什么样的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情感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C0F234-C79D-2143-B484-50822F1289C7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解答古代诗歌炼字题的步骤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B8ABC2-FE37-6F4A-B367-37D341FB7CFF}"/>
              </a:ext>
            </a:extLst>
          </p:cNvPr>
          <p:cNvSpPr/>
          <p:nvPr/>
        </p:nvSpPr>
        <p:spPr>
          <a:xfrm>
            <a:off x="6364224" y="1235208"/>
            <a:ext cx="5473148" cy="4493538"/>
          </a:xfrm>
          <a:prstGeom prst="rect">
            <a:avLst/>
          </a:prstGeom>
          <a:ln>
            <a:solidFill>
              <a:srgbClr val="A41AD4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（二）古代诗歌阅读（本题共</a:t>
            </a:r>
            <a:r>
              <a:rPr lang="en-US" altLang="zh-CN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小题，</a:t>
            </a:r>
            <a:r>
              <a:rPr lang="en-US" altLang="zh-CN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</a:t>
            </a:r>
            <a:r>
              <a:rPr lang="zh-CN" altLang="en-US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分）</a:t>
            </a:r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阅读下面诗歌，回答后面问题。</a:t>
            </a:r>
            <a:endParaRPr lang="en-US" altLang="zh-CN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次韵钱逊叔泛舟虹桥</a:t>
            </a:r>
            <a:r>
              <a:rPr lang="zh-CN" altLang="en-US" sz="14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①</a:t>
            </a:r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宋</a:t>
            </a:r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吕本中</a:t>
            </a: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半篙春涨绿平溪，二月江城草色齐。</a:t>
            </a: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舟比蜉蝣千顷外，身同斥鷃一枝栖</a:t>
            </a:r>
            <a:r>
              <a:rPr lang="zh-CN" altLang="en-US" sz="14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②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野桥柳线斜风软，曲槛花光夕照低。</a:t>
            </a:r>
          </a:p>
          <a:p>
            <a:pPr algn="ctr"/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却讶探骊人不至</a:t>
            </a:r>
            <a:r>
              <a:rPr lang="zh-CN" altLang="en-US" sz="14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③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，清樽画航倩分题</a:t>
            </a:r>
            <a:r>
              <a:rPr lang="zh-CN" altLang="en-US" sz="14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④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</a:t>
            </a:r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]①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次韵：依次用所和诗中的韵作诗。②本句首字原缺。③探骊：这里指精通写诗作文。④分题：诗人聚会，分题目而赋诗。</a:t>
            </a:r>
            <a:endParaRPr lang="en-US" altLang="zh-CN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14. 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下列对这首诗的理解和赏析，不正确的一项是（  ）</a:t>
            </a:r>
          </a:p>
          <a:p>
            <a:r>
              <a:rPr lang="fr-FR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A. 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诗歌开篇写春水、草色，围绕色彩落笔，营造出一种愉悦的情感氛围。</a:t>
            </a:r>
          </a:p>
          <a:p>
            <a:r>
              <a:rPr lang="fr-FR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B. 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春水新涨，水面辽阔宽广，在波间漂浮的船只显得如同蜉蝣一样细小。</a:t>
            </a:r>
          </a:p>
          <a:p>
            <a:r>
              <a:rPr lang="fr-FR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C. 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斥鷃见于</a:t>
            </a:r>
            <a:r>
              <a:rPr lang="en-US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《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庄子</a:t>
            </a:r>
            <a:r>
              <a:rPr lang="en-US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逍遥游</a:t>
            </a:r>
            <a:r>
              <a:rPr lang="en-US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》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，用来与鹏做对比，因此诗中缺字应是“鹏”。</a:t>
            </a:r>
          </a:p>
          <a:p>
            <a:r>
              <a:rPr lang="fr-FR" altLang="zh-CN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D. </a:t>
            </a:r>
            <a:r>
              <a:rPr lang="zh-CN" altLang="en-US" sz="12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诗歌的尾联写到了“分题”，以此收束，与题目中的“次韵”形成照应。</a:t>
            </a:r>
            <a:endParaRPr lang="en-US" altLang="zh-CN" sz="12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15. </a:t>
            </a:r>
            <a:r>
              <a:rPr lang="zh-CN" altLang="en-US" sz="14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请赏析颈联“野桥柳线斜风软，曲槛花光夕照低”中“软”“低”二字的艺术效果。</a:t>
            </a:r>
            <a:endParaRPr lang="zh-CN" altLang="en-US" sz="1400" b="0" i="0" u="none" strike="noStrike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A26A76-5592-E244-BCCE-4712CB5D2AD2}"/>
              </a:ext>
            </a:extLst>
          </p:cNvPr>
          <p:cNvSpPr/>
          <p:nvPr/>
        </p:nvSpPr>
        <p:spPr>
          <a:xfrm>
            <a:off x="7566193" y="2782345"/>
            <a:ext cx="2889772" cy="2286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7EAAF5-E06E-3744-A3DF-5F934D379B49}"/>
              </a:ext>
            </a:extLst>
          </p:cNvPr>
          <p:cNvSpPr/>
          <p:nvPr/>
        </p:nvSpPr>
        <p:spPr>
          <a:xfrm>
            <a:off x="10899114" y="5200867"/>
            <a:ext cx="938258" cy="2219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76C736-EDD8-2048-B773-D5138A9C0003}"/>
              </a:ext>
            </a:extLst>
          </p:cNvPr>
          <p:cNvSpPr/>
          <p:nvPr/>
        </p:nvSpPr>
        <p:spPr>
          <a:xfrm>
            <a:off x="354628" y="3714582"/>
            <a:ext cx="6096000" cy="38549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真题解析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】(2024•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全国甲卷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9ED4D-4A9E-AC4C-9651-70B32C3B2D8E}"/>
              </a:ext>
            </a:extLst>
          </p:cNvPr>
          <p:cNvSpPr/>
          <p:nvPr/>
        </p:nvSpPr>
        <p:spPr>
          <a:xfrm>
            <a:off x="425308" y="4092016"/>
            <a:ext cx="553688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15.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  <a:p>
            <a:pPr fontAlgn="ctr"/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软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”-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字意：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温柔和轻柔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诗句中：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斜风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软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  <a:sym typeface="Wingdings" pitchFamily="2" charset="2"/>
              </a:rPr>
              <a:t>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传达出春风的温柔和轻柔。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(3)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效果：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斜风拂过野桥上的柳条，柳条随风轻轻摇曳，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情感：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给人一种柔和、舒适的感觉。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”-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字意：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柔和而低垂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诗句中：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夕照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  <a:sym typeface="Wingdings" pitchFamily="2" charset="2"/>
              </a:rPr>
              <a:t>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描绘了夕阳西下时光线逐渐变低的景象。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 (3)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效果：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夕阳的余晖洒在曲折的栏杆和花朵上，光线柔和而低垂，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情感：</a:t>
            </a:r>
            <a:r>
              <a:rPr lang="zh-CN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给人一种温馨、宁静的感觉。不仅描绘了夕阳的特质，还增强了画面的层次感和立体感，使整个景象显得更加生动和富有诗意。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180AE2-DD82-2246-A4D3-91A462B728DD}"/>
              </a:ext>
            </a:extLst>
          </p:cNvPr>
          <p:cNvSpPr/>
          <p:nvPr/>
        </p:nvSpPr>
        <p:spPr>
          <a:xfrm>
            <a:off x="6297016" y="5774748"/>
            <a:ext cx="5607563" cy="688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答：“软”字形容斜风的温柔轻柔，营造出宁静和谐的氛围；“低”字描绘夕照的柔和低垂，增强了画面的层次感和诗意，使景象更生动。</a:t>
            </a:r>
          </a:p>
        </p:txBody>
      </p:sp>
    </p:spTree>
    <p:extLst>
      <p:ext uri="{BB962C8B-B14F-4D97-AF65-F5344CB8AC3E}">
        <p14:creationId xmlns:p14="http://schemas.microsoft.com/office/powerpoint/2010/main" val="21831575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0" y="4254501"/>
            <a:ext cx="7049363" cy="21209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183964" cy="261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简析句意，根据原句展开联想，描述景象或意境。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如使用特殊手法，则应指出该手法，并说明作者以该手法写出了景物（事物）的什么特点。 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结合句意赏析语句。对诗句的理解要联系全诗，避免断章取义。 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分析该句的作用、效果和表达的情感。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C0F234-C79D-2143-B484-50822F1289C7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解答古代诗歌炼句题步骤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1BC5C7-F0A7-6845-BDA4-D461648910A7}"/>
              </a:ext>
            </a:extLst>
          </p:cNvPr>
          <p:cNvSpPr/>
          <p:nvPr/>
        </p:nvSpPr>
        <p:spPr>
          <a:xfrm>
            <a:off x="559115" y="4254501"/>
            <a:ext cx="553688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类似：炼字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-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炼句（分析异同）</a:t>
            </a: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fontAlgn="ctr"/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fontAlgn="ctr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字意</a:t>
            </a:r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句意</a:t>
            </a:r>
            <a:endPara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手法</a:t>
            </a:r>
            <a:endPara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endPara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诗句中</a:t>
            </a:r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全诗中</a:t>
            </a:r>
            <a:endPara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描绘</a:t>
            </a:r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xx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景象</a:t>
            </a:r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形容了</a:t>
            </a:r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xx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意境</a:t>
            </a:r>
            <a:endPara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endParaRPr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(3)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效果</a:t>
            </a:r>
            <a:r>
              <a:rPr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情感</a:t>
            </a:r>
            <a:endParaRPr lang="zh-CN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53870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6EB0D12-DFCD-1048-A5BB-C5383C6B02DB}"/>
              </a:ext>
            </a:extLst>
          </p:cNvPr>
          <p:cNvSpPr/>
          <p:nvPr/>
        </p:nvSpPr>
        <p:spPr>
          <a:xfrm>
            <a:off x="417830" y="1182807"/>
            <a:ext cx="7049363" cy="519259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6773286" cy="446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抓住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题目、注释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，常常包含诗眼或中心事件。 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抓住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关键词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。有时作者会在诗歌中用一两个词语来点明其思想感情，抓住了关键词，也就能够快速地把握该诗歌的感情基调。 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抓住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题材类型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。人们常常把古典诗歌按题材分成若干类，因此，若能判定一首歌所属类型，就可快速地把握该诗歌的感情基调。 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抓住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景物的形象特点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景物形象可分为乐景（优美闲适、色彩明丽、壮观奇伟、气势雄浑）和哀景（冷清凄冷、色彩暗淡、低沉萧瑟）两类。一般来说，乐景表示乐情，哀景表示哀情。不过要特别留意的是古诗中常用的“以乐景写哀情”写法。 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(5)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抓住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典型意象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。意象是融入了作者的主观情感的客观物象，是作者内在的思想情感与外在的客观物象的统一。所以要注意通过分析诗歌中的意象来揣摩作者的情感。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C0F234-C79D-2143-B484-50822F1289C7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评价古代诗歌中的思想内容技巧 </a:t>
            </a: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3A2AD2F1-16C5-1D4A-B95E-36500DE0FA3D}"/>
              </a:ext>
            </a:extLst>
          </p:cNvPr>
          <p:cNvSpPr/>
          <p:nvPr/>
        </p:nvSpPr>
        <p:spPr>
          <a:xfrm>
            <a:off x="7467193" y="1207521"/>
            <a:ext cx="539985" cy="1832242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1092223C-E1B1-CD4E-8E61-AA60A25AF108}"/>
              </a:ext>
            </a:extLst>
          </p:cNvPr>
          <p:cNvSpPr/>
          <p:nvPr/>
        </p:nvSpPr>
        <p:spPr>
          <a:xfrm>
            <a:off x="7467192" y="3596494"/>
            <a:ext cx="539985" cy="1832242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E37C27-1F11-9B49-B0E4-88ED529F1AC6}"/>
              </a:ext>
            </a:extLst>
          </p:cNvPr>
          <p:cNvSpPr/>
          <p:nvPr/>
        </p:nvSpPr>
        <p:spPr>
          <a:xfrm>
            <a:off x="8306802" y="1937603"/>
            <a:ext cx="55368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一抓事件</a:t>
            </a: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fontAlgn="ctr"/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fontAlgn="ctr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题目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关键词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题材：人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事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情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CBB95B-2F67-5F48-9F4D-4E8C54DF0714}"/>
              </a:ext>
            </a:extLst>
          </p:cNvPr>
          <p:cNvSpPr/>
          <p:nvPr/>
        </p:nvSpPr>
        <p:spPr>
          <a:xfrm>
            <a:off x="8306801" y="4314219"/>
            <a:ext cx="55368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二抓「以景写情」</a:t>
            </a: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fontAlgn="ctr"/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景物形象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意象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：以景写情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28665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Chapter-7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文言文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2489057"/>
            <a:ext cx="11356340" cy="3668175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常考文言文分类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6187922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）五种常见文章类型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熟练掌握各种体裁的文本特征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以助于我们读懂文本内容。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0364E41-09FC-AE44-89E4-112FEC7AC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705236"/>
              </p:ext>
            </p:extLst>
          </p:nvPr>
        </p:nvGraphicFramePr>
        <p:xfrm>
          <a:off x="899160" y="2688418"/>
          <a:ext cx="10561321" cy="3220212"/>
        </p:xfrm>
        <a:graphic>
          <a:graphicData uri="http://schemas.openxmlformats.org/drawingml/2006/table">
            <a:tbl>
              <a:tblPr firstRow="1" firstCol="1" bandRow="1"/>
              <a:tblGrid>
                <a:gridCol w="2407920">
                  <a:extLst>
                    <a:ext uri="{9D8B030D-6E8A-4147-A177-3AD203B41FA5}">
                      <a16:colId xmlns:a16="http://schemas.microsoft.com/office/drawing/2014/main" val="695863261"/>
                    </a:ext>
                  </a:extLst>
                </a:gridCol>
                <a:gridCol w="8153401">
                  <a:extLst>
                    <a:ext uri="{9D8B030D-6E8A-4147-A177-3AD203B41FA5}">
                      <a16:colId xmlns:a16="http://schemas.microsoft.com/office/drawing/2014/main" val="3292680541"/>
                    </a:ext>
                  </a:extLst>
                </a:gridCol>
              </a:tblGrid>
              <a:tr h="2569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A41AD4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种类</a:t>
                      </a:r>
                      <a:endParaRPr lang="zh-CN" sz="1400" b="1" kern="100" dirty="0">
                        <a:solidFill>
                          <a:srgbClr val="A41AD4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行文特征</a:t>
                      </a:r>
                      <a:endParaRPr lang="zh-CN" sz="1400" kern="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004847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A41AD4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记人类</a:t>
                      </a:r>
                      <a:endParaRPr lang="zh-CN" sz="1400" b="1" kern="100" dirty="0">
                        <a:solidFill>
                          <a:srgbClr val="A41AD4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开头简要介绍</a:t>
                      </a:r>
                      <a:r>
                        <a:rPr lang="zh-CN" sz="1400" b="1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传主基本信息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姓名、籍贯、家庭等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中间重点介绍</a:t>
                      </a:r>
                      <a:r>
                        <a:rPr lang="zh-CN" sz="1400" b="1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传主的生平履历及主要事迹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结尾补充介绍传主的结局、死后封赏等。如《屈原列传》</a:t>
                      </a:r>
                      <a:endParaRPr lang="zh-CN" sz="1400" kern="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880989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A41AD4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纪事类</a:t>
                      </a:r>
                      <a:endParaRPr lang="zh-CN" sz="1400" b="1" kern="100" dirty="0">
                        <a:solidFill>
                          <a:srgbClr val="A41AD4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以</a:t>
                      </a:r>
                      <a:r>
                        <a:rPr lang="zh-CN" altLang="en-US" sz="1400" b="1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记叙历史事件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为主。或记叙一个中心事件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;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或记叙多个事件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但事件之间没有关联。基本按时间顺序编写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能反映历史事件的全过程或关键节点。如《邹忌讽齐王纳谏》</a:t>
                      </a:r>
                      <a:endParaRPr lang="zh-CN" sz="1400" kern="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839987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A41AD4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写景游记类</a:t>
                      </a:r>
                      <a:endParaRPr lang="zh-CN" sz="1400" b="1" kern="100" dirty="0">
                        <a:solidFill>
                          <a:srgbClr val="A41AD4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开篇介绍</a:t>
                      </a:r>
                      <a:r>
                        <a:rPr lang="zh-CN" altLang="en-US" sz="1400" b="1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游览之地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的位置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描写其总体概貌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;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主体部分详细浏览过程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直接或间接写景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;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结尾抒情议论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或写作者游览之后的感想等。如《游褒禅山记》</a:t>
                      </a:r>
                      <a:endParaRPr lang="zh-CN" sz="1400" kern="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696128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A41AD4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墓志铭、神道碑、墓表等</a:t>
                      </a:r>
                      <a:endParaRPr lang="zh-CN" sz="1400" b="1" kern="100" dirty="0">
                        <a:solidFill>
                          <a:srgbClr val="A41AD4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主要内容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: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记录死者的姓名、籍贯、生卒年月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记述</a:t>
                      </a:r>
                      <a:r>
                        <a:rPr lang="zh-CN" sz="1400" b="1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死者的生平事迹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、一生做出的贡献、受到的表彰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表达对死者的哀悼、对死者亲朋的安慰、寄托哀思等。如《柳子厚墓志铭》</a:t>
                      </a:r>
                      <a:endParaRPr lang="zh-CN" sz="1400" kern="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409288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A41AD4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议论说理类</a:t>
                      </a:r>
                      <a:endParaRPr lang="zh-CN" sz="1400" b="1" kern="100" dirty="0">
                        <a:solidFill>
                          <a:srgbClr val="A41AD4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开头针对</a:t>
                      </a:r>
                      <a:r>
                        <a:rPr lang="zh-CN" altLang="en-US" sz="1400" b="1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社会现象、问题等</a:t>
                      </a:r>
                      <a:r>
                        <a:rPr lang="en-US" sz="1400" b="1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altLang="en-US" sz="1400" b="1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提出观点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。中间或用事理名言阐释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或用现实人事分析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或二者并用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证明观点。结尾照应开头</a:t>
                      </a: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再次强调观点。如《师说》</a:t>
                      </a:r>
                      <a:endParaRPr lang="zh-CN" sz="1400" kern="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617764"/>
                  </a:ext>
                </a:extLst>
              </a:tr>
            </a:tbl>
          </a:graphicData>
        </a:graphic>
      </p:graphicFrame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A5C3EDB-8B34-6A4C-8561-6B02B0AB2F2D}"/>
              </a:ext>
            </a:extLst>
          </p:cNvPr>
          <p:cNvCxnSpPr>
            <a:cxnSpLocks/>
          </p:cNvCxnSpPr>
          <p:nvPr/>
        </p:nvCxnSpPr>
        <p:spPr>
          <a:xfrm>
            <a:off x="568983" y="224925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0372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2489057"/>
            <a:ext cx="11356340" cy="3668175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常考文言文题型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11205186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）四步读文章方法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在理解内容的基础上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总结归纳观点、主题、评价、情感、表现手法。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0364E41-09FC-AE44-89E4-112FEC7AC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036025"/>
              </p:ext>
            </p:extLst>
          </p:nvPr>
        </p:nvGraphicFramePr>
        <p:xfrm>
          <a:off x="815338" y="2653210"/>
          <a:ext cx="10561321" cy="3241726"/>
        </p:xfrm>
        <a:graphic>
          <a:graphicData uri="http://schemas.openxmlformats.org/drawingml/2006/table">
            <a:tbl>
              <a:tblPr firstRow="1" firstCol="1" bandRow="1"/>
              <a:tblGrid>
                <a:gridCol w="2407920">
                  <a:extLst>
                    <a:ext uri="{9D8B030D-6E8A-4147-A177-3AD203B41FA5}">
                      <a16:colId xmlns:a16="http://schemas.microsoft.com/office/drawing/2014/main" val="695863261"/>
                    </a:ext>
                  </a:extLst>
                </a:gridCol>
                <a:gridCol w="8153401">
                  <a:extLst>
                    <a:ext uri="{9D8B030D-6E8A-4147-A177-3AD203B41FA5}">
                      <a16:colId xmlns:a16="http://schemas.microsoft.com/office/drawing/2014/main" val="3292680541"/>
                    </a:ext>
                  </a:extLst>
                </a:gridCol>
              </a:tblGrid>
              <a:tr h="2569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步骤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基本阅读方法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004847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一、圈点勾画</a:t>
                      </a:r>
                      <a:r>
                        <a:rPr lang="en-US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整体把握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记人类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勾画时间、地点和官职等词语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纪事类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勾画人物、事件和结果等词语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议论说理类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勾画文中抒情、议论的字词语句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写景游记类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勾画游览的地点、写景的语句、游览后的心得和感想等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墓志铭、神道碑、墓表等类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勾画时间、地点、人物、事件、抒情议论等字词语句</a:t>
                      </a:r>
                      <a:r>
                        <a:rPr lang="en-US" altLang="zh-CN" sz="1400" b="1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【</a:t>
                      </a:r>
                      <a:r>
                        <a:rPr lang="zh-CN" altLang="en-US" sz="1400" b="1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时间</a:t>
                      </a:r>
                      <a:r>
                        <a:rPr lang="en-US" altLang="zh-CN" sz="1400" b="1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400" b="1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事件发展顺序</a:t>
                      </a:r>
                      <a:r>
                        <a:rPr lang="en-US" altLang="zh-CN" sz="1400" b="1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】</a:t>
                      </a:r>
                      <a:endParaRPr lang="zh-CN" sz="1400" b="1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880989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二、比对选项</a:t>
                      </a:r>
                      <a:r>
                        <a:rPr lang="en-US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速通文意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概述题的四个选项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基本上按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文本行文的先后顺序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在阅读文本之前可先阅读这四个选项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在读原文时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再将选项中的内容加以比对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既可以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【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破解一些难懂的字词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快速疏通文意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为解答概述题找到了信息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】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839987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三、借助设问</a:t>
                      </a:r>
                      <a:r>
                        <a:rPr lang="en-US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精抓重点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文言文主观题的设置一般并非针对整篇文章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而是抓住文章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富有内涵的关键部分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来设题。</a:t>
                      </a:r>
                      <a:b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</a:b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先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分析这道主观题的设问题干</a:t>
                      </a:r>
                      <a:r>
                        <a:rPr 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在阅读时就可以快速把握重点内容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696128"/>
                  </a:ext>
                </a:extLst>
              </a:tr>
              <a:tr h="5615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四、扣紧语境</a:t>
                      </a:r>
                      <a:r>
                        <a:rPr lang="en-US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精准作答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分析文言文的主客观题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都不能脱离具体语境</a:t>
                      </a:r>
                      <a:r>
                        <a:rPr 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只有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【</a:t>
                      </a:r>
                      <a:r>
                        <a:rPr 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回到语境、扣紧语境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】</a:t>
                      </a:r>
                      <a:r>
                        <a:rPr 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才能做到精准作答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409288"/>
                  </a:ext>
                </a:extLst>
              </a:tr>
            </a:tbl>
          </a:graphicData>
        </a:graphic>
      </p:graphicFrame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A5C3EDB-8B34-6A4C-8561-6B02B0AB2F2D}"/>
              </a:ext>
            </a:extLst>
          </p:cNvPr>
          <p:cNvCxnSpPr>
            <a:cxnSpLocks/>
          </p:cNvCxnSpPr>
          <p:nvPr/>
        </p:nvCxnSpPr>
        <p:spPr>
          <a:xfrm>
            <a:off x="568983" y="224925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2860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2489057"/>
            <a:ext cx="11356340" cy="3668175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常考文言文题型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11205186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）四步读文章方法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找出文章重点要素，划分层次，把握重点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A5C3EDB-8B34-6A4C-8561-6B02B0AB2F2D}"/>
              </a:ext>
            </a:extLst>
          </p:cNvPr>
          <p:cNvCxnSpPr>
            <a:cxnSpLocks/>
          </p:cNvCxnSpPr>
          <p:nvPr/>
        </p:nvCxnSpPr>
        <p:spPr>
          <a:xfrm>
            <a:off x="568983" y="224925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B399E2A4-ACA3-4B44-9298-3B9CB645B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250288"/>
              </p:ext>
            </p:extLst>
          </p:nvPr>
        </p:nvGraphicFramePr>
        <p:xfrm>
          <a:off x="7158427" y="4010813"/>
          <a:ext cx="4240531" cy="520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42493DF4-D57D-9E43-B962-C5643F435F3D}"/>
              </a:ext>
            </a:extLst>
          </p:cNvPr>
          <p:cNvSpPr/>
          <p:nvPr/>
        </p:nvSpPr>
        <p:spPr>
          <a:xfrm>
            <a:off x="793042" y="2796016"/>
            <a:ext cx="7226902" cy="295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读文章时：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开头：主题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「如：人物姓名、官职、品行」</a:t>
            </a:r>
            <a:b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</a:b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中间：过程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「如：生平事迹、功过、变迁」</a:t>
            </a:r>
            <a:endParaRPr lang="en-US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kern="1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结尾：结尾、评价</a:t>
            </a:r>
            <a:r>
              <a:rPr lang="zh-CN" altLang="en-US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「如：结局、去世原因、功过评价」</a:t>
            </a:r>
            <a:endParaRPr lang="en-US" altLang="zh-CN" sz="1400" kern="100" dirty="0">
              <a:solidFill>
                <a:srgbClr val="C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kern="1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重点要素：</a:t>
            </a:r>
            <a:endParaRPr lang="en-US" altLang="zh-CN" sz="14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内容（事迹、重要事实）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评价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传主要素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事件因果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作者评价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文中人物评价」</a:t>
            </a:r>
            <a:endParaRPr lang="en-US" altLang="zh-CN" sz="1400" kern="100" dirty="0">
              <a:solidFill>
                <a:srgbClr val="C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直角上箭头 1">
            <a:extLst>
              <a:ext uri="{FF2B5EF4-FFF2-40B4-BE49-F238E27FC236}">
                <a16:creationId xmlns:a16="http://schemas.microsoft.com/office/drawing/2014/main" id="{726C9BC2-3921-2C40-A067-20B9A5189225}"/>
              </a:ext>
            </a:extLst>
          </p:cNvPr>
          <p:cNvSpPr/>
          <p:nvPr/>
        </p:nvSpPr>
        <p:spPr>
          <a:xfrm>
            <a:off x="6252519" y="4658497"/>
            <a:ext cx="3126259" cy="766119"/>
          </a:xfrm>
          <a:prstGeom prst="bentUpArrow">
            <a:avLst>
              <a:gd name="adj1" fmla="val 13710"/>
              <a:gd name="adj2" fmla="val 25000"/>
              <a:gd name="adj3" fmla="val 1854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ED39F5-5506-7948-ADD7-E5595F3F5CDF}"/>
              </a:ext>
            </a:extLst>
          </p:cNvPr>
          <p:cNvSpPr/>
          <p:nvPr/>
        </p:nvSpPr>
        <p:spPr>
          <a:xfrm>
            <a:off x="9378778" y="4716898"/>
            <a:ext cx="2073861" cy="688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信息的把握与提取：</a:t>
            </a:r>
            <a:b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</a:b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支撑解题的关键！</a:t>
            </a:r>
            <a:endParaRPr lang="en-US" altLang="zh-CN" sz="14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3838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1691658"/>
            <a:ext cx="11356340" cy="4876776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文言文解题方法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6268720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）断句题：</a:t>
            </a:r>
            <a:r>
              <a:rPr kumimoji="1"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一看语义、二看固定结构、三看句段是否完整</a:t>
            </a:r>
            <a:endParaRPr kumimoji="1" lang="en-US" altLang="zh-CN" sz="16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0B282A9-01A1-A147-AE02-C41D55F4A90E}"/>
              </a:ext>
            </a:extLst>
          </p:cNvPr>
          <p:cNvSpPr/>
          <p:nvPr/>
        </p:nvSpPr>
        <p:spPr>
          <a:xfrm>
            <a:off x="575980" y="1729621"/>
            <a:ext cx="7226902" cy="4750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真题解析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】(2023•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新课标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Ⅰ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卷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阅读下面的文言文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完成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1~5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题 </a:t>
            </a: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1.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材料二画波浪线的部分有三处需要断句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请将相应位置的字母填在下面的答题线上。每填对一处给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分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超过三处不给分。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(3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分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韩非书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A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云夫子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B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善之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C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引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D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以张本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E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然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F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后难之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G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岂有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H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不似哉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?</a:t>
            </a:r>
          </a:p>
          <a:p>
            <a:pPr algn="just">
              <a:lnSpc>
                <a:spcPct val="150000"/>
              </a:lnSpc>
            </a:pPr>
            <a:endParaRPr lang="en-US" altLang="zh-CN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</a:t>
            </a:r>
            <a:r>
              <a:rPr lang="zh-CN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句子完整处应断开。标志字词判断。注意主语、宾语有时会省略。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）语意上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,“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韩非书云”的意思是</a:t>
            </a:r>
            <a:r>
              <a:rPr lang="zh-CN" altLang="en-US" sz="1400" u="sng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韩非的书里记载说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其后应跟说的内容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b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,“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夫子善之”是韩非书里记载的内容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应作“云”的宾语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,“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韩非书云夫子善之”语意完整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其后应断开。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-2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）从固定结构上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,“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岂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哉”为反问句式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其前应断开。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-3</a:t>
            </a:r>
            <a:r>
              <a:rPr lang="zh-CN" altLang="en-US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）完整处，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断开。材料一中韩非先引用孔子的观点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然后加以批驳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这就是“引以张本”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,“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然后难之”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故“引以张本”后应断开。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en-US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:CEG </a:t>
            </a:r>
            <a:endParaRPr lang="en-US" altLang="zh-CN" sz="14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1FCF9E-FE67-4D4B-8B02-6D482AB21C38}"/>
              </a:ext>
            </a:extLst>
          </p:cNvPr>
          <p:cNvSpPr/>
          <p:nvPr/>
        </p:nvSpPr>
        <p:spPr>
          <a:xfrm>
            <a:off x="7961032" y="1032948"/>
            <a:ext cx="3688079" cy="504753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材料二：</a:t>
            </a:r>
          </a:p>
          <a:p>
            <a:pPr fontAlgn="ctr"/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陈人有武臣，谓子鲋</a:t>
            </a:r>
            <a:r>
              <a:rPr lang="en-US" altLang="zh-CN" sz="14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②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曰：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韩子立法，其所以异夫子之论者纷如也。予每探其意而校其事，持久历远，遏奸劝善，韩氏未必非，孔氏未必得也。若韩非者，亦当世之圣人也。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”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子鲋曰：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今世人有言高者必以极天为称，言下者必以深渊为名。好事而穿凿者，必言经以自辅，援圣以自贤，欲以取信于群愚而度其说也。若诸子之书，其义皆然。</a:t>
            </a:r>
            <a:r>
              <a:rPr lang="zh-CN" altLang="zh-CN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请略说一隅，而君子审其信否焉。</a:t>
            </a:r>
            <a:r>
              <a:rPr lang="en-US" altLang="zh-CN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”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武臣曰：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诺。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”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子鲋曰：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乃者赵、韩共并知氏，赵襄子之行赏，先加具臣而后有功。</a:t>
            </a:r>
            <a:r>
              <a:rPr lang="zh-CN" altLang="zh-CN" sz="1400" u="wavy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韩非书云夫子善之引以张本然后难之岂有不似哉？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然实诈也。何以明其然？昔我先君以春秋哀公十六年四月己丑卒，至二十七年荀瑶与韩、赵、魏伐郑，遇陈恒而还，是时夫子卒已十一年矣，而晋四卿皆在也。后悼公十四年，知氏乃亡。此先后甚远，而韩非公称之，曾无怍意。是则世多好事之徒，皆非之罪也。故吾以是默口于小道，塞耳于诸子久矣。而子立尺表以度天，植寸指以测渊，矇大道而不悟，信诬说以疑圣，殆非所望也。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”</a:t>
            </a:r>
            <a:endParaRPr lang="zh-CN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fontAlgn="ctr"/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（节选自《孔丛子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答问》）</a:t>
            </a:r>
          </a:p>
        </p:txBody>
      </p:sp>
    </p:spTree>
    <p:extLst>
      <p:ext uri="{BB962C8B-B14F-4D97-AF65-F5344CB8AC3E}">
        <p14:creationId xmlns:p14="http://schemas.microsoft.com/office/powerpoint/2010/main" val="33822377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1691658"/>
            <a:ext cx="11356340" cy="4876776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文言文解题方法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3971290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）主观题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0B282A9-01A1-A147-AE02-C41D55F4A90E}"/>
              </a:ext>
            </a:extLst>
          </p:cNvPr>
          <p:cNvSpPr/>
          <p:nvPr/>
        </p:nvSpPr>
        <p:spPr>
          <a:xfrm>
            <a:off x="575980" y="1729621"/>
            <a:ext cx="4498940" cy="4704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例题解析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黄淳耀对李广持贬低的态度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请归纳理由。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(3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分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</a:p>
          <a:p>
            <a:pPr algn="just">
              <a:lnSpc>
                <a:spcPct val="150000"/>
              </a:lnSpc>
            </a:pPr>
            <a:endParaRPr lang="en-US" altLang="zh-CN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*第一步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:{</a:t>
            </a:r>
            <a:r>
              <a:rPr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审设问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明方向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lang="zh-CN" altLang="en-US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题干重点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:“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持贬低态度”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-&gt;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锁定语句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第二步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:{</a:t>
            </a:r>
            <a:r>
              <a:rPr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读文本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定范围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lang="zh-CN" altLang="en-US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第三步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sym typeface="Wingdings" pitchFamily="2" charset="2"/>
              </a:rPr>
              <a:t>:{</a:t>
            </a:r>
            <a:r>
              <a:rPr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sym typeface="Wingdings" pitchFamily="2" charset="2"/>
              </a:rPr>
              <a:t>分几点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组答案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lang="zh-CN" altLang="en-US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答：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①他缺乏对军队的必要约束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遇到突然袭击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无法抵御外敌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;②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他作战逐利乘便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缺乏大局观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难以统筹应对大敌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;③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他无法统领大军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不注重防守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带兵策略有欠缺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不值得效仿。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69089D-70A7-3A4A-B93F-F74BF6A0663E}"/>
              </a:ext>
            </a:extLst>
          </p:cNvPr>
          <p:cNvSpPr/>
          <p:nvPr/>
        </p:nvSpPr>
        <p:spPr>
          <a:xfrm>
            <a:off x="5520020" y="2051343"/>
            <a:ext cx="6096000" cy="335136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李广非大将才也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行无部伍行阵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人人自便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此以逐利乘便可也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遇大敌则覆矣。太史公叙广最得意处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在为上郡太守以百骑御匈奴数千骑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射杀其将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解鞍纵卧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然此固裨将之器也。若夫堂堂之阵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正正之旗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进如风雨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退如山岳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广岂足以乎此哉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?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淮南王谋反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只惮卫青与汲黯而不闻及广。太史公以孤愤之故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叙广不啻口出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而传卫青若不值一钱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然随文读之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广与青之优劣终不掩。</a:t>
            </a:r>
            <a:endParaRPr lang="zh-CN" altLang="en-US" sz="1400" kern="1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节选自黄淳耀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史记评论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》)</a:t>
            </a:r>
            <a:endParaRPr lang="zh-CN" altLang="en-US" sz="1400" kern="1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6BCE2B-F17B-E84A-A85A-6367D983661D}"/>
              </a:ext>
            </a:extLst>
          </p:cNvPr>
          <p:cNvSpPr/>
          <p:nvPr/>
        </p:nvSpPr>
        <p:spPr>
          <a:xfrm>
            <a:off x="6096000" y="2097063"/>
            <a:ext cx="3688080" cy="3718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D58E41-0431-D246-B622-16DEFC40562B}"/>
              </a:ext>
            </a:extLst>
          </p:cNvPr>
          <p:cNvSpPr/>
          <p:nvPr/>
        </p:nvSpPr>
        <p:spPr>
          <a:xfrm>
            <a:off x="10375230" y="2075766"/>
            <a:ext cx="1240790" cy="3718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F0B3CF-3D89-A94B-BB44-168BA2311D6F}"/>
              </a:ext>
            </a:extLst>
          </p:cNvPr>
          <p:cNvSpPr/>
          <p:nvPr/>
        </p:nvSpPr>
        <p:spPr>
          <a:xfrm>
            <a:off x="5614600" y="2548206"/>
            <a:ext cx="1761560" cy="3718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46D686-B350-7B43-9FEC-9AA3CE4DF8BF}"/>
              </a:ext>
            </a:extLst>
          </p:cNvPr>
          <p:cNvSpPr/>
          <p:nvPr/>
        </p:nvSpPr>
        <p:spPr>
          <a:xfrm>
            <a:off x="5614600" y="3355209"/>
            <a:ext cx="6001420" cy="3718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8FD740-DBC1-EE4E-A928-09BBE83028E3}"/>
              </a:ext>
            </a:extLst>
          </p:cNvPr>
          <p:cNvSpPr/>
          <p:nvPr/>
        </p:nvSpPr>
        <p:spPr>
          <a:xfrm>
            <a:off x="5614600" y="3784338"/>
            <a:ext cx="4916240" cy="3718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1C6DEE-7954-CD46-9289-B762206FE81A}"/>
              </a:ext>
            </a:extLst>
          </p:cNvPr>
          <p:cNvSpPr/>
          <p:nvPr/>
        </p:nvSpPr>
        <p:spPr>
          <a:xfrm>
            <a:off x="6155068" y="5438424"/>
            <a:ext cx="28472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①缺乏约束</a:t>
            </a:r>
            <a:r>
              <a:rPr lang="en-US" altLang="zh-CN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zh-CN" altLang="en-US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无法抵御外敌</a:t>
            </a:r>
            <a:endParaRPr lang="zh-CN" altLang="en-US" sz="1600" kern="100" dirty="0">
              <a:solidFill>
                <a:srgbClr val="C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2355BC94-4777-6042-B468-AC8CDAB66CFC}"/>
              </a:ext>
            </a:extLst>
          </p:cNvPr>
          <p:cNvCxnSpPr/>
          <p:nvPr/>
        </p:nvCxnSpPr>
        <p:spPr>
          <a:xfrm>
            <a:off x="6324600" y="2468880"/>
            <a:ext cx="0" cy="29338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430D50C-2631-7B41-AE37-9C523A02DF53}"/>
              </a:ext>
            </a:extLst>
          </p:cNvPr>
          <p:cNvSpPr txBox="1"/>
          <p:nvPr/>
        </p:nvSpPr>
        <p:spPr>
          <a:xfrm>
            <a:off x="234534" y="-89531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9F51AF8-E782-A64B-8D2C-F13A92220603}"/>
              </a:ext>
            </a:extLst>
          </p:cNvPr>
          <p:cNvSpPr/>
          <p:nvPr/>
        </p:nvSpPr>
        <p:spPr>
          <a:xfrm>
            <a:off x="5687498" y="181436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①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14A44A-E203-474B-94B4-4E3A60CDC7C4}"/>
              </a:ext>
            </a:extLst>
          </p:cNvPr>
          <p:cNvSpPr/>
          <p:nvPr/>
        </p:nvSpPr>
        <p:spPr>
          <a:xfrm>
            <a:off x="10021431" y="1855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②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10D78508-545D-7A46-81A6-3906691F62BC}"/>
              </a:ext>
            </a:extLst>
          </p:cNvPr>
          <p:cNvCxnSpPr>
            <a:cxnSpLocks/>
          </p:cNvCxnSpPr>
          <p:nvPr/>
        </p:nvCxnSpPr>
        <p:spPr>
          <a:xfrm>
            <a:off x="6086017" y="2920023"/>
            <a:ext cx="0" cy="28877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03EC9A25-A2F1-5C42-AF68-010959216BE6}"/>
              </a:ext>
            </a:extLst>
          </p:cNvPr>
          <p:cNvSpPr/>
          <p:nvPr/>
        </p:nvSpPr>
        <p:spPr>
          <a:xfrm>
            <a:off x="6155068" y="5787911"/>
            <a:ext cx="35654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1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②</a:t>
            </a:r>
            <a:r>
              <a:rPr lang="zh-CN" altLang="en-US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作战逐利乘便 </a:t>
            </a:r>
            <a:r>
              <a:rPr lang="en-US" altLang="zh-CN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难以统筹应对大敌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3EAB03-3D3F-A740-9B91-D7154BB952ED}"/>
              </a:ext>
            </a:extLst>
          </p:cNvPr>
          <p:cNvSpPr/>
          <p:nvPr/>
        </p:nvSpPr>
        <p:spPr>
          <a:xfrm>
            <a:off x="6148576" y="6108690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③不注重防守</a:t>
            </a:r>
            <a:r>
              <a:rPr lang="en-US" altLang="zh-CN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带兵策略有欠缺</a:t>
            </a:r>
            <a:r>
              <a:rPr lang="en-US" altLang="zh-CN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16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不值得效仿</a:t>
            </a:r>
          </a:p>
          <a:p>
            <a:pPr algn="just"/>
            <a:endParaRPr lang="zh-CN" altLang="en-US" sz="1600" kern="100" dirty="0">
              <a:solidFill>
                <a:srgbClr val="C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BE14C38-85F7-2B43-B985-627927F50A63}"/>
              </a:ext>
            </a:extLst>
          </p:cNvPr>
          <p:cNvCxnSpPr>
            <a:cxnSpLocks/>
          </p:cNvCxnSpPr>
          <p:nvPr/>
        </p:nvCxnSpPr>
        <p:spPr>
          <a:xfrm>
            <a:off x="5860395" y="3727026"/>
            <a:ext cx="0" cy="25492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6B91A7ED-7F25-8644-9ED7-8D2684B7FAC0}"/>
              </a:ext>
            </a:extLst>
          </p:cNvPr>
          <p:cNvSpPr/>
          <p:nvPr/>
        </p:nvSpPr>
        <p:spPr>
          <a:xfrm>
            <a:off x="5233070" y="315342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6689625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1691658"/>
            <a:ext cx="11356340" cy="4876776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文言文解题方法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3971290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）翻译题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0B282A9-01A1-A147-AE02-C41D55F4A90E}"/>
              </a:ext>
            </a:extLst>
          </p:cNvPr>
          <p:cNvSpPr/>
          <p:nvPr/>
        </p:nvSpPr>
        <p:spPr>
          <a:xfrm>
            <a:off x="575980" y="1729621"/>
            <a:ext cx="11040040" cy="4012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三大得分点翻译方法</a:t>
            </a:r>
            <a:endParaRPr lang="en-US" altLang="zh-CN" sz="1400" b="1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重要实词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翻译到位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准确地翻译出来。</a:t>
            </a:r>
          </a:p>
          <a:p>
            <a:pPr algn="just">
              <a:lnSpc>
                <a:spcPct val="150000"/>
              </a:lnSpc>
            </a:pPr>
            <a:endParaRPr lang="zh-CN" altLang="en-US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关键虚词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辨明词性及意义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能译则译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不需要译出的切不可强行译出。 </a:t>
            </a:r>
            <a:endParaRPr lang="en-US" altLang="zh-CN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3.</a:t>
            </a:r>
            <a:r>
              <a:rPr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特殊句式</a:t>
            </a:r>
            <a:r>
              <a:rPr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用翻译格式准确翻译。</a:t>
            </a:r>
          </a:p>
          <a:p>
            <a:pPr algn="just">
              <a:lnSpc>
                <a:spcPct val="150000"/>
              </a:lnSpc>
            </a:pPr>
            <a:endParaRPr lang="zh-CN" altLang="en-US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30D50C-2631-7B41-AE37-9C523A02DF53}"/>
              </a:ext>
            </a:extLst>
          </p:cNvPr>
          <p:cNvSpPr txBox="1"/>
          <p:nvPr/>
        </p:nvSpPr>
        <p:spPr>
          <a:xfrm>
            <a:off x="234534" y="-89531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67F17DF-4C92-C94C-842F-F620D8585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212055"/>
              </p:ext>
            </p:extLst>
          </p:nvPr>
        </p:nvGraphicFramePr>
        <p:xfrm>
          <a:off x="5360532" y="2487617"/>
          <a:ext cx="5991597" cy="2949994"/>
        </p:xfrm>
        <a:graphic>
          <a:graphicData uri="http://schemas.openxmlformats.org/drawingml/2006/table">
            <a:tbl>
              <a:tblPr firstRow="1" firstCol="1" bandRow="1"/>
              <a:tblGrid>
                <a:gridCol w="1646410">
                  <a:extLst>
                    <a:ext uri="{9D8B030D-6E8A-4147-A177-3AD203B41FA5}">
                      <a16:colId xmlns:a16="http://schemas.microsoft.com/office/drawing/2014/main" val="2623302180"/>
                    </a:ext>
                  </a:extLst>
                </a:gridCol>
                <a:gridCol w="4345187">
                  <a:extLst>
                    <a:ext uri="{9D8B030D-6E8A-4147-A177-3AD203B41FA5}">
                      <a16:colId xmlns:a16="http://schemas.microsoft.com/office/drawing/2014/main" val="670281611"/>
                    </a:ext>
                  </a:extLst>
                </a:gridCol>
              </a:tblGrid>
              <a:tr h="3524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类型</a:t>
                      </a:r>
                      <a:endParaRPr lang="zh-CN" sz="16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翻译要求</a:t>
                      </a:r>
                      <a:endParaRPr lang="zh-CN" sz="16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499352"/>
                  </a:ext>
                </a:extLst>
              </a:tr>
              <a:tr h="3524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判断句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必须加上“是”“就是”等词语</a:t>
                      </a:r>
                      <a:endParaRPr lang="zh-CN" sz="16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406361"/>
                  </a:ext>
                </a:extLst>
              </a:tr>
              <a:tr h="3524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zh-CN" altLang="en-US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被动句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必须加上“被”字</a:t>
                      </a:r>
                      <a:endParaRPr lang="zh-CN" sz="16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258533"/>
                  </a:ext>
                </a:extLst>
              </a:tr>
              <a:tr h="3524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3</a:t>
                      </a:r>
                      <a:r>
                        <a:rPr lang="zh-CN" altLang="en-US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倒装句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必须用“调”的方法将固定的句式调到位</a:t>
                      </a:r>
                      <a:endParaRPr lang="zh-CN" sz="16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120628"/>
                  </a:ext>
                </a:extLst>
              </a:tr>
              <a:tr h="7701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4</a:t>
                      </a:r>
                      <a:r>
                        <a:rPr lang="zh-CN" altLang="en-US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省略句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※易忽略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必须用“补”的方法“</a:t>
                      </a:r>
                      <a:r>
                        <a:rPr lang="en-US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　　</a:t>
                      </a:r>
                      <a:r>
                        <a:rPr lang="en-US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)</a:t>
                      </a:r>
                      <a:r>
                        <a:rPr lang="zh-CN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”补出省略的成分</a:t>
                      </a:r>
                      <a:r>
                        <a:rPr lang="en-US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确保句意通顺</a:t>
                      </a:r>
                      <a:endParaRPr lang="zh-CN" sz="16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949016"/>
                  </a:ext>
                </a:extLst>
              </a:tr>
              <a:tr h="7701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5</a:t>
                      </a:r>
                      <a:r>
                        <a:rPr lang="zh-CN" altLang="en-US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固定句式</a:t>
                      </a: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结构</a:t>
                      </a: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按照固定的译法</a:t>
                      </a:r>
                      <a:r>
                        <a:rPr lang="en-US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准确翻译</a:t>
                      </a:r>
                      <a:r>
                        <a:rPr lang="en-US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6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不能生搬硬套</a:t>
                      </a:r>
                      <a:endParaRPr lang="zh-CN" sz="16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454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7122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1829096"/>
            <a:ext cx="11356340" cy="473933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文言文解题方法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3971290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）翻译题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0B282A9-01A1-A147-AE02-C41D55F4A90E}"/>
              </a:ext>
            </a:extLst>
          </p:cNvPr>
          <p:cNvSpPr/>
          <p:nvPr/>
        </p:nvSpPr>
        <p:spPr>
          <a:xfrm>
            <a:off x="575980" y="1363584"/>
            <a:ext cx="11040040" cy="364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翻译实战：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【2021·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天津卷改编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30D50C-2631-7B41-AE37-9C523A02DF53}"/>
              </a:ext>
            </a:extLst>
          </p:cNvPr>
          <p:cNvSpPr txBox="1"/>
          <p:nvPr/>
        </p:nvSpPr>
        <p:spPr>
          <a:xfrm>
            <a:off x="234534" y="-89531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D063C1-7339-1448-A1E8-8A8AFE7A8742}"/>
              </a:ext>
            </a:extLst>
          </p:cNvPr>
          <p:cNvSpPr/>
          <p:nvPr/>
        </p:nvSpPr>
        <p:spPr>
          <a:xfrm>
            <a:off x="6261146" y="1927494"/>
            <a:ext cx="5391449" cy="446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魏武长于料事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而不长于料人。刘备有盖世之才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而无应卒之机。方其新破刘璋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蜀人未附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一日而四五惊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斩之不能禁。释此时不取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而其后遂至于不敢加兵者终其身。孙权勇而有谋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此不可以声势恐喝取也。魏武不用中原之长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而与之争于舟楫之间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一日一夜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行三百里以争利。</a:t>
            </a:r>
            <a:r>
              <a:rPr lang="zh-CN" altLang="zh-CN" sz="1600" u="sng" kern="100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犯此二败以攻孙权</a:t>
            </a:r>
            <a:r>
              <a:rPr lang="en-US" altLang="zh-CN" sz="1600" u="sng" kern="100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u="sng" kern="100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是以丧师于赤壁</a:t>
            </a:r>
            <a:r>
              <a:rPr lang="en-US" altLang="zh-CN" sz="1600" u="sng" kern="100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u="sng" kern="100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以成吴之强。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且夫刘备可以急取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而不可以缓图。方其危疑之间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卷甲而趋之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虽兵法之所忌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可以得志。孙权者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可以计取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而不可以势破也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而欲以荆州新附之卒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乘胜而取之。彼非不知其难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特欲侥幸于权之不敢抗也。此用之于新造之蜀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乃可以逞。故夫魏武重发于刘备而丧其功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轻为于孙权而至于败。</a:t>
            </a:r>
            <a:r>
              <a:rPr lang="zh-CN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此不亦长于料事而不长于料人之过欤</a:t>
            </a:r>
            <a:r>
              <a:rPr lang="en-US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?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宋·苏轼《魏武帝论》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有删节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endParaRPr lang="zh-CN" altLang="zh-CN" sz="16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0B3E15E-3929-014E-89F0-1CA27652D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10341"/>
              </p:ext>
            </p:extLst>
          </p:nvPr>
        </p:nvGraphicFramePr>
        <p:xfrm>
          <a:off x="582977" y="3131192"/>
          <a:ext cx="5391449" cy="840612"/>
        </p:xfrm>
        <a:graphic>
          <a:graphicData uri="http://schemas.openxmlformats.org/drawingml/2006/table">
            <a:tbl>
              <a:tblPr firstRow="1" firstCol="1" bandRow="1"/>
              <a:tblGrid>
                <a:gridCol w="1282399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1319396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  <a:gridCol w="1475616">
                  <a:extLst>
                    <a:ext uri="{9D8B030D-6E8A-4147-A177-3AD203B41FA5}">
                      <a16:colId xmlns:a16="http://schemas.microsoft.com/office/drawing/2014/main" val="1368306751"/>
                    </a:ext>
                  </a:extLst>
                </a:gridCol>
                <a:gridCol w="1314038">
                  <a:extLst>
                    <a:ext uri="{9D8B030D-6E8A-4147-A177-3AD203B41FA5}">
                      <a16:colId xmlns:a16="http://schemas.microsoft.com/office/drawing/2014/main" val="2527633977"/>
                    </a:ext>
                  </a:extLst>
                </a:gridCol>
              </a:tblGrid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关键词语</a:t>
                      </a:r>
                      <a:endParaRPr lang="zh-CN" sz="105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关键句式</a:t>
                      </a:r>
                      <a:endParaRPr lang="zh-CN" sz="105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909552"/>
                  </a:ext>
                </a:extLst>
              </a:tr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译文</a:t>
                      </a:r>
                      <a:endParaRPr lang="zh-CN" sz="105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42874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791CBC1-5EC2-E241-8EBF-4AE94076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11771"/>
              </p:ext>
            </p:extLst>
          </p:nvPr>
        </p:nvGraphicFramePr>
        <p:xfrm>
          <a:off x="582977" y="4572194"/>
          <a:ext cx="5391449" cy="1557316"/>
        </p:xfrm>
        <a:graphic>
          <a:graphicData uri="http://schemas.openxmlformats.org/drawingml/2006/table">
            <a:tbl>
              <a:tblPr firstRow="1" firstCol="1" bandRow="1"/>
              <a:tblGrid>
                <a:gridCol w="1264111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1337684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  <a:gridCol w="1475616">
                  <a:extLst>
                    <a:ext uri="{9D8B030D-6E8A-4147-A177-3AD203B41FA5}">
                      <a16:colId xmlns:a16="http://schemas.microsoft.com/office/drawing/2014/main" val="1368306751"/>
                    </a:ext>
                  </a:extLst>
                </a:gridCol>
                <a:gridCol w="1314038">
                  <a:extLst>
                    <a:ext uri="{9D8B030D-6E8A-4147-A177-3AD203B41FA5}">
                      <a16:colId xmlns:a16="http://schemas.microsoft.com/office/drawing/2014/main" val="2527633977"/>
                    </a:ext>
                  </a:extLst>
                </a:gridCol>
              </a:tblGrid>
              <a:tr h="778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关键词语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败、是以、成 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关键句式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丧师于赤壁”</a:t>
                      </a:r>
                      <a:b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</a:b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状语后置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) </a:t>
                      </a:r>
                      <a:r>
                        <a:rPr 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909552"/>
                  </a:ext>
                </a:extLst>
              </a:tr>
              <a:tr h="778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译文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魏武帝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)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犯了这两个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导致失败的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)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错误来攻打孙权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因此在赤壁兵败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成就了孙吴的强大。 </a:t>
                      </a:r>
                      <a:r>
                        <a:rPr 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42874"/>
                  </a:ext>
                </a:extLst>
              </a:tr>
            </a:tbl>
          </a:graphicData>
        </a:graphic>
      </p:graphicFrame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39A145F-7D11-1C40-87E6-67FB0CF4D74F}"/>
              </a:ext>
            </a:extLst>
          </p:cNvPr>
          <p:cNvCxnSpPr/>
          <p:nvPr/>
        </p:nvCxnSpPr>
        <p:spPr>
          <a:xfrm>
            <a:off x="3278701" y="4064405"/>
            <a:ext cx="0" cy="38698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E722CFF-89C3-E54A-A7C5-559A7BAD0C58}"/>
              </a:ext>
            </a:extLst>
          </p:cNvPr>
          <p:cNvSpPr/>
          <p:nvPr/>
        </p:nvSpPr>
        <p:spPr>
          <a:xfrm>
            <a:off x="539404" y="2542411"/>
            <a:ext cx="5067413" cy="442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※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先列表：重要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实词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】+【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句式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】=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翻译准确！</a:t>
            </a:r>
            <a:endParaRPr lang="zh-CN" altLang="zh-CN" kern="1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90F064-7ED8-394B-B2D5-60F52F41FB43}"/>
              </a:ext>
            </a:extLst>
          </p:cNvPr>
          <p:cNvSpPr/>
          <p:nvPr/>
        </p:nvSpPr>
        <p:spPr>
          <a:xfrm>
            <a:off x="474087" y="2020389"/>
            <a:ext cx="5609228" cy="442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(1)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犯此二败以攻孙权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是以丧师于赤壁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以成吴之强。</a:t>
            </a:r>
            <a:endParaRPr lang="zh-CN" altLang="en-US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3466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1829096"/>
            <a:ext cx="11356340" cy="473933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文言文解题方法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3971290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）翻译题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0B282A9-01A1-A147-AE02-C41D55F4A90E}"/>
              </a:ext>
            </a:extLst>
          </p:cNvPr>
          <p:cNvSpPr/>
          <p:nvPr/>
        </p:nvSpPr>
        <p:spPr>
          <a:xfrm>
            <a:off x="575980" y="1363584"/>
            <a:ext cx="11040040" cy="364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翻译实战：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【2021·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天津卷改编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30D50C-2631-7B41-AE37-9C523A02DF53}"/>
              </a:ext>
            </a:extLst>
          </p:cNvPr>
          <p:cNvSpPr txBox="1"/>
          <p:nvPr/>
        </p:nvSpPr>
        <p:spPr>
          <a:xfrm>
            <a:off x="234534" y="-89531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D063C1-7339-1448-A1E8-8A8AFE7A8742}"/>
              </a:ext>
            </a:extLst>
          </p:cNvPr>
          <p:cNvSpPr/>
          <p:nvPr/>
        </p:nvSpPr>
        <p:spPr>
          <a:xfrm>
            <a:off x="6261146" y="1927494"/>
            <a:ext cx="5391449" cy="446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魏武长于料事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而不长于料人。刘备有盖世之才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而无应卒之机。方其新破刘璋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蜀人未附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一日而四五惊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斩之不能禁。释此时不取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而其后遂至于不敢加兵者终其身。孙权勇而有谋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此不可以声势恐喝取也。魏武不用中原之长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而与之争于舟楫之间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一日一夜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行三百里以争利。</a:t>
            </a:r>
            <a:r>
              <a:rPr lang="zh-CN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犯此二败以攻孙权</a:t>
            </a:r>
            <a:r>
              <a:rPr lang="en-US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是以丧师于赤壁</a:t>
            </a:r>
            <a:r>
              <a:rPr lang="en-US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以成吴之强。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且夫刘备可以急取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而不可以缓图。方其危疑之间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卷甲而趋之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虽兵法之所忌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可以得志。孙权者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可以计取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而不可以势破也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而欲以荆州新附之卒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乘胜而取之。彼非不知其难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特欲侥幸于权之不敢抗也。此用之于新造之蜀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乃可以逞。故夫魏武重发于刘备而丧其功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轻为于孙权而至于败。</a:t>
            </a:r>
            <a:r>
              <a:rPr lang="zh-CN" altLang="zh-CN" sz="1600" u="sng" kern="100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此不亦长于料事而不长于料人之过欤</a:t>
            </a:r>
            <a:r>
              <a:rPr lang="en-US" altLang="zh-CN" sz="1600" u="sng" kern="100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?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宋·苏轼《魏武帝论》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有删节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endParaRPr lang="zh-CN" altLang="zh-CN" sz="16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0B3E15E-3929-014E-89F0-1CA27652DC7C}"/>
              </a:ext>
            </a:extLst>
          </p:cNvPr>
          <p:cNvGraphicFramePr>
            <a:graphicFrameLocks noGrp="1"/>
          </p:cNvGraphicFramePr>
          <p:nvPr/>
        </p:nvGraphicFramePr>
        <p:xfrm>
          <a:off x="582977" y="3131192"/>
          <a:ext cx="5391449" cy="840612"/>
        </p:xfrm>
        <a:graphic>
          <a:graphicData uri="http://schemas.openxmlformats.org/drawingml/2006/table">
            <a:tbl>
              <a:tblPr firstRow="1" firstCol="1" bandRow="1"/>
              <a:tblGrid>
                <a:gridCol w="1282399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1319396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  <a:gridCol w="1475616">
                  <a:extLst>
                    <a:ext uri="{9D8B030D-6E8A-4147-A177-3AD203B41FA5}">
                      <a16:colId xmlns:a16="http://schemas.microsoft.com/office/drawing/2014/main" val="1368306751"/>
                    </a:ext>
                  </a:extLst>
                </a:gridCol>
                <a:gridCol w="1314038">
                  <a:extLst>
                    <a:ext uri="{9D8B030D-6E8A-4147-A177-3AD203B41FA5}">
                      <a16:colId xmlns:a16="http://schemas.microsoft.com/office/drawing/2014/main" val="2527633977"/>
                    </a:ext>
                  </a:extLst>
                </a:gridCol>
              </a:tblGrid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关键词语</a:t>
                      </a:r>
                      <a:endParaRPr lang="zh-CN" sz="105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关键句式</a:t>
                      </a:r>
                      <a:endParaRPr lang="zh-CN" sz="105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909552"/>
                  </a:ext>
                </a:extLst>
              </a:tr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译文</a:t>
                      </a:r>
                      <a:endParaRPr lang="zh-CN" sz="105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05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42874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791CBC1-5EC2-E241-8EBF-4AE94076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775819"/>
              </p:ext>
            </p:extLst>
          </p:nvPr>
        </p:nvGraphicFramePr>
        <p:xfrm>
          <a:off x="582977" y="4572194"/>
          <a:ext cx="5391449" cy="1557316"/>
        </p:xfrm>
        <a:graphic>
          <a:graphicData uri="http://schemas.openxmlformats.org/drawingml/2006/table">
            <a:tbl>
              <a:tblPr firstRow="1" firstCol="1" bandRow="1"/>
              <a:tblGrid>
                <a:gridCol w="1264111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1337684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  <a:gridCol w="1475616">
                  <a:extLst>
                    <a:ext uri="{9D8B030D-6E8A-4147-A177-3AD203B41FA5}">
                      <a16:colId xmlns:a16="http://schemas.microsoft.com/office/drawing/2014/main" val="1368306751"/>
                    </a:ext>
                  </a:extLst>
                </a:gridCol>
                <a:gridCol w="1314038">
                  <a:extLst>
                    <a:ext uri="{9D8B030D-6E8A-4147-A177-3AD203B41FA5}">
                      <a16:colId xmlns:a16="http://schemas.microsoft.com/office/drawing/2014/main" val="2527633977"/>
                    </a:ext>
                  </a:extLst>
                </a:gridCol>
              </a:tblGrid>
              <a:tr h="778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关键词语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料 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关键句式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“不亦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……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欤”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固定句式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) 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909552"/>
                  </a:ext>
                </a:extLst>
              </a:tr>
              <a:tr h="778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译文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这不也就是擅长揣度事情却不擅长揣度他人</a:t>
                      </a:r>
                      <a:b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</a:b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所造成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)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的过错吗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? 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42874"/>
                  </a:ext>
                </a:extLst>
              </a:tr>
            </a:tbl>
          </a:graphicData>
        </a:graphic>
      </p:graphicFrame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39A145F-7D11-1C40-87E6-67FB0CF4D74F}"/>
              </a:ext>
            </a:extLst>
          </p:cNvPr>
          <p:cNvCxnSpPr/>
          <p:nvPr/>
        </p:nvCxnSpPr>
        <p:spPr>
          <a:xfrm>
            <a:off x="3278701" y="4064405"/>
            <a:ext cx="0" cy="38698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E722CFF-89C3-E54A-A7C5-559A7BAD0C58}"/>
              </a:ext>
            </a:extLst>
          </p:cNvPr>
          <p:cNvSpPr/>
          <p:nvPr/>
        </p:nvSpPr>
        <p:spPr>
          <a:xfrm>
            <a:off x="539404" y="2542411"/>
            <a:ext cx="5067413" cy="442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※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先列表：重要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实词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】+【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句式</a:t>
            </a:r>
            <a:r>
              <a:rPr lang="en-US" altLang="zh-CN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】=</a:t>
            </a:r>
            <a:r>
              <a:rPr lang="zh-CN" altLang="en-US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翻译准确！</a:t>
            </a:r>
            <a:endParaRPr lang="zh-CN" altLang="zh-CN" kern="1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90F064-7ED8-394B-B2D5-60F52F41FB43}"/>
              </a:ext>
            </a:extLst>
          </p:cNvPr>
          <p:cNvSpPr/>
          <p:nvPr/>
        </p:nvSpPr>
        <p:spPr>
          <a:xfrm>
            <a:off x="421990" y="2020389"/>
            <a:ext cx="4339650" cy="442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(2)</a:t>
            </a:r>
            <a:r>
              <a:rPr lang="zh-CN" altLang="en-US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此不亦长于料事而不长于料人之过欤</a:t>
            </a:r>
            <a:r>
              <a:rPr lang="en-US" altLang="zh-CN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36419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1829096"/>
            <a:ext cx="5818378" cy="473933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文言文积累方法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3971290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从错题中总结！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43009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0B282A9-01A1-A147-AE02-C41D55F4A90E}"/>
              </a:ext>
            </a:extLst>
          </p:cNvPr>
          <p:cNvSpPr/>
          <p:nvPr/>
        </p:nvSpPr>
        <p:spPr>
          <a:xfrm>
            <a:off x="575980" y="1363584"/>
            <a:ext cx="11040040" cy="379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不要放过每一篇做过的文言文！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①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积累实词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/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词组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30D50C-2631-7B41-AE37-9C523A02DF53}"/>
              </a:ext>
            </a:extLst>
          </p:cNvPr>
          <p:cNvSpPr txBox="1"/>
          <p:nvPr/>
        </p:nvSpPr>
        <p:spPr>
          <a:xfrm>
            <a:off x="234534" y="-89531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D063C1-7339-1448-A1E8-8A8AFE7A8742}"/>
              </a:ext>
            </a:extLst>
          </p:cNvPr>
          <p:cNvSpPr/>
          <p:nvPr/>
        </p:nvSpPr>
        <p:spPr>
          <a:xfrm>
            <a:off x="704551" y="1927494"/>
            <a:ext cx="5391449" cy="446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魏武长于料事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而不长于料人。刘备有盖世之才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而无应卒之机。方其新破刘璋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蜀人未附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一日而四五惊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斩之不能禁。释此时不取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而其后遂至于不敢加兵者终其身。孙权勇而有谋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此不可以声势恐喝取也。魏武不用中原之长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而与之争于舟楫之间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一日一夜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行三百里以争利。</a:t>
            </a:r>
            <a:r>
              <a:rPr lang="zh-CN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犯此二败以攻孙权</a:t>
            </a:r>
            <a:r>
              <a:rPr lang="en-US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是以丧师于赤壁</a:t>
            </a:r>
            <a:r>
              <a:rPr lang="en-US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以成吴之强。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且夫刘备可以急取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而不可以缓图。方其危疑之间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卷甲而趋之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虽兵法之所忌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可以得志。孙权者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可以计取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而不可以势破也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而欲以荆州新附之卒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乘胜而取之。彼非不知其难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特欲侥幸于权之不敢抗也。此用之于新造之蜀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乃可以逞。故夫魏武重发于刘备而丧其功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轻为于孙权而至于败。</a:t>
            </a:r>
            <a:r>
              <a:rPr lang="zh-CN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此不亦长于料事而不长于料人之过欤</a:t>
            </a:r>
            <a:r>
              <a:rPr lang="en-US" altLang="zh-CN" sz="16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?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宋·苏轼《魏武帝论》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有删节</a:t>
            </a:r>
            <a:r>
              <a:rPr lang="en-US" altLang="zh-CN" sz="16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endParaRPr lang="zh-CN" altLang="zh-CN" sz="16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0610C0-183B-F94A-B284-C17F88F3A827}"/>
              </a:ext>
            </a:extLst>
          </p:cNvPr>
          <p:cNvSpPr/>
          <p:nvPr/>
        </p:nvSpPr>
        <p:spPr>
          <a:xfrm>
            <a:off x="6500520" y="984356"/>
            <a:ext cx="5088449" cy="5535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译文：</a:t>
            </a:r>
            <a:endParaRPr lang="en-US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魏武帝擅长揣度事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却不擅长揣度人。刘备有盖世的才能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却没有应付突发事件的机智。当他刚刚打败刘璋的时候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蜀人没有完全归附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一日有四五次哗变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斩杀也无法控制局面。放弃这个机会不攻取他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后来就发展到不敢加兵攻打的地步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一直到死都是这种情况。孙权英勇而有谋略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这就不能依靠人多势众来攻取他。魏武帝不利用中原地区的优势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却用水军与孙权一决雌雄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一日一夜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行军三百里前去争利。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魏武帝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犯了这两个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导致失败的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错误来攻打孙权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因此在赤壁兵败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成就了孙吴的强大。攻取刘备贵在神速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不应该放长线。当蜀人不信任他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民心未附的时候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卷起铠甲快速追赶他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虽然犯兵家大忌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也可以达到目的。孙权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应以计谋巧取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不能用人多势众来强攻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想用刚刚投降的荆州士兵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乘胜拿下孙权。魏武帝不是不知道这件事难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只是寄希望于侥幸孙权不敢抵抗。这种做法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用在刘备刚刚占领的西蜀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可以取得成功。所以说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魏武帝在攻打刘备这件事上过于谨慎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丧失了成功的机会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在攻打孙权时过于草率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从而导致失败。这不也就是擅长揣度事情却不擅长揣度他人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所造成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zh-CN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的过错吗</a:t>
            </a:r>
            <a:r>
              <a:rPr lang="en-US" altLang="zh-CN" sz="14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?</a:t>
            </a:r>
            <a:endParaRPr lang="zh-CN" altLang="zh-CN" sz="14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65E060-5B3F-C844-8D33-AC7A22A6D5EF}"/>
              </a:ext>
            </a:extLst>
          </p:cNvPr>
          <p:cNvSpPr/>
          <p:nvPr/>
        </p:nvSpPr>
        <p:spPr>
          <a:xfrm>
            <a:off x="1577789" y="2051818"/>
            <a:ext cx="286870" cy="2868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0577E7-6A3F-A447-A3B3-1BAEA42FC2FD}"/>
              </a:ext>
            </a:extLst>
          </p:cNvPr>
          <p:cNvSpPr/>
          <p:nvPr/>
        </p:nvSpPr>
        <p:spPr>
          <a:xfrm>
            <a:off x="5796681" y="2036333"/>
            <a:ext cx="286870" cy="2868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307AAF-098E-D84D-9D07-E0D7C3052247}"/>
              </a:ext>
            </a:extLst>
          </p:cNvPr>
          <p:cNvSpPr/>
          <p:nvPr/>
        </p:nvSpPr>
        <p:spPr>
          <a:xfrm>
            <a:off x="4644937" y="2397576"/>
            <a:ext cx="286870" cy="2868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B42A94-EE7A-5544-825C-ACF024CF5535}"/>
              </a:ext>
            </a:extLst>
          </p:cNvPr>
          <p:cNvSpPr/>
          <p:nvPr/>
        </p:nvSpPr>
        <p:spPr>
          <a:xfrm>
            <a:off x="734574" y="2749666"/>
            <a:ext cx="286870" cy="2868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E6C098-05AF-BC4A-A080-D6EC0B20CEAE}"/>
              </a:ext>
            </a:extLst>
          </p:cNvPr>
          <p:cNvSpPr/>
          <p:nvPr/>
        </p:nvSpPr>
        <p:spPr>
          <a:xfrm>
            <a:off x="7437674" y="1403781"/>
            <a:ext cx="477131" cy="2215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2644F3-ACAA-3447-8B0A-40B6E27D2BEA}"/>
              </a:ext>
            </a:extLst>
          </p:cNvPr>
          <p:cNvSpPr/>
          <p:nvPr/>
        </p:nvSpPr>
        <p:spPr>
          <a:xfrm>
            <a:off x="7066953" y="1708566"/>
            <a:ext cx="847852" cy="2189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6E99F6-8F0E-9B43-9077-B28F39C95A91}"/>
              </a:ext>
            </a:extLst>
          </p:cNvPr>
          <p:cNvSpPr/>
          <p:nvPr/>
        </p:nvSpPr>
        <p:spPr>
          <a:xfrm>
            <a:off x="10502520" y="2057450"/>
            <a:ext cx="529636" cy="2010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C1CDDA-05D1-034A-8978-145442757F22}"/>
              </a:ext>
            </a:extLst>
          </p:cNvPr>
          <p:cNvSpPr/>
          <p:nvPr/>
        </p:nvSpPr>
        <p:spPr>
          <a:xfrm>
            <a:off x="8229434" y="2051681"/>
            <a:ext cx="529636" cy="2010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30CD971-85D0-5D49-80F4-A898D505CD72}"/>
              </a:ext>
            </a:extLst>
          </p:cNvPr>
          <p:cNvSpPr/>
          <p:nvPr/>
        </p:nvSpPr>
        <p:spPr>
          <a:xfrm>
            <a:off x="1479323" y="3842725"/>
            <a:ext cx="430305" cy="2868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06F94E-BD82-F947-B8B6-6F8A71CF2B78}"/>
              </a:ext>
            </a:extLst>
          </p:cNvPr>
          <p:cNvSpPr/>
          <p:nvPr/>
        </p:nvSpPr>
        <p:spPr>
          <a:xfrm>
            <a:off x="8829591" y="3628987"/>
            <a:ext cx="430305" cy="2868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A448AB6-3365-9C4B-8E0D-4842C58556B5}"/>
              </a:ext>
            </a:extLst>
          </p:cNvPr>
          <p:cNvSpPr/>
          <p:nvPr/>
        </p:nvSpPr>
        <p:spPr>
          <a:xfrm>
            <a:off x="1999935" y="5301755"/>
            <a:ext cx="430305" cy="2868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8788D3-76D2-C449-B6C2-AF6052FD164A}"/>
              </a:ext>
            </a:extLst>
          </p:cNvPr>
          <p:cNvSpPr/>
          <p:nvPr/>
        </p:nvSpPr>
        <p:spPr>
          <a:xfrm>
            <a:off x="9671382" y="5207546"/>
            <a:ext cx="831138" cy="2868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F924F0-B75C-EB48-8A83-524D6F564272}"/>
              </a:ext>
            </a:extLst>
          </p:cNvPr>
          <p:cNvSpPr/>
          <p:nvPr/>
        </p:nvSpPr>
        <p:spPr>
          <a:xfrm>
            <a:off x="3562068" y="5293019"/>
            <a:ext cx="277905" cy="3031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AC43CB-677A-7B41-BDF8-39DA6B05E930}"/>
              </a:ext>
            </a:extLst>
          </p:cNvPr>
          <p:cNvSpPr/>
          <p:nvPr/>
        </p:nvSpPr>
        <p:spPr>
          <a:xfrm>
            <a:off x="6522929" y="5531945"/>
            <a:ext cx="845107" cy="2868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773E248-AA9E-D549-A0EF-097A3634EDD0}"/>
              </a:ext>
            </a:extLst>
          </p:cNvPr>
          <p:cNvSpPr/>
          <p:nvPr/>
        </p:nvSpPr>
        <p:spPr>
          <a:xfrm>
            <a:off x="4752834" y="5293019"/>
            <a:ext cx="430305" cy="2868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4D92840-D7B9-EF4D-95B2-868213CDB445}"/>
              </a:ext>
            </a:extLst>
          </p:cNvPr>
          <p:cNvSpPr/>
          <p:nvPr/>
        </p:nvSpPr>
        <p:spPr>
          <a:xfrm>
            <a:off x="10337033" y="5528912"/>
            <a:ext cx="695123" cy="283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0216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1829096"/>
            <a:ext cx="4375388" cy="4537475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文言文积累方法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3971290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从错题中总结！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57338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0B282A9-01A1-A147-AE02-C41D55F4A90E}"/>
              </a:ext>
            </a:extLst>
          </p:cNvPr>
          <p:cNvSpPr/>
          <p:nvPr/>
        </p:nvSpPr>
        <p:spPr>
          <a:xfrm>
            <a:off x="369248" y="1363584"/>
            <a:ext cx="11040040" cy="379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不要放过每一篇做过的文言文！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② 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全文翻译</a:t>
            </a:r>
            <a:r>
              <a:rPr lang="en-US" altLang="zh-CN" sz="1400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30D50C-2631-7B41-AE37-9C523A02DF53}"/>
              </a:ext>
            </a:extLst>
          </p:cNvPr>
          <p:cNvSpPr txBox="1"/>
          <p:nvPr/>
        </p:nvSpPr>
        <p:spPr>
          <a:xfrm>
            <a:off x="234534" y="-89531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D063C1-7339-1448-A1E8-8A8AFE7A8742}"/>
              </a:ext>
            </a:extLst>
          </p:cNvPr>
          <p:cNvSpPr/>
          <p:nvPr/>
        </p:nvSpPr>
        <p:spPr>
          <a:xfrm>
            <a:off x="560009" y="2055974"/>
            <a:ext cx="4233209" cy="3927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魏武长于料事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而不长于料人。刘备有盖世之才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而无应卒之机。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（总起）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方其新破刘璋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蜀人未附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一日而四五惊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斩之不能禁。释此时不取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而其后遂至于不敢加兵者终其身。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（事件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1: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攻打刘彰）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孙权勇而有谋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此不可以声势恐喝取也。魏武不用中原之长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而与之争于舟楫之间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一日一夜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行三百里以争利。</a:t>
            </a:r>
            <a:r>
              <a:rPr lang="zh-CN" altLang="zh-CN" sz="12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犯此二败以攻孙权</a:t>
            </a:r>
            <a:r>
              <a:rPr lang="en-US" altLang="zh-CN" sz="12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是以丧师于赤壁</a:t>
            </a:r>
            <a:r>
              <a:rPr lang="en-US" altLang="zh-CN" sz="12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以成吴之强。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（事件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2: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攻打孙权）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且夫刘备可以急取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而不可以缓图。方其危疑之间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卷甲而趋之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虽兵法之所忌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可以得志。孙权者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可以计取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而不可以势破也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而欲以荆州新附之卒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乘胜而取之。彼非不知其难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特欲侥幸于权之不敢抗也。此用之于新造之蜀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乃可以逞。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（对比）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故夫魏武重发于刘备而丧其功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轻为于孙权而至于败。</a:t>
            </a:r>
            <a:r>
              <a:rPr lang="zh-CN" altLang="zh-CN" sz="12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此不亦长于料事而不长于料人之过欤</a:t>
            </a:r>
            <a:r>
              <a:rPr lang="en-US" altLang="zh-CN" sz="1200" u="sng" kern="100" dirty="0">
                <a:uFill>
                  <a:solidFill>
                    <a:srgbClr val="000000"/>
                  </a:solidFill>
                </a:u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?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（</a:t>
            </a:r>
            <a:r>
              <a:rPr lang="zh-CN" altLang="en-US" sz="12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结论：评价</a:t>
            </a:r>
            <a:r>
              <a:rPr lang="en-US" altLang="zh-CN" sz="12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+</a:t>
            </a:r>
            <a:r>
              <a:rPr lang="zh-CN" altLang="en-US" sz="12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说理）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宋·苏轼《魏武帝论》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有删节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endParaRPr lang="zh-CN" altLang="zh-CN" sz="12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0610C0-183B-F94A-B284-C17F88F3A827}"/>
              </a:ext>
            </a:extLst>
          </p:cNvPr>
          <p:cNvSpPr/>
          <p:nvPr/>
        </p:nvSpPr>
        <p:spPr>
          <a:xfrm>
            <a:off x="7617678" y="984356"/>
            <a:ext cx="4233209" cy="5589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译文：</a:t>
            </a:r>
            <a:endParaRPr lang="en-US" altLang="zh-CN" sz="1200" kern="100" dirty="0"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魏武帝擅长揣度事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却不擅长揣度人。刘备有盖世的才能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却没有应付突发事件的机智。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（总起）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当他刚刚打败刘璋的时候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蜀人没有完全归附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一日有四五次哗变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斩杀也无法控制局面。放弃这个机会不攻取他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后来就发展到不敢加兵攻打的地步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一直到死都是这种情况。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（事件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1: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攻打刘彰）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孙权英勇而有谋略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这就不能依靠人多势众来攻取他。魏武帝不利用中原地区的优势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却用水军与孙权一决雌雄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一日一夜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行军三百里前去争利。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魏武帝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犯了这两个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导致失败的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错误来攻打孙权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因此在赤壁兵败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成就了孙吴的强大。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（事件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2: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攻打孙权）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攻取刘备贵在神速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不应该放长线。当蜀人不信任他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民心未附的时候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卷起铠甲快速追赶他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虽然犯兵家大忌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也可以达到目的。孙权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应以计谋巧取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不能用人多势众来强攻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想用刚刚投降的荆州士兵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乘胜拿下孙权。魏武帝不是不知道这件事难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只是寄希望于侥幸孙权不敢抵抗。这种做法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用在刘备刚刚占领的西蜀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可以取得成功。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（对比）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所以说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魏武帝在攻打刘备这件事上过于谨慎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丧失了成功的机会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在攻打孙权时过于草率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,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从而导致失败。这不也就是擅长揣度事情却不擅长揣度他人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所造成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zh-CN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的过错吗</a:t>
            </a:r>
            <a:r>
              <a:rPr lang="en-US" altLang="zh-CN" sz="1200" kern="100" dirty="0"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?</a:t>
            </a:r>
            <a:r>
              <a:rPr lang="en-US" altLang="zh-CN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//</a:t>
            </a:r>
            <a:r>
              <a:rPr lang="zh-CN" altLang="en-US" sz="12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（</a:t>
            </a:r>
            <a:r>
              <a:rPr lang="zh-CN" altLang="en-US" sz="12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结论：评价</a:t>
            </a:r>
            <a:r>
              <a:rPr lang="en-US" altLang="zh-CN" sz="12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+</a:t>
            </a:r>
            <a:r>
              <a:rPr lang="zh-CN" altLang="en-US" sz="12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说理）</a:t>
            </a:r>
            <a:endParaRPr lang="zh-CN" altLang="zh-CN" sz="1200" kern="100" dirty="0">
              <a:solidFill>
                <a:srgbClr val="C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左弧形箭头 10">
            <a:extLst>
              <a:ext uri="{FF2B5EF4-FFF2-40B4-BE49-F238E27FC236}">
                <a16:creationId xmlns:a16="http://schemas.microsoft.com/office/drawing/2014/main" id="{8AC1D984-735A-5642-A73C-0862A9151EA7}"/>
              </a:ext>
            </a:extLst>
          </p:cNvPr>
          <p:cNvSpPr/>
          <p:nvPr/>
        </p:nvSpPr>
        <p:spPr>
          <a:xfrm>
            <a:off x="6307214" y="2995365"/>
            <a:ext cx="1168284" cy="2048256"/>
          </a:xfrm>
          <a:prstGeom prst="curvedLeftArrow">
            <a:avLst>
              <a:gd name="adj1" fmla="val 21819"/>
              <a:gd name="adj2" fmla="val 50000"/>
              <a:gd name="adj3" fmla="val 29696"/>
            </a:avLst>
          </a:prstGeom>
          <a:solidFill>
            <a:srgbClr val="223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4" name="左弧形箭头 33">
            <a:extLst>
              <a:ext uri="{FF2B5EF4-FFF2-40B4-BE49-F238E27FC236}">
                <a16:creationId xmlns:a16="http://schemas.microsoft.com/office/drawing/2014/main" id="{E8578AFF-F1E4-4846-AFD6-916DCB83BA28}"/>
              </a:ext>
            </a:extLst>
          </p:cNvPr>
          <p:cNvSpPr/>
          <p:nvPr/>
        </p:nvSpPr>
        <p:spPr>
          <a:xfrm rot="10800000">
            <a:off x="4926264" y="2855157"/>
            <a:ext cx="1168284" cy="2048256"/>
          </a:xfrm>
          <a:prstGeom prst="curvedLeftArrow">
            <a:avLst>
              <a:gd name="adj1" fmla="val 21819"/>
              <a:gd name="adj2" fmla="val 50000"/>
              <a:gd name="adj3" fmla="val 29696"/>
            </a:avLst>
          </a:prstGeom>
          <a:solidFill>
            <a:srgbClr val="223A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4DCC4C-4197-FB4D-9D87-8272A339F048}"/>
              </a:ext>
            </a:extLst>
          </p:cNvPr>
          <p:cNvSpPr/>
          <p:nvPr/>
        </p:nvSpPr>
        <p:spPr>
          <a:xfrm>
            <a:off x="4722605" y="2153411"/>
            <a:ext cx="29738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第一遍：</a:t>
            </a:r>
            <a:endParaRPr lang="en-US" altLang="zh-CN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看原文，翻译成现代文</a:t>
            </a:r>
            <a:r>
              <a:rPr lang="en-US" altLang="zh-CN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79E02D-4BD3-9348-B3D1-F932616EE869}"/>
              </a:ext>
            </a:extLst>
          </p:cNvPr>
          <p:cNvSpPr/>
          <p:nvPr/>
        </p:nvSpPr>
        <p:spPr>
          <a:xfrm>
            <a:off x="4955040" y="4984357"/>
            <a:ext cx="25090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第二遍：</a:t>
            </a:r>
            <a:endParaRPr lang="en-US" altLang="zh-CN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</a:t>
            </a:r>
            <a:r>
              <a:rPr lang="zh-CN" altLang="en-US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看译文，回溯原文</a:t>
            </a:r>
            <a:r>
              <a:rPr lang="en-US" altLang="zh-CN" b="1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76116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9027432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Chapter-8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语言文字运用（高中）</a:t>
            </a:r>
            <a:endParaRPr lang="en-US" altLang="zh-CN" sz="7200" b="1" dirty="0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/</a:t>
            </a:r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基础客观题题（初中）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984357"/>
            <a:ext cx="3622199" cy="5385327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语病类选择题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7" y="1307521"/>
            <a:ext cx="3351401" cy="4889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语病类题策略口诀：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首先关注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标志语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，典型错误好把握，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多层修饰看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语序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，并列结构要关注，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冗长宾语看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搭配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，中心词语易缺废，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多个谓语看搭配，结构混乱常安排，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句首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介词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好滥用，致使主语易缺失，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两面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词语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无照应，否定词语否失当，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指代词语不明确，数量词语好用错，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关联词语看搭配，再看位置和逻辑，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包含词语重复义，出现文言易赘余。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答题策略第二法，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两个步骤排除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法，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四个选项分两组，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明显错误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排一组，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剩下一组用方法，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排除一项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定答案。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5C484BCC-5386-E748-8F28-91A7AC36E0AF}"/>
              </a:ext>
            </a:extLst>
          </p:cNvPr>
          <p:cNvSpPr/>
          <p:nvPr/>
        </p:nvSpPr>
        <p:spPr>
          <a:xfrm rot="10800000">
            <a:off x="5356276" y="1883462"/>
            <a:ext cx="304800" cy="104261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562D07AE-22C7-4A44-B9DB-8E2F29A1A291}"/>
              </a:ext>
            </a:extLst>
          </p:cNvPr>
          <p:cNvSpPr/>
          <p:nvPr/>
        </p:nvSpPr>
        <p:spPr>
          <a:xfrm rot="10800000">
            <a:off x="5356276" y="3352800"/>
            <a:ext cx="304800" cy="144779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80515DD7-6CFA-1247-91A7-D3C55BC7C2AC}"/>
              </a:ext>
            </a:extLst>
          </p:cNvPr>
          <p:cNvSpPr/>
          <p:nvPr/>
        </p:nvSpPr>
        <p:spPr>
          <a:xfrm rot="10800000">
            <a:off x="5356276" y="5303518"/>
            <a:ext cx="304800" cy="81708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8DED24-DE2B-5249-8044-B7C90D0D3F50}"/>
              </a:ext>
            </a:extLst>
          </p:cNvPr>
          <p:cNvSpPr txBox="1"/>
          <p:nvPr/>
        </p:nvSpPr>
        <p:spPr>
          <a:xfrm>
            <a:off x="6539044" y="1581841"/>
            <a:ext cx="4169175" cy="4566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我们要怎么做：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标志语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语序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搭配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一识别：三种语病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介词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词语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二细看：几类词语不当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介词不当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逻辑：照应词语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否定词语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修饰：指代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数量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关联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重复：赘余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*做题方法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先排除明显错误，再排除一项不当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9064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984357"/>
            <a:ext cx="3622199" cy="5385327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语病类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7" y="1307521"/>
            <a:ext cx="3351401" cy="4889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语病类题策略口诀：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首先关注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标志语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，典型错误好把握，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多层修饰看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语序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，并列结构要关注，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冗长宾语看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搭配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，中心词语易缺废，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多个谓语看搭配，结构混乱常安排，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句首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介词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好滥用，致使主语易缺失，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两面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词语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无照应，否定词语否失当，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指代词语不明确，数量词语好用错，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关联词语看搭配，再看位置和逻辑，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包含词语重复义，出现文言易赘余。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答题策略第二法，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两个步骤排除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法，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四个选项分两组，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明显错误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排一组，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剩下一组用方法，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排除一项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定答案。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BFA8A1-96D8-FE49-94B3-A4A90D0659CA}"/>
              </a:ext>
            </a:extLst>
          </p:cNvPr>
          <p:cNvSpPr/>
          <p:nvPr/>
        </p:nvSpPr>
        <p:spPr>
          <a:xfrm>
            <a:off x="4912244" y="2338192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en-US" altLang="zh-CN" sz="1400" kern="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(2024</a:t>
            </a:r>
            <a:r>
              <a:rPr lang="zh-CN" altLang="zh-CN" sz="1400" kern="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·新课标Ⅱ卷·</a:t>
            </a:r>
            <a:r>
              <a:rPr lang="en-US" altLang="zh-CN" sz="1400" kern="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T</a:t>
            </a:r>
            <a:r>
              <a:rPr lang="en-US" altLang="zh-CN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20.</a:t>
            </a:r>
            <a:r>
              <a:rPr lang="en-US" altLang="zh-CN" sz="1400" kern="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)</a:t>
            </a: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阅读下面的文字，完成下面小题。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indent="266700" fontAlgn="ctr">
              <a:lnSpc>
                <a:spcPct val="150000"/>
              </a:lnSpc>
            </a:pP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众所周知，运动可以帮助放松肌肉、减轻身体紧张感、改善血液循环，让我们身体更健康，但是，可能很多人都不知道，运动更是让我们心情愉悦、大脑强健的“灵丹妙药”。</a:t>
            </a:r>
            <a:r>
              <a:rPr lang="zh-CN" altLang="zh-CN" sz="1400" u="wavy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多年以前，运动就已被列入情绪障碍的治疗方法之一，疗效不但立竿见影，令人信服，而且适用范围很广。</a:t>
            </a:r>
            <a:endParaRPr lang="en-US" altLang="zh-CN" sz="1400" u="wavy" kern="1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indent="266700" fontAlgn="ctr">
              <a:lnSpc>
                <a:spcPct val="150000"/>
              </a:lnSpc>
            </a:pP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20. </a:t>
            </a: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文中画波浪线的句子有语病。请进行修改，使语言表达准确流畅，逻辑严密，可少量增删词语，不得改变原意。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1002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984357"/>
            <a:ext cx="3622199" cy="5385327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语病类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7" y="1307521"/>
            <a:ext cx="3351401" cy="4889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语病类题策略口诀：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首先关注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标志语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，典型错误好把握，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多层修饰看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结构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，并列结构要关注，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冗长宾语看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搭配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，中心词语易缺废，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多个谓语看搭配，结构混乱常安排，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句首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介词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好滥用，致使主语易缺失，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两面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词语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无照应，否定词语否失当，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指代词语不明确，数量词语好用错，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关联词语看搭配，再看位置和逻辑，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包含词语重复义，出现文言易赘余。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答题策略第二法，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两个步骤排除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法，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四个选项分两组，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明显错误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排一组，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剩下一组用方法，</a:t>
            </a:r>
            <a:r>
              <a:rPr kumimoji="1" lang="zh-CN" altLang="en-US" sz="1400" b="1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排除一项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定答案。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BFA8A1-96D8-FE49-94B3-A4A90D0659CA}"/>
              </a:ext>
            </a:extLst>
          </p:cNvPr>
          <p:cNvSpPr/>
          <p:nvPr/>
        </p:nvSpPr>
        <p:spPr>
          <a:xfrm>
            <a:off x="4782207" y="984357"/>
            <a:ext cx="6800234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zh-CN" sz="1400" u="wavy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多年以前，运动就已被列入情绪障碍的治疗方法之一，疗效不但立竿见影，令人信服，而且适用范围很广。</a:t>
            </a:r>
            <a:endParaRPr lang="en-US" altLang="zh-CN" sz="1400" u="wavy" kern="1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indent="266700" fontAlgn="ctr">
              <a:lnSpc>
                <a:spcPct val="150000"/>
              </a:lnSpc>
            </a:pP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37BE8C-2757-5C4C-890C-E3DBA6EE3D48}"/>
              </a:ext>
            </a:extLst>
          </p:cNvPr>
          <p:cNvSpPr/>
          <p:nvPr/>
        </p:nvSpPr>
        <p:spPr>
          <a:xfrm>
            <a:off x="4782207" y="5354917"/>
            <a:ext cx="6931572" cy="688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【答】多年以前，运动就已被列入情绪障碍的治疗方法之一，不但疗效立竿见影、令人信服，而且适用范围很广。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</a:t>
            </a:r>
            <a:endParaRPr lang="zh-CN" altLang="zh-CN" sz="1400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6DF078-AF90-384C-8908-B80325CB14DD}"/>
              </a:ext>
            </a:extLst>
          </p:cNvPr>
          <p:cNvSpPr/>
          <p:nvPr/>
        </p:nvSpPr>
        <p:spPr>
          <a:xfrm>
            <a:off x="4782207" y="1934684"/>
            <a:ext cx="6931572" cy="300082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 font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画线句共有两处语病：</a:t>
            </a:r>
          </a:p>
          <a:p>
            <a:pPr algn="just" font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第一处，“运动就已被列入情绪障碍的治疗方法之一”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搭配不当</a:t>
            </a:r>
            <a:r>
              <a:rPr lang="zh-CN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，应删去“之一”；</a:t>
            </a:r>
          </a:p>
          <a:p>
            <a:pPr algn="just" font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第二处，原文“疗效不但立竿见影，令人信服，而且适用范围很广”中，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关联词“不但”语序不当</a:t>
            </a:r>
            <a:r>
              <a:rPr lang="zh-CN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。根据原文，这句话的</a:t>
            </a:r>
            <a:r>
              <a:rPr lang="zh-CN" altLang="zh-CN" sz="1400" u="sng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“疗效”是“立竿见影，令人信服”的主语，但不是“适用范围很广”的主语。</a:t>
            </a:r>
            <a:r>
              <a:rPr lang="zh-CN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两个分句主语不同，关联词应该放到前句开头。用“不但……而且……”连接，逻辑合理，分别说明了运动治疗的效果和适用范围方面的特点。</a:t>
            </a:r>
          </a:p>
          <a:p>
            <a:pPr algn="just" font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所以正确的句子应为：多年以前，运动就已被列入情绪障碍的治疗方法之一，不但疗效立竿见影、令人信服，而且适用范围很广。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4A20A-C99C-D54E-8FA9-3DC7E63D37D2}"/>
              </a:ext>
            </a:extLst>
          </p:cNvPr>
          <p:cNvSpPr/>
          <p:nvPr/>
        </p:nvSpPr>
        <p:spPr>
          <a:xfrm>
            <a:off x="823676" y="2014656"/>
            <a:ext cx="3133469" cy="6024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04445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984358"/>
            <a:ext cx="2716965" cy="521245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成语类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7" y="1307521"/>
            <a:ext cx="3351401" cy="4889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建立成语积累本！：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）易错归类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）记录：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成语意义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修饰对象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使用场合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褒贬义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）定期复习：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高亮易错点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12FC923-4BB0-144A-B9FC-5B051D3B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322" y="984356"/>
            <a:ext cx="4151585" cy="521245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8C2900-CFC9-0947-B4EA-E7D3CC350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356" y="984355"/>
            <a:ext cx="3687055" cy="5212452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7697508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984358"/>
            <a:ext cx="3536773" cy="521245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语言运用类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8" y="1307521"/>
            <a:ext cx="3265974" cy="5535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）语句补写：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一看）判断补写所在位置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二析）语境逻辑与句子逻辑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情境：段首中间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段尾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句子逻辑：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转折关系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联系下文内容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转折关系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联系本段内容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9C374E9-EA23-E548-A475-3FF39C0AE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527813"/>
              </p:ext>
            </p:extLst>
          </p:nvPr>
        </p:nvGraphicFramePr>
        <p:xfrm>
          <a:off x="4558748" y="984358"/>
          <a:ext cx="6795052" cy="5212450"/>
        </p:xfrm>
        <a:graphic>
          <a:graphicData uri="http://schemas.openxmlformats.org/drawingml/2006/table">
            <a:tbl>
              <a:tblPr firstRow="1" firstCol="1" bandRow="1"/>
              <a:tblGrid>
                <a:gridCol w="1722782">
                  <a:extLst>
                    <a:ext uri="{9D8B030D-6E8A-4147-A177-3AD203B41FA5}">
                      <a16:colId xmlns:a16="http://schemas.microsoft.com/office/drawing/2014/main" val="2902347298"/>
                    </a:ext>
                  </a:extLst>
                </a:gridCol>
                <a:gridCol w="5072270">
                  <a:extLst>
                    <a:ext uri="{9D8B030D-6E8A-4147-A177-3AD203B41FA5}">
                      <a16:colId xmlns:a16="http://schemas.microsoft.com/office/drawing/2014/main" val="736067146"/>
                    </a:ext>
                  </a:extLst>
                </a:gridCol>
              </a:tblGrid>
              <a:tr h="4836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步骤</a:t>
                      </a:r>
                      <a:endParaRPr lang="zh-CN" sz="1400" kern="10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具体做法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71806"/>
                  </a:ext>
                </a:extLst>
              </a:tr>
              <a:tr h="15762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第一步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理解语境</a:t>
                      </a:r>
                      <a:r>
                        <a:rPr lang="en-US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划分层次</a:t>
                      </a:r>
                      <a:endParaRPr lang="zh-CN" sz="14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阅读语段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看看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语段的中心是什么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大致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有几个层次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;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厘清空缺处上下文之间的逻辑关系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如总分关系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观点与材料的关系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现象与本质的关系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或并列、转折、因果、条件关系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等等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),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要特别注意关联词语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157514"/>
                  </a:ext>
                </a:extLst>
              </a:tr>
              <a:tr h="15762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第二步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关注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句子位置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把握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句子逻辑</a:t>
                      </a:r>
                      <a:endParaRPr lang="zh-CN" sz="14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根据补写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句子出现位置</a:t>
                      </a:r>
                      <a:r>
                        <a:rPr lang="en-US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分层理解语段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明确句子总分关系、观点与材料关系、现象与本质关系等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缩小空缺处答题范围。重视标点符号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尤其是冒号、分号、问号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548926"/>
                  </a:ext>
                </a:extLst>
              </a:tr>
              <a:tr h="15762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第三步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合理推导</a:t>
                      </a:r>
                      <a:r>
                        <a:rPr lang="en-US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关注细节</a:t>
                      </a:r>
                      <a:endParaRPr lang="zh-CN" sz="14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检查补写的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内容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是否符合题干要求、</a:t>
                      </a:r>
                      <a:r>
                        <a:rPr lang="zh-CN" sz="1400" kern="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语意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是否连贯、有无语病、是否简洁等。不要草率审题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盲目机械答题。最好在写好后代入原文读一读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宋体" panose="02010600030101010101" pitchFamily="2" charset="-122"/>
                        </a:rPr>
                        <a:t>看看是否连贯、贴切、严密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178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345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984358"/>
            <a:ext cx="3536773" cy="521245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语言运用类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8" y="1307521"/>
            <a:ext cx="3265974" cy="5535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）语句补写：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一看）判断补写所在位置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二析）语境逻辑与句子逻辑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情境：段首中间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段尾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句子逻辑：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转折关系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联系下文内容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转折关系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联系本段内容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175DE6-3F9F-0345-9E18-14DB954FBED2}"/>
              </a:ext>
            </a:extLst>
          </p:cNvPr>
          <p:cNvSpPr/>
          <p:nvPr/>
        </p:nvSpPr>
        <p:spPr>
          <a:xfrm>
            <a:off x="4367048" y="933829"/>
            <a:ext cx="767780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【2024</a:t>
            </a:r>
            <a:r>
              <a:rPr lang="zh-CN" altLang="zh-CN" sz="1400" kern="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·新课标Ⅱ卷</a:t>
            </a:r>
            <a:r>
              <a:rPr lang="en-US" altLang="zh-CN" sz="1400" kern="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】</a:t>
            </a: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阅读文字，完成下面小题。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indent="266700" fontAlgn="ctr">
              <a:lnSpc>
                <a:spcPct val="150000"/>
              </a:lnSpc>
            </a:pP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喜欢运动，经常运动的人，相信都体验过“跑者欣快”，即连续高强度运动一段时间后，</a:t>
            </a:r>
            <a:r>
              <a:rPr lang="en-US" altLang="zh-CN" sz="1400" u="sng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zh-CN" sz="1400" u="sng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①</a:t>
            </a:r>
            <a:r>
              <a:rPr lang="en-US" altLang="zh-CN" sz="1400" u="sng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      </a:t>
            </a: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，但心情很好，有一种酣畅淋漓的感觉，这是因为，运动可以促使大脑分泌许多与愉悦感相关的“快乐物质”，如多巴胺、内啡肽等。而运动后的大脑，还会分泌一种名叫脑源性神经营养因子的蛋白质，有助于强健大脑。因此，运动不仅会让你轻松快乐，还会让你头脑更清晰，更有活力。当然，不是每个人</a:t>
            </a:r>
            <a:r>
              <a:rPr lang="en-US" altLang="zh-CN" sz="1400" u="sng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zh-CN" sz="1400" u="sng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②</a:t>
            </a:r>
            <a:r>
              <a:rPr lang="en-US" altLang="zh-CN" sz="1400" u="sng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       </a:t>
            </a: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" panose="02010609060101010101" pitchFamily="49" charset="-122"/>
              </a:rPr>
              <a:t>，但即使做一些轻微运动，也是有助于身心健康的。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21. </a:t>
            </a: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请在文中横线处补写恰当的语句，使整段文字语意完整连贯，内容贴切，逻辑严密，每处不超过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10</a:t>
            </a:r>
            <a:r>
              <a:rPr lang="zh-CN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个字。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  </a:t>
            </a:r>
            <a:endParaRPr lang="zh-CN" altLang="zh-CN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①后句“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但心情很好</a:t>
            </a:r>
            <a:r>
              <a:rPr lang="zh-CN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”，与①处形成转折关系，该处应使用一个表示转折的关联词，如“虽然”；前句提到“连续高强度运动一段时间后”，可推知该空应该衔接上句，可填“虽然身体很累”，或“虽然身体很疲惫”。</a:t>
            </a:r>
            <a:endParaRPr lang="zh-CN" altLang="zh-CN" sz="1400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②处，后句“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但即使做一些轻微运动</a:t>
            </a:r>
            <a:r>
              <a:rPr lang="zh-CN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”，与②处形成转折关系，该空应该填写与“轻微运动”相对的内容，本段语境强调的是“连续高强度运动”对人身体的益处，可填：都能高强度运动。</a:t>
            </a:r>
            <a:endParaRPr lang="en-US" altLang="zh-CN" sz="1400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 fontAlgn="ctr">
              <a:lnSpc>
                <a:spcPct val="150000"/>
              </a:lnSpc>
              <a:spcAft>
                <a:spcPts val="0"/>
              </a:spcAft>
            </a:pPr>
            <a:endParaRPr lang="en-US" altLang="zh-CN" sz="1400" kern="1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宋体" panose="02010600030101010101" pitchFamily="2" charset="-122"/>
            </a:endParaRPr>
          </a:p>
          <a:p>
            <a:pPr algn="just" font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答</a:t>
            </a:r>
            <a:r>
              <a:rPr lang="en-US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. </a:t>
            </a:r>
            <a:r>
              <a:rPr lang="zh-CN" altLang="zh-CN" sz="1400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宋体" panose="02010600030101010101" pitchFamily="2" charset="-122"/>
              </a:rPr>
              <a:t>①虽然身体很累（虽然身体很疲惫）；②都能高强度运动。</a:t>
            </a:r>
            <a:endParaRPr lang="zh-CN" altLang="zh-CN" sz="1400" kern="100" dirty="0">
              <a:solidFill>
                <a:srgbClr val="C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8194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984358"/>
            <a:ext cx="4057034" cy="521245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语言运用类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7" y="1307521"/>
            <a:ext cx="3351401" cy="133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）语句改写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概括：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题干问法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33900D7-B8A2-5540-A8A2-3ADAC28EF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501555"/>
              </p:ext>
            </p:extLst>
          </p:nvPr>
        </p:nvGraphicFramePr>
        <p:xfrm>
          <a:off x="930851" y="2711439"/>
          <a:ext cx="3414450" cy="3220826"/>
        </p:xfrm>
        <a:graphic>
          <a:graphicData uri="http://schemas.openxmlformats.org/drawingml/2006/table">
            <a:tbl>
              <a:tblPr firstRow="1" firstCol="1" bandRow="1"/>
              <a:tblGrid>
                <a:gridCol w="1929078">
                  <a:extLst>
                    <a:ext uri="{9D8B030D-6E8A-4147-A177-3AD203B41FA5}">
                      <a16:colId xmlns:a16="http://schemas.microsoft.com/office/drawing/2014/main" val="1487271970"/>
                    </a:ext>
                  </a:extLst>
                </a:gridCol>
                <a:gridCol w="864728">
                  <a:extLst>
                    <a:ext uri="{9D8B030D-6E8A-4147-A177-3AD203B41FA5}">
                      <a16:colId xmlns:a16="http://schemas.microsoft.com/office/drawing/2014/main" val="4019514746"/>
                    </a:ext>
                  </a:extLst>
                </a:gridCol>
                <a:gridCol w="620644">
                  <a:extLst>
                    <a:ext uri="{9D8B030D-6E8A-4147-A177-3AD203B41FA5}">
                      <a16:colId xmlns:a16="http://schemas.microsoft.com/office/drawing/2014/main" val="122021489"/>
                    </a:ext>
                  </a:extLst>
                </a:gridCol>
              </a:tblGrid>
              <a:tr h="402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题　干</a:t>
                      </a:r>
                      <a:endParaRPr lang="zh-CN" sz="1050" kern="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要求</a:t>
                      </a:r>
                      <a:endParaRPr lang="zh-CN" sz="1050" kern="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试题类型</a:t>
                      </a:r>
                      <a:endParaRPr lang="zh-CN" sz="1050" kern="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402118"/>
                  </a:ext>
                </a:extLst>
              </a:tr>
              <a:tr h="13575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简述第二段的主要内容。要求使用包含因果关系的句子，表达简洁流畅，不超过</a:t>
                      </a:r>
                      <a:r>
                        <a:rPr lang="en-US" sz="12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65</a:t>
                      </a:r>
                      <a:r>
                        <a:rPr lang="zh-CN" sz="12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个字。</a:t>
                      </a:r>
                      <a:endParaRPr lang="zh-CN" sz="1050" kern="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因果关系的句子</a:t>
                      </a:r>
                      <a:endParaRPr lang="zh-CN" sz="1050" kern="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句式限制型</a:t>
                      </a:r>
                      <a:endParaRPr lang="zh-CN" sz="1050" kern="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489248"/>
                  </a:ext>
                </a:extLst>
              </a:tr>
              <a:tr h="135752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请根据上文各段的主要意思，以</a:t>
                      </a:r>
                      <a:r>
                        <a:rPr lang="en-US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合适的劳动教育可以帮助学生</a:t>
                      </a:r>
                      <a:r>
                        <a:rPr lang="en-US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”</a:t>
                      </a: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为开头各写一句话。每句不超过</a:t>
                      </a:r>
                      <a:r>
                        <a:rPr lang="en-US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12</a:t>
                      </a: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个字。</a:t>
                      </a:r>
                      <a:endParaRPr lang="zh-CN" sz="1050" kern="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以</a:t>
                      </a:r>
                      <a:r>
                        <a:rPr lang="en-US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合适的劳动教育可以帮助学生</a:t>
                      </a:r>
                      <a:r>
                        <a:rPr lang="en-US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”</a:t>
                      </a:r>
                      <a:r>
                        <a:rPr lang="zh-CN" sz="1200" kern="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为开头</a:t>
                      </a:r>
                      <a:endParaRPr lang="zh-CN" sz="1050" kern="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Courier New" panose="02070309020205020404" pitchFamily="49" charset="0"/>
                        </a:rPr>
                        <a:t>对象限制型</a:t>
                      </a:r>
                      <a:endParaRPr lang="zh-CN" sz="1050" kern="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738806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762B1044-A2BC-C54E-B381-DA7D01ACCE2F}"/>
              </a:ext>
            </a:extLst>
          </p:cNvPr>
          <p:cNvSpPr txBox="1"/>
          <p:nvPr/>
        </p:nvSpPr>
        <p:spPr>
          <a:xfrm>
            <a:off x="5478633" y="1307521"/>
            <a:ext cx="6881532" cy="5535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如何回答：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概括内容是核心，按句式要求表达是答案表述形式 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、精读语段，概括内容。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概括语段内容的方法 ：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）摘取法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              （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）归纳法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              （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）分总法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）直接摘取法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摘取语段的中心句作为语段中心。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）归纳法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（中心不突出）对语段作全面的分析，在此基础上再作归纳概括。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）分总法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先分层概括，再作总体归纳，适合于结构形式为并列式的语段。 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1761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60" y="984358"/>
            <a:ext cx="2995032" cy="521245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语言运用类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8" y="1307521"/>
            <a:ext cx="2487066" cy="5535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）应用文：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拟写短评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就文本中的某一问题加以评论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阐述自己的看法和主张。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解题方法：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）阅读内容，圈画重点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）提出态度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支撑论据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）调整语言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F42A3F50-7E2D-FE4A-B137-B237519F9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866977"/>
              </p:ext>
            </p:extLst>
          </p:nvPr>
        </p:nvGraphicFramePr>
        <p:xfrm>
          <a:off x="4240694" y="984358"/>
          <a:ext cx="6930889" cy="5212449"/>
        </p:xfrm>
        <a:graphic>
          <a:graphicData uri="http://schemas.openxmlformats.org/drawingml/2006/table">
            <a:tbl>
              <a:tblPr/>
              <a:tblGrid>
                <a:gridCol w="1805257">
                  <a:extLst>
                    <a:ext uri="{9D8B030D-6E8A-4147-A177-3AD203B41FA5}">
                      <a16:colId xmlns:a16="http://schemas.microsoft.com/office/drawing/2014/main" val="474797498"/>
                    </a:ext>
                  </a:extLst>
                </a:gridCol>
                <a:gridCol w="5125632">
                  <a:extLst>
                    <a:ext uri="{9D8B030D-6E8A-4147-A177-3AD203B41FA5}">
                      <a16:colId xmlns:a16="http://schemas.microsoft.com/office/drawing/2014/main" val="1718404097"/>
                    </a:ext>
                  </a:extLst>
                </a:gridCol>
              </a:tblGrid>
              <a:tr h="78307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论点：把握要旨</a:t>
                      </a:r>
                    </a:p>
                  </a:txBody>
                  <a:tcPr marL="66675" marR="66675" anchor="ctr">
                    <a:lnL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阅读材料时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要弄清主要事实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把握中心要点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做到心中有数</a:t>
                      </a:r>
                    </a:p>
                  </a:txBody>
                  <a:tcPr marL="66675" marR="66675" anchor="ctr">
                    <a:lnL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465269"/>
                  </a:ext>
                </a:extLst>
              </a:tr>
              <a:tr h="216983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态度：观点鲜明</a:t>
                      </a:r>
                    </a:p>
                  </a:txBody>
                  <a:tcPr marL="66675" marR="66675" anchor="ctr">
                    <a:lnL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要抓住材料的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主要内容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提炼出主要观点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并以此为依据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或褒或贬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一语中的。发表评述时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要结合材料的内容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但不要停留在表面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要分析现象背后的深层原因及影响</a:t>
                      </a:r>
                    </a:p>
                  </a:txBody>
                  <a:tcPr marL="66675" marR="66675" anchor="ctr">
                    <a:lnL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749281"/>
                  </a:ext>
                </a:extLst>
              </a:tr>
              <a:tr h="78307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论据：有理有据</a:t>
                      </a:r>
                    </a:p>
                  </a:txBody>
                  <a:tcPr marL="66675" marR="66675" anchor="ctr">
                    <a:lnL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既不能夸大其词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也不能蜻蜓点水，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论据要客观</a:t>
                      </a:r>
                    </a:p>
                  </a:txBody>
                  <a:tcPr marL="66675" marR="66675" anchor="ctr">
                    <a:lnL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315273"/>
                  </a:ext>
                </a:extLst>
              </a:tr>
              <a:tr h="147645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语言：言简意赅</a:t>
                      </a:r>
                    </a:p>
                  </a:txBody>
                  <a:tcPr marL="66675" marR="66675" anchor="ctr">
                    <a:lnL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用简约的文字对材料进行评论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语言要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严密、准确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具有说服力和感染力</a:t>
                      </a:r>
                    </a:p>
                  </a:txBody>
                  <a:tcPr marL="66675" marR="66675" anchor="ctr">
                    <a:lnL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4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655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619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60" y="984358"/>
            <a:ext cx="2995032" cy="521245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语言运用类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880358" y="1307521"/>
            <a:ext cx="2487066" cy="5535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）应用文：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拟写短评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就文本中的某一问题加以评论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阐述自己的看法和主张。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解题方法：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）阅读内容，圈画重点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）提出态度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支撑论据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）调整语言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09559" y="13769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BEE9A8-B5C3-554E-B024-E86BC40E34B9}"/>
              </a:ext>
            </a:extLst>
          </p:cNvPr>
          <p:cNvSpPr/>
          <p:nvPr/>
        </p:nvSpPr>
        <p:spPr>
          <a:xfrm>
            <a:off x="3638222" y="984358"/>
            <a:ext cx="810908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 fontAlgn="ctr"/>
            <a:r>
              <a:rPr lang="en-US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【2023</a:t>
            </a:r>
            <a:r>
              <a:rPr lang="zh-CN" altLang="en-US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年全国甲卷</a:t>
            </a:r>
            <a:r>
              <a:rPr lang="en-US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indent="266700" algn="just" fontAlgn="ctr"/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阅读下面的文字，完成下面小题。</a:t>
            </a:r>
            <a:endParaRPr lang="zh-CN" altLang="en-US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/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事有凑巧，在不同的时间和不同的地方，我听见过三位老师讲“破釜沉舟”这个成语。第一位教师是这样讲的：“‘破釜沉舟’表示坚决的意思。做事一定要坚决。无论做什么，只要是正当的、应该做的事，就必须抱定只许前进而不许后退、只许胜利而不许失败的决心，只有这样才能得到成功。如果前怕狼后怕虎，工作还没开始就准备下失败的退路，那样一定不会成功。当然，前进的目的必须正确。在这一点上，古人不能跟我们相提并论。由于时代的局限，古人，尤其是封建统治阶级的人，做事的目的在今天看来很多是成问题的，下定决心做好事是应当的，如果坚决做坏事，那就不应当了。”第二位教师是另一种讲法，他说：“‘釜’就是锅，‘舟’就是船。‘破’和‘沉’都是动词。‘破釜’是‘使釜破’的意思，也就是把锅砸碎；‘沉舟’是‘使舟沉’的意思，也就是把船凿沉。这样用法的动词叫作‘使动词’。同是做饭的工具，古代叫‘釜’，现代叫‘锅’；同是水上运输工具，古代叫‘舟’，现代叫‘船’；这是古今词汇的演变。像古代叫‘冠’，现代叫‘帽子’，古代叫‘履’，现代叫‘鞋’，都是这种情形。曹植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七步诗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里有‘豆在釜中泣’的句子，柳宗元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江雪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里有“孤舟寰笠翁”的句子，这里的‘釜’和‘舟’跟‘破釜沉舟’里的‘釜’和‘舟’意思相同。”第三位教师讲得比较简单，话说得比较少。他这样讲：“项羽渡河进攻秦朝的军队，渡河之后，把造饭的锅砸碎，把船凿沉，断了自己的退路，以示有进无退的决心，终于把秦军打败了。后来大家就用‘破釜沉舟’这个成语表示下定最大的决心，不顾任何牺牲的意思。”</a:t>
            </a:r>
            <a:endParaRPr lang="en-US" altLang="zh-CN" sz="1400" kern="1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/>
            <a:endParaRPr lang="zh-CN" altLang="en-US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/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20. 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三位教师的讲解各有不同，请任选二人，分别作出评论。要求每条评论不超过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个字，句子简洁流畅。</a:t>
            </a:r>
            <a:endParaRPr lang="en-US" altLang="zh-CN" sz="1400" kern="1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/>
            <a:endParaRPr lang="en-US" altLang="zh-CN" sz="1400" kern="100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/>
            <a:r>
              <a:rPr lang="en-US" altLang="zh-CN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先划分层次</a:t>
            </a:r>
            <a:r>
              <a:rPr lang="en-US" altLang="zh-CN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】-</a:t>
            </a:r>
            <a:r>
              <a:rPr lang="zh-CN" altLang="en-US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分别找出</a:t>
            </a:r>
            <a:r>
              <a:rPr lang="en-US" altLang="zh-CN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各位老师：讲解内容</a:t>
            </a:r>
            <a:r>
              <a:rPr lang="en-US" altLang="zh-CN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】-</a:t>
            </a:r>
            <a:r>
              <a:rPr lang="zh-CN" altLang="en-US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概括特点</a:t>
            </a:r>
            <a:r>
              <a:rPr lang="en-US" altLang="zh-CN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1400" kern="100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做出评价</a:t>
            </a:r>
          </a:p>
        </p:txBody>
      </p:sp>
    </p:spTree>
    <p:extLst>
      <p:ext uri="{BB962C8B-B14F-4D97-AF65-F5344CB8AC3E}">
        <p14:creationId xmlns:p14="http://schemas.microsoft.com/office/powerpoint/2010/main" val="19151849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语言运用类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389722" y="98435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BEE9A8-B5C3-554E-B024-E86BC40E34B9}"/>
              </a:ext>
            </a:extLst>
          </p:cNvPr>
          <p:cNvSpPr/>
          <p:nvPr/>
        </p:nvSpPr>
        <p:spPr>
          <a:xfrm>
            <a:off x="389722" y="984358"/>
            <a:ext cx="113575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 fontAlgn="ctr"/>
            <a:r>
              <a:rPr lang="en-US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【2023</a:t>
            </a:r>
            <a:r>
              <a:rPr lang="zh-CN" altLang="en-US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年全国甲卷</a:t>
            </a:r>
            <a:r>
              <a:rPr lang="en-US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indent="266700" algn="just" fontAlgn="ctr"/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阅读下面的文字，完成下面小题。</a:t>
            </a:r>
            <a:endParaRPr lang="zh-CN" altLang="en-US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/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事有凑巧，在不同的时间和不同的地方，我听见过三位老师讲“破釜沉舟”这个成语。</a:t>
            </a:r>
            <a:r>
              <a:rPr lang="en-US" altLang="zh-CN" sz="14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第一位教师是这样讲的：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“‘破釜沉舟’表示坚决的意思。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做事一定要坚决。无论做什么，只要是正当的、应该做的事，就必须抱定只许前进而不许后退、只许胜利而不许失败的决心，只有这样才能得到成功。如果前怕狼后怕虎，工作还没开始就准备下失败的退路，那样一定不会成功。当然，前进的目的必须正确。在这一点上，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古人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不能跟我们相提并论。由于时代的局限，古人，尤其是封建统治阶级的人，做事的目的在今天看来很多是成问题的，下定决心做好事是应当的，如果坚决做坏事，那就不应当了。”</a:t>
            </a:r>
            <a:r>
              <a:rPr lang="en-US" altLang="zh-CN" sz="14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二位教师是另一种讲法，他说：“‘釜’就是锅，‘舟’就是船。‘破’和‘沉’都是动词。‘破釜’是‘使釜破’的意思，也就是把锅砸碎；‘沉舟’是‘使舟沉’的意思，也就是把船凿沉。这样用法的动词叫作‘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使动词’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。同是做饭的工具，古代叫‘釜’，现代叫‘锅’；同是水上运输工具，古代叫‘舟’，现代叫‘船’；这是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古今词汇的演变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。像古代叫‘冠’，现代叫‘帽子’，古代叫‘履’，现代叫‘鞋’，都是这种情形。曹植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七步诗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里有‘豆在釜中泣’的句子，柳宗元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江雪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里有“孤舟寰笠翁”的句子，这里的‘釜’和‘舟’跟‘破釜沉舟’里的‘釜’和‘舟’意思相同。”</a:t>
            </a:r>
            <a:r>
              <a:rPr lang="en-US" altLang="zh-CN" sz="14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第三位教师讲得比较简单，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话说得比较少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他这样讲：“项羽渡河进攻秦朝的军队，渡河之后，把造饭的锅砸碎，把船凿沉，断了自己的退路，以示有进无退的决心，终于把秦军打败了。后来大家就用‘破釜沉舟’这个成语表示下定最大的决心，不顾任何牺牲的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意思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。”</a:t>
            </a:r>
            <a:endParaRPr lang="en-US" altLang="zh-CN" sz="1400" kern="1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/>
            <a:endParaRPr lang="zh-CN" altLang="en-US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/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20. 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三位教师的讲解各有不同，请任选二人，分别作出评论。要求每条评论不超过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个字，句子简洁流畅。</a:t>
            </a:r>
            <a:endParaRPr lang="en-US" altLang="zh-CN" sz="1400" kern="1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/>
            <a:endParaRPr lang="zh-CN" altLang="en-US" sz="14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310BC-753B-CC40-AAC5-1634528DF07E}"/>
              </a:ext>
            </a:extLst>
          </p:cNvPr>
          <p:cNvSpPr/>
          <p:nvPr/>
        </p:nvSpPr>
        <p:spPr>
          <a:xfrm>
            <a:off x="444690" y="4154456"/>
            <a:ext cx="11302620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要找出三位教师讲解内容的差别，从而进行评判。</a:t>
            </a:r>
          </a:p>
          <a:p>
            <a:pPr fontAlgn="ctr"/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第一位教师：先总说“破釜沉舟”“表示坚决的意思”；然后，由成语引申出做事应有的态度；然后再进一步补充，古今对比</a:t>
            </a:r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可见这位老师主要是“讲道理”，鼓励学生前进；但没有解释词语的意思。</a:t>
            </a:r>
          </a:p>
          <a:p>
            <a:pPr fontAlgn="ctr">
              <a:lnSpc>
                <a:spcPct val="150000"/>
              </a:lnSpc>
            </a:pP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第二位教师：解释了词语的意思，并且介绍了古汉语当中的“活用”现象；然后分析古今词义的变化。</a:t>
            </a:r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可见这位老师侧重古汉语知识的讲解，对成语中词语的含义和“使动用法”“古今词语的变化”讲解清晰，让学生增长了知识；但是没有讲解整体含义及使用。</a:t>
            </a:r>
          </a:p>
          <a:p>
            <a:pPr fontAlgn="ctr">
              <a:lnSpc>
                <a:spcPct val="150000"/>
              </a:lnSpc>
            </a:pPr>
            <a:r>
              <a:rPr lang="zh-CN" altLang="en-US" sz="14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第三位教师：先讲了成语的基本意思，然后分析了成语的引申义，其中含有做事的道理</a:t>
            </a:r>
            <a:endParaRPr lang="en-US" altLang="zh-CN" sz="1400" kern="1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可见这位教师知识、道理结合较好，解说全面，而且“讲得比较简单，话说得比较少”，也就是表达简明扼要。</a:t>
            </a:r>
          </a:p>
        </p:txBody>
      </p:sp>
    </p:spTree>
    <p:extLst>
      <p:ext uri="{BB962C8B-B14F-4D97-AF65-F5344CB8AC3E}">
        <p14:creationId xmlns:p14="http://schemas.microsoft.com/office/powerpoint/2010/main" val="7697259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语言运用类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389722" y="98435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BEE9A8-B5C3-554E-B024-E86BC40E34B9}"/>
              </a:ext>
            </a:extLst>
          </p:cNvPr>
          <p:cNvSpPr/>
          <p:nvPr/>
        </p:nvSpPr>
        <p:spPr>
          <a:xfrm>
            <a:off x="389722" y="984358"/>
            <a:ext cx="113575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 fontAlgn="ctr"/>
            <a:r>
              <a:rPr lang="en-US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【2023</a:t>
            </a:r>
            <a:r>
              <a:rPr lang="zh-CN" altLang="en-US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年全国甲卷</a:t>
            </a:r>
            <a:r>
              <a:rPr lang="en-US" altLang="zh-CN" sz="1400" kern="1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indent="266700" algn="just" fontAlgn="ctr"/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阅读下面的文字，完成下面小题。</a:t>
            </a:r>
            <a:endParaRPr lang="zh-CN" altLang="en-US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/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事有凑巧，在不同的时间和不同的地方，我听见过三位老师讲“破釜沉舟”这个成语。</a:t>
            </a:r>
            <a:r>
              <a:rPr lang="en-US" altLang="zh-CN" sz="14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第一位教师是这样讲的：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“‘破釜沉舟’表示坚决的意思。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做事一定要坚决。无论做什么，只要是正当的、应该做的事，就必须抱定只许前进而不许后退、只许胜利而不许失败的决心，只有这样才能得到成功。如果前怕狼后怕虎，工作还没开始就准备下失败的退路，那样一定不会成功。当然，前进的目的必须正确。在这一点上，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古人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不能跟我们相提并论。由于时代的局限，古人，尤其是封建统治阶级的人，做事的目的在今天看来很多是成问题的，下定决心做好事是应当的，如果坚决做坏事，那就不应当了。”</a:t>
            </a:r>
            <a:r>
              <a:rPr lang="en-US" altLang="zh-CN" sz="14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二位教师是另一种讲法，他说：“‘釜’就是锅，‘舟’就是船。‘破’和‘沉’都是动词。‘破釜’是‘使釜破’的意思，也就是把锅砸碎；‘沉舟’是‘使舟沉’的意思，也就是把船凿沉。这样用法的动词叫作‘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使动词’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。同是做饭的工具，古代叫‘釜’，现代叫‘锅’；同是水上运输工具，古代叫‘舟’，现代叫‘船’；这是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古今词汇的演变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。像古代叫‘冠’，现代叫‘帽子’，古代叫‘履’，现代叫‘鞋’，都是这种情形。曹植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七步诗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里有‘豆在釜中泣’的句子，柳宗元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江雪</a:t>
            </a:r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里有“孤舟寰笠翁”的句子，这里的‘釜’和‘舟’跟‘破釜沉舟’里的‘釜’和‘舟’意思相同。”</a:t>
            </a:r>
            <a:r>
              <a:rPr lang="en-US" altLang="zh-CN" sz="14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第三位教师讲得比较简单，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话说得比较少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他这样讲：“项羽渡河进攻秦朝的军队，渡河之后，把造饭的锅砸碎，把船凿沉，断了自己的退路，以示有进无退的决心，终于把秦军打败了。后来大家就用‘破釜沉舟’这个成语表示下定最大的决心，不顾任何牺牲的</a:t>
            </a:r>
            <a:r>
              <a:rPr lang="zh-CN" altLang="en-US" sz="1400" kern="100" dirty="0">
                <a:solidFill>
                  <a:srgbClr val="000000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意思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。”</a:t>
            </a:r>
            <a:endParaRPr lang="en-US" altLang="zh-CN" sz="1400" kern="1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 fontAlgn="ctr"/>
            <a:endParaRPr lang="zh-CN" altLang="en-US" sz="1400" kern="1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/>
            <a:r>
              <a:rPr lang="en-US" altLang="zh-CN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20. 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三位教师的讲解各有不同，请任选二人，分别作出评论。要求每条评论不超过</a:t>
            </a:r>
            <a:r>
              <a:rPr lang="en-US" altLang="zh-CN" sz="14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altLang="en-US" sz="14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个字</a:t>
            </a:r>
            <a:r>
              <a:rPr lang="zh-CN" altLang="en-US" sz="1400" kern="1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，句子简洁流畅。</a:t>
            </a:r>
            <a:endParaRPr lang="en-US" altLang="zh-CN" sz="1400" kern="1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/>
            <a:endParaRPr lang="zh-CN" altLang="en-US" sz="1400" kern="100" dirty="0">
              <a:effectLst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310BC-753B-CC40-AAC5-1634528DF07E}"/>
              </a:ext>
            </a:extLst>
          </p:cNvPr>
          <p:cNvSpPr/>
          <p:nvPr/>
        </p:nvSpPr>
        <p:spPr>
          <a:xfrm>
            <a:off x="444690" y="4154456"/>
            <a:ext cx="11302620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答：</a:t>
            </a:r>
            <a:endParaRPr lang="en-US" altLang="zh-CN" sz="1400" kern="1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第一位教师：①讲清道理，鼓舞学生前进；②但未解释字词。</a:t>
            </a:r>
            <a:endParaRPr lang="en-US" altLang="zh-CN" sz="1400" kern="1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第二位教师：①讲清词义和变化，增长知识；②但未讲整体含义及使用。</a:t>
            </a:r>
            <a:endParaRPr lang="en-US" altLang="zh-CN" sz="1400" kern="1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第三位教师：①知识、道理结合较好，②解说全面，简明扼要。    </a:t>
            </a:r>
            <a:endParaRPr lang="en-US" altLang="zh-CN" sz="1400" kern="1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endParaRPr lang="en-US" altLang="zh-CN" sz="1400" kern="1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r>
              <a:rPr lang="en-US" altLang="zh-CN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评价：*态度鲜明 *提及事实论据 *客观不偏颇</a:t>
            </a:r>
            <a:r>
              <a:rPr lang="en-US" altLang="zh-CN" sz="1400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en-US" sz="1400" kern="1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fontAlgn="ctr">
              <a:lnSpc>
                <a:spcPct val="150000"/>
              </a:lnSpc>
            </a:pPr>
            <a:endParaRPr lang="zh-CN" altLang="en-US" sz="1400" kern="1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6504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Chapter-9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作文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72608" y="3428999"/>
            <a:ext cx="10697289" cy="312209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写作纲领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善用高分模版三步法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搭骨架：理清结构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填血肉：填充内容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赋灵魂：拔高立意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774157"/>
            <a:ext cx="4799551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怎么写：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学姐本人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高中成都市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二诊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56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分作文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如何搭建高分框架：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80966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A49B2D3-A799-E445-87DB-BAC2A1D82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20915"/>
              </p:ext>
            </p:extLst>
          </p:nvPr>
        </p:nvGraphicFramePr>
        <p:xfrm>
          <a:off x="5835506" y="3869809"/>
          <a:ext cx="5365090" cy="2340736"/>
        </p:xfrm>
        <a:graphic>
          <a:graphicData uri="http://schemas.openxmlformats.org/drawingml/2006/table">
            <a:tbl>
              <a:tblPr firstRow="1" firstCol="1" bandRow="1"/>
              <a:tblGrid>
                <a:gridCol w="1030918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1030918">
                  <a:extLst>
                    <a:ext uri="{9D8B030D-6E8A-4147-A177-3AD203B41FA5}">
                      <a16:colId xmlns:a16="http://schemas.microsoft.com/office/drawing/2014/main" val="408053940"/>
                    </a:ext>
                  </a:extLst>
                </a:gridCol>
                <a:gridCol w="3303254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</a:tblGrid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标题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修身尽头是修心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主题：修身是青年人必经之路，在个人、他人、社会层面上都具有重要意义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26175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开头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修身的意义是为了心灵的修炼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16736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中间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修身能使青年人发现自己的价值</a:t>
                      </a:r>
                      <a:endParaRPr lang="en-US" altLang="zh-CN" sz="14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修身能使人与人之间的关系更加和睦</a:t>
                      </a:r>
                      <a:endParaRPr lang="en-US" altLang="zh-CN" sz="14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修身对于社会具有重要的意义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97829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结尾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再次扣题，精炼总结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22071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3D3A8205-7D5E-FB47-BCEB-F80CFF446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95483"/>
              </p:ext>
            </p:extLst>
          </p:nvPr>
        </p:nvGraphicFramePr>
        <p:xfrm>
          <a:off x="5835506" y="647455"/>
          <a:ext cx="5365090" cy="2171000"/>
        </p:xfrm>
        <a:graphic>
          <a:graphicData uri="http://schemas.openxmlformats.org/drawingml/2006/table">
            <a:tbl>
              <a:tblPr firstRow="1" firstCol="1" bandRow="1"/>
              <a:tblGrid>
                <a:gridCol w="1030918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1030918">
                  <a:extLst>
                    <a:ext uri="{9D8B030D-6E8A-4147-A177-3AD203B41FA5}">
                      <a16:colId xmlns:a16="http://schemas.microsoft.com/office/drawing/2014/main" val="408053940"/>
                    </a:ext>
                  </a:extLst>
                </a:gridCol>
                <a:gridCol w="3303254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</a:tblGrid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标题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新颖</a:t>
                      </a:r>
                      <a:r>
                        <a:rPr lang="en-US" altLang="zh-CN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有力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主题：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分层次，逐渐递进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26175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开头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点题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引用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16736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中间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观点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观点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观点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4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97829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结尾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再次扣题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220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9505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72608" y="3428999"/>
            <a:ext cx="10697289" cy="312209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积累素材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33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积累模版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范文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看范围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拆分作文结构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774157"/>
            <a:ext cx="4799551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怎么写：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考后：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如何使用范文</a:t>
            </a:r>
            <a:r>
              <a:rPr kumimoji="1" lang="en-US" altLang="zh-CN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高分作文：</a:t>
            </a:r>
            <a:endParaRPr kumimoji="1" lang="en-US" altLang="zh-CN" sz="14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逆向拆解！！！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80966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3D3A8205-7D5E-FB47-BCEB-F80CFF446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42326"/>
              </p:ext>
            </p:extLst>
          </p:nvPr>
        </p:nvGraphicFramePr>
        <p:xfrm>
          <a:off x="5835506" y="3994326"/>
          <a:ext cx="5365090" cy="2171000"/>
        </p:xfrm>
        <a:graphic>
          <a:graphicData uri="http://schemas.openxmlformats.org/drawingml/2006/table">
            <a:tbl>
              <a:tblPr firstRow="1" firstCol="1" bandRow="1"/>
              <a:tblGrid>
                <a:gridCol w="1030918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1030918">
                  <a:extLst>
                    <a:ext uri="{9D8B030D-6E8A-4147-A177-3AD203B41FA5}">
                      <a16:colId xmlns:a16="http://schemas.microsoft.com/office/drawing/2014/main" val="408053940"/>
                    </a:ext>
                  </a:extLst>
                </a:gridCol>
                <a:gridCol w="3303254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</a:tblGrid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标题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？</a:t>
                      </a:r>
                      <a:endParaRPr lang="zh-CN" sz="1400" kern="1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主题：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26175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开头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点（ ）题</a:t>
                      </a:r>
                      <a:r>
                        <a:rPr lang="en-US" altLang="zh-CN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引用（ 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16736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中间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观点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观点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观点</a:t>
                      </a:r>
                      <a:r>
                        <a:rPr lang="en-US" altLang="zh-CN" sz="14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4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97829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结尾</a:t>
                      </a: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kern="1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（如何再次扣题）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220718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CBFB5C3-9BC8-C045-89E2-C29D5F15F10E}"/>
              </a:ext>
            </a:extLst>
          </p:cNvPr>
          <p:cNvSpPr txBox="1"/>
          <p:nvPr/>
        </p:nvSpPr>
        <p:spPr>
          <a:xfrm>
            <a:off x="3854369" y="4805378"/>
            <a:ext cx="646331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范文</a:t>
            </a: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B714C161-D15F-0148-97D1-A5143A6554A7}"/>
              </a:ext>
            </a:extLst>
          </p:cNvPr>
          <p:cNvCxnSpPr/>
          <p:nvPr/>
        </p:nvCxnSpPr>
        <p:spPr>
          <a:xfrm>
            <a:off x="4653023" y="4990044"/>
            <a:ext cx="9375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B255C25-A811-CB40-868E-A74C47122CF9}"/>
              </a:ext>
            </a:extLst>
          </p:cNvPr>
          <p:cNvSpPr txBox="1"/>
          <p:nvPr/>
        </p:nvSpPr>
        <p:spPr>
          <a:xfrm>
            <a:off x="5790955" y="3589960"/>
            <a:ext cx="40639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看每一篇范文都能自己「逆向」总结出其框架</a:t>
            </a:r>
          </a:p>
        </p:txBody>
      </p:sp>
    </p:spTree>
    <p:extLst>
      <p:ext uri="{BB962C8B-B14F-4D97-AF65-F5344CB8AC3E}">
        <p14:creationId xmlns:p14="http://schemas.microsoft.com/office/powerpoint/2010/main" val="4712023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写作纲领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8291593" y="3266630"/>
            <a:ext cx="3537550" cy="68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拆解实例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逆向框架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学习优秀作文：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学姐高中作文高分范例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189476-FABF-5845-8011-582CEC92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38" y="919424"/>
            <a:ext cx="8045255" cy="5528655"/>
          </a:xfrm>
          <a:prstGeom prst="rect">
            <a:avLst/>
          </a:prstGeom>
        </p:spPr>
      </p:pic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B7925214-C0CC-5E42-B967-C33A3D444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084512"/>
              </p:ext>
            </p:extLst>
          </p:nvPr>
        </p:nvGraphicFramePr>
        <p:xfrm>
          <a:off x="8291593" y="4131067"/>
          <a:ext cx="3537551" cy="2140712"/>
        </p:xfrm>
        <a:graphic>
          <a:graphicData uri="http://schemas.openxmlformats.org/drawingml/2006/table">
            <a:tbl>
              <a:tblPr firstRow="1" firstCol="1" bandRow="1"/>
              <a:tblGrid>
                <a:gridCol w="679751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404481">
                  <a:extLst>
                    <a:ext uri="{9D8B030D-6E8A-4147-A177-3AD203B41FA5}">
                      <a16:colId xmlns:a16="http://schemas.microsoft.com/office/drawing/2014/main" val="408053940"/>
                    </a:ext>
                  </a:extLst>
                </a:gridCol>
                <a:gridCol w="2453319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</a:tblGrid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标题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修身尽头是修心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主题：修身是青年人必经之路，在个人、他人、社会层面上都具有重要意义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26175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开头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修身的意义是为了心灵的修炼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16736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中间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修身能使青年人发现自己的价值</a:t>
                      </a:r>
                      <a:endParaRPr lang="en-US" altLang="zh-CN" sz="10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修身能使人与人之间的关系更加和睦</a:t>
                      </a:r>
                      <a:endParaRPr lang="en-US" altLang="zh-CN" sz="10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修身对于社会具有重要的意义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97829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结尾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再次扣题，精炼总结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220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2038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写作纲领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189476-FABF-5845-8011-582CEC92A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518" y="919424"/>
            <a:ext cx="7992895" cy="55286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31C5B9-63B9-5F4D-99E6-2750BFC609C6}"/>
              </a:ext>
            </a:extLst>
          </p:cNvPr>
          <p:cNvSpPr txBox="1"/>
          <p:nvPr/>
        </p:nvSpPr>
        <p:spPr>
          <a:xfrm>
            <a:off x="8291592" y="3520725"/>
            <a:ext cx="3768861" cy="326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题目：对比两个社会事件，对于“风景”进行写作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F881AD7-8507-734F-9814-89D38129D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913169"/>
              </p:ext>
            </p:extLst>
          </p:nvPr>
        </p:nvGraphicFramePr>
        <p:xfrm>
          <a:off x="8291593" y="3928937"/>
          <a:ext cx="3768862" cy="2369312"/>
        </p:xfrm>
        <a:graphic>
          <a:graphicData uri="http://schemas.openxmlformats.org/drawingml/2006/table">
            <a:tbl>
              <a:tblPr firstRow="1" firstCol="1" bandRow="1"/>
              <a:tblGrid>
                <a:gridCol w="409645">
                  <a:extLst>
                    <a:ext uri="{9D8B030D-6E8A-4147-A177-3AD203B41FA5}">
                      <a16:colId xmlns:a16="http://schemas.microsoft.com/office/drawing/2014/main" val="1461881595"/>
                    </a:ext>
                  </a:extLst>
                </a:gridCol>
                <a:gridCol w="745482">
                  <a:extLst>
                    <a:ext uri="{9D8B030D-6E8A-4147-A177-3AD203B41FA5}">
                      <a16:colId xmlns:a16="http://schemas.microsoft.com/office/drawing/2014/main" val="408053940"/>
                    </a:ext>
                  </a:extLst>
                </a:gridCol>
                <a:gridCol w="2613735">
                  <a:extLst>
                    <a:ext uri="{9D8B030D-6E8A-4147-A177-3AD203B41FA5}">
                      <a16:colId xmlns:a16="http://schemas.microsoft.com/office/drawing/2014/main" val="578789135"/>
                    </a:ext>
                  </a:extLst>
                </a:gridCol>
              </a:tblGrid>
              <a:tr h="420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标题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最美的风景是人，最丑的风景也是人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主题：用自己的努力赢来财富，才是最美的风景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26175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开头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对比“奶奶的勤劳朴实”和“宰客搜刮财富”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16736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中间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成为最美的风景，应当从自己做起</a:t>
                      </a:r>
                      <a:endParaRPr lang="en-US" altLang="zh-CN" sz="10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成为最美的风景，离不开规范制度的制约</a:t>
                      </a:r>
                      <a:endParaRPr lang="en-US" altLang="zh-CN" sz="1000" kern="100" dirty="0">
                        <a:solidFill>
                          <a:srgbClr val="223AAC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zh-CN" altLang="en-US" sz="1000" kern="100" dirty="0">
                          <a:solidFill>
                            <a:srgbClr val="223AAC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成为最美的风景，应当加强社会风气的建设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978299"/>
                  </a:ext>
                </a:extLst>
              </a:tr>
              <a:tr h="42030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结尾</a:t>
                      </a:r>
                      <a:endParaRPr lang="zh-CN" sz="1000" kern="100" dirty="0"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以正确的方式积累财富，才能成为最美的风景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22071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A36A321-1934-3A43-A1FE-1BA50F0703F7}"/>
              </a:ext>
            </a:extLst>
          </p:cNvPr>
          <p:cNvSpPr txBox="1"/>
          <p:nvPr/>
        </p:nvSpPr>
        <p:spPr>
          <a:xfrm>
            <a:off x="8291593" y="2855651"/>
            <a:ext cx="3537550" cy="688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拆解实例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逆向框架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学习优秀作文：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学姐高中作文高分范例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838858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72608" y="3428999"/>
            <a:ext cx="10697289" cy="312209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积累素材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积累填充中间段的素材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杂志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刊物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听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人文播客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观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优质节目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774157"/>
            <a:ext cx="4799551" cy="3596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听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观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）看：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社会热点</a:t>
            </a:r>
            <a:r>
              <a:rPr kumimoji="1" lang="en-US" altLang="zh-CN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传统文化</a:t>
            </a:r>
            <a:r>
              <a:rPr kumimoji="1" lang="en-US" altLang="zh-CN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人生感悟：</a:t>
            </a:r>
            <a:endParaRPr kumimoji="1" lang="en-US" altLang="zh-CN" sz="14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三联生活周刊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深度报道 和 人文关怀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南方周末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社会热点、文化思潮和公共话题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中国青年报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青年成长、社会变革和教育问题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人民日报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国家政策、社会热点、思想文化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80966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3F7CD8-25AD-AF4F-84AD-949D27AECE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53" t="15853" r="14956" b="14956"/>
          <a:stretch/>
        </p:blipFill>
        <p:spPr>
          <a:xfrm>
            <a:off x="5930861" y="656050"/>
            <a:ext cx="2353245" cy="3134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40B75B-A608-1943-9DD1-B936DB7ECE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655"/>
          <a:stretch/>
        </p:blipFill>
        <p:spPr>
          <a:xfrm>
            <a:off x="8424013" y="656050"/>
            <a:ext cx="2353245" cy="3134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236E86D-F2A6-514A-9137-58B796DF17D6}"/>
              </a:ext>
            </a:extLst>
          </p:cNvPr>
          <p:cNvCxnSpPr/>
          <p:nvPr/>
        </p:nvCxnSpPr>
        <p:spPr>
          <a:xfrm>
            <a:off x="5930861" y="5198389"/>
            <a:ext cx="9375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94FBFBB-8B1E-774C-A981-61A4EE0C91D9}"/>
              </a:ext>
            </a:extLst>
          </p:cNvPr>
          <p:cNvSpPr txBox="1"/>
          <p:nvPr/>
        </p:nvSpPr>
        <p:spPr>
          <a:xfrm>
            <a:off x="7613633" y="4700742"/>
            <a:ext cx="3428615" cy="1348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用于作文：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人物故事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（优秀人物、时代变迁）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社会现象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（城市发展、代际矛盾）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文化热点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（书籍、电影、科技趋势）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F81F37-23EE-A048-B3FA-373EDD06D87E}"/>
              </a:ext>
            </a:extLst>
          </p:cNvPr>
          <p:cNvSpPr/>
          <p:nvPr/>
        </p:nvSpPr>
        <p:spPr>
          <a:xfrm>
            <a:off x="7198135" y="480149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39722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72608" y="3428999"/>
            <a:ext cx="10697289" cy="312209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积累素材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积累填充中间段的素材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杂志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刊物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听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人文播客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观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优质节目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774157"/>
            <a:ext cx="4799551" cy="3919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听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观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）人文播客：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社会热点</a:t>
            </a:r>
            <a:r>
              <a:rPr kumimoji="1" lang="en-US" altLang="zh-CN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传统文化</a:t>
            </a:r>
            <a:r>
              <a:rPr kumimoji="1" lang="en-US" altLang="zh-CN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人生感悟：</a:t>
            </a:r>
            <a:endParaRPr kumimoji="1" lang="en-US" altLang="zh-CN" sz="14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人文清华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名师讲坛 和 文化思潮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忽左忽右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社会、历史、文化议题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看理想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风言风语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文学、哲学、艺术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红楼慢炖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诗词歌赋、文化世相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文化有限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诺奖名著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80966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3F7CD8-25AD-AF4F-84AD-949D27AECE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" r="12799" b="19666"/>
          <a:stretch/>
        </p:blipFill>
        <p:spPr>
          <a:xfrm>
            <a:off x="5930861" y="656050"/>
            <a:ext cx="2353244" cy="3134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40B75B-A608-1943-9DD1-B936DB7ECE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6179" y="656050"/>
            <a:ext cx="2188912" cy="3134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236E86D-F2A6-514A-9137-58B796DF17D6}"/>
              </a:ext>
            </a:extLst>
          </p:cNvPr>
          <p:cNvCxnSpPr/>
          <p:nvPr/>
        </p:nvCxnSpPr>
        <p:spPr>
          <a:xfrm>
            <a:off x="5930861" y="5198389"/>
            <a:ext cx="9375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94FBFBB-8B1E-774C-A981-61A4EE0C91D9}"/>
              </a:ext>
            </a:extLst>
          </p:cNvPr>
          <p:cNvSpPr txBox="1"/>
          <p:nvPr/>
        </p:nvSpPr>
        <p:spPr>
          <a:xfrm>
            <a:off x="7613633" y="4700742"/>
            <a:ext cx="3756264" cy="1011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用于作文：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社会现象、时代变迁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（如城市化、代际矛盾）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文化、哲学观点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（如人生意义、科技与人文）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F81F37-23EE-A048-B3FA-373EDD06D87E}"/>
              </a:ext>
            </a:extLst>
          </p:cNvPr>
          <p:cNvSpPr/>
          <p:nvPr/>
        </p:nvSpPr>
        <p:spPr>
          <a:xfrm>
            <a:off x="7198135" y="480149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33227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57618" y="3428999"/>
            <a:ext cx="10697289" cy="3122090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高分作文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积累素材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65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作文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积累填充中间段的素材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杂志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刊物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听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人文播客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观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优质节目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2774157"/>
            <a:ext cx="4799551" cy="3688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看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听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观</a:t>
            </a:r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）优质节目：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社会热点</a:t>
            </a:r>
            <a:r>
              <a:rPr kumimoji="1" lang="en-US" altLang="zh-CN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传统文化</a:t>
            </a:r>
            <a:r>
              <a:rPr kumimoji="1" lang="en-US" altLang="zh-CN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人生感悟：</a:t>
            </a:r>
            <a:endParaRPr kumimoji="1" lang="en-US" altLang="zh-CN" sz="14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朗读者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朗读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访谈、人文关怀与社会责任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中国诗词大会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文化传承、传统美学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见字如面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家国情怀、人物故事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一席</a:t>
            </a:r>
            <a:r>
              <a:rPr kumimoji="1" lang="en-US" altLang="zh-CN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》——</a:t>
            </a:r>
            <a:r>
              <a:rPr kumimoji="1" lang="zh-CN" altLang="en-US" sz="1400" u="sng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各领域嘉宾分享人生经历、知识洞见</a:t>
            </a:r>
            <a:endParaRPr kumimoji="1" lang="en-US" altLang="zh-CN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u="sng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80966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3F7CD8-25AD-AF4F-84AD-949D27AECE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2643" y="656050"/>
            <a:ext cx="2089681" cy="3134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40B75B-A608-1943-9DD1-B936DB7ECE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18169" y="656050"/>
            <a:ext cx="1764933" cy="3134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236E86D-F2A6-514A-9137-58B796DF17D6}"/>
              </a:ext>
            </a:extLst>
          </p:cNvPr>
          <p:cNvCxnSpPr/>
          <p:nvPr/>
        </p:nvCxnSpPr>
        <p:spPr>
          <a:xfrm>
            <a:off x="5930861" y="5198389"/>
            <a:ext cx="9375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94FBFBB-8B1E-774C-A981-61A4EE0C91D9}"/>
              </a:ext>
            </a:extLst>
          </p:cNvPr>
          <p:cNvSpPr txBox="1"/>
          <p:nvPr/>
        </p:nvSpPr>
        <p:spPr>
          <a:xfrm>
            <a:off x="7613633" y="4700742"/>
            <a:ext cx="3756264" cy="1011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用于作文：</a:t>
            </a: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成长与人生感悟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（如亲情、梦想、奋斗）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人文关怀与社会责任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（如时代变迁、文化传承）</a:t>
            </a:r>
            <a:endParaRPr kumimoji="1" lang="zh-CN" altLang="en-US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F81F37-23EE-A048-B3FA-373EDD06D87E}"/>
              </a:ext>
            </a:extLst>
          </p:cNvPr>
          <p:cNvSpPr/>
          <p:nvPr/>
        </p:nvSpPr>
        <p:spPr>
          <a:xfrm>
            <a:off x="7198135" y="480149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92091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Chapter-10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错题本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语文错题本怎么做？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303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三个方面分别积累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①按照题型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②按照记忆背诵内容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基础知识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默写篇目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按照作文积累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学姐语文错题本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详见附赠笔记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一共九个方面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*记录：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答题模版</a:t>
            </a:r>
            <a:r>
              <a:rPr kumimoji="1" lang="en-US" altLang="zh-CN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易错基础背诵部分</a:t>
            </a:r>
            <a:r>
              <a:rPr kumimoji="1" lang="en-US" altLang="zh-CN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作文积累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｜｜日积月累：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语文的分数需要</a:t>
            </a:r>
            <a:r>
              <a:rPr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全面模版</a:t>
            </a:r>
            <a:r>
              <a:rPr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】+【</a:t>
            </a:r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不断积累</a:t>
            </a:r>
            <a:r>
              <a:rPr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！！！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4AE5F1-C14E-0746-8138-723660CD2B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56055" y="1239973"/>
            <a:ext cx="3007338" cy="48997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02BFDFB-5C05-9841-AFAF-A90975C277C3}"/>
              </a:ext>
            </a:extLst>
          </p:cNvPr>
          <p:cNvSpPr txBox="1"/>
          <p:nvPr/>
        </p:nvSpPr>
        <p:spPr>
          <a:xfrm>
            <a:off x="10259111" y="154164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10259111" y="243766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A41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dirty="0">
              <a:solidFill>
                <a:srgbClr val="A41AD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673097-CD07-E449-B5D8-8B33FE993574}"/>
              </a:ext>
            </a:extLst>
          </p:cNvPr>
          <p:cNvSpPr/>
          <p:nvPr/>
        </p:nvSpPr>
        <p:spPr>
          <a:xfrm>
            <a:off x="7172283" y="2996278"/>
            <a:ext cx="2773181" cy="5388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379619-B78A-8748-81C5-D9F3A5F6A098}"/>
              </a:ext>
            </a:extLst>
          </p:cNvPr>
          <p:cNvSpPr/>
          <p:nvPr/>
        </p:nvSpPr>
        <p:spPr>
          <a:xfrm>
            <a:off x="7172283" y="2378074"/>
            <a:ext cx="2773181" cy="538831"/>
          </a:xfrm>
          <a:prstGeom prst="rect">
            <a:avLst/>
          </a:prstGeom>
          <a:noFill/>
          <a:ln w="28575">
            <a:solidFill>
              <a:srgbClr val="A41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8DABBA-4A5A-4C4A-977D-C55AD76E345A}"/>
              </a:ext>
            </a:extLst>
          </p:cNvPr>
          <p:cNvSpPr txBox="1"/>
          <p:nvPr/>
        </p:nvSpPr>
        <p:spPr>
          <a:xfrm>
            <a:off x="10259111" y="299627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1FEF68-13D2-CF42-9FCC-03B1B985DE12}"/>
              </a:ext>
            </a:extLst>
          </p:cNvPr>
          <p:cNvSpPr/>
          <p:nvPr/>
        </p:nvSpPr>
        <p:spPr>
          <a:xfrm>
            <a:off x="7172282" y="3982623"/>
            <a:ext cx="2773181" cy="538831"/>
          </a:xfrm>
          <a:prstGeom prst="rect">
            <a:avLst/>
          </a:prstGeom>
          <a:noFill/>
          <a:ln w="28575">
            <a:solidFill>
              <a:srgbClr val="A41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595B19-DAC9-6640-8851-D5EED2E711C5}"/>
              </a:ext>
            </a:extLst>
          </p:cNvPr>
          <p:cNvSpPr/>
          <p:nvPr/>
        </p:nvSpPr>
        <p:spPr>
          <a:xfrm>
            <a:off x="7172282" y="5598105"/>
            <a:ext cx="2773181" cy="5388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1CBAE9-C68D-0E42-A515-A84984BE892B}"/>
              </a:ext>
            </a:extLst>
          </p:cNvPr>
          <p:cNvSpPr txBox="1"/>
          <p:nvPr/>
        </p:nvSpPr>
        <p:spPr>
          <a:xfrm>
            <a:off x="234534" y="-89531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29528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Part1: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语文错题题型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先归纳题型类别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回答什么？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{e.g.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意象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表达技巧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思想内容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以：学姐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诗歌鉴赏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部分错题：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表达技巧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为例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①写出手法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②列出手法的具体形式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模版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：列出固定用语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炼字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解释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该字在句中含义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</a:t>
            </a: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展开联想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放入句中描述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景象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烘托了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】…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意境，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表达了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】…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感情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注重「固定」用语！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6228570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8570" y="901917"/>
            <a:ext cx="4355204" cy="5730531"/>
          </a:xfrm>
          <a:prstGeom prst="rect">
            <a:avLst/>
          </a:prstGeom>
          <a:ln>
            <a:solidFill>
              <a:srgbClr val="A41AD4"/>
            </a:solidFill>
          </a:ln>
        </p:spPr>
      </p:pic>
    </p:spTree>
    <p:extLst>
      <p:ext uri="{BB962C8B-B14F-4D97-AF65-F5344CB8AC3E}">
        <p14:creationId xmlns:p14="http://schemas.microsoft.com/office/powerpoint/2010/main" val="14175732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Part2: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语文易错积累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易错归纳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{e.g.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成语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病句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表达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以：学姐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成语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部分积累为例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①易错的成语并列写出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②对比「对象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使用场景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/…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」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③高亮易错部分！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“力透纸背”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对象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只能修饰书法、绘画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“拾人牙慧”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动词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窃取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对象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语言或文字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注重「对象」和「使用场合」！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6228570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8570" y="1033415"/>
            <a:ext cx="4355204" cy="5467535"/>
          </a:xfrm>
          <a:prstGeom prst="rect">
            <a:avLst/>
          </a:prstGeom>
          <a:ln>
            <a:solidFill>
              <a:srgbClr val="A41AD4"/>
            </a:solidFill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B75A3BD-A9BF-1F45-8348-7FC72074E97F}"/>
              </a:ext>
            </a:extLst>
          </p:cNvPr>
          <p:cNvSpPr/>
          <p:nvPr/>
        </p:nvSpPr>
        <p:spPr>
          <a:xfrm>
            <a:off x="6310489" y="3684900"/>
            <a:ext cx="2923822" cy="538831"/>
          </a:xfrm>
          <a:prstGeom prst="rect">
            <a:avLst/>
          </a:prstGeom>
          <a:noFill/>
          <a:ln w="19050">
            <a:solidFill>
              <a:srgbClr val="A41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478618-590A-3A47-BEE5-E5D271C85C2A}"/>
              </a:ext>
            </a:extLst>
          </p:cNvPr>
          <p:cNvSpPr/>
          <p:nvPr/>
        </p:nvSpPr>
        <p:spPr>
          <a:xfrm>
            <a:off x="6310489" y="5650918"/>
            <a:ext cx="2923822" cy="781806"/>
          </a:xfrm>
          <a:prstGeom prst="rect">
            <a:avLst/>
          </a:prstGeom>
          <a:noFill/>
          <a:ln w="19050">
            <a:solidFill>
              <a:srgbClr val="A41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11103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Part3: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语文作文积累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）训练框架能力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利用真题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训练熟练框架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立刻反应素材能力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以：学姐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考试真题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作文为例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①写出三个可能的立意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主题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②分别填充框架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③在每一个框架之后构思适合的素材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“我与新时代”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立意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过去未来现在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传承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变革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展开框架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列出分论点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不断递进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如：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了解时代，跟上脚步</a:t>
            </a:r>
            <a:r>
              <a:rPr kumimoji="1" lang="en-US" altLang="zh-CN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立足新时代，做时代所需之事</a:t>
            </a:r>
            <a:r>
              <a:rPr kumimoji="1" lang="en-US" altLang="zh-CN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</a:p>
          <a:p>
            <a:r>
              <a:rPr kumimoji="1" lang="zh-CN" altLang="en-US" sz="1400" b="1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引领新时代，发挥最大价值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6228570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9911" y="1549092"/>
            <a:ext cx="5739859" cy="3889729"/>
          </a:xfrm>
          <a:prstGeom prst="rect">
            <a:avLst/>
          </a:prstGeom>
          <a:ln>
            <a:solidFill>
              <a:srgbClr val="A41AD4"/>
            </a:solidFill>
          </a:ln>
        </p:spPr>
      </p:pic>
    </p:spTree>
    <p:extLst>
      <p:ext uri="{BB962C8B-B14F-4D97-AF65-F5344CB8AC3E}">
        <p14:creationId xmlns:p14="http://schemas.microsoft.com/office/powerpoint/2010/main" val="432043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Part3: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语文作文积累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）根据话题积累素材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利用播客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刊物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节目等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内容总结为自己能使用的：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人物故事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叙述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名人名言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以：学姐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素材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为例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①写出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主题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②写出相关名人名言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③写出相关事件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例子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“民生”</a:t>
            </a:r>
            <a:endParaRPr kumimoji="1" lang="en-US" altLang="zh-CN" sz="14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名人名言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丘吉尔语录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历史故事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西周“共和元年”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6228570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4732" y="1055807"/>
            <a:ext cx="4696496" cy="5681839"/>
          </a:xfrm>
          <a:prstGeom prst="rect">
            <a:avLst/>
          </a:prstGeom>
          <a:ln>
            <a:solidFill>
              <a:srgbClr val="A41AD4"/>
            </a:solidFill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525E9ED-CDD6-224E-A029-74D4E2786868}"/>
              </a:ext>
            </a:extLst>
          </p:cNvPr>
          <p:cNvSpPr/>
          <p:nvPr/>
        </p:nvSpPr>
        <p:spPr>
          <a:xfrm>
            <a:off x="6228570" y="3506643"/>
            <a:ext cx="4332106" cy="394798"/>
          </a:xfrm>
          <a:prstGeom prst="rect">
            <a:avLst/>
          </a:prstGeom>
          <a:noFill/>
          <a:ln w="19050">
            <a:solidFill>
              <a:srgbClr val="A41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841152-E5BB-BA46-AE25-911AB3156AB3}"/>
              </a:ext>
            </a:extLst>
          </p:cNvPr>
          <p:cNvSpPr/>
          <p:nvPr/>
        </p:nvSpPr>
        <p:spPr>
          <a:xfrm>
            <a:off x="6228570" y="4424626"/>
            <a:ext cx="4332106" cy="394798"/>
          </a:xfrm>
          <a:prstGeom prst="rect">
            <a:avLst/>
          </a:prstGeom>
          <a:noFill/>
          <a:ln w="19050">
            <a:solidFill>
              <a:srgbClr val="A41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622314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Chapter-11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总结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语文的分数是「抢」来的，记忆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善于答题才能踩中得分关键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高考裸分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689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，语文多次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125+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，作文多次上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54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B71FF2-C302-6B4B-AF9D-9226A572F805}"/>
              </a:ext>
            </a:extLst>
          </p:cNvPr>
          <p:cNvSpPr txBox="1"/>
          <p:nvPr/>
        </p:nvSpPr>
        <p:spPr>
          <a:xfrm>
            <a:off x="1029994" y="2169137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清华本硕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高考四川省前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物理满分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58F83F-8A07-FE4A-B8B2-A38BA9F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8" b="11438"/>
          <a:stretch/>
        </p:blipFill>
        <p:spPr>
          <a:xfrm>
            <a:off x="8764171" y="1735282"/>
            <a:ext cx="2813333" cy="43999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A2E667D-F69D-FC4A-B398-F591C4958312}"/>
              </a:ext>
            </a:extLst>
          </p:cNvPr>
          <p:cNvSpPr/>
          <p:nvPr/>
        </p:nvSpPr>
        <p:spPr>
          <a:xfrm>
            <a:off x="9045526" y="5037475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73179E-710F-2744-AE28-66102F6B7763}"/>
              </a:ext>
            </a:extLst>
          </p:cNvPr>
          <p:cNvSpPr/>
          <p:nvPr/>
        </p:nvSpPr>
        <p:spPr>
          <a:xfrm>
            <a:off x="1029994" y="3060148"/>
            <a:ext cx="4427223" cy="1137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62121B-E71F-164E-AB7F-D2ED96C904AA}"/>
              </a:ext>
            </a:extLst>
          </p:cNvPr>
          <p:cNvSpPr/>
          <p:nvPr/>
        </p:nvSpPr>
        <p:spPr>
          <a:xfrm>
            <a:off x="1029994" y="4746052"/>
            <a:ext cx="4427223" cy="64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215806-7293-0744-A6B0-0E868DAAA474}"/>
              </a:ext>
            </a:extLst>
          </p:cNvPr>
          <p:cNvSpPr txBox="1"/>
          <p:nvPr/>
        </p:nvSpPr>
        <p:spPr>
          <a:xfrm>
            <a:off x="1029994" y="2713079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语文要掌握什么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60726E-BBA5-E84D-B945-C137CBD6137E}"/>
              </a:ext>
            </a:extLst>
          </p:cNvPr>
          <p:cNvSpPr txBox="1"/>
          <p:nvPr/>
        </p:nvSpPr>
        <p:spPr>
          <a:xfrm>
            <a:off x="949657" y="5558458"/>
            <a:ext cx="873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可以看出：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（语文的理解性记忆</a:t>
            </a:r>
            <a:r>
              <a: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模版训练）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是我们学习的重点，需要注意语文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学什么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考什么</a:t>
            </a:r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想像优优学姐一样拥有好成绩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「熟练背诵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积累模版」才能百战百胜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1A509C-079E-2746-B3B6-0336A5BDFC25}"/>
              </a:ext>
            </a:extLst>
          </p:cNvPr>
          <p:cNvSpPr txBox="1"/>
          <p:nvPr/>
        </p:nvSpPr>
        <p:spPr>
          <a:xfrm>
            <a:off x="1029994" y="4398983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 语文怎么学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EA3C46-DF57-9E45-AAD0-A6DAAD32EC14}"/>
              </a:ext>
            </a:extLst>
          </p:cNvPr>
          <p:cNvSpPr txBox="1"/>
          <p:nvPr/>
        </p:nvSpPr>
        <p:spPr>
          <a:xfrm>
            <a:off x="2583531" y="3115391"/>
            <a:ext cx="13237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理解性记忆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答题模版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写作表达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文学常识积累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课内知识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典型模版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结合题目精进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42A6F2-992D-284E-8F18-F87EDEA91C75}"/>
              </a:ext>
            </a:extLst>
          </p:cNvPr>
          <p:cNvSpPr txBox="1"/>
          <p:nvPr/>
        </p:nvSpPr>
        <p:spPr>
          <a:xfrm>
            <a:off x="8764171" y="6269985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清华学姐高考成绩查询页面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希望你也能收到这样的喜讯！</a:t>
            </a:r>
          </a:p>
        </p:txBody>
      </p:sp>
      <p:pic>
        <p:nvPicPr>
          <p:cNvPr id="21" name="图片 20" descr="图片包含 草, 人, 户外, 女孩&#10;&#10;描述已自动生成">
            <a:extLst>
              <a:ext uri="{FF2B5EF4-FFF2-40B4-BE49-F238E27FC236}">
                <a16:creationId xmlns:a16="http://schemas.microsoft.com/office/drawing/2014/main" id="{E3386503-24EF-5F4B-9853-9E2C0137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15" y="1903926"/>
            <a:ext cx="2608122" cy="34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757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RkMDVjMzAzNmQ3MmQ0M2VhODM2ZTcyYjc4Y2UwN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18348</TotalTime>
  <Words>28837</Words>
  <Application>Microsoft Macintosh PowerPoint</Application>
  <PresentationFormat>宽屏</PresentationFormat>
  <Paragraphs>1828</Paragraphs>
  <Slides>97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97</vt:i4>
      </vt:variant>
    </vt:vector>
  </HeadingPairs>
  <TitlesOfParts>
    <vt:vector size="104" baseType="lpstr">
      <vt:lpstr>等线</vt:lpstr>
      <vt:lpstr>等线 Light</vt:lpstr>
      <vt:lpstr>KaiTi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yufei zhang</dc:creator>
  <cp:lastModifiedBy>charlotte wu</cp:lastModifiedBy>
  <cp:revision>213</cp:revision>
  <dcterms:created xsi:type="dcterms:W3CDTF">2024-01-01T22:59:00Z</dcterms:created>
  <dcterms:modified xsi:type="dcterms:W3CDTF">2025-03-14T05:48:03Z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0AB5E3226DEF47F5B09FD4CBAD1E6851_12</vt:lpwstr>
  </property>
  <property fmtid="{D5CDD505-2E9C-101B-9397-08002B2CF9AE}" pid="3" name="KSOProductBuildVer">
    <vt:lpwstr>2052-12.1.0.16388</vt:lpwstr>
  </property>
</Properties>
</file>