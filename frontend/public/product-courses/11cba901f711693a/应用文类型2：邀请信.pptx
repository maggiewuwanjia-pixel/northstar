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sldIdLst>
    <p:sldId id="269"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7"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tags" Target="tags/tag1.xml" /><Relationship Id="rId17" Type="http://schemas.openxmlformats.org/officeDocument/2006/relationships/presProps" Target="presProps.xml" /><Relationship Id="rId18" Type="http://schemas.openxmlformats.org/officeDocument/2006/relationships/viewProps" Target="viewProps.xml" /><Relationship Id="rId19" Type="http://schemas.openxmlformats.org/officeDocument/2006/relationships/theme" Target="theme/theme1.xml" /><Relationship Id="rId2" Type="http://schemas.openxmlformats.org/officeDocument/2006/relationships/notesMaster" Target="notesMasters/notesMaster1.xml" /><Relationship Id="rId20" Type="http://schemas.openxmlformats.org/officeDocument/2006/relationships/tableStyles" Target="tableStyles.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file:///D:\qq&#25991;&#20214;\712321467\Image\C2C\Image2\%7b75232B38-A165-1FB7-499C-2E1C792CACB5%7d.png" TargetMode="External" /><Relationship Id="rId3" Type="http://schemas.openxmlformats.org/officeDocument/2006/relationships/image" Target="../media/image1.png" /><Relationship Id="rId4" Type="http://schemas.openxmlformats.org/officeDocument/2006/relationships/image" Target="../media/image2.jpeg" /><Relationship Id="rId5"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p:bg>
      <p:bgPr>
        <a:blipFill rotWithShape="0">
          <a:blip r:embed="rId4"/>
          <a:stretch>
            <a:fillRect/>
          </a:stretch>
        </a:blipFill>
        <a:effectLst/>
      </p:bgPr>
    </p:bg>
    <p:spTree>
      <p:nvGrpSpPr>
        <p:cNvPr id="1" name=""/>
        <p:cNvGrpSpPr/>
        <p:nvPr/>
      </p:nvGrpSpPr>
      <p:grpSpPr>
        <a:xfrm>
          <a:off x="0" y="0"/>
          <a:ext cx="0" cy="0"/>
        </a:xfrm>
      </p:grpSpPr>
      <p:pic>
        <p:nvPicPr>
          <p:cNvPr id="2" name="图片 1073743875" descr="学科网 zxxk.com" title=""/>
          <p:cNvPicPr>
            <a:picLocks noChangeAspect="1"/>
          </p:cNvPicPr>
          <p:nvPr/>
        </p:nvPicPr>
        <p:blipFill>
          <a:blip r:embed="rId3" r:link="rId2"/>
          <a:stretch>
            <a:fillRect/>
          </a:stretch>
        </p:blipFill>
        <p:spPr>
          <a:xfrm>
            <a:off x="838200" y="365125"/>
            <a:ext cx="9525" cy="9525"/>
          </a:xfrm>
          <a:prstGeom prst="rect">
            <a:avLst/>
          </a:prstGeom>
          <a:noFill/>
          <a:ln>
            <a:noFill/>
            <a:miter lim="800000"/>
          </a:ln>
        </p:spPr>
      </p:pic>
    </p:spTree>
  </p:cSld>
  <p:clrMap bg1="lt1" tx1="dk1" bg2="lt2" tx2="dk2" accent1="accent1" accent2="accent2" accent3="accent3" accent4="accent4" accent5="accent5" accent6="accent6" hlink="hlink" folHlink="folHlink"/>
  <p:sldLayoutIdLst>
    <p:sldLayoutId id="2147483649" r:id="rId1"/>
  </p:sldLayoutIdLst>
  <p:transition/>
  <p:timing/>
  <p:txStyles>
    <p:titleStyle>
      <a:lvl1pPr algn="l" rtl="0" eaLnBrk="0" fontAlgn="base" hangingPunct="0">
        <a:lnSpc>
          <a:spcPct val="90000"/>
        </a:lnSpc>
        <a:spcBef>
          <a:spcPct val="0"/>
        </a:spcBef>
        <a:spcAft>
          <a:spcPct val="0"/>
        </a:spcAft>
        <a:defRPr sz="4395">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7pPr>
      <a:lvl8pPr marL="1370965"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8pPr>
      <a:lvl9pPr marL="1828165"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9pPr>
    </p:titleStyle>
    <p:bodyStyle>
      <a:lvl1pPr marL="228600" indent="-228600" algn="l" rtl="0" eaLnBrk="0" fontAlgn="base" hangingPunct="0">
        <a:lnSpc>
          <a:spcPct val="90000"/>
        </a:lnSpc>
        <a:spcBef>
          <a:spcPct val="198000"/>
        </a:spcBef>
        <a:spcAft>
          <a:spcPct val="0"/>
        </a:spcAft>
        <a:buFont typeface="Arial" panose="020b0604020202020204" pitchFamily="34" charset="0"/>
        <a:buChar char="•"/>
        <a:defRPr sz="2840">
          <a:solidFill>
            <a:schemeClr val="tx1"/>
          </a:solidFill>
          <a:latin typeface="+mn-lt"/>
          <a:ea typeface="+mn-ea"/>
          <a:cs typeface="+mn-cs"/>
        </a:defRPr>
      </a:lvl1pPr>
      <a:lvl2pPr marL="685165" indent="-228600" algn="l" rtl="0" eaLnBrk="0" fontAlgn="base" hangingPunct="0">
        <a:lnSpc>
          <a:spcPct val="90000"/>
        </a:lnSpc>
        <a:spcBef>
          <a:spcPct val="100000"/>
        </a:spcBef>
        <a:spcAft>
          <a:spcPct val="0"/>
        </a:spcAft>
        <a:buFont typeface="Arial" panose="020b0604020202020204" pitchFamily="34" charset="0"/>
        <a:buChar char="•"/>
        <a:defRPr sz="2380">
          <a:solidFill>
            <a:schemeClr val="tx1"/>
          </a:solidFill>
          <a:latin typeface="+mn-lt"/>
          <a:ea typeface="+mn-ea"/>
        </a:defRPr>
      </a:lvl2pPr>
      <a:lvl3pPr marL="1144270" indent="-229870" algn="l" rtl="0" eaLnBrk="0" fontAlgn="base" hangingPunct="0">
        <a:lnSpc>
          <a:spcPct val="90000"/>
        </a:lnSpc>
        <a:spcBef>
          <a:spcPct val="100000"/>
        </a:spcBef>
        <a:spcAft>
          <a:spcPct val="0"/>
        </a:spcAft>
        <a:buFont typeface="Arial" panose="020b0604020202020204" pitchFamily="34" charset="0"/>
        <a:buChar char="•"/>
        <a:defRPr sz="2105">
          <a:solidFill>
            <a:schemeClr val="tx1"/>
          </a:solidFill>
          <a:latin typeface="+mn-lt"/>
          <a:ea typeface="+mn-ea"/>
        </a:defRPr>
      </a:lvl3pPr>
      <a:lvl4pPr marL="1598930" indent="-228600" algn="l" rtl="0" eaLnBrk="0" fontAlgn="base" hangingPunct="0">
        <a:lnSpc>
          <a:spcPct val="90000"/>
        </a:lnSpc>
        <a:spcBef>
          <a:spcPct val="100000"/>
        </a:spcBef>
        <a:spcAft>
          <a:spcPct val="0"/>
        </a:spcAft>
        <a:buFont typeface="Arial" panose="020b0604020202020204" pitchFamily="34" charset="0"/>
        <a:buChar char="•"/>
        <a:defRPr>
          <a:solidFill>
            <a:schemeClr val="tx1"/>
          </a:solidFill>
          <a:latin typeface="+mn-lt"/>
          <a:ea typeface="+mn-ea"/>
        </a:defRPr>
      </a:lvl4pPr>
      <a:lvl5pPr marL="2056130" indent="-229870" algn="l" rtl="0" eaLnBrk="0" fontAlgn="base" hangingPunct="0">
        <a:lnSpc>
          <a:spcPct val="90000"/>
        </a:lnSpc>
        <a:spcBef>
          <a:spcPct val="100000"/>
        </a:spcBef>
        <a:spcAft>
          <a:spcPct val="0"/>
        </a:spcAft>
        <a:buFont typeface="Arial" panose="020b0604020202020204" pitchFamily="34" charset="0"/>
        <a:buChar char="•"/>
        <a:defRPr>
          <a:solidFill>
            <a:schemeClr val="tx1"/>
          </a:solidFill>
          <a:latin typeface="+mn-lt"/>
          <a:ea typeface="+mn-ea"/>
        </a:defRPr>
      </a:lvl5pPr>
      <a:lvl6pPr marL="2512695"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6pPr>
      <a:lvl7pPr marL="2970530"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7pPr>
      <a:lvl8pPr marL="3427095"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8pPr>
      <a:lvl9pPr marL="3883660"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3765" rtl="0" eaLnBrk="1" latinLnBrk="0" hangingPunct="1">
        <a:defRPr sz="1830" kern="1200">
          <a:solidFill>
            <a:schemeClr val="tx1"/>
          </a:solidFill>
          <a:latin typeface="+mn-lt"/>
          <a:ea typeface="+mn-ea"/>
          <a:cs typeface="+mn-cs"/>
        </a:defRPr>
      </a:lvl1pPr>
      <a:lvl2pPr marL="456565" algn="l" defTabSz="913765" rtl="0" eaLnBrk="1" latinLnBrk="0" hangingPunct="1">
        <a:defRPr sz="1830" kern="1200">
          <a:solidFill>
            <a:schemeClr val="tx1"/>
          </a:solidFill>
          <a:latin typeface="+mn-lt"/>
          <a:ea typeface="+mn-ea"/>
          <a:cs typeface="+mn-cs"/>
        </a:defRPr>
      </a:lvl2pPr>
      <a:lvl3pPr marL="913765" algn="l" defTabSz="913765" rtl="0" eaLnBrk="1" latinLnBrk="0" hangingPunct="1">
        <a:defRPr sz="1830" kern="1200">
          <a:solidFill>
            <a:schemeClr val="tx1"/>
          </a:solidFill>
          <a:latin typeface="+mn-lt"/>
          <a:ea typeface="+mn-ea"/>
          <a:cs typeface="+mn-cs"/>
        </a:defRPr>
      </a:lvl3pPr>
      <a:lvl4pPr marL="1370330" algn="l" defTabSz="913765" rtl="0" eaLnBrk="1" latinLnBrk="0" hangingPunct="1">
        <a:defRPr sz="1830" kern="1200">
          <a:solidFill>
            <a:schemeClr val="tx1"/>
          </a:solidFill>
          <a:latin typeface="+mn-lt"/>
          <a:ea typeface="+mn-ea"/>
          <a:cs typeface="+mn-cs"/>
        </a:defRPr>
      </a:lvl4pPr>
      <a:lvl5pPr marL="1827530" algn="l" defTabSz="913765" rtl="0" eaLnBrk="1" latinLnBrk="0" hangingPunct="1">
        <a:defRPr sz="1830" kern="1200">
          <a:solidFill>
            <a:schemeClr val="tx1"/>
          </a:solidFill>
          <a:latin typeface="+mn-lt"/>
          <a:ea typeface="+mn-ea"/>
          <a:cs typeface="+mn-cs"/>
        </a:defRPr>
      </a:lvl5pPr>
      <a:lvl6pPr marL="2284095" algn="l" defTabSz="913765" rtl="0" eaLnBrk="1" latinLnBrk="0" hangingPunct="1">
        <a:defRPr sz="1830" kern="1200">
          <a:solidFill>
            <a:schemeClr val="tx1"/>
          </a:solidFill>
          <a:latin typeface="+mn-lt"/>
          <a:ea typeface="+mn-ea"/>
          <a:cs typeface="+mn-cs"/>
        </a:defRPr>
      </a:lvl6pPr>
      <a:lvl7pPr marL="2741295" algn="l" defTabSz="913765" rtl="0" eaLnBrk="1" latinLnBrk="0" hangingPunct="1">
        <a:defRPr sz="1830" kern="1200">
          <a:solidFill>
            <a:schemeClr val="tx1"/>
          </a:solidFill>
          <a:latin typeface="+mn-lt"/>
          <a:ea typeface="+mn-ea"/>
          <a:cs typeface="+mn-cs"/>
        </a:defRPr>
      </a:lvl7pPr>
      <a:lvl8pPr marL="3198495" algn="l" defTabSz="913765" rtl="0" eaLnBrk="1" latinLnBrk="0" hangingPunct="1">
        <a:defRPr sz="1830" kern="1200">
          <a:solidFill>
            <a:schemeClr val="tx1"/>
          </a:solidFill>
          <a:latin typeface="+mn-lt"/>
          <a:ea typeface="+mn-ea"/>
          <a:cs typeface="+mn-cs"/>
        </a:defRPr>
      </a:lvl8pPr>
      <a:lvl9pPr marL="3655060" algn="l" defTabSz="913765" rtl="0" eaLnBrk="1" latinLnBrk="0" hangingPunct="1">
        <a:defRPr sz="183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 Id="rId3" Type="http://schemas.openxmlformats.org/officeDocument/2006/relationships/image" Target="../media/image3.jpe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0.xml" /><Relationship Id="rId3" Type="http://schemas.openxmlformats.org/officeDocument/2006/relationships/image" Target="../media/image4.pn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2" name="TextBox 1" title=""/>
          <p:cNvSpPr txBox="1"/>
          <p:nvPr/>
        </p:nvSpPr>
        <p:spPr>
          <a:xfrm>
            <a:off x="255757" y="2312204"/>
            <a:ext cx="11701662" cy="1014730"/>
          </a:xfrm>
          <a:prstGeom prst="rect">
            <a:avLst/>
          </a:prstGeom>
          <a:noFill/>
        </p:spPr>
        <p:txBody>
          <a:bodyPr wrap="square" rtlCol="0">
            <a:spAutoFit/>
          </a:bodyPr>
          <a:lstStyle/>
          <a:p>
            <a:pPr algn="ctr">
              <a:lnSpc>
                <a:spcPct val="150000"/>
              </a:lnSpc>
              <a:spcAft>
                <a:spcPct val="0"/>
              </a:spcAft>
            </a:pPr>
            <a:r>
              <a:rPr lang="zh-CN" altLang="zh-CN" sz="4000" kern="100">
                <a:latin typeface="Times New Roman" panose="02020603050405020304" pitchFamily="18" charset="0"/>
                <a:ea typeface="宋体" panose="02010600030101010101" pitchFamily="2" charset="-122"/>
              </a:rPr>
              <a:t>邀请信</a:t>
            </a:r>
            <a:endParaRPr lang="zh-CN" altLang="zh-CN" sz="40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3553460"/>
          </a:xfrm>
          <a:prstGeom prst="rect">
            <a:avLst/>
          </a:prstGeom>
          <a:noFill/>
        </p:spPr>
        <p:txBody>
          <a:bodyPr wrap="square" rtlCol="0">
            <a:spAutoFit/>
          </a:bodyPr>
          <a:lstStyle/>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【真题再现】</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假定你是李华</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你校将举办外国人汉语演讲比赛。请给你的英国朋友</a:t>
            </a:r>
            <a:r>
              <a:rPr lang="en-US" altLang="zh-CN" sz="2500" kern="100">
                <a:latin typeface="Times New Roman" panose="02020603050405020304" pitchFamily="18" charset="0"/>
                <a:ea typeface="宋体" panose="02010600030101010101" pitchFamily="2" charset="-122"/>
              </a:rPr>
              <a:t>George</a:t>
            </a:r>
            <a:r>
              <a:rPr lang="zh-CN" altLang="zh-CN" sz="2500" kern="100">
                <a:latin typeface="Times New Roman" panose="02020603050405020304" pitchFamily="18" charset="0"/>
                <a:ea typeface="宋体" panose="02010600030101010101" pitchFamily="2" charset="-122"/>
              </a:rPr>
              <a:t>写一封信邀请他参加</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内容包括</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比赛时间和地点</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演讲主题</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3. </a:t>
            </a:r>
            <a:r>
              <a:rPr lang="zh-CN" altLang="zh-CN" sz="2500" kern="100">
                <a:latin typeface="Times New Roman" panose="02020603050405020304" pitchFamily="18" charset="0"/>
                <a:ea typeface="宋体" panose="02010600030101010101" pitchFamily="2" charset="-122"/>
              </a:rPr>
              <a:t>报名方式。</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66802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1</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审题布局</a:t>
            </a:r>
            <a:endParaRPr lang="zh-CN" altLang="zh-CN" sz="2500" kern="100">
              <a:latin typeface="Times New Roman" panose="02020603050405020304" pitchFamily="18" charset="0"/>
              <a:ea typeface="宋体" panose="02010600030101010101" pitchFamily="2" charset="-122"/>
            </a:endParaRPr>
          </a:p>
        </p:txBody>
      </p:sp>
      <p:graphicFrame>
        <p:nvGraphicFramePr>
          <p:cNvPr id="4" name="表格 3" title=""/>
          <p:cNvGraphicFramePr>
            <a:graphicFrameLocks noGrp="1"/>
          </p:cNvGraphicFramePr>
          <p:nvPr/>
        </p:nvGraphicFramePr>
        <p:xfrm>
          <a:off x="942950" y="1615914"/>
          <a:ext cx="10389870" cy="3154045"/>
        </p:xfrm>
        <a:graphic>
          <a:graphicData uri="http://schemas.openxmlformats.org/drawingml/2006/table">
            <a:tbl>
              <a:tblPr firstRow="1" firstCol="1" bandRow="1"/>
              <a:tblGrid>
                <a:gridCol w="1210310"/>
                <a:gridCol w="9179560"/>
              </a:tblGrid>
              <a:tr h="59880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人称</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zh-CN" sz="2500" kern="100">
                          <a:effectLst/>
                          <a:latin typeface="Times New Roman" panose="02020603050405020304" pitchFamily="18" charset="0"/>
                          <a:ea typeface="宋体" panose="02010600030101010101" pitchFamily="2" charset="-122"/>
                        </a:rPr>
                        <a:t>第一人称</a:t>
                      </a:r>
                      <a:r>
                        <a:rPr lang="en-US" sz="2500" kern="100">
                          <a:effectLst/>
                          <a:latin typeface="Times New Roman" panose="02020603050405020304" pitchFamily="18" charset="0"/>
                          <a:ea typeface="宋体" panose="02010600030101010101" pitchFamily="2" charset="-122"/>
                        </a:rPr>
                        <a:t>(I)</a:t>
                      </a:r>
                      <a:r>
                        <a:rPr lang="zh-CN" sz="2500" kern="100">
                          <a:effectLst/>
                          <a:latin typeface="Times New Roman" panose="02020603050405020304" pitchFamily="18" charset="0"/>
                          <a:ea typeface="宋体" panose="02010600030101010101" pitchFamily="2" charset="-122"/>
                        </a:rPr>
                        <a:t>为主</a:t>
                      </a:r>
                      <a:r>
                        <a:rPr lang="en-US" sz="2500" kern="100">
                          <a:effectLst/>
                          <a:latin typeface="Times New Roman" panose="02020603050405020304" pitchFamily="18" charset="0"/>
                          <a:ea typeface="宋体" panose="02010600030101010101" pitchFamily="2" charset="-122"/>
                        </a:rPr>
                        <a:t>, </a:t>
                      </a:r>
                      <a:r>
                        <a:rPr lang="zh-CN" sz="2500" kern="100">
                          <a:effectLst/>
                          <a:latin typeface="Times New Roman" panose="02020603050405020304" pitchFamily="18" charset="0"/>
                          <a:ea typeface="宋体" panose="02010600030101010101" pitchFamily="2" charset="-122"/>
                        </a:rPr>
                        <a:t>第二人称</a:t>
                      </a:r>
                      <a:r>
                        <a:rPr lang="en-US" sz="2500" kern="100">
                          <a:effectLst/>
                          <a:latin typeface="Times New Roman" panose="02020603050405020304" pitchFamily="18" charset="0"/>
                          <a:ea typeface="宋体" panose="02010600030101010101" pitchFamily="2" charset="-122"/>
                        </a:rPr>
                        <a:t>(you)</a:t>
                      </a:r>
                      <a:r>
                        <a:rPr lang="zh-CN" sz="2500" kern="100">
                          <a:effectLst/>
                          <a:latin typeface="Times New Roman" panose="02020603050405020304" pitchFamily="18" charset="0"/>
                          <a:ea typeface="宋体" panose="02010600030101010101" pitchFamily="2" charset="-122"/>
                        </a:rPr>
                        <a:t>为辅</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880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时态</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zh-CN" sz="2500" kern="100">
                          <a:effectLst/>
                          <a:latin typeface="Times New Roman" panose="02020603050405020304" pitchFamily="18" charset="0"/>
                          <a:ea typeface="宋体" panose="02010600030101010101" pitchFamily="2" charset="-122"/>
                        </a:rPr>
                        <a:t>一般现在时</a:t>
                      </a:r>
                      <a:r>
                        <a:rPr lang="en-US" sz="2500" kern="100">
                          <a:effectLst/>
                          <a:latin typeface="Times New Roman" panose="02020603050405020304" pitchFamily="18" charset="0"/>
                          <a:ea typeface="宋体" panose="02010600030101010101" pitchFamily="2" charset="-122"/>
                        </a:rPr>
                        <a:t>, </a:t>
                      </a:r>
                      <a:r>
                        <a:rPr lang="zh-CN" sz="2500" kern="100">
                          <a:effectLst/>
                          <a:latin typeface="Times New Roman" panose="02020603050405020304" pitchFamily="18" charset="0"/>
                          <a:ea typeface="宋体" panose="02010600030101010101" pitchFamily="2" charset="-122"/>
                        </a:rPr>
                        <a:t>一般将来时</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5643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要点</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1. </a:t>
                      </a:r>
                      <a:r>
                        <a:rPr lang="zh-CN" sz="2500" kern="100">
                          <a:effectLst/>
                          <a:latin typeface="Times New Roman" panose="02020603050405020304" pitchFamily="18" charset="0"/>
                          <a:ea typeface="宋体" panose="02010600030101010101" pitchFamily="2" charset="-122"/>
                        </a:rPr>
                        <a:t>点明写信目的、比赛时间和地点</a:t>
                      </a:r>
                      <a:endParaRPr lang="zh-CN" sz="2500" kern="100">
                        <a:effectLst/>
                        <a:latin typeface="Times New Roman" panose="02020603050405020304" pitchFamily="18" charset="0"/>
                        <a:ea typeface="宋体" panose="02010600030101010101" pitchFamily="2" charset="-122"/>
                      </a:endParaRPr>
                    </a:p>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2. </a:t>
                      </a:r>
                      <a:r>
                        <a:rPr lang="zh-CN" sz="2500" kern="100">
                          <a:effectLst/>
                          <a:latin typeface="Times New Roman" panose="02020603050405020304" pitchFamily="18" charset="0"/>
                          <a:ea typeface="宋体" panose="02010600030101010101" pitchFamily="2" charset="-122"/>
                        </a:rPr>
                        <a:t>此次活动的主题并邀请他参加此次活动</a:t>
                      </a:r>
                      <a:endParaRPr lang="zh-CN" sz="2500" kern="100">
                        <a:effectLst/>
                        <a:latin typeface="Times New Roman" panose="02020603050405020304" pitchFamily="18" charset="0"/>
                        <a:ea typeface="宋体" panose="02010600030101010101" pitchFamily="2" charset="-122"/>
                      </a:endParaRPr>
                    </a:p>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3. </a:t>
                      </a:r>
                      <a:r>
                        <a:rPr lang="zh-CN" sz="2500" kern="100">
                          <a:effectLst/>
                          <a:latin typeface="Times New Roman" panose="02020603050405020304" pitchFamily="18" charset="0"/>
                          <a:ea typeface="宋体" panose="02010600030101010101" pitchFamily="2" charset="-122"/>
                        </a:rPr>
                        <a:t>再一次真诚地邀请</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6" y="641470"/>
            <a:ext cx="12671541" cy="470789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2</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巧饰亮点</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要点</a:t>
            </a:r>
            <a:r>
              <a:rPr lang="en-US" altLang="zh-CN" sz="2500" b="1" kern="100">
                <a:solidFill>
                  <a:srgbClr val="0000FF"/>
                </a:solidFill>
                <a:latin typeface="Times New Roman" panose="02020603050405020304" pitchFamily="18" charset="0"/>
                <a:ea typeface="宋体" panose="02010600030101010101" pitchFamily="2" charset="-122"/>
              </a:rPr>
              <a:t>1</a:t>
            </a:r>
            <a:r>
              <a:rPr lang="en-US" altLang="zh-CN" sz="2500" kern="100">
                <a:solidFill>
                  <a:srgbClr val="0000FF"/>
                </a:solidFill>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很荣幸邀请你参加下周六在我校举办的外国人汉语演讲比赛。</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一般表达</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 am honored to invite you to take part in the Chinese Speech Contest for foreigners at </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my </a:t>
            </a:r>
            <a:r>
              <a:rPr lang="en-US" altLang="zh-CN" sz="2500" kern="100">
                <a:latin typeface="Times New Roman" panose="02020603050405020304" pitchFamily="18" charset="0"/>
                <a:ea typeface="宋体" panose="02010600030101010101" pitchFamily="2" charset="-122"/>
              </a:rPr>
              <a:t>school next Saturday.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词汇或句式升级</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高级词汇</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It is a great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a:t>
            </a:r>
            <a:r>
              <a:rPr lang="en-US" altLang="zh-CN" sz="2500" kern="100" smtClean="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for me to invite you to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a:t>
            </a:r>
            <a:r>
              <a:rPr lang="en-US" altLang="zh-CN" sz="2500" kern="100" smtClean="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in the Chinese Speech </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Contest for </a:t>
            </a:r>
            <a:r>
              <a:rPr lang="en-US" altLang="zh-CN" sz="2500" kern="100">
                <a:latin typeface="Times New Roman" panose="02020603050405020304" pitchFamily="18" charset="0"/>
                <a:ea typeface="宋体" panose="02010600030101010101" pitchFamily="2" charset="-122"/>
              </a:rPr>
              <a:t>foreigners at my school next Saturday. </a:t>
            </a:r>
            <a:endParaRPr lang="zh-CN" altLang="zh-CN" sz="2500" kern="100">
              <a:latin typeface="Times New Roman" panose="02020603050405020304" pitchFamily="18" charset="0"/>
              <a:ea typeface="宋体" panose="02010600030101010101" pitchFamily="2" charset="-122"/>
            </a:endParaRPr>
          </a:p>
        </p:txBody>
      </p:sp>
      <p:sp>
        <p:nvSpPr>
          <p:cNvPr id="3" name="TextBox 2" title=""/>
          <p:cNvSpPr txBox="1"/>
          <p:nvPr/>
        </p:nvSpPr>
        <p:spPr>
          <a:xfrm>
            <a:off x="1588524" y="4196502"/>
            <a:ext cx="2031072"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privilege</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4" name="TextBox 3" title=""/>
          <p:cNvSpPr txBox="1"/>
          <p:nvPr/>
        </p:nvSpPr>
        <p:spPr>
          <a:xfrm>
            <a:off x="6068389" y="4209788"/>
            <a:ext cx="2487809"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participate</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41470"/>
            <a:ext cx="12525395" cy="470789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要点</a:t>
            </a:r>
            <a:r>
              <a:rPr lang="en-US" altLang="zh-CN" sz="2500" b="1" kern="100">
                <a:solidFill>
                  <a:srgbClr val="0000FF"/>
                </a:solidFill>
                <a:latin typeface="Times New Roman" panose="02020603050405020304" pitchFamily="18" charset="0"/>
                <a:ea typeface="宋体" panose="02010600030101010101" pitchFamily="2" charset="-122"/>
              </a:rPr>
              <a:t>2</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你的演讲会给听众留下深刻的印象。</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一般表达</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Your speech </a:t>
            </a:r>
            <a:r>
              <a:rPr lang="en-US" altLang="zh-CN" sz="2500" kern="100">
                <a:latin typeface="Times New Roman" panose="02020603050405020304" pitchFamily="18" charset="0"/>
                <a:ea typeface="宋体" panose="02010600030101010101" pitchFamily="2" charset="-122"/>
              </a:rPr>
              <a:t>will leave a deep impression on the listeners.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升级表达</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丰富内容</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双重否定</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无疑</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你流利的汉语、精湛的公共演讲技能以及非常广博的知识会给听众留下</a:t>
            </a:r>
            <a:r>
              <a:rPr lang="zh-CN" altLang="zh-CN" sz="2500" kern="100" smtClean="0">
                <a:latin typeface="Times New Roman" panose="02020603050405020304" pitchFamily="18" charset="0"/>
                <a:ea typeface="宋体" panose="02010600030101010101" pitchFamily="2" charset="-122"/>
              </a:rPr>
              <a:t>很</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smtClean="0">
                <a:latin typeface="Times New Roman" panose="02020603050405020304" pitchFamily="18" charset="0"/>
                <a:ea typeface="宋体" panose="02010600030101010101" pitchFamily="2" charset="-122"/>
              </a:rPr>
              <a:t>深</a:t>
            </a:r>
            <a:r>
              <a:rPr lang="zh-CN" altLang="zh-CN" sz="2500" kern="100">
                <a:latin typeface="Times New Roman" panose="02020603050405020304" pitchFamily="18" charset="0"/>
                <a:ea typeface="宋体" panose="02010600030101010101" pitchFamily="2" charset="-122"/>
              </a:rPr>
              <a:t>的印象并激励他们。</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a:t>
            </a:r>
            <a:r>
              <a:rPr lang="en-US" altLang="zh-CN" sz="2500" kern="100" smtClean="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your fluent Chinese, excellent public speaking skills, and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 </a:t>
            </a:r>
            <a:endParaRPr lang="en-US" altLang="zh-CN" sz="2500" b="1" kern="100" smtClean="0">
              <a:uFill>
                <a:solidFill>
                  <a:srgbClr val="000000"/>
                </a:solidFill>
              </a:uFill>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a:t>
            </a:r>
            <a:r>
              <a:rPr lang="en-US" altLang="zh-CN" sz="2500" kern="100" smtClean="0">
                <a:latin typeface="Times New Roman" panose="02020603050405020304" pitchFamily="18" charset="0"/>
                <a:ea typeface="宋体" panose="02010600030101010101" pitchFamily="2" charset="-122"/>
              </a:rPr>
              <a:t>will </a:t>
            </a:r>
            <a:r>
              <a:rPr lang="en-US" altLang="zh-CN" sz="2500" kern="100">
                <a:latin typeface="Times New Roman" panose="02020603050405020304" pitchFamily="18" charset="0"/>
                <a:ea typeface="宋体" panose="02010600030101010101" pitchFamily="2" charset="-122"/>
              </a:rPr>
              <a:t>not fail to impress and inspire the audience. </a:t>
            </a:r>
            <a:endParaRPr lang="zh-CN" altLang="zh-CN" sz="2500" kern="100">
              <a:latin typeface="Times New Roman" panose="02020603050405020304" pitchFamily="18" charset="0"/>
              <a:ea typeface="宋体" panose="02010600030101010101" pitchFamily="2" charset="-122"/>
            </a:endParaRPr>
          </a:p>
        </p:txBody>
      </p:sp>
      <p:sp>
        <p:nvSpPr>
          <p:cNvPr id="3" name="TextBox 2" title=""/>
          <p:cNvSpPr txBox="1"/>
          <p:nvPr/>
        </p:nvSpPr>
        <p:spPr>
          <a:xfrm>
            <a:off x="-254864" y="4209788"/>
            <a:ext cx="3299793"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Undoubtedly</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4" name="TextBox 3" title=""/>
          <p:cNvSpPr txBox="1"/>
          <p:nvPr/>
        </p:nvSpPr>
        <p:spPr>
          <a:xfrm>
            <a:off x="9686755" y="4209788"/>
            <a:ext cx="2505245"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especially</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5" name="TextBox 4" title=""/>
          <p:cNvSpPr txBox="1"/>
          <p:nvPr/>
        </p:nvSpPr>
        <p:spPr>
          <a:xfrm>
            <a:off x="-682270" y="4815962"/>
            <a:ext cx="5131126"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extensive knowledge</a:t>
            </a:r>
            <a:r>
              <a:rPr lang="en-US" altLang="zh-CN" sz="2500" b="1" kern="100">
                <a:solidFill>
                  <a:srgbClr val="FF0000"/>
                </a:solidFill>
                <a:latin typeface="Times New Roman" panose="02020603050405020304" pitchFamily="18" charset="0"/>
                <a:ea typeface="宋体" panose="02010600030101010101" pitchFamily="2" charset="-122"/>
              </a:rPr>
              <a:t> </a:t>
            </a:r>
            <a:endParaRPr lang="zh-CN" altLang="en-US" sz="2500" b="1">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734474"/>
            <a:ext cx="11701662" cy="2399665"/>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3</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衔接成篇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Dear George,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It is a great privilege for me to invite you to participate in the Chinese Speech Contest for foreigners at my school next Saturday. </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707890"/>
          </a:xfrm>
          <a:prstGeom prst="rect">
            <a:avLst/>
          </a:prstGeom>
          <a:noFill/>
        </p:spPr>
        <p:txBody>
          <a:bodyPr wrap="square" rtlCol="0">
            <a:spAutoFit/>
          </a:bodyPr>
          <a:lstStyle/>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The theme of the upcoming speech contest is British culture which we sincerely expect to listen to from a native of Britain. Undoubtedly, your fluent Chinese, excellent public speaking skills, and especially extensive knowledge will not fail to impress and inspire the audience. If you accept our invitation, we will be more than pleased to welcome you to register at the Student Organization Office.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We are looking forward to your participation. </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Yours, </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Li Hua</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707890"/>
          </a:xfrm>
          <a:prstGeom prst="rect">
            <a:avLst/>
          </a:prstGeom>
          <a:noFill/>
        </p:spPr>
        <p:txBody>
          <a:bodyPr wrap="square" rtlCol="0">
            <a:spAutoFit/>
          </a:bodyPr>
          <a:lstStyle/>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【句式储备】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篇头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开篇表意</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说明活动</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发出邀请</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I’d like to invite you to attend the Chinese Excellent Calligraphy Show and admire the great works with me.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我想邀请你参加中国优秀书法展</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和我一起欣赏这些优秀的作品。</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Knowing you are very interested in Chinese history and culture, I’m more than pleased to invite you to visit Suzhou Gardens with me.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得知你对中国历史和文化很感兴趣</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我很高兴地邀请你和我一起到苏州园林游玩。</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586232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篇中</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详细描述</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讲清细节</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表达好处</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Here are arrangements for the activity.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The following are arrangements for the activity.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Arrangements for the activity are as follows.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活动安排如下。</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There will be various activities, including short drama performances, playing musical instruments, as well as other wonderful shows.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将会有各种各样的活动</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包括短剧表演</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乐器演奏和其他精彩的表演。</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③</a:t>
            </a:r>
            <a:r>
              <a:rPr lang="en-US" altLang="zh-CN" sz="2500" kern="100">
                <a:latin typeface="Times New Roman" panose="02020603050405020304" pitchFamily="18" charset="0"/>
                <a:ea typeface="宋体" panose="02010600030101010101" pitchFamily="2" charset="-122"/>
              </a:rPr>
              <a:t>This is such a golden chance to experience traditional Chinese culture that it can’t be missed. </a:t>
            </a:r>
            <a:r>
              <a:rPr lang="zh-CN" altLang="zh-CN" sz="2500" kern="100">
                <a:latin typeface="Times New Roman" panose="02020603050405020304" pitchFamily="18" charset="0"/>
                <a:ea typeface="宋体" panose="02010600030101010101" pitchFamily="2" charset="-122"/>
              </a:rPr>
              <a:t>这是体验中国传统文化的绝佳机会</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不容错过。</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130675"/>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3. </a:t>
            </a:r>
            <a:r>
              <a:rPr lang="zh-CN" altLang="zh-CN" sz="2500" kern="100">
                <a:latin typeface="Times New Roman" panose="02020603050405020304" pitchFamily="18" charset="0"/>
                <a:ea typeface="宋体" panose="02010600030101010101" pitchFamily="2" charset="-122"/>
              </a:rPr>
              <a:t>结尾</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望应邀</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盼回复</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I’d appreciate it if you could confirm your participation at your early convenience.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如果你能尽早确认参加</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我将不胜感激。</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We’d be very delighted if you could come and share the unforgettable moment with us.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如果你能来和我们共度这个难忘的时刻</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我们将十分高兴。</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③</a:t>
            </a:r>
            <a:r>
              <a:rPr lang="en-US" altLang="zh-CN" sz="2500" kern="100">
                <a:latin typeface="Times New Roman" panose="02020603050405020304" pitchFamily="18" charset="0"/>
                <a:ea typeface="宋体" panose="02010600030101010101" pitchFamily="2" charset="-122"/>
              </a:rPr>
              <a:t>I do hope you will accept my invitation if it is convenient for you.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我真心希望你方便的话能接受我的邀请。</a:t>
            </a:r>
            <a:endParaRPr lang="zh-CN" altLang="zh-CN" sz="2500" kern="100">
              <a:latin typeface="Times New Roman" panose="02020603050405020304" pitchFamily="18" charset="0"/>
              <a:ea typeface="宋体" panose="02010600030101010101" pitchFamily="2" charset="-122"/>
            </a:endParaRPr>
          </a:p>
        </p:txBody>
      </p:sp>
      <p:pic>
        <p:nvPicPr>
          <p:cNvPr id="3" name="Picture 3"/>
          <p:cNvPicPr>
            <a:picLocks noChangeAspect="1"/>
          </p:cNvPicPr>
          <p:nvPr/>
        </p:nvPicPr>
        <p:blipFill>
          <a:blip r:embed="rId3"/>
          <a:stretch>
            <a:fillRect/>
          </a:stretch>
        </p:blipFill>
        <p:spPr>
          <a:xfrm flipH="1">
            <a:off x="10566400" y="10350500"/>
            <a:ext cx="0" cy="0"/>
          </a:xfrm>
          <a:prstGeom prst="rect">
            <a:avLst/>
          </a:prstGeom>
          <a:ln>
            <a:noFill/>
          </a:ln>
        </p:spPr>
      </p:pic>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548470"/>
            <a:ext cx="11701662" cy="5862320"/>
          </a:xfrm>
          <a:prstGeom prst="rect">
            <a:avLst/>
          </a:prstGeom>
          <a:noFill/>
        </p:spPr>
        <p:txBody>
          <a:bodyPr wrap="square" rtlCol="0">
            <a:spAutoFit/>
          </a:bodyPr>
          <a:lstStyle/>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【拓展训练】</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假定你是李华</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下周你的家乡将举办一场红色旅游文化展</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你打算邀请留学生</a:t>
            </a:r>
            <a:r>
              <a:rPr lang="en-US" altLang="zh-CN" sz="2500" kern="100">
                <a:latin typeface="Times New Roman" panose="02020603050405020304" pitchFamily="18" charset="0"/>
                <a:ea typeface="宋体" panose="02010600030101010101" pitchFamily="2" charset="-122"/>
              </a:rPr>
              <a:t>Alex</a:t>
            </a:r>
            <a:r>
              <a:rPr lang="zh-CN" altLang="zh-CN" sz="2500" kern="100">
                <a:latin typeface="Times New Roman" panose="02020603050405020304" pitchFamily="18" charset="0"/>
                <a:ea typeface="宋体" panose="02010600030101010101" pitchFamily="2" charset="-122"/>
              </a:rPr>
              <a:t>参加</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请根据以下提示写一封邀请信。</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文化展的时间</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下周六、周日</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文化展的地点</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人民广场</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3. </a:t>
            </a:r>
            <a:r>
              <a:rPr lang="zh-CN" altLang="zh-CN" sz="2500" kern="100">
                <a:latin typeface="Times New Roman" panose="02020603050405020304" pitchFamily="18" charset="0"/>
                <a:ea typeface="宋体" panose="02010600030101010101" pitchFamily="2" charset="-122"/>
              </a:rPr>
              <a:t>文化展的活动。</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注意</a:t>
            </a:r>
            <a:r>
              <a:rPr lang="en-US" altLang="zh-CN" sz="2500" kern="100">
                <a:latin typeface="Times New Roman" panose="02020603050405020304" pitchFamily="18" charset="0"/>
                <a:ea typeface="宋体" panose="02010600030101010101" pitchFamily="2" charset="-122"/>
              </a:rPr>
              <a:t>: 1. </a:t>
            </a:r>
            <a:r>
              <a:rPr lang="zh-CN" altLang="zh-CN" sz="2500" kern="100">
                <a:latin typeface="Times New Roman" panose="02020603050405020304" pitchFamily="18" charset="0"/>
                <a:ea typeface="宋体" panose="02010600030101010101" pitchFamily="2" charset="-122"/>
              </a:rPr>
              <a:t>写作词数应为</a:t>
            </a:r>
            <a:r>
              <a:rPr lang="en-US" altLang="zh-CN" sz="2500" kern="100">
                <a:latin typeface="Times New Roman" panose="02020603050405020304" pitchFamily="18" charset="0"/>
                <a:ea typeface="宋体" panose="02010600030101010101" pitchFamily="2" charset="-122"/>
              </a:rPr>
              <a:t>80</a:t>
            </a:r>
            <a:r>
              <a:rPr lang="zh-CN" altLang="zh-CN" sz="2500" kern="100">
                <a:latin typeface="Times New Roman" panose="02020603050405020304" pitchFamily="18" charset="0"/>
                <a:ea typeface="宋体" panose="02010600030101010101" pitchFamily="2" charset="-122"/>
              </a:rPr>
              <a:t>个左右</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可以适当增加细节</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以使行文连贯。</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参考词汇</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红色旅游</a:t>
            </a:r>
            <a:r>
              <a:rPr lang="en-US" altLang="zh-CN" sz="2500" kern="100">
                <a:latin typeface="Times New Roman" panose="02020603050405020304" pitchFamily="18" charset="0"/>
                <a:ea typeface="宋体" panose="02010600030101010101" pitchFamily="2" charset="-122"/>
              </a:rPr>
              <a:t>red tourism</a:t>
            </a:r>
            <a:endParaRPr lang="zh-CN" altLang="zh-CN" sz="2500" kern="100">
              <a:latin typeface="Times New Roman" panose="02020603050405020304" pitchFamily="18" charset="0"/>
              <a:ea typeface="宋体" panose="02010600030101010101" pitchFamily="2" charset="-122"/>
            </a:endParaRPr>
          </a:p>
          <a:p>
            <a:pPr>
              <a:lnSpc>
                <a:spcPct val="150000"/>
              </a:lnSpc>
            </a:pPr>
            <a:r>
              <a:rPr lang="en-US" altLang="zh-CN" sz="2500" kern="100" smtClean="0">
                <a:latin typeface="Times New Roman" panose="02020603050405020304" pitchFamily="18" charset="0"/>
                <a:ea typeface="宋体" panose="02010600030101010101" pitchFamily="2" charset="-122"/>
              </a:rPr>
              <a:t>_________________________________________________________________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297688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【参考范文】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Dear Alex,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Next Saturday and Sunday, a red tourism culture exhibition will be held at the People’s Square. Knowing you are interested in it, I’m writing to invite you to attend with us. </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130675"/>
          </a:xfrm>
          <a:prstGeom prst="rect">
            <a:avLst/>
          </a:prstGeom>
          <a:noFill/>
        </p:spPr>
        <p:txBody>
          <a:bodyPr wrap="square" rtlCol="0">
            <a:spAutoFit/>
          </a:bodyPr>
          <a:lstStyle/>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This exhibition will show you some revolutionary tourist attractions of our hometown, which can help you learn about some Chinese revolutionary history and culture. Not only can you appreciate the fantastic pictures but also you’ll be moved by the spirits of the Chinese historical heroes.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I’m looking forward to your reply. </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Yours, </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Li Hua</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tags/tag1.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Lst>
</file>

<file path=ppt/theme/theme1.xml><?xml version="1.0" encoding="utf-8"?>
<a:theme xmlns:r="http://schemas.openxmlformats.org/officeDocument/2006/relationships" xmlns:a="http://schemas.openxmlformats.org/drawingml/2006/main" name="4_Office 主题​​">
  <a:themeElements>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等线 Light"/>
        <a:ea typeface="宋体"/>
        <a:cs typeface="Arial"/>
      </a:majorFont>
      <a:minorFont>
        <a:latin typeface="等线"/>
        <a:ea typeface="宋体"/>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117235" tIns="58618" rIns="117235" bIns="58618" numCol="1" anchor="t" anchorCtr="0" compatLnSpc="1">
        <a:spAutoFit/>
      </a:bodyPr>
      <a:lstStyle>
        <a:defPPr marL="0" marR="0" indent="0" algn="just" defTabSz="1171575" rtl="0" eaLnBrk="1" fontAlgn="base" latinLnBrk="0" hangingPunct="1">
          <a:lnSpc>
            <a:spcPct val="150000"/>
          </a:lnSpc>
          <a:spcBef>
            <a:spcPct val="0"/>
          </a:spcBef>
          <a:spcAft>
            <a:spcPct val="0"/>
          </a:spcAft>
          <a:buClrTx/>
          <a:buSzTx/>
          <a:buFontTx/>
          <a:buNone/>
          <a:defRPr kumimoji="0" lang="zh-CN" altLang="en-US" sz="2600" b="0" i="0" u="none" strike="noStrike" cap="none" normalizeH="0" baseline="0" smtClean="0">
            <a:ln>
              <a:noFill/>
            </a:ln>
            <a:solidFill>
              <a:srgbClr val="000000"/>
            </a:solidFill>
            <a:effectLst/>
            <a:latin typeface="Times New Roman" panose="02020603050405020304" pitchFamily="18" charset="0"/>
            <a:ea typeface="微软雅黑" panose="020B0503020204020204" charset="-122"/>
            <a:cs typeface="Times New Roman" panose="02020603050405020304" pitchFamily="18" charset="0"/>
          </a:defRPr>
        </a:defPPr>
      </a:lstStyle>
    </a:spDef>
    <a:lnDef>
      <a:spPr bwMode="auto">
        <a:xfrm>
          <a:off x="0" y="0"/>
          <a:ext cx="1" cy="1"/>
        </a:xfrm>
        <a:custGeom>
          <a:avLst/>
          <a:gdLst/>
          <a:ahLst/>
          <a:cxnLst/>
          <a:rect l="0" t="0" r="0" b="0"/>
          <a:pathLst/>
        </a:custGeom>
        <a:noFill/>
        <a:ln>
          <a:noFill/>
        </a:ln>
      </a:spPr>
      <a:bodyPr vert="horz" wrap="square" lIns="117235" tIns="58618" rIns="117235" bIns="58618" numCol="1" anchor="t" anchorCtr="0" compatLnSpc="1">
        <a:spAutoFit/>
      </a:bodyPr>
      <a:lstStyle>
        <a:defPPr marL="0" marR="0" indent="0" algn="just" defTabSz="1171575" rtl="0" eaLnBrk="1" fontAlgn="base" latinLnBrk="0" hangingPunct="1">
          <a:lnSpc>
            <a:spcPct val="150000"/>
          </a:lnSpc>
          <a:spcBef>
            <a:spcPct val="0"/>
          </a:spcBef>
          <a:spcAft>
            <a:spcPct val="0"/>
          </a:spcAft>
          <a:buClrTx/>
          <a:buSzTx/>
          <a:buFontTx/>
          <a:buNone/>
          <a:defRPr kumimoji="0" lang="zh-CN" altLang="en-US" sz="2600" b="0" i="0" u="none" strike="noStrike" cap="none" normalizeH="0" baseline="0" smtClean="0">
            <a:ln>
              <a:noFill/>
            </a:ln>
            <a:solidFill>
              <a:srgbClr val="000000"/>
            </a:solidFill>
            <a:effectLst/>
            <a:latin typeface="Times New Roman" panose="02020603050405020304" pitchFamily="18" charset="0"/>
            <a:ea typeface="微软雅黑" panose="020B0503020204020204" charset="-122"/>
            <a:cs typeface="Times New Roman" panose="02020603050405020304" pitchFamily="18" charset="0"/>
          </a:defRPr>
        </a:defPPr>
      </a:lstStyle>
    </a:lnDef>
  </a:objectDefaults>
  <a:extraClrSchemeLst>
    <a:extraClrScheme>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72</Paragraphs>
  <Slides>13</Slides>
  <Notes>13</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13</vt:i4>
      </vt:variant>
    </vt:vector>
  </HeadingPairs>
  <TitlesOfParts>
    <vt:vector baseType="lpstr" size="21">
      <vt:lpstr>Arial</vt:lpstr>
      <vt:lpstr>等线 Light</vt:lpstr>
      <vt:lpstr>宋体</vt:lpstr>
      <vt:lpstr>等线</vt:lpstr>
      <vt:lpstr>Calibri Light</vt:lpstr>
      <vt:lpstr>Calibri</vt:lpstr>
      <vt:lpstr>Times New Roman</vt:lpstr>
      <vt:lpstr>4_Office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2024-05-28T18:06:05.673</cp:lastPrinted>
  <dcterms:created xsi:type="dcterms:W3CDTF">2024-05-28T18:06:05Z</dcterms:created>
  <dcterms:modified xsi:type="dcterms:W3CDTF">2024-05-28T10:06:05Z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