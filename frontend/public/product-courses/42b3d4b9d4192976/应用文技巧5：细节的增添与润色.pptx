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Java 23.3-->
<p:presentation xmlns:r="http://schemas.openxmlformats.org/officeDocument/2006/relationships" xmlns:a="http://schemas.openxmlformats.org/drawingml/2006/main" xmlns:p="http://schemas.openxmlformats.org/presentationml/2006/main">
  <p:sldMasterIdLst>
    <p:sldMasterId id="2147483648" r:id="rId1"/>
  </p:sldMasterIdLst>
  <p:notesMasterIdLst>
    <p:notesMasterId r:id="rId2"/>
  </p:notesMasterIdLst>
  <p:handoutMasterIdLst>
    <p:handoutMasterId r:id="rId3"/>
  </p:handoutMasterIdLst>
  <p:sldIdLst>
    <p:sldId id="270"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7.xml" /><Relationship Id="rId11" Type="http://schemas.openxmlformats.org/officeDocument/2006/relationships/slide" Target="slides/slide8.xml" /><Relationship Id="rId12" Type="http://schemas.openxmlformats.org/officeDocument/2006/relationships/slide" Target="slides/slide9.xml" /><Relationship Id="rId13" Type="http://schemas.openxmlformats.org/officeDocument/2006/relationships/slide" Target="slides/slide10.xml" /><Relationship Id="rId14" Type="http://schemas.openxmlformats.org/officeDocument/2006/relationships/slide" Target="slides/slide11.xml" /><Relationship Id="rId15" Type="http://schemas.openxmlformats.org/officeDocument/2006/relationships/slide" Target="slides/slide12.xml" /><Relationship Id="rId16" Type="http://schemas.openxmlformats.org/officeDocument/2006/relationships/slide" Target="slides/slide13.xml" /><Relationship Id="rId17" Type="http://schemas.openxmlformats.org/officeDocument/2006/relationships/tags" Target="tags/tag65.xml" /><Relationship Id="rId18" Type="http://schemas.openxmlformats.org/officeDocument/2006/relationships/presProps" Target="presProps.xml" /><Relationship Id="rId19" Type="http://schemas.openxmlformats.org/officeDocument/2006/relationships/viewProps" Target="viewProps.xml" /><Relationship Id="rId2" Type="http://schemas.openxmlformats.org/officeDocument/2006/relationships/notesMaster" Target="notesMasters/notesMaster1.xml" /><Relationship Id="rId20" Type="http://schemas.openxmlformats.org/officeDocument/2006/relationships/theme" Target="theme/theme1.xml" /><Relationship Id="rId21" Type="http://schemas.openxmlformats.org/officeDocument/2006/relationships/tableStyles" Target="tableStyles.xml" /><Relationship Id="rId3" Type="http://schemas.openxmlformats.org/officeDocument/2006/relationships/handoutMaster" Target="handoutMasters/handoutMaster1.xml" /><Relationship Id="rId4" Type="http://schemas.openxmlformats.org/officeDocument/2006/relationships/slide" Target="slides/slide1.xml" /><Relationship Id="rId5" Type="http://schemas.openxmlformats.org/officeDocument/2006/relationships/slide" Target="slides/slide2.xml" /><Relationship Id="rId6" Type="http://schemas.openxmlformats.org/officeDocument/2006/relationships/slide" Target="slides/slide3.xml" /><Relationship Id="rId7" Type="http://schemas.openxmlformats.org/officeDocument/2006/relationships/slide" Target="slides/slide4.xml" /><Relationship Id="rId8" Type="http://schemas.openxmlformats.org/officeDocument/2006/relationships/slide" Target="slides/slide5.xml" /><Relationship Id="rId9" Type="http://schemas.openxmlformats.org/officeDocument/2006/relationships/slide" Target="slides/slide6.xml" /></Relationships>
</file>

<file path=ppt/handoutMasters/_rels/handoutMaster1.xml.rels>&#65279;<?xml version="1.0" encoding="utf-8" standalone="yes"?><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5.xml.rels>&#65279;<?xml version="1.0" encoding="utf-8" standalone="yes"?><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6.xml.rels>&#65279;<?xml version="1.0" encoding="utf-8" standalone="yes"?><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7.xml.rels>&#65279;<?xml version="1.0" encoding="utf-8" standalone="yes"?><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8.xml.rels>&#65279;<?xml version="1.0" encoding="utf-8" standalone="yes"?><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9.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0.xml.rels>&#65279;<?xml version="1.0" encoding="utf-8" standalone="yes"?><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1.xml.rels>&#65279;<?xml version="1.0" encoding="utf-8" standalone="yes"?><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2.xml.rels>&#65279;<?xml version="1.0" encoding="utf-8" standalone="yes"?><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tags" Target="../tags/tag1.xml" /><Relationship Id="rId2" Type="http://schemas.openxmlformats.org/officeDocument/2006/relationships/tags" Target="../tags/tag2.xml" /><Relationship Id="rId3" Type="http://schemas.openxmlformats.org/officeDocument/2006/relationships/tags" Target="../tags/tag3.xml" /><Relationship Id="rId4" Type="http://schemas.openxmlformats.org/officeDocument/2006/relationships/tags" Target="../tags/tag4.xml" /><Relationship Id="rId5" Type="http://schemas.openxmlformats.org/officeDocument/2006/relationships/tags" Target="../tags/tag5.xml" /><Relationship Id="rId6"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tags" Target="../tags/tag6.xml" /><Relationship Id="rId2" Type="http://schemas.openxmlformats.org/officeDocument/2006/relationships/tags" Target="../tags/tag7.xml" /><Relationship Id="rId3" Type="http://schemas.openxmlformats.org/officeDocument/2006/relationships/tags" Target="../tags/tag8.xml" /><Relationship Id="rId4" Type="http://schemas.openxmlformats.org/officeDocument/2006/relationships/tags" Target="../tags/tag9.xml" /><Relationship Id="rId5" Type="http://schemas.openxmlformats.org/officeDocument/2006/relationships/tags" Target="../tags/tag10.xml" /><Relationship Id="rId6"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tags" Target="../tags/tag11.xml" /><Relationship Id="rId2" Type="http://schemas.openxmlformats.org/officeDocument/2006/relationships/tags" Target="../tags/tag12.xml" /><Relationship Id="rId3" Type="http://schemas.openxmlformats.org/officeDocument/2006/relationships/tags" Target="../tags/tag13.xml" /><Relationship Id="rId4" Type="http://schemas.openxmlformats.org/officeDocument/2006/relationships/tags" Target="../tags/tag14.xml" /><Relationship Id="rId5" Type="http://schemas.openxmlformats.org/officeDocument/2006/relationships/tags" Target="../tags/tag15.xml" /><Relationship Id="rId6"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tags" Target="../tags/tag16.xml" /><Relationship Id="rId2" Type="http://schemas.openxmlformats.org/officeDocument/2006/relationships/tags" Target="../tags/tag17.xml" /><Relationship Id="rId3" Type="http://schemas.openxmlformats.org/officeDocument/2006/relationships/tags" Target="../tags/tag18.xml" /><Relationship Id="rId4" Type="http://schemas.openxmlformats.org/officeDocument/2006/relationships/tags" Target="../tags/tag19.xml" /><Relationship Id="rId5" Type="http://schemas.openxmlformats.org/officeDocument/2006/relationships/tags" Target="../tags/tag20.xml" /><Relationship Id="rId6" Type="http://schemas.openxmlformats.org/officeDocument/2006/relationships/tags" Target="../tags/tag21.xml" /><Relationship Id="rId7"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tags" Target="../tags/tag22.xml" /><Relationship Id="rId2" Type="http://schemas.openxmlformats.org/officeDocument/2006/relationships/tags" Target="../tags/tag23.xml" /><Relationship Id="rId3" Type="http://schemas.openxmlformats.org/officeDocument/2006/relationships/tags" Target="../tags/tag24.xml" /><Relationship Id="rId4" Type="http://schemas.openxmlformats.org/officeDocument/2006/relationships/tags" Target="../tags/tag25.xml" /><Relationship Id="rId5" Type="http://schemas.openxmlformats.org/officeDocument/2006/relationships/tags" Target="../tags/tag26.xml" /><Relationship Id="rId6" Type="http://schemas.openxmlformats.org/officeDocument/2006/relationships/tags" Target="../tags/tag27.xml" /><Relationship Id="rId7" Type="http://schemas.openxmlformats.org/officeDocument/2006/relationships/tags" Target="../tags/tag28.xml" /><Relationship Id="rId8" Type="http://schemas.openxmlformats.org/officeDocument/2006/relationships/tags" Target="../tags/tag29.xml" /><Relationship Id="rId9"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tags" Target="../tags/tag30.xml" /><Relationship Id="rId2" Type="http://schemas.openxmlformats.org/officeDocument/2006/relationships/tags" Target="../tags/tag31.xml" /><Relationship Id="rId3" Type="http://schemas.openxmlformats.org/officeDocument/2006/relationships/tags" Target="../tags/tag32.xml" /><Relationship Id="rId4" Type="http://schemas.openxmlformats.org/officeDocument/2006/relationships/tags" Target="../tags/tag33.xml" /><Relationship Id="rId5"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tags" Target="../tags/tag34.xml" /><Relationship Id="rId2" Type="http://schemas.openxmlformats.org/officeDocument/2006/relationships/tags" Target="../tags/tag35.xml" /><Relationship Id="rId3" Type="http://schemas.openxmlformats.org/officeDocument/2006/relationships/tags" Target="../tags/tag36.xml" /><Relationship Id="rId4"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tags" Target="../tags/tag37.xml" /><Relationship Id="rId2" Type="http://schemas.openxmlformats.org/officeDocument/2006/relationships/tags" Target="../tags/tag38.xml" /><Relationship Id="rId3" Type="http://schemas.openxmlformats.org/officeDocument/2006/relationships/tags" Target="../tags/tag39.xml" /><Relationship Id="rId4" Type="http://schemas.openxmlformats.org/officeDocument/2006/relationships/tags" Target="../tags/tag40.xml" /><Relationship Id="rId5" Type="http://schemas.openxmlformats.org/officeDocument/2006/relationships/tags" Target="../tags/tag41.xml" /><Relationship Id="rId6" Type="http://schemas.openxmlformats.org/officeDocument/2006/relationships/tags" Target="../tags/tag42.xml" /><Relationship Id="rId7"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tags" Target="../tags/tag43.xml" /><Relationship Id="rId2" Type="http://schemas.openxmlformats.org/officeDocument/2006/relationships/tags" Target="../tags/tag44.xml" /><Relationship Id="rId3" Type="http://schemas.openxmlformats.org/officeDocument/2006/relationships/tags" Target="../tags/tag45.xml" /><Relationship Id="rId4" Type="http://schemas.openxmlformats.org/officeDocument/2006/relationships/tags" Target="../tags/tag46.xml" /><Relationship Id="rId5" Type="http://schemas.openxmlformats.org/officeDocument/2006/relationships/tags" Target="../tags/tag47.xml" /><Relationship Id="rId6"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tags" Target="../tags/tag48.xml" /><Relationship Id="rId2" Type="http://schemas.openxmlformats.org/officeDocument/2006/relationships/tags" Target="../tags/tag49.xml" /><Relationship Id="rId3" Type="http://schemas.openxmlformats.org/officeDocument/2006/relationships/tags" Target="../tags/tag50.xml" /><Relationship Id="rId4" Type="http://schemas.openxmlformats.org/officeDocument/2006/relationships/tags" Target="../tags/tag51.xml" /><Relationship Id="rId5"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tags" Target="../tags/tag52.xml" /><Relationship Id="rId2" Type="http://schemas.openxmlformats.org/officeDocument/2006/relationships/tags" Target="../tags/tag53.xml" /><Relationship Id="rId3" Type="http://schemas.openxmlformats.org/officeDocument/2006/relationships/tags" Target="../tags/tag54.xml" /><Relationship Id="rId4" Type="http://schemas.openxmlformats.org/officeDocument/2006/relationships/tags" Target="../tags/tag55.xml" /><Relationship Id="rId5" Type="http://schemas.openxmlformats.org/officeDocument/2006/relationships/tags" Target="../tags/tag56.xml" /><Relationship Id="rId6"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标题幻灯片">
    <p:spTree>
      <p:nvGrpSpPr>
        <p:cNvPr id="1" name=""/>
        <p:cNvGrpSpPr/>
        <p:nvPr/>
      </p:nvGrpSpPr>
      <p:grpSpPr>
        <a:xfrm>
          <a:off x="0" y="0"/>
          <a: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标题和内容">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节标题">
    <p:spTree>
      <p:nvGrpSpPr>
        <p:cNvPr id="1" name=""/>
        <p:cNvGrpSpPr/>
        <p:nvPr/>
      </p:nvGrpSpPr>
      <p:grpSpPr>
        <a:xfrm>
          <a:off x="0" y="0"/>
          <a: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a:t>单击此处编辑标题</a:t>
            </a:r>
            <a:endParaRPr lang="zh-CN" altLang="en-US"/>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单击此处编辑文本</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两栏内容">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比较">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仅标题">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空白">
    <p:spTree>
      <p:nvGrpSpPr>
        <p:cNvPr id="1" name=""/>
        <p:cNvGrpSpPr/>
        <p:nvPr/>
      </p:nvGrpSpPr>
      <p:grpSpPr>
        <a:xfrm>
          <a:off x="0" y="0"/>
          <a: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图片与标题">
    <p:spTree>
      <p:nvGrpSpPr>
        <p:cNvPr id="1" name=""/>
        <p:cNvGrpSpPr/>
        <p:nvPr/>
      </p:nvGrpSpPr>
      <p:grpSpPr>
        <a:xfrm>
          <a:off x="0" y="0"/>
          <a: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
            </a:fld>
            <a:endParaRPr lang="zh-CN" altLang="en-US"/>
          </a:p>
        </p:txBody>
      </p:sp>
      <p:sp>
        <p:nvSpPr>
          <p:cNvPr id="6" name="页脚占位符 5"/>
          <p:cNvSpPr>
            <a:spLocks noGrp="1"/>
          </p:cNvSpPr>
          <p:nvPr>
            <p:ph type="ftr" sz="quarter" idx="11"/>
            <p:custDataLst>
              <p:tags r:id="rId4"/>
            </p:custDataLst>
          </p:nvPr>
        </p:nvSpPr>
        <p:spPr/>
        <p:txBody>
          <a:bodyPr/>
          <a:lstStyle/>
          <a:p>
            <a:endParaRPr lang="zh-CN" altLang="en-US"/>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竖排标题与文本">
    <p:spTree>
      <p:nvGrpSpPr>
        <p:cNvPr id="1" name=""/>
        <p:cNvGrpSpPr/>
        <p:nvPr/>
      </p:nvGrpSpPr>
      <p:grpSpPr>
        <a:xfrm>
          <a:off x="0" y="0"/>
          <a: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内容">
    <p:spTree>
      <p:nvGrpSpPr>
        <p:cNvPr id="1" name=""/>
        <p:cNvGrpSpPr/>
        <p:nvPr/>
      </p:nvGrpSpPr>
      <p:grpSpPr>
        <a:xfrm>
          <a:off x="0" y="0"/>
          <a: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末尾幻灯片">
    <p:spTree>
      <p:nvGrpSpPr>
        <p:cNvPr id="1" name=""/>
        <p:cNvGrpSpPr/>
        <p:nvPr/>
      </p:nvGrpSpPr>
      <p:grpSpPr>
        <a:xfrm>
          <a:off x="0" y="0"/>
          <a: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a:t>单击此处编辑母版文本样式</a:t>
            </a:r>
            <a:endParaRPr lang="zh-CN" alt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ags" Target="../tags/tag57.xml" /><Relationship Id="rId13" Type="http://schemas.openxmlformats.org/officeDocument/2006/relationships/tags" Target="../tags/tag58.xml" /><Relationship Id="rId14" Type="http://schemas.openxmlformats.org/officeDocument/2006/relationships/tags" Target="../tags/tag59.xml" /><Relationship Id="rId15" Type="http://schemas.openxmlformats.org/officeDocument/2006/relationships/tags" Target="../tags/tag60.xml" /><Relationship Id="rId16" Type="http://schemas.openxmlformats.org/officeDocument/2006/relationships/tags" Target="../tags/tag61.xml" /><Relationship Id="rId17" Type="http://schemas.openxmlformats.org/officeDocument/2006/relationships/image" Target="file:///D:\qq&#25991;&#20214;\712321467\Image\C2C\Image2\%7b75232B38-A165-1FB7-499C-2E1C792CACB5%7d.png" TargetMode="External" /><Relationship Id="rId18" Type="http://schemas.openxmlformats.org/officeDocument/2006/relationships/image" Target="../media/image1.png" /><Relationship Id="rId19" Type="http://schemas.openxmlformats.org/officeDocument/2006/relationships/image" Target="../media/image2.jpeg" /><Relationship Id="rId2" Type="http://schemas.openxmlformats.org/officeDocument/2006/relationships/slideLayout" Target="../slideLayouts/slideLayout2.xml" /><Relationship Id="rId20" Type="http://schemas.openxmlformats.org/officeDocument/2006/relationships/tags" Target="../tags/tag62.xml" /><Relationship Id="rId21" Type="http://schemas.openxmlformats.org/officeDocument/2006/relationships/theme" Target="../theme/theme1.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blipFill rotWithShape="0">
          <a:blip r:embed="rId19"/>
          <a:stretch>
            <a:fillRect/>
          </a:stretch>
        </a:blipFill>
        <a:effectLst/>
      </p:bgPr>
    </p:bg>
    <p:spTree>
      <p:nvGrpSpPr>
        <p:cNvPr id="1" name=""/>
        <p:cNvGrpSpPr/>
        <p:nvPr/>
      </p:nvGrpSpPr>
      <p:grpSpPr>
        <a:xfrm>
          <a:off x="0" y="0"/>
          <a: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a:t>单击此处编辑母版标题样式</a:t>
            </a:r>
            <a:endParaRPr lang="zh-CN" altLang="en-US"/>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0</a:t>
            </a:fld>
            <a:endParaRPr lang="zh-CN" altLang="en-US"/>
          </a:p>
        </p:txBody>
      </p:sp>
      <p:pic>
        <p:nvPicPr>
          <p:cNvPr id="7" name="图片 1073743875" descr="学科网 zxxk.com" title=""/>
          <p:cNvPicPr>
            <a:picLocks noChangeAspect="1"/>
          </p:cNvPicPr>
          <p:nvPr/>
        </p:nvPicPr>
        <p:blipFill>
          <a:blip r:embed="rId18" r:link="rId17"/>
          <a:stretch>
            <a:fillRect/>
          </a:stretch>
        </p:blipFill>
        <p:spPr>
          <a:xfrm>
            <a:off x="838200" y="365125"/>
            <a:ext cx="9525" cy="9525"/>
          </a:xfrm>
          <a:prstGeom prst="rect">
            <a:avLst/>
          </a:prstGeom>
          <a:noFill/>
          <a:ln>
            <a:noFill/>
            <a:miter lim="800000"/>
          </a:ln>
        </p:spPr>
      </p:pic>
    </p:spTree>
    <p:custDataLst>
      <p:tags r:id="rId20"/>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ct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ct val="0"/>
        </a:spcBef>
        <a:spcAft>
          <a:spcPts val="600"/>
        </a:spcAft>
        <a:buFont typeface="Arial" panose="020b0604020202020204" pitchFamily="34" charset="0"/>
        <a:buChar char="●"/>
        <a:tabLst>
          <a:tab pos="1609725"/>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ct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ct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ct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63.xml" /><Relationship Id="rId3" Type="http://schemas.openxmlformats.org/officeDocument/2006/relationships/image" Target="../media/image3.jpeg" /><Relationship Id="rId4" Type="http://schemas.openxmlformats.org/officeDocument/2006/relationships/tags" Target="../tags/tag64.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xml" /><Relationship Id="rId3" Type="http://schemas.openxmlformats.org/officeDocument/2006/relationships/image" Target="../media/image4.png"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blipFill rotWithShape="1">
          <a:blip r:embed="rId3"/>
          <a:stretch>
            <a:fillRect/>
          </a:stretch>
        </a:blipFill>
        <a:effectLst/>
      </p:bgPr>
    </p:bg>
    <p:spTree>
      <p:nvGrpSpPr>
        <p:cNvPr id="1" name=""/>
        <p:cNvGrpSpPr/>
        <p:nvPr/>
      </p:nvGrpSpPr>
      <p:grpSpPr>
        <a:xfrm>
          <a:off x="0" y="0"/>
          <a:ext cx="0" cy="0"/>
        </a:xfrm>
      </p:grpSpPr>
      <p:sp>
        <p:nvSpPr>
          <p:cNvPr id="3" name="副标题 2" title=""/>
          <p:cNvSpPr>
            <a:spLocks noGrp="1"/>
          </p:cNvSpPr>
          <p:nvPr>
            <p:ph type="subTitle" idx="1"/>
            <p:custDataLst>
              <p:tags r:id="rId2"/>
            </p:custDataLst>
          </p:nvPr>
        </p:nvSpPr>
        <p:spPr>
          <a:xfrm>
            <a:off x="1198800" y="2087835"/>
            <a:ext cx="9799200" cy="1472400"/>
          </a:xfrm>
        </p:spPr>
        <p:txBody>
          <a:bodyPr/>
          <a:lstStyle/>
          <a:p>
            <a:r>
              <a:rPr lang="zh-CN" altLang="en-US" sz="2500" b="1">
                <a:latin typeface="Times New Roman" panose="02020603050405020304" pitchFamily="18" charset="0"/>
                <a:ea typeface="宋体" panose="02010600030101010101" pitchFamily="2" charset="-122"/>
              </a:rPr>
              <a:t>细节的增添与润色</a:t>
            </a:r>
            <a:endParaRPr lang="zh-CN" altLang="en-US" sz="2500" b="1">
              <a:latin typeface="Times New Roman" panose="02020603050405020304" pitchFamily="18" charset="0"/>
              <a:ea typeface="宋体" panose="02010600030101010101" pitchFamily="2" charset="-122"/>
            </a:endParaRPr>
          </a:p>
        </p:txBody>
      </p:sp>
    </p:spTree>
    <p:custDataLst>
      <p:tags r:id="rId4"/>
    </p:custDataLst>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130675"/>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1</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列举具体的实例进行补充说明</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(1)</a:t>
            </a:r>
            <a:r>
              <a:rPr lang="zh-CN" altLang="zh-CN" sz="2500" kern="100">
                <a:latin typeface="Times New Roman" panose="02020603050405020304" pitchFamily="18" charset="0"/>
                <a:ea typeface="宋体" panose="02010600030101010101" pitchFamily="2" charset="-122"/>
              </a:rPr>
              <a:t>我们青少年应尽我们所能保护环境、拯救地球。</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We teenagers should do what we can to protect the environment and save the earth.</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→We teenagers should do what we can to protect the environment and save the earth.For example, </a:t>
            </a:r>
            <a:r>
              <a:rPr lang="en-US" altLang="zh-CN" sz="2500" b="1" kern="100">
                <a:latin typeface="Times New Roman" panose="02020603050405020304" pitchFamily="18" charset="0"/>
                <a:ea typeface="宋体" panose="02010600030101010101" pitchFamily="2" charset="-122"/>
              </a:rPr>
              <a:t>we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can</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use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recyclable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bags</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instead</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of</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plastic</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bags</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refuse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to</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use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single-use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products</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plant</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more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trees</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and</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save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water</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and</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energy</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我们可以用可回收袋代替塑料袋</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拒绝使用一次性产品</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种植更多的树木</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节约水和能源</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p:txBody>
      </p:sp>
      <p:pic>
        <p:nvPicPr>
          <p:cNvPr id="3" name="Picture 3"/>
          <p:cNvPicPr>
            <a:picLocks noChangeAspect="1"/>
          </p:cNvPicPr>
          <p:nvPr/>
        </p:nvPicPr>
        <p:blipFill>
          <a:blip r:embed="rId3"/>
          <a:stretch>
            <a:fillRect/>
          </a:stretch>
        </p:blipFill>
        <p:spPr>
          <a:xfrm flipH="1">
            <a:off x="10452100" y="11023600"/>
            <a:ext cx="0" cy="0"/>
          </a:xfrm>
          <a:prstGeom prst="rect">
            <a:avLst/>
          </a:prstGeom>
          <a:ln>
            <a:noFill/>
          </a:ln>
        </p:spPr>
      </p:pic>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5285105"/>
          </a:xfrm>
          <a:prstGeom prst="rect">
            <a:avLst/>
          </a:prstGeom>
          <a:noFill/>
        </p:spPr>
        <p:txBody>
          <a:bodyPr wrap="square" rtlCol="0">
            <a:spAutoFit/>
          </a:bodyPr>
          <a:lstStyle/>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(2)</a:t>
            </a:r>
            <a:r>
              <a:rPr lang="zh-CN" altLang="zh-CN" sz="2500" kern="100">
                <a:latin typeface="Times New Roman" panose="02020603050405020304" pitchFamily="18" charset="0"/>
                <a:ea typeface="宋体" panose="02010600030101010101" pitchFamily="2" charset="-122"/>
              </a:rPr>
              <a:t>我要花一些时间和父母在一起。</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I’ll spend some time staying with my parents.</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→I’ll spend some time staying with my parents, </a:t>
            </a:r>
            <a:r>
              <a:rPr lang="en-US" altLang="zh-CN" sz="2500" b="1" kern="100">
                <a:latin typeface="Times New Roman" panose="02020603050405020304" pitchFamily="18" charset="0"/>
                <a:ea typeface="宋体" panose="02010600030101010101" pitchFamily="2" charset="-122"/>
              </a:rPr>
              <a:t>chatting</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with</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them</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and</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doing</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some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housework</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与他们聊天和做一些家务</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(3)</a:t>
            </a:r>
            <a:r>
              <a:rPr lang="zh-CN" altLang="zh-CN" sz="2500" kern="100">
                <a:latin typeface="Times New Roman" panose="02020603050405020304" pitchFamily="18" charset="0"/>
                <a:ea typeface="宋体" panose="02010600030101010101" pitchFamily="2" charset="-122"/>
              </a:rPr>
              <a:t>我想找一个像我一样喜欢旅行的笔友。</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I would like to seek a pen pal who is interested in traveling just like me.</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→I would like to seek a pen pal who is interested in traveling just like me.</a:t>
            </a:r>
            <a:r>
              <a:rPr lang="en-US" altLang="zh-CN" sz="2500" b="1" kern="100">
                <a:latin typeface="Times New Roman" panose="02020603050405020304" pitchFamily="18" charset="0"/>
                <a:ea typeface="宋体" panose="02010600030101010101" pitchFamily="2" charset="-122"/>
              </a:rPr>
              <a:t>If</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possible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we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can</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travel</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together</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or</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share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traveling</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experiences</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如果可能的话</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我们可以一起旅行或者分享旅行经历</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355346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2</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增添与所写信息相关的神态、动作、心理描写以及背景渲染等内容</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我发现了一些不良行为。</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I found some bad behavior.</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→I found some bad behavior.</a:t>
            </a:r>
            <a:r>
              <a:rPr lang="en-US" altLang="zh-CN" sz="2500" b="1" kern="100">
                <a:latin typeface="Times New Roman" panose="02020603050405020304" pitchFamily="18" charset="0"/>
                <a:ea typeface="宋体" panose="02010600030101010101" pitchFamily="2" charset="-122"/>
              </a:rPr>
              <a:t>Some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people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scribbled</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on</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the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wall</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some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people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played</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soccer</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on</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the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lawn</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and</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some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people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threw</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rubbish</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everywhere</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有些人在墙上乱涂乱画</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有些人在草坪上踢足球</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有些人到处扔垃圾</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5285105"/>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3</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增加相关信息的时间、地点等内容</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(1)</a:t>
            </a:r>
            <a:r>
              <a:rPr lang="zh-CN" altLang="zh-CN" sz="2500" kern="100">
                <a:latin typeface="Times New Roman" panose="02020603050405020304" pitchFamily="18" charset="0"/>
                <a:ea typeface="宋体" panose="02010600030101010101" pitchFamily="2" charset="-122"/>
              </a:rPr>
              <a:t>我要和父母一起去超市购物。</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I’m going to do some shopping with my parents in the supermarket.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→I’m going to do some shopping with my parents in the supermarket </a:t>
            </a:r>
            <a:r>
              <a:rPr lang="en-US" altLang="zh-CN" sz="2500" b="1" kern="100">
                <a:latin typeface="Times New Roman" panose="02020603050405020304" pitchFamily="18" charset="0"/>
                <a:ea typeface="宋体" panose="02010600030101010101" pitchFamily="2" charset="-122"/>
              </a:rPr>
              <a:t>and</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won’t</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be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back</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until</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about</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5</a:t>
            </a:r>
            <a:r>
              <a:rPr lang="en-US" altLang="zh-CN" sz="2500" kern="100">
                <a:latin typeface="Times New Roman" panose="02020603050405020304" pitchFamily="18" charset="0"/>
                <a:ea typeface="宋体" panose="02010600030101010101" pitchFamily="2" charset="-122"/>
              </a:rPr>
              <a:t>:</a:t>
            </a:r>
            <a:r>
              <a:rPr lang="en-US" altLang="zh-CN" sz="2500" b="1" kern="100">
                <a:latin typeface="Times New Roman" panose="02020603050405020304" pitchFamily="18" charset="0"/>
                <a:ea typeface="宋体" panose="02010600030101010101" pitchFamily="2" charset="-122"/>
              </a:rPr>
              <a:t>00</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in</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the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afternoon</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直到下午五点左右才回来</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(2)</a:t>
            </a:r>
            <a:r>
              <a:rPr lang="zh-CN" altLang="zh-CN" sz="2500" kern="100">
                <a:latin typeface="Times New Roman" panose="02020603050405020304" pitchFamily="18" charset="0"/>
                <a:ea typeface="宋体" panose="02010600030101010101" pitchFamily="2" charset="-122"/>
              </a:rPr>
              <a:t>我已经带来了你让我归还的这两本书。</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I have brought with me the two books you asked me to return.</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→I have brought with me the two books you asked me to return </a:t>
            </a:r>
            <a:r>
              <a:rPr lang="en-US" altLang="zh-CN" sz="2500" b="1" kern="100">
                <a:latin typeface="Times New Roman" panose="02020603050405020304" pitchFamily="18" charset="0"/>
                <a:ea typeface="宋体" panose="02010600030101010101" pitchFamily="2" charset="-122"/>
              </a:rPr>
              <a:t>to</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the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City</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Library</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去市图书馆</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70789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4</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适当增加与所给信息相关的原因、结果、条件、让步、手段、目的等内容</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(1)</a:t>
            </a:r>
            <a:r>
              <a:rPr lang="zh-CN" altLang="zh-CN" sz="2500" kern="100">
                <a:latin typeface="Times New Roman" panose="02020603050405020304" pitchFamily="18" charset="0"/>
                <a:ea typeface="宋体" panose="02010600030101010101" pitchFamily="2" charset="-122"/>
              </a:rPr>
              <a:t>假设你是李华</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你的英国笔友</a:t>
            </a:r>
            <a:r>
              <a:rPr lang="en-US" altLang="zh-CN" sz="2500" kern="100">
                <a:latin typeface="Times New Roman" panose="02020603050405020304" pitchFamily="18" charset="0"/>
                <a:ea typeface="宋体" panose="02010600030101010101" pitchFamily="2" charset="-122"/>
              </a:rPr>
              <a:t>Henry</a:t>
            </a:r>
            <a:r>
              <a:rPr lang="zh-CN" altLang="zh-CN" sz="2500" kern="100">
                <a:latin typeface="Times New Roman" panose="02020603050405020304" pitchFamily="18" charset="0"/>
                <a:ea typeface="宋体" panose="02010600030101010101" pitchFamily="2" charset="-122"/>
              </a:rPr>
              <a:t>最近来信询问你高考后的暑假安排。请根据下面要点写一封回信</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说明你的计划</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并简述理由。</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要点</a:t>
            </a:r>
            <a:r>
              <a:rPr lang="en-US" altLang="zh-CN" sz="2500" kern="100">
                <a:latin typeface="Times New Roman" panose="02020603050405020304" pitchFamily="18" charset="0"/>
                <a:ea typeface="宋体" panose="02010600030101010101" pitchFamily="2" charset="-122"/>
              </a:rPr>
              <a:t>: a.</a:t>
            </a:r>
            <a:r>
              <a:rPr lang="zh-CN" altLang="zh-CN" sz="2500" kern="100">
                <a:latin typeface="Times New Roman" panose="02020603050405020304" pitchFamily="18" charset="0"/>
                <a:ea typeface="宋体" panose="02010600030101010101" pitchFamily="2" charset="-122"/>
              </a:rPr>
              <a:t>休息</a:t>
            </a:r>
            <a:r>
              <a:rPr lang="en-US" altLang="zh-CN" sz="2500" kern="100">
                <a:latin typeface="Times New Roman" panose="02020603050405020304" pitchFamily="18" charset="0"/>
                <a:ea typeface="宋体" panose="02010600030101010101" pitchFamily="2" charset="-122"/>
              </a:rPr>
              <a:t>; b.</a:t>
            </a:r>
            <a:r>
              <a:rPr lang="zh-CN" altLang="zh-CN" sz="2500" kern="100">
                <a:latin typeface="Times New Roman" panose="02020603050405020304" pitchFamily="18" charset="0"/>
                <a:ea typeface="宋体" panose="02010600030101010101" pitchFamily="2" charset="-122"/>
              </a:rPr>
              <a:t>读书</a:t>
            </a:r>
            <a:r>
              <a:rPr lang="en-US" altLang="zh-CN" sz="2500" kern="100">
                <a:latin typeface="Times New Roman" panose="02020603050405020304" pitchFamily="18" charset="0"/>
                <a:ea typeface="宋体" panose="02010600030101010101" pitchFamily="2" charset="-122"/>
              </a:rPr>
              <a:t>; c.</a:t>
            </a:r>
            <a:r>
              <a:rPr lang="zh-CN" altLang="zh-CN" sz="2500" kern="100">
                <a:latin typeface="Times New Roman" panose="02020603050405020304" pitchFamily="18" charset="0"/>
                <a:ea typeface="宋体" panose="02010600030101010101" pitchFamily="2" charset="-122"/>
              </a:rPr>
              <a:t>参加社会活动。</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①</a:t>
            </a:r>
            <a:r>
              <a:rPr lang="en-US" altLang="zh-CN" sz="2500" kern="100">
                <a:latin typeface="Times New Roman" panose="02020603050405020304" pitchFamily="18" charset="0"/>
                <a:ea typeface="宋体" panose="02010600030101010101" pitchFamily="2" charset="-122"/>
              </a:rPr>
              <a:t>I need a good rest.I’ll do some reading.</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→I need a good rest </a:t>
            </a:r>
            <a:r>
              <a:rPr lang="en-US" altLang="zh-CN" sz="2500" b="1" kern="100">
                <a:latin typeface="Times New Roman" panose="02020603050405020304" pitchFamily="18" charset="0"/>
                <a:ea typeface="宋体" panose="02010600030101010101" pitchFamily="2" charset="-122"/>
              </a:rPr>
              <a:t>because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I</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do</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feel</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tired</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after</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the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hard</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work</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of</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all</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these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years</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因为经过所有这些年的辛苦工作</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我确实感到累</a:t>
            </a:r>
            <a:r>
              <a:rPr lang="en-US" altLang="zh-CN" sz="2500" kern="100">
                <a:latin typeface="Times New Roman" panose="02020603050405020304" pitchFamily="18" charset="0"/>
                <a:ea typeface="宋体" panose="02010600030101010101" pitchFamily="2" charset="-122"/>
              </a:rPr>
              <a:t>).Of course, I’ll do some reading </a:t>
            </a:r>
            <a:r>
              <a:rPr lang="en-US" altLang="zh-CN" sz="2500" b="1" kern="100">
                <a:latin typeface="Times New Roman" panose="02020603050405020304" pitchFamily="18" charset="0"/>
                <a:ea typeface="宋体" panose="02010600030101010101" pitchFamily="2" charset="-122"/>
              </a:rPr>
              <a:t>for</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fun</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and</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for</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knowledge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as</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well</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为了乐趣也为了知识</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2976880"/>
          </a:xfrm>
          <a:prstGeom prst="rect">
            <a:avLst/>
          </a:prstGeom>
          <a:noFill/>
        </p:spPr>
        <p:txBody>
          <a:bodyPr wrap="square" rtlCol="0">
            <a:spAutoFit/>
          </a:bodyPr>
          <a:lstStyle/>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②</a:t>
            </a:r>
            <a:r>
              <a:rPr lang="en-US" altLang="zh-CN" sz="2500" kern="100">
                <a:latin typeface="Times New Roman" panose="02020603050405020304" pitchFamily="18" charset="0"/>
                <a:ea typeface="宋体" panose="02010600030101010101" pitchFamily="2" charset="-122"/>
              </a:rPr>
              <a:t>I’ll take part in some social activities.</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a:t>
            </a:r>
            <a:r>
              <a:rPr lang="en-US" altLang="zh-CN" sz="2500" b="1" kern="100">
                <a:latin typeface="Times New Roman" panose="02020603050405020304" pitchFamily="18" charset="0"/>
                <a:ea typeface="宋体" panose="02010600030101010101" pitchFamily="2" charset="-122"/>
              </a:rPr>
              <a:t>If</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I</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have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free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time</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如果我有时间</a:t>
            </a:r>
            <a:r>
              <a:rPr lang="en-US" altLang="zh-CN" sz="2500" kern="100">
                <a:latin typeface="Times New Roman" panose="02020603050405020304" pitchFamily="18" charset="0"/>
                <a:ea typeface="宋体" panose="02010600030101010101" pitchFamily="2" charset="-122"/>
              </a:rPr>
              <a:t>), I’ll take part in some social activities.</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a:t>
            </a:r>
            <a:r>
              <a:rPr lang="en-US" altLang="zh-CN" sz="2500" b="1" kern="100">
                <a:latin typeface="Times New Roman" panose="02020603050405020304" pitchFamily="18" charset="0"/>
                <a:ea typeface="宋体" panose="02010600030101010101" pitchFamily="2" charset="-122"/>
              </a:rPr>
              <a:t>If</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possible</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如果可能的话</a:t>
            </a:r>
            <a:r>
              <a:rPr lang="en-US" altLang="zh-CN" sz="2500" kern="100">
                <a:latin typeface="Times New Roman" panose="02020603050405020304" pitchFamily="18" charset="0"/>
                <a:ea typeface="宋体" panose="02010600030101010101" pitchFamily="2" charset="-122"/>
              </a:rPr>
              <a:t>), I’ll take part in some social activities.(</a:t>
            </a:r>
            <a:r>
              <a:rPr lang="zh-CN" altLang="zh-CN" sz="2500" kern="100">
                <a:latin typeface="Times New Roman" panose="02020603050405020304" pitchFamily="18" charset="0"/>
                <a:ea typeface="宋体" panose="02010600030101010101" pitchFamily="2" charset="-122"/>
              </a:rPr>
              <a:t>条件状语</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→I’ll take part in some social activities </a:t>
            </a:r>
            <a:r>
              <a:rPr lang="en-US" altLang="zh-CN" sz="2500" b="1" kern="100">
                <a:latin typeface="Times New Roman" panose="02020603050405020304" pitchFamily="18" charset="0"/>
                <a:ea typeface="宋体" panose="02010600030101010101" pitchFamily="2" charset="-122"/>
              </a:rPr>
              <a:t>so</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that/in</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order</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that</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I</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can</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know</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more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about</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society</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为了更好地了解社会</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2399665"/>
          </a:xfrm>
          <a:prstGeom prst="rect">
            <a:avLst/>
          </a:prstGeom>
          <a:noFill/>
        </p:spPr>
        <p:txBody>
          <a:bodyPr wrap="square" rtlCol="0">
            <a:spAutoFit/>
          </a:bodyPr>
          <a:lstStyle/>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(2)Tracy</a:t>
            </a:r>
            <a:r>
              <a:rPr lang="zh-CN" altLang="zh-CN" sz="2500" kern="100">
                <a:latin typeface="Times New Roman" panose="02020603050405020304" pitchFamily="18" charset="0"/>
                <a:ea typeface="宋体" panose="02010600030101010101" pitchFamily="2" charset="-122"/>
              </a:rPr>
              <a:t>来电话说和你在博尔顿咖啡屋</a:t>
            </a:r>
            <a:r>
              <a:rPr lang="en-US" altLang="zh-CN" sz="2500" kern="100">
                <a:latin typeface="Times New Roman" panose="02020603050405020304" pitchFamily="18" charset="0"/>
                <a:ea typeface="宋体" panose="02010600030101010101" pitchFamily="2" charset="-122"/>
              </a:rPr>
              <a:t>(Bolton Coffee)</a:t>
            </a:r>
            <a:r>
              <a:rPr lang="zh-CN" altLang="zh-CN" sz="2500" kern="100">
                <a:latin typeface="Times New Roman" panose="02020603050405020304" pitchFamily="18" charset="0"/>
                <a:ea typeface="宋体" panose="02010600030101010101" pitchFamily="2" charset="-122"/>
              </a:rPr>
              <a:t>的见面取消。</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Tracy called, saying that she couldn’t meet you at Bolton Coffee.</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→Tracy called, saying that she couldn’t meet you at Bolton Coffee </a:t>
            </a:r>
            <a:r>
              <a:rPr lang="en-US" altLang="zh-CN" sz="2500" b="1" kern="100">
                <a:latin typeface="Times New Roman" panose="02020603050405020304" pitchFamily="18" charset="0"/>
                <a:ea typeface="宋体" panose="02010600030101010101" pitchFamily="2" charset="-122"/>
              </a:rPr>
              <a:t>as</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she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had</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something</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important</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to</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do</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因为她有重要的事情做</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297688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5</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结尾适当发挥</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写出个人感受、评价、希望、愿景、倡议等</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(1)Tired as I was this summer holiday, I felt very happy for what I did.(</a:t>
            </a:r>
            <a:r>
              <a:rPr lang="zh-CN" altLang="zh-CN" sz="2500" kern="100">
                <a:latin typeface="Times New Roman" panose="02020603050405020304" pitchFamily="18" charset="0"/>
                <a:ea typeface="宋体" panose="02010600030101010101" pitchFamily="2" charset="-122"/>
              </a:rPr>
              <a:t>个人感受</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(2)As far as I’m concerned, such activities are necessary and meaningful.(</a:t>
            </a:r>
            <a:r>
              <a:rPr lang="zh-CN" altLang="zh-CN" sz="2500" kern="100">
                <a:latin typeface="Times New Roman" panose="02020603050405020304" pitchFamily="18" charset="0"/>
                <a:ea typeface="宋体" panose="02010600030101010101" pitchFamily="2" charset="-122"/>
              </a:rPr>
              <a:t>评价</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(3)In a word, if she would like to learn Chinese, I hope she will do it well.(</a:t>
            </a:r>
            <a:r>
              <a:rPr lang="zh-CN" altLang="zh-CN" sz="2500" kern="100">
                <a:latin typeface="Times New Roman" panose="02020603050405020304" pitchFamily="18" charset="0"/>
                <a:ea typeface="宋体" panose="02010600030101010101" pitchFamily="2" charset="-122"/>
              </a:rPr>
              <a:t>愿景</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(4)As students, it’s our duty to protect our school environment and make it clean.(</a:t>
            </a:r>
            <a:r>
              <a:rPr lang="zh-CN" altLang="zh-CN" sz="2500" kern="100">
                <a:latin typeface="Times New Roman" panose="02020603050405020304" pitchFamily="18" charset="0"/>
                <a:ea typeface="宋体" panose="02010600030101010101" pitchFamily="2" charset="-122"/>
              </a:rPr>
              <a:t>倡议</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130675"/>
          </a:xfrm>
          <a:prstGeom prst="rect">
            <a:avLst/>
          </a:prstGeom>
          <a:noFill/>
        </p:spPr>
        <p:txBody>
          <a:bodyPr wrap="square" rtlCol="0">
            <a:spAutoFit/>
          </a:bodyPr>
          <a:lstStyle/>
          <a:p>
            <a:pPr algn="ctr">
              <a:lnSpc>
                <a:spcPct val="150000"/>
              </a:lnSpc>
              <a:spcAft>
                <a:spcPct val="0"/>
              </a:spcAft>
            </a:pPr>
            <a:r>
              <a:rPr lang="zh-CN" altLang="zh-CN" sz="2500" kern="100">
                <a:latin typeface="Times New Roman" panose="02020603050405020304" pitchFamily="18" charset="0"/>
                <a:ea typeface="宋体" panose="02010600030101010101" pitchFamily="2" charset="-122"/>
              </a:rPr>
              <a:t>【拓展训练】</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　　假如你是班长</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你们学校本周日将组织一次参观首都博物馆的活动</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请你写一个通知。相关内容如下</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安排</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indent="355600" algn="just">
              <a:lnSpc>
                <a:spcPct val="150000"/>
              </a:lnSpc>
              <a:spcAft>
                <a:spcPct val="0"/>
              </a:spcAft>
            </a:pPr>
            <a:r>
              <a:rPr lang="en-US" altLang="zh-CN" sz="2500" kern="100" smtClean="0">
                <a:latin typeface="Times New Roman" panose="02020603050405020304" pitchFamily="18" charset="0"/>
                <a:ea typeface="宋体" panose="02010600030101010101" pitchFamily="2" charset="-122"/>
              </a:rPr>
              <a:t>   1</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上午</a:t>
            </a:r>
            <a:r>
              <a:rPr lang="en-US" altLang="zh-CN" sz="2500" kern="100">
                <a:latin typeface="Times New Roman" panose="02020603050405020304" pitchFamily="18" charset="0"/>
                <a:ea typeface="宋体" panose="02010600030101010101" pitchFamily="2" charset="-122"/>
              </a:rPr>
              <a:t>8:00 </a:t>
            </a:r>
            <a:r>
              <a:rPr lang="zh-CN" altLang="zh-CN" sz="2500" kern="100">
                <a:latin typeface="Times New Roman" panose="02020603050405020304" pitchFamily="18" charset="0"/>
                <a:ea typeface="宋体" panose="02010600030101010101" pitchFamily="2" charset="-122"/>
              </a:rPr>
              <a:t>在学校大门口集合</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集体乘车去首都博物馆</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smtClean="0">
                <a:latin typeface="Times New Roman" panose="02020603050405020304" pitchFamily="18" charset="0"/>
                <a:ea typeface="宋体" panose="02010600030101010101" pitchFamily="2" charset="-122"/>
              </a:rPr>
              <a:t>       2</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上午</a:t>
            </a:r>
            <a:r>
              <a:rPr lang="en-US" altLang="zh-CN" sz="2500" kern="100">
                <a:latin typeface="Times New Roman" panose="02020603050405020304" pitchFamily="18" charset="0"/>
                <a:ea typeface="宋体" panose="02010600030101010101" pitchFamily="2" charset="-122"/>
              </a:rPr>
              <a:t>8:40 </a:t>
            </a:r>
            <a:r>
              <a:rPr lang="zh-CN" altLang="zh-CN" sz="2500" kern="100">
                <a:latin typeface="Times New Roman" panose="02020603050405020304" pitchFamily="18" charset="0"/>
                <a:ea typeface="宋体" panose="02010600030101010101" pitchFamily="2" charset="-122"/>
              </a:rPr>
              <a:t>在导游的带领下参观首都博物馆</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smtClean="0">
                <a:latin typeface="Times New Roman" panose="02020603050405020304" pitchFamily="18" charset="0"/>
                <a:ea typeface="宋体" panose="02010600030101010101" pitchFamily="2" charset="-122"/>
              </a:rPr>
              <a:t>       3</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中午</a:t>
            </a:r>
            <a:r>
              <a:rPr lang="en-US" altLang="zh-CN" sz="2500" kern="100">
                <a:latin typeface="Times New Roman" panose="02020603050405020304" pitchFamily="18" charset="0"/>
                <a:ea typeface="宋体" panose="02010600030101010101" pitchFamily="2" charset="-122"/>
              </a:rPr>
              <a:t>12:00 </a:t>
            </a:r>
            <a:r>
              <a:rPr lang="zh-CN" altLang="zh-CN" sz="2500" kern="100">
                <a:latin typeface="Times New Roman" panose="02020603050405020304" pitchFamily="18" charset="0"/>
                <a:ea typeface="宋体" panose="02010600030101010101" pitchFamily="2" charset="-122"/>
              </a:rPr>
              <a:t>参观结束</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集体乘车返回学校。</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2399665"/>
          </a:xfrm>
          <a:prstGeom prst="rect">
            <a:avLst/>
          </a:prstGeom>
          <a:noFill/>
        </p:spPr>
        <p:txBody>
          <a:bodyPr wrap="square" rtlCol="0">
            <a:spAutoFit/>
          </a:bodyPr>
          <a:lstStyle/>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要求</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indent="355600" algn="just">
              <a:lnSpc>
                <a:spcPct val="150000"/>
              </a:lnSpc>
              <a:spcAft>
                <a:spcPct val="0"/>
              </a:spcAft>
            </a:pPr>
            <a:r>
              <a:rPr lang="en-US" altLang="zh-CN" sz="2500" kern="100">
                <a:latin typeface="Times New Roman" panose="02020603050405020304" pitchFamily="18" charset="0"/>
                <a:ea typeface="宋体" panose="02010600030101010101" pitchFamily="2" charset="-122"/>
              </a:rPr>
              <a:t>1.</a:t>
            </a:r>
            <a:r>
              <a:rPr lang="zh-CN" altLang="zh-CN" sz="2500" kern="100">
                <a:latin typeface="Times New Roman" panose="02020603050405020304" pitchFamily="18" charset="0"/>
                <a:ea typeface="宋体" panose="02010600030101010101" pitchFamily="2" charset="-122"/>
              </a:rPr>
              <a:t>参观过程中请自觉遵守公共秩序</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    2.</a:t>
            </a:r>
            <a:r>
              <a:rPr lang="zh-CN" altLang="zh-CN" sz="2500" kern="100">
                <a:latin typeface="Times New Roman" panose="02020603050405020304" pitchFamily="18" charset="0"/>
                <a:ea typeface="宋体" panose="02010600030101010101" pitchFamily="2" charset="-122"/>
              </a:rPr>
              <a:t>馆内禁止录像和开闪光灯拍照</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    3.</a:t>
            </a:r>
            <a:r>
              <a:rPr lang="zh-CN" altLang="zh-CN" sz="2500" kern="100">
                <a:latin typeface="Times New Roman" panose="02020603050405020304" pitchFamily="18" charset="0"/>
                <a:ea typeface="宋体" panose="02010600030101010101" pitchFamily="2" charset="-122"/>
              </a:rPr>
              <a:t>参观后每人写一篇日记。</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707890"/>
          </a:xfrm>
          <a:prstGeom prst="rect">
            <a:avLst/>
          </a:prstGeom>
          <a:noFill/>
        </p:spPr>
        <p:txBody>
          <a:bodyPr wrap="square" rtlCol="0">
            <a:spAutoFit/>
          </a:bodyPr>
          <a:lstStyle/>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注意</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indent="355600" algn="just">
              <a:lnSpc>
                <a:spcPct val="150000"/>
              </a:lnSpc>
              <a:spcAft>
                <a:spcPct val="0"/>
              </a:spcAft>
            </a:pPr>
            <a:r>
              <a:rPr lang="en-US" altLang="zh-CN" sz="2500" kern="100">
                <a:latin typeface="Times New Roman" panose="02020603050405020304" pitchFamily="18" charset="0"/>
                <a:ea typeface="宋体" panose="02010600030101010101" pitchFamily="2" charset="-122"/>
              </a:rPr>
              <a:t>1.</a:t>
            </a:r>
            <a:r>
              <a:rPr lang="zh-CN" altLang="zh-CN" sz="2500" kern="100">
                <a:latin typeface="Times New Roman" panose="02020603050405020304" pitchFamily="18" charset="0"/>
                <a:ea typeface="宋体" panose="02010600030101010101" pitchFamily="2" charset="-122"/>
              </a:rPr>
              <a:t>写作词数应为</a:t>
            </a:r>
            <a:r>
              <a:rPr lang="en-US" altLang="zh-CN" sz="2500" kern="100">
                <a:latin typeface="Times New Roman" panose="02020603050405020304" pitchFamily="18" charset="0"/>
                <a:ea typeface="宋体" panose="02010600030101010101" pitchFamily="2" charset="-122"/>
              </a:rPr>
              <a:t>80</a:t>
            </a:r>
            <a:r>
              <a:rPr lang="zh-CN" altLang="zh-CN" sz="2500" kern="100">
                <a:latin typeface="Times New Roman" panose="02020603050405020304" pitchFamily="18" charset="0"/>
                <a:ea typeface="宋体" panose="02010600030101010101" pitchFamily="2" charset="-122"/>
              </a:rPr>
              <a:t>个左右</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smtClean="0">
                <a:latin typeface="Times New Roman" panose="02020603050405020304" pitchFamily="18" charset="0"/>
                <a:ea typeface="宋体" panose="02010600030101010101" pitchFamily="2" charset="-122"/>
              </a:rPr>
              <a:t>    2</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通知的开头已为你写好</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不计入总词数。</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Dear students,</a:t>
            </a:r>
            <a:endParaRPr lang="zh-CN" altLang="zh-CN" sz="2500" kern="100">
              <a:latin typeface="Times New Roman" panose="02020603050405020304" pitchFamily="18" charset="0"/>
              <a:ea typeface="宋体" panose="02010600030101010101" pitchFamily="2" charset="-122"/>
            </a:endParaRPr>
          </a:p>
          <a:p>
            <a:pPr indent="355600" algn="just">
              <a:lnSpc>
                <a:spcPct val="150000"/>
              </a:lnSpc>
              <a:spcAft>
                <a:spcPct val="0"/>
              </a:spcAft>
            </a:pPr>
            <a:r>
              <a:rPr lang="en-US" altLang="zh-CN" sz="2500" kern="100">
                <a:latin typeface="Times New Roman" panose="02020603050405020304" pitchFamily="18" charset="0"/>
                <a:ea typeface="宋体" panose="02010600030101010101" pitchFamily="2" charset="-122"/>
              </a:rPr>
              <a:t>Attention, please.</a:t>
            </a:r>
            <a:endParaRPr lang="zh-CN" altLang="zh-CN" sz="2500" kern="100">
              <a:latin typeface="Times New Roman" panose="02020603050405020304" pitchFamily="18" charset="0"/>
              <a:ea typeface="宋体" panose="02010600030101010101" pitchFamily="2" charset="-122"/>
            </a:endParaRPr>
          </a:p>
          <a:p>
            <a:pPr>
              <a:lnSpc>
                <a:spcPct val="150000"/>
              </a:lnSpc>
            </a:pPr>
            <a:r>
              <a:rPr lang="en-US" altLang="zh-CN" sz="2500" kern="100">
                <a:latin typeface="Times New Roman" panose="02020603050405020304" pitchFamily="18" charset="0"/>
                <a:ea typeface="宋体" panose="02010600030101010101" pitchFamily="2" charset="-122"/>
              </a:rPr>
              <a:t>________________________________________________________________</a:t>
            </a:r>
            <a:endParaRPr lang="zh-CN" altLang="zh-CN" sz="2500" kern="100">
              <a:latin typeface="Times New Roman" panose="02020603050405020304" pitchFamily="18" charset="0"/>
              <a:ea typeface="宋体" panose="02010600030101010101" pitchFamily="2" charset="-122"/>
            </a:endParaRPr>
          </a:p>
          <a:p>
            <a:pPr>
              <a:lnSpc>
                <a:spcPct val="150000"/>
              </a:lnSpc>
            </a:pPr>
            <a:r>
              <a:rPr lang="en-US" altLang="zh-CN" sz="2500" kern="100">
                <a:latin typeface="Times New Roman" panose="02020603050405020304" pitchFamily="18" charset="0"/>
                <a:ea typeface="宋体" panose="02010600030101010101" pitchFamily="2" charset="-122"/>
              </a:rPr>
              <a:t>________________________________________________________________</a:t>
            </a:r>
            <a:endParaRPr lang="zh-CN" altLang="zh-CN" sz="2500" kern="100">
              <a:latin typeface="Times New Roman" panose="02020603050405020304" pitchFamily="18" charset="0"/>
              <a:ea typeface="宋体" panose="02010600030101010101" pitchFamily="2" charset="-122"/>
            </a:endParaRPr>
          </a:p>
          <a:p>
            <a:pPr>
              <a:lnSpc>
                <a:spcPct val="150000"/>
              </a:lnSpc>
            </a:pPr>
            <a:r>
              <a:rPr lang="en-US" altLang="zh-CN" sz="2500" kern="100">
                <a:latin typeface="Times New Roman" panose="02020603050405020304" pitchFamily="18" charset="0"/>
                <a:ea typeface="宋体" panose="02010600030101010101" pitchFamily="2" charset="-122"/>
              </a:rPr>
              <a:t>________________________________________________________________</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442178"/>
            <a:ext cx="11276510" cy="643953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【参考范文】</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Dear students,</a:t>
            </a:r>
            <a:endParaRPr lang="zh-CN" altLang="zh-CN" sz="2500" kern="100">
              <a:latin typeface="Times New Roman" panose="02020603050405020304" pitchFamily="18" charset="0"/>
              <a:ea typeface="宋体" panose="02010600030101010101" pitchFamily="2" charset="-122"/>
            </a:endParaRPr>
          </a:p>
          <a:p>
            <a:pPr indent="355600" algn="just">
              <a:lnSpc>
                <a:spcPct val="150000"/>
              </a:lnSpc>
              <a:spcAft>
                <a:spcPct val="0"/>
              </a:spcAft>
            </a:pPr>
            <a:r>
              <a:rPr lang="en-US" altLang="zh-CN" sz="2500" kern="100">
                <a:latin typeface="Times New Roman" panose="02020603050405020304" pitchFamily="18" charset="0"/>
                <a:ea typeface="宋体" panose="02010600030101010101" pitchFamily="2" charset="-122"/>
              </a:rPr>
              <a:t>Attention, please.</a:t>
            </a:r>
            <a:endParaRPr lang="zh-CN" altLang="zh-CN" sz="2500" kern="100">
              <a:latin typeface="Times New Roman" panose="02020603050405020304" pitchFamily="18" charset="0"/>
              <a:ea typeface="宋体" panose="02010600030101010101" pitchFamily="2" charset="-122"/>
            </a:endParaRPr>
          </a:p>
          <a:p>
            <a:pPr indent="355600" algn="just">
              <a:lnSpc>
                <a:spcPct val="150000"/>
              </a:lnSpc>
              <a:spcAft>
                <a:spcPct val="0"/>
              </a:spcAft>
            </a:pPr>
            <a:r>
              <a:rPr lang="en-US" altLang="zh-CN" sz="2500" kern="100">
                <a:latin typeface="Times New Roman" panose="02020603050405020304" pitchFamily="18" charset="0"/>
                <a:ea typeface="宋体" panose="02010600030101010101" pitchFamily="2" charset="-122"/>
              </a:rPr>
              <a:t>I have something to tell you.We are going to pay a visit to the Capital Museum this Sunday.Be sure to arrive at the school gate before 8:00 a.m.We will go there by bus together.At about 8:40 a.m., we’ll visit the museum following a guide.The visit will be over at around 12:00, and then we’ll return by bus.Please observe public order, keep quiet and avoid running.Video recording and flash photography are forbidden in the museum, so you’d better take some notes since we have to write a diary after the visiting.</a:t>
            </a:r>
            <a:endParaRPr lang="zh-CN" altLang="zh-CN" sz="2500" kern="100">
              <a:latin typeface="Times New Roman" panose="02020603050405020304" pitchFamily="18" charset="0"/>
              <a:ea typeface="宋体" panose="02010600030101010101" pitchFamily="2" charset="-122"/>
            </a:endParaRPr>
          </a:p>
          <a:p>
            <a:pPr indent="355600" algn="just">
              <a:lnSpc>
                <a:spcPct val="150000"/>
              </a:lnSpc>
              <a:spcAft>
                <a:spcPct val="0"/>
              </a:spcAft>
            </a:pPr>
            <a:r>
              <a:rPr lang="en-US" altLang="zh-CN" sz="2500" kern="100">
                <a:latin typeface="Times New Roman" panose="02020603050405020304" pitchFamily="18" charset="0"/>
                <a:ea typeface="宋体" panose="02010600030101010101" pitchFamily="2" charset="-122"/>
              </a:rPr>
              <a:t>That’s all.Thank you.</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tags/tag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3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4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7.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58.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5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2.xml><?xml version="1.0" encoding="utf-8"?>
<p:tagLst xmlns:p="http://schemas.openxmlformats.org/presentationml/2006/main">
  <p:tag name="KSO_WM_BEAUTIFY_FLAG" val="#wm#"/>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63.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custom20205081_1*b*1"/>
  <p:tag name="KSO_WM_UNIT_INDEX" val="1"/>
  <p:tag name="KSO_WM_UNIT_ISCONTENTSTITLE" val="0"/>
  <p:tag name="KSO_WM_UNIT_ISNUMDGMTITLE" val="0"/>
  <p:tag name="KSO_WM_UNIT_LAYERLEVEL" val="1"/>
  <p:tag name="KSO_WM_UNIT_NOCLEAR" val="0"/>
  <p:tag name="KSO_WM_UNIT_SHOW_EDIT_AREA_INDICATION" val="1"/>
  <p:tag name="KSO_WM_UNIT_TYPE" val="b"/>
  <p:tag name="KSO_WM_UNIT_VALUE" val="111"/>
</p:tagLst>
</file>

<file path=ppt/tags/tag64.xml><?xml version="1.0" encoding="utf-8"?>
<p:tagLst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65.xml><?xml version="1.0" encoding="utf-8"?>
<p:tagLst xmlns:p="http://schemas.openxmlformats.org/presentationml/2006/main">
  <p:tag name="AS_OS" val="Unix 3.10 unknown"/>
  <p:tag name="AS_RELEASE_DATE" val="2023.03.31"/>
  <p:tag name="AS_TITLE" val="Aspose.Slides for Java"/>
  <p:tag name="AS_VERSION" val="23.3"/>
  <p:tag name="COMMONDATA" val="eyJoZGlkIjoiZjgyZmZhYjFlODliMjVlMjhmZmU1Y2ZlZmViZTBiYWYifQ=="/>
</p:tagLst>
</file>

<file path=ppt/theme/theme1.xml><?xml version="1.0" encoding="utf-8"?>
<a:theme xmlns:r="http://schemas.openxmlformats.org/officeDocument/2006/relationships"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Arial"/>
      </a:majorFont>
      <a:minorFont>
        <a:latin typeface="Arial"/>
        <a:ea typeface="微软雅黑"/>
        <a:cs typeface="Arial"/>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学科网</Company>
  <Paragraphs>62</Paragraphs>
  <Slides>13</Slides>
  <Notes>12</Notes>
  <TotalTime>0</TotalTime>
  <HiddenSlides>0</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13</vt:i4>
      </vt:variant>
    </vt:vector>
  </HeadingPairs>
  <TitlesOfParts>
    <vt:vector baseType="lpstr" size="21">
      <vt:lpstr>Arial</vt:lpstr>
      <vt:lpstr>微软雅黑</vt:lpstr>
      <vt:lpstr>Wingdings</vt:lpstr>
      <vt:lpstr>Calibri Light</vt:lpstr>
      <vt:lpstr>Calibri</vt:lpstr>
      <vt:lpstr>Times New Roman</vt:lpstr>
      <vt:lpstr>宋体</vt:lpstr>
      <vt:lpstr>WPS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Java</Application>
  <AppVersion>23.0300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creator>rbm.xkw.com</dc:creator>
  <cp:revision>1</cp:revision>
  <cp:lastPrinted>2024-05-29T16:38:04.750</cp:lastPrinted>
  <dcterms:created xsi:type="dcterms:W3CDTF">2024-05-29T16:38:04Z</dcterms:created>
  <dcterms:modified xsi:type="dcterms:W3CDTF">2024-05-29T08:38:04Z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