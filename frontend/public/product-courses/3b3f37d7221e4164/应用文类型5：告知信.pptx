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tags" Target="tags/tag1.xml" /><Relationship Id="rId18" Type="http://schemas.openxmlformats.org/officeDocument/2006/relationships/presProps" Target="presProps.xml" /><Relationship Id="rId19" Type="http://schemas.openxmlformats.org/officeDocument/2006/relationships/viewProps" Target="viewProps.xml" /><Relationship Id="rId2" Type="http://schemas.openxmlformats.org/officeDocument/2006/relationships/notesMaster" Target="notesMasters/notesMaster1.xml" /><Relationship Id="rId20" Type="http://schemas.openxmlformats.org/officeDocument/2006/relationships/theme" Target="theme/theme1.xml" /><Relationship Id="rId21"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file:///D:\qq&#25991;&#20214;\712321467\Image\C2C\Image2\%7b75232B38-A165-1FB7-499C-2E1C792CACB5%7d.png"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p:bg>
      <p:bgPr>
        <a:blipFill rotWithShape="0">
          <a:blip r:embed="rId4"/>
          <a:stretch>
            <a:fillRect/>
          </a:stretch>
        </a:blipFill>
        <a:effectLst/>
      </p:bgPr>
    </p:bg>
    <p:spTree>
      <p:nvGrpSpPr>
        <p:cNvPr id="1" name=""/>
        <p:cNvGrpSpPr/>
        <p:nvPr/>
      </p:nvGrpSpPr>
      <p:grpSpPr>
        <a:xfrm>
          <a:off x="0" y="0"/>
          <a:ext cx="0" cy="0"/>
        </a:xfrm>
      </p:grpSpPr>
      <p:sp>
        <p:nvSpPr>
          <p:cNvPr id="12" name="矩形 232452"/>
          <p:cNvSpPr/>
          <p:nvPr userDrawn="1"/>
        </p:nvSpPr>
        <p:spPr>
          <a:xfrm>
            <a:off x="11279838" y="-42918"/>
            <a:ext cx="912162" cy="476113"/>
          </a:xfrm>
          <a:prstGeom prst="rect">
            <a:avLst/>
          </a:prstGeom>
          <a:noFill/>
          <a:ln w="9525">
            <a:noFill/>
          </a:ln>
        </p:spPr>
        <p:txBody>
          <a:bodyPr lIns="91435" tIns="45717" rIns="91435" bIns="45717" anchor="t" anchorCtr="0"/>
          <a:lstStyle/>
          <a:p>
            <a:pPr algn="l" defTabSz="998855" fontAlgn="base">
              <a:lnSpc>
                <a:spcPct val="150000"/>
              </a:lnSpc>
              <a:spcBef>
                <a:spcPct val="0"/>
              </a:spcBef>
              <a:spcAft>
                <a:spcPct val="0"/>
              </a:spcAft>
            </a:pPr>
            <a:endParaRPr lang="zh-CN" altLang="en-US" sz="2015" b="1">
              <a:solidFill>
                <a:srgbClr val="00B050"/>
              </a:solidFill>
              <a:latin typeface="Times New Roman" panose="02020603050405020304" pitchFamily="18" charset="0"/>
              <a:ea typeface="微软雅黑" panose="020b0503020204020204" charset="-122"/>
            </a:endParaRPr>
          </a:p>
        </p:txBody>
      </p:sp>
      <p:pic>
        <p:nvPicPr>
          <p:cNvPr id="13" name="图片 1073743875" descr="学科网 zxxk.com" title=""/>
          <p:cNvPicPr>
            <a:picLocks noChangeAspect="1"/>
          </p:cNvPicPr>
          <p:nvPr/>
        </p:nvPicPr>
        <p:blipFill>
          <a:blip r:embed="rId3" r:link="rId2"/>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rtl="0" eaLnBrk="0" fontAlgn="base" hangingPunct="0">
        <a:lnSpc>
          <a:spcPct val="90000"/>
        </a:lnSpc>
        <a:spcBef>
          <a:spcPct val="0"/>
        </a:spcBef>
        <a:spcAft>
          <a:spcPct val="0"/>
        </a:spcAft>
        <a:defRPr sz="4395">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7pPr>
      <a:lvl8pPr marL="13709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8pPr>
      <a:lvl9pPr marL="18281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9pPr>
    </p:titleStyle>
    <p:bodyStyle>
      <a:lvl1pPr marL="228600" indent="-228600" algn="l" rtl="0" eaLnBrk="0" fontAlgn="base" hangingPunct="0">
        <a:lnSpc>
          <a:spcPct val="90000"/>
        </a:lnSpc>
        <a:spcBef>
          <a:spcPct val="198000"/>
        </a:spcBef>
        <a:spcAft>
          <a:spcPct val="0"/>
        </a:spcAft>
        <a:buFont typeface="Arial" panose="020b0604020202020204" pitchFamily="34" charset="0"/>
        <a:buChar char="•"/>
        <a:defRPr sz="2840">
          <a:solidFill>
            <a:schemeClr val="tx1"/>
          </a:solidFill>
          <a:latin typeface="+mn-lt"/>
          <a:ea typeface="+mn-ea"/>
          <a:cs typeface="+mn-cs"/>
        </a:defRPr>
      </a:lvl1pPr>
      <a:lvl2pPr marL="685165" indent="-228600" algn="l" rtl="0" eaLnBrk="0" fontAlgn="base" hangingPunct="0">
        <a:lnSpc>
          <a:spcPct val="90000"/>
        </a:lnSpc>
        <a:spcBef>
          <a:spcPct val="100000"/>
        </a:spcBef>
        <a:spcAft>
          <a:spcPct val="0"/>
        </a:spcAft>
        <a:buFont typeface="Arial" panose="020b0604020202020204" pitchFamily="34" charset="0"/>
        <a:buChar char="•"/>
        <a:defRPr sz="2380">
          <a:solidFill>
            <a:schemeClr val="tx1"/>
          </a:solidFill>
          <a:latin typeface="+mn-lt"/>
          <a:ea typeface="+mn-ea"/>
        </a:defRPr>
      </a:lvl2pPr>
      <a:lvl3pPr marL="1144270" indent="-229870" algn="l" rtl="0" eaLnBrk="0" fontAlgn="base" hangingPunct="0">
        <a:lnSpc>
          <a:spcPct val="90000"/>
        </a:lnSpc>
        <a:spcBef>
          <a:spcPct val="100000"/>
        </a:spcBef>
        <a:spcAft>
          <a:spcPct val="0"/>
        </a:spcAft>
        <a:buFont typeface="Arial" panose="020b0604020202020204" pitchFamily="34" charset="0"/>
        <a:buChar char="•"/>
        <a:defRPr sz="2105">
          <a:solidFill>
            <a:schemeClr val="tx1"/>
          </a:solidFill>
          <a:latin typeface="+mn-lt"/>
          <a:ea typeface="+mn-ea"/>
        </a:defRPr>
      </a:lvl3pPr>
      <a:lvl4pPr marL="1598930" indent="-22860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4pPr>
      <a:lvl5pPr marL="2056130" indent="-22987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5pPr>
      <a:lvl6pPr marL="25126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6pPr>
      <a:lvl7pPr marL="297053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7pPr>
      <a:lvl8pPr marL="34270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8pPr>
      <a:lvl9pPr marL="388366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3765" rtl="0" eaLnBrk="1" latinLnBrk="0" hangingPunct="1">
        <a:defRPr sz="1830" kern="1200">
          <a:solidFill>
            <a:schemeClr val="tx1"/>
          </a:solidFill>
          <a:latin typeface="+mn-lt"/>
          <a:ea typeface="+mn-ea"/>
          <a:cs typeface="+mn-cs"/>
        </a:defRPr>
      </a:lvl1pPr>
      <a:lvl2pPr marL="456565" algn="l" defTabSz="913765" rtl="0" eaLnBrk="1" latinLnBrk="0" hangingPunct="1">
        <a:defRPr sz="1830" kern="1200">
          <a:solidFill>
            <a:schemeClr val="tx1"/>
          </a:solidFill>
          <a:latin typeface="+mn-lt"/>
          <a:ea typeface="+mn-ea"/>
          <a:cs typeface="+mn-cs"/>
        </a:defRPr>
      </a:lvl2pPr>
      <a:lvl3pPr marL="913765" algn="l" defTabSz="913765" rtl="0" eaLnBrk="1" latinLnBrk="0" hangingPunct="1">
        <a:defRPr sz="1830" kern="1200">
          <a:solidFill>
            <a:schemeClr val="tx1"/>
          </a:solidFill>
          <a:latin typeface="+mn-lt"/>
          <a:ea typeface="+mn-ea"/>
          <a:cs typeface="+mn-cs"/>
        </a:defRPr>
      </a:lvl3pPr>
      <a:lvl4pPr marL="1370330" algn="l" defTabSz="913765" rtl="0" eaLnBrk="1" latinLnBrk="0" hangingPunct="1">
        <a:defRPr sz="1830" kern="1200">
          <a:solidFill>
            <a:schemeClr val="tx1"/>
          </a:solidFill>
          <a:latin typeface="+mn-lt"/>
          <a:ea typeface="+mn-ea"/>
          <a:cs typeface="+mn-cs"/>
        </a:defRPr>
      </a:lvl4pPr>
      <a:lvl5pPr marL="1827530" algn="l" defTabSz="913765" rtl="0" eaLnBrk="1" latinLnBrk="0" hangingPunct="1">
        <a:defRPr sz="1830" kern="1200">
          <a:solidFill>
            <a:schemeClr val="tx1"/>
          </a:solidFill>
          <a:latin typeface="+mn-lt"/>
          <a:ea typeface="+mn-ea"/>
          <a:cs typeface="+mn-cs"/>
        </a:defRPr>
      </a:lvl5pPr>
      <a:lvl6pPr marL="2284095" algn="l" defTabSz="913765" rtl="0" eaLnBrk="1" latinLnBrk="0" hangingPunct="1">
        <a:defRPr sz="1830" kern="1200">
          <a:solidFill>
            <a:schemeClr val="tx1"/>
          </a:solidFill>
          <a:latin typeface="+mn-lt"/>
          <a:ea typeface="+mn-ea"/>
          <a:cs typeface="+mn-cs"/>
        </a:defRPr>
      </a:lvl6pPr>
      <a:lvl7pPr marL="2741295" algn="l" defTabSz="913765" rtl="0" eaLnBrk="1" latinLnBrk="0" hangingPunct="1">
        <a:defRPr sz="1830" kern="1200">
          <a:solidFill>
            <a:schemeClr val="tx1"/>
          </a:solidFill>
          <a:latin typeface="+mn-lt"/>
          <a:ea typeface="+mn-ea"/>
          <a:cs typeface="+mn-cs"/>
        </a:defRPr>
      </a:lvl7pPr>
      <a:lvl8pPr marL="3198495" algn="l" defTabSz="913765" rtl="0" eaLnBrk="1" latinLnBrk="0" hangingPunct="1">
        <a:defRPr sz="1830" kern="1200">
          <a:solidFill>
            <a:schemeClr val="tx1"/>
          </a:solidFill>
          <a:latin typeface="+mn-lt"/>
          <a:ea typeface="+mn-ea"/>
          <a:cs typeface="+mn-cs"/>
        </a:defRPr>
      </a:lvl8pPr>
      <a:lvl9pPr marL="3655060" algn="l" defTabSz="913765" rtl="0" eaLnBrk="1" latinLnBrk="0" hangingPunct="1">
        <a:defRPr sz="183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image" Target="../media/image3.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2" name="TextBox 1" title=""/>
          <p:cNvSpPr txBox="1"/>
          <p:nvPr/>
        </p:nvSpPr>
        <p:spPr>
          <a:xfrm>
            <a:off x="244962" y="1693079"/>
            <a:ext cx="11701662" cy="1938020"/>
          </a:xfrm>
          <a:prstGeom prst="rect">
            <a:avLst/>
          </a:prstGeom>
          <a:noFill/>
        </p:spPr>
        <p:txBody>
          <a:bodyPr wrap="square" rtlCol="0">
            <a:spAutoFit/>
          </a:bodyPr>
          <a:lstStyle/>
          <a:p>
            <a:pPr algn="ctr">
              <a:lnSpc>
                <a:spcPct val="150000"/>
              </a:lnSpc>
              <a:spcAft>
                <a:spcPct val="0"/>
              </a:spcAft>
            </a:pPr>
            <a:r>
              <a:rPr lang="zh-CN" altLang="zh-CN" sz="4000" kern="100">
                <a:latin typeface="Times New Roman" panose="02020603050405020304" pitchFamily="18" charset="0"/>
                <a:ea typeface="宋体" panose="02010600030101010101" pitchFamily="2" charset="-122"/>
              </a:rPr>
              <a:t>告知信</a:t>
            </a:r>
            <a:endParaRPr lang="zh-CN" altLang="zh-CN" sz="4000" kern="100">
              <a:latin typeface="Times New Roman" panose="02020603050405020304" pitchFamily="18" charset="0"/>
              <a:ea typeface="宋体" panose="02010600030101010101" pitchFamily="2" charset="-122"/>
            </a:endParaRPr>
          </a:p>
          <a:p>
            <a:pPr algn="ctr">
              <a:lnSpc>
                <a:spcPct val="150000"/>
              </a:lnSpc>
              <a:spcAft>
                <a:spcPct val="0"/>
              </a:spcAft>
            </a:pPr>
            <a:endParaRPr lang="zh-CN" altLang="zh-CN" sz="40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【试题探究】</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假定你是晨光中学高三学生李华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你校于</a:t>
            </a:r>
            <a:r>
              <a:rPr lang="en-US" altLang="zh-CN" sz="2500" kern="100">
                <a:latin typeface="Times New Roman" panose="02020603050405020304" pitchFamily="18" charset="0"/>
                <a:ea typeface="宋体" panose="02010600030101010101" pitchFamily="2" charset="-122"/>
              </a:rPr>
              <a:t>6</a:t>
            </a:r>
            <a:r>
              <a:rPr lang="zh-CN" altLang="zh-CN" sz="2500" kern="100">
                <a:latin typeface="Times New Roman" panose="02020603050405020304" pitchFamily="18" charset="0"/>
                <a:ea typeface="宋体" panose="02010600030101010101" pitchFamily="2" charset="-122"/>
              </a:rPr>
              <a:t>月</a:t>
            </a:r>
            <a:r>
              <a:rPr lang="en-US" altLang="zh-CN" sz="2500" kern="100">
                <a:latin typeface="Times New Roman" panose="02020603050405020304" pitchFamily="18" charset="0"/>
                <a:ea typeface="宋体" panose="02010600030101010101" pitchFamily="2" charset="-122"/>
              </a:rPr>
              <a:t>8</a:t>
            </a:r>
            <a:r>
              <a:rPr lang="zh-CN" altLang="zh-CN" sz="2500" kern="100">
                <a:latin typeface="Times New Roman" panose="02020603050405020304" pitchFamily="18" charset="0"/>
                <a:ea typeface="宋体" panose="02010600030101010101" pitchFamily="2" charset="-122"/>
              </a:rPr>
              <a:t>日举办了成人礼活动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你的英国朋友</a:t>
            </a:r>
            <a:r>
              <a:rPr lang="en-US" altLang="zh-CN" sz="2500" kern="100">
                <a:latin typeface="Times New Roman" panose="02020603050405020304" pitchFamily="18" charset="0"/>
                <a:ea typeface="宋体" panose="02010600030101010101" pitchFamily="2" charset="-122"/>
              </a:rPr>
              <a:t>Chris</a:t>
            </a:r>
            <a:r>
              <a:rPr lang="zh-CN" altLang="zh-CN" sz="2500" kern="100">
                <a:latin typeface="Times New Roman" panose="02020603050405020304" pitchFamily="18" charset="0"/>
                <a:ea typeface="宋体" panose="02010600030101010101" pitchFamily="2" charset="-122"/>
              </a:rPr>
              <a:t>很想了解该活动。你于当晚给</a:t>
            </a:r>
            <a:r>
              <a:rPr lang="en-US" altLang="zh-CN" sz="2500" kern="100">
                <a:latin typeface="Times New Roman" panose="02020603050405020304" pitchFamily="18" charset="0"/>
                <a:ea typeface="宋体" panose="02010600030101010101" pitchFamily="2" charset="-122"/>
              </a:rPr>
              <a:t>Chris</a:t>
            </a:r>
            <a:r>
              <a:rPr lang="zh-CN" altLang="zh-CN" sz="2500" kern="100">
                <a:latin typeface="Times New Roman" panose="02020603050405020304" pitchFamily="18" charset="0"/>
                <a:ea typeface="宋体" panose="02010600030101010101" pitchFamily="2" charset="-122"/>
              </a:rPr>
              <a:t>写一封信</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介绍相关情况</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成人礼活动内容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成长点滴回顾等</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对活动的感受</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a:t>
            </a:r>
            <a:r>
              <a:rPr lang="zh-CN" altLang="zh-CN" sz="2500" kern="100">
                <a:latin typeface="Times New Roman" panose="02020603050405020304" pitchFamily="18" charset="0"/>
                <a:ea typeface="宋体" panose="02010600030101010101" pitchFamily="2" charset="-122"/>
              </a:rPr>
              <a:t>对自己未来的展望。</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39966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词数</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可以适当加入细节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以使内容充实、行文连贯。</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参考词汇</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成人礼</a:t>
            </a:r>
            <a:r>
              <a:rPr lang="en-US" altLang="zh-CN" sz="2500" kern="100">
                <a:latin typeface="Times New Roman" panose="02020603050405020304" pitchFamily="18" charset="0"/>
                <a:ea typeface="宋体" panose="02010600030101010101" pitchFamily="2" charset="-122"/>
              </a:rPr>
              <a:t> the coming-of-age ceremony</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审题布局</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624086" y="1695963"/>
          <a:ext cx="10828020" cy="3007360"/>
        </p:xfrm>
        <a:graphic>
          <a:graphicData uri="http://schemas.openxmlformats.org/drawingml/2006/table">
            <a:tbl>
              <a:tblPr firstRow="1" firstCol="1" bandRow="1"/>
              <a:tblGrid>
                <a:gridCol w="1430655"/>
                <a:gridCol w="9397365"/>
              </a:tblGrid>
              <a:tr h="72771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人称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第一人称为主</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第二人称为辅</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270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时态</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一般现在时</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一般过去时</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525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 </a:t>
                      </a:r>
                      <a:r>
                        <a:rPr lang="zh-CN" sz="2500" kern="100">
                          <a:effectLst/>
                          <a:latin typeface="Times New Roman" panose="02020603050405020304" pitchFamily="18" charset="0"/>
                          <a:ea typeface="宋体" panose="02010600030101010101" pitchFamily="2" charset="-122"/>
                        </a:rPr>
                        <a:t>介绍成人礼活动内容</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 </a:t>
                      </a:r>
                      <a:r>
                        <a:rPr lang="zh-CN" sz="2500" kern="100">
                          <a:effectLst/>
                          <a:latin typeface="Times New Roman" panose="02020603050405020304" pitchFamily="18" charset="0"/>
                          <a:ea typeface="宋体" panose="02010600030101010101" pitchFamily="2" charset="-122"/>
                        </a:rPr>
                        <a:t>成人礼活动感受</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641470"/>
            <a:ext cx="12578539"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巧饰亮点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1</a:t>
            </a:r>
            <a:r>
              <a:rPr lang="en-US" altLang="zh-CN" sz="2500" kern="100">
                <a:solidFill>
                  <a:srgbClr val="0000FF"/>
                </a:solidFill>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这次的成人礼仪式深深地打动了我们</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并且我们从中意识到了责任感始</a:t>
            </a:r>
            <a:r>
              <a:rPr lang="zh-CN" altLang="zh-CN" sz="2500" kern="100" smtClean="0">
                <a:latin typeface="Times New Roman" panose="02020603050405020304" pitchFamily="18" charset="0"/>
                <a:ea typeface="宋体" panose="02010600030101010101" pitchFamily="2" charset="-122"/>
              </a:rPr>
              <a:t>终</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伴</a:t>
            </a:r>
            <a:r>
              <a:rPr lang="zh-CN" altLang="zh-CN" sz="2500" kern="100">
                <a:latin typeface="Times New Roman" panose="02020603050405020304" pitchFamily="18" charset="0"/>
                <a:ea typeface="宋体" panose="02010600030101010101" pitchFamily="2" charset="-122"/>
              </a:rPr>
              <a:t>随着我们的成长过程。</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We are all deeply moved by the ceremony and we realize that the sense of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responsibility </a:t>
            </a:r>
            <a:r>
              <a:rPr lang="en-US" altLang="zh-CN" sz="2500" kern="100">
                <a:latin typeface="Times New Roman" panose="02020603050405020304" pitchFamily="18" charset="0"/>
                <a:ea typeface="宋体" panose="02010600030101010101" pitchFamily="2" charset="-122"/>
              </a:rPr>
              <a:t>always accompanies the process of our growth from it.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句式升级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定语从句</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We are all deeply moved by the ceremony,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5550235" y="4236359"/>
            <a:ext cx="6500185"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from which we realize that the sense of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283791" y="4789391"/>
            <a:ext cx="9867797"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responsibility always accompanies the process of our growth</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我明白了成长的意义。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句式升级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倒装句</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这就是我对成长的理解。</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1421605" y="1255309"/>
            <a:ext cx="7294025"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 have understood the meaning of growing up</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51537" y="3010725"/>
            <a:ext cx="728748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Such is my understanding about growing up.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衔接成篇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Chris,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I’m so glad to hear from you. In your last letter, you showed great interest in the coming-of-age ceremony held in our school. The following is a brief introduction to the ceremony. </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1188700" y="10706100"/>
            <a:ext cx="0" cy="0"/>
          </a:xfrm>
          <a:prstGeom prst="rect">
            <a:avLst/>
          </a:prstGeom>
          <a:ln>
            <a:noFill/>
          </a:ln>
        </p:spPr>
      </p:pic>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ceremony was scheduled on June 8, during which we reviewed the past events. We are all deeply moved by the ceremony, from which we realize that the sense of responsibility always accompanies the process of our growth. We are determined to follow the examples of our excellent schoolmates and make ourselves useful to the whole society. Such is my understanding about growing up. What about yours?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Looking forward to your reply.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86232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【句式储备】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开篇表意</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说明目的、原因等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Delighted to learn that an important volleyball game will be launched in our school stadium, I’m writing to extend my excitement and inform you of some relevant information.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很高兴得知一场重要的排球比赛将在我们学校的体育场举行</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我写信是为了表达我的兴奋</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并告诉你一些相关的信息。</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I’m more than delighted to tell you that an international cultural festival is to be held in my city.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我非常高兴地告知你们国际文化节将在我市举行。</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篇中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详细介绍</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告知具体信息</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First and foremost, the competition to be held will begin at 2 p. m. and last for roughly 3 hours.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首先</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比赛将于下午两点开始</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持续大约</a:t>
            </a:r>
            <a:r>
              <a:rPr lang="en-US" altLang="zh-CN" sz="2500" kern="100">
                <a:latin typeface="Times New Roman" panose="02020603050405020304" pitchFamily="18" charset="0"/>
                <a:ea typeface="宋体" panose="02010600030101010101" pitchFamily="2" charset="-122"/>
              </a:rPr>
              <a:t>3</a:t>
            </a:r>
            <a:r>
              <a:rPr lang="zh-CN" altLang="zh-CN" sz="2500" kern="100">
                <a:latin typeface="Times New Roman" panose="02020603050405020304" pitchFamily="18" charset="0"/>
                <a:ea typeface="宋体" panose="02010600030101010101" pitchFamily="2" charset="-122"/>
              </a:rPr>
              <a:t>个小时。</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Then you will be taken to the Tea Room, where you can taste some famous Chinese tea and watch performances of tea art.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有人将你带至茶室</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品尝中国名茶、观看茶艺表演。</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结尾</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作总结</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盼回复</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 highly expect the experience to be rewarding, perfectly mixing learning and fun.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我非常希望这段经历是有益的</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将学习和乐趣完美地结合在一起。</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It would be nice if you could provide a bit more information on the arrangements of the meeting. </a:t>
            </a:r>
            <a:r>
              <a:rPr lang="zh-CN" altLang="zh-CN" sz="2500" kern="100">
                <a:latin typeface="Times New Roman" panose="02020603050405020304" pitchFamily="18" charset="0"/>
                <a:ea typeface="宋体" panose="02010600030101010101" pitchFamily="2" charset="-122"/>
              </a:rPr>
              <a:t>你要能提供更多有关此次会议安排的信息</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那将再好不过了。</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285105"/>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你因故不能参加下周二的音乐会</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想把票转赠给你的留学生朋友</a:t>
            </a:r>
            <a:r>
              <a:rPr lang="en-US" altLang="zh-CN" sz="2500" kern="100">
                <a:latin typeface="Times New Roman" panose="02020603050405020304" pitchFamily="18" charset="0"/>
                <a:ea typeface="宋体" panose="02010600030101010101" pitchFamily="2" charset="-122"/>
              </a:rPr>
              <a:t>John</a:t>
            </a:r>
            <a:r>
              <a:rPr lang="zh-CN" altLang="zh-CN" sz="2500" kern="100">
                <a:latin typeface="Times New Roman" panose="02020603050405020304" pitchFamily="18" charset="0"/>
                <a:ea typeface="宋体" panose="02010600030101010101" pitchFamily="2" charset="-122"/>
              </a:rPr>
              <a:t>。请你给他写一封邮件告知相关情况</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你不能参加音乐会的理由</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音乐会的基本情况</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如何获取门票。</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1.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个左右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可以适当增加细节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以使行文连贯。</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John,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How’s everything going? I’ve got the chance to enjoy a concert. However, it’s a regret that I have to go to meet an honored foreign friend then. Thus, you’re the first person I want to present the ticket.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concert will be held in the city Cultural Plaza at 7 p. m. next Friday, lasting two hours. Some famous musicians from home and abroad will be invited to show their great works, among which piano pieces will bring you fascination.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If convenient, please come to my classroom for the ticket. I’m sure you’ll have a feast for music.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4_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等线 Light"/>
        <a:ea typeface="宋体"/>
        <a:cs typeface="Arial"/>
      </a:majorFont>
      <a:minorFont>
        <a:latin typeface="等线"/>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64</Paragraphs>
  <Slides>14</Slides>
  <Notes>14</Notes>
  <TotalTime>0</TotalTime>
  <HiddenSlides>0</HiddenSlides>
  <MMClips>0</MMClips>
  <ScaleCrop>0</ScaleCrop>
  <HeadingPairs>
    <vt:vector baseType="variant" size="6">
      <vt:variant>
        <vt:lpstr>Fonts used</vt:lpstr>
      </vt:variant>
      <vt:variant>
        <vt:i4>8</vt:i4>
      </vt:variant>
      <vt:variant>
        <vt:lpstr>Theme</vt:lpstr>
      </vt:variant>
      <vt:variant>
        <vt:i4>1</vt:i4>
      </vt:variant>
      <vt:variant>
        <vt:lpstr>Slide Titles</vt:lpstr>
      </vt:variant>
      <vt:variant>
        <vt:i4>14</vt:i4>
      </vt:variant>
    </vt:vector>
  </HeadingPairs>
  <TitlesOfParts>
    <vt:vector baseType="lpstr" size="23">
      <vt:lpstr>Arial</vt:lpstr>
      <vt:lpstr>等线 Light</vt:lpstr>
      <vt:lpstr>宋体</vt:lpstr>
      <vt:lpstr>等线</vt:lpstr>
      <vt:lpstr>Times New Roman</vt:lpstr>
      <vt:lpstr>微软雅黑</vt:lpstr>
      <vt:lpstr>Calibri Light</vt:lpstr>
      <vt:lpstr>Calibri</vt:lpstr>
      <vt:lpstr>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2024-05-28T18:06:05.663</cp:lastPrinted>
  <dcterms:created xsi:type="dcterms:W3CDTF">2024-05-28T18:06:05Z</dcterms:created>
  <dcterms:modified xsi:type="dcterms:W3CDTF">2024-05-28T10:06:05Z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