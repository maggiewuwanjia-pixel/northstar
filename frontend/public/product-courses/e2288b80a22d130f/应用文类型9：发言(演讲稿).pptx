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tags" Target="tags/tag1.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notesMaster" Target="notesMasters/notesMaster1.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sp>
        <p:nvSpPr>
          <p:cNvPr id="2" name="文本框 1"/>
          <p:cNvSpPr txBox="1"/>
          <p:nvPr userDrawn="1"/>
        </p:nvSpPr>
        <p:spPr>
          <a:xfrm>
            <a:off x="6034405" y="1774825"/>
            <a:ext cx="4064000" cy="368300"/>
          </a:xfrm>
          <a:prstGeom prst="rect">
            <a:avLst/>
          </a:prstGeom>
          <a:noFill/>
        </p:spPr>
        <p:txBody>
          <a:bodyPr wrap="square" rtlCol="0">
            <a:spAutoFit/>
          </a:bodyPr>
          <a:lstStyle/>
          <a:p>
            <a:endParaRPr lang="zh-CN" altLang="en-US"/>
          </a:p>
        </p:txBody>
      </p:sp>
      <p:pic>
        <p:nvPicPr>
          <p:cNvPr id="3"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3.xml" /><Relationship Id="rId3" Type="http://schemas.openxmlformats.org/officeDocument/2006/relationships/image" Target="../media/image4.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255757" y="1346369"/>
            <a:ext cx="11701662" cy="193802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发言</a:t>
            </a:r>
            <a:r>
              <a:rPr lang="en-US" altLang="zh-CN" sz="4000" kern="100">
                <a:latin typeface="Times New Roman" panose="02020603050405020304" pitchFamily="18" charset="0"/>
                <a:ea typeface="宋体" panose="02010600030101010101" pitchFamily="2" charset="-122"/>
              </a:rPr>
              <a:t>(</a:t>
            </a:r>
            <a:r>
              <a:rPr lang="zh-CN" altLang="zh-CN" sz="4000" kern="100">
                <a:latin typeface="Times New Roman" panose="02020603050405020304" pitchFamily="18" charset="0"/>
                <a:ea typeface="宋体" panose="02010600030101010101" pitchFamily="2" charset="-122"/>
              </a:rPr>
              <a:t>演讲稿</a:t>
            </a:r>
            <a:r>
              <a:rPr lang="en-US" altLang="zh-CN" sz="4000" kern="100">
                <a:latin typeface="Times New Roman" panose="02020603050405020304" pitchFamily="18" charset="0"/>
                <a:ea typeface="宋体" panose="02010600030101010101" pitchFamily="2" charset="-122"/>
              </a:rPr>
              <a:t>)</a:t>
            </a:r>
            <a:endParaRPr lang="zh-CN" altLang="zh-CN" sz="4000" kern="100">
              <a:latin typeface="Times New Roman" panose="02020603050405020304" pitchFamily="18" charset="0"/>
              <a:ea typeface="宋体" panose="02010600030101010101" pitchFamily="2" charset="-122"/>
            </a:endParaRPr>
          </a:p>
          <a:p>
            <a:pPr algn="ctr">
              <a:lnSpc>
                <a:spcPct val="150000"/>
              </a:lnSpc>
              <a:spcAft>
                <a:spcPct val="0"/>
              </a:spcAft>
            </a:pP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ctr">
              <a:lnSpc>
                <a:spcPct val="150000"/>
              </a:lnSpc>
              <a:spcAft>
                <a:spcPct val="0"/>
              </a:spcAft>
            </a:pP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【试题探究】</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你校将举办英语演讲比赛。请你以</a:t>
            </a:r>
            <a:r>
              <a:rPr lang="en-US" altLang="zh-CN" sz="2500" kern="100">
                <a:latin typeface="Times New Roman" panose="02020603050405020304" pitchFamily="18" charset="0"/>
                <a:ea typeface="宋体" panose="02010600030101010101" pitchFamily="2" charset="-122"/>
              </a:rPr>
              <a:t>Be smart online learners</a:t>
            </a:r>
            <a:r>
              <a:rPr lang="zh-CN" altLang="zh-CN" sz="2500" kern="100">
                <a:latin typeface="Times New Roman" panose="02020603050405020304" pitchFamily="18" charset="0"/>
                <a:ea typeface="宋体" panose="02010600030101010101" pitchFamily="2" charset="-122"/>
              </a:rPr>
              <a:t>为题写一篇发言稿参赛</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分析优势与不足</a:t>
            </a:r>
            <a:r>
              <a:rPr lang="en-US" altLang="zh-CN" sz="2500" kern="100">
                <a:latin typeface="Times New Roman" panose="02020603050405020304" pitchFamily="18" charset="0"/>
                <a:ea typeface="宋体" panose="02010600030101010101" pitchFamily="2" charset="-122"/>
              </a:rPr>
              <a:t>; 2. </a:t>
            </a:r>
            <a:r>
              <a:rPr lang="zh-CN" altLang="zh-CN" sz="2500" kern="100">
                <a:latin typeface="Times New Roman" panose="02020603050405020304" pitchFamily="18" charset="0"/>
                <a:ea typeface="宋体" panose="02010600030101010101" pitchFamily="2" charset="-122"/>
              </a:rPr>
              <a:t>提出学习建议。</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828537" y="1535868"/>
          <a:ext cx="10318115" cy="3818255"/>
        </p:xfrm>
        <a:graphic>
          <a:graphicData uri="http://schemas.openxmlformats.org/drawingml/2006/table">
            <a:tbl>
              <a:tblPr firstRow="1" firstCol="1" bandRow="1"/>
              <a:tblGrid>
                <a:gridCol w="1744345"/>
                <a:gridCol w="8573770"/>
              </a:tblGrid>
              <a:tr h="6089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类 型</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发言稿</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 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a:t>
                      </a:r>
                      <a:r>
                        <a:rPr lang="en-US" sz="2500" kern="100">
                          <a:effectLst/>
                          <a:latin typeface="Times New Roman" panose="02020603050405020304" pitchFamily="18" charset="0"/>
                          <a:ea typeface="宋体" panose="02010600030101010101" pitchFamily="2" charset="-122"/>
                        </a:rPr>
                        <a:t>(I)</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 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一般现在时</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现在完成时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9136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 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网上学习的优势</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网上学习的不足</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3. </a:t>
                      </a:r>
                      <a:r>
                        <a:rPr lang="zh-CN" sz="2500" kern="100">
                          <a:effectLst/>
                          <a:latin typeface="Times New Roman" panose="02020603050405020304" pitchFamily="18" charset="0"/>
                          <a:ea typeface="宋体" panose="02010600030101010101" pitchFamily="2" charset="-122"/>
                        </a:rPr>
                        <a:t>网上学习的建议</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54756"/>
            <a:ext cx="12817687"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网上学习可以让我们随时随地学习。</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Online learning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网上学习可以让我们随时随地学习。此外</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我们可以吸收各种资源</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从而更有</a:t>
            </a:r>
            <a:r>
              <a:rPr lang="zh-CN" altLang="zh-CN" sz="2500" kern="100" smtClean="0">
                <a:latin typeface="Times New Roman" panose="02020603050405020304" pitchFamily="18" charset="0"/>
                <a:ea typeface="宋体" panose="02010600030101010101" pitchFamily="2" charset="-122"/>
              </a:rPr>
              <a:t>效</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地</a:t>
            </a:r>
            <a:r>
              <a:rPr lang="zh-CN" altLang="zh-CN" sz="2500" kern="100">
                <a:latin typeface="Times New Roman" panose="02020603050405020304" pitchFamily="18" charset="0"/>
                <a:ea typeface="宋体" panose="02010600030101010101" pitchFamily="2" charset="-122"/>
              </a:rPr>
              <a:t>学习。</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补充细节</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Online learning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Besides, we can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 </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a:t>
            </a:r>
            <a:r>
              <a:rPr lang="en-US" altLang="zh-CN" sz="2500" kern="100" smtClean="0">
                <a:latin typeface="Times New Roman" panose="02020603050405020304" pitchFamily="18" charset="0"/>
                <a:ea typeface="宋体" panose="02010600030101010101" pitchFamily="2" charset="-122"/>
              </a:rPr>
              <a:t>to </a:t>
            </a:r>
            <a:r>
              <a:rPr lang="en-US" altLang="zh-CN" sz="2500" kern="100">
                <a:latin typeface="Times New Roman" panose="02020603050405020304" pitchFamily="18" charset="0"/>
                <a:ea typeface="宋体" panose="02010600030101010101" pitchFamily="2" charset="-122"/>
              </a:rPr>
              <a:t>learn more efficiently.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2497854" y="1911306"/>
            <a:ext cx="872210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allows us to learn anytime and anywhere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1021445" y="3666721"/>
            <a:ext cx="872210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allows us to learn anytime and anywhere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5" name="TextBox 4" title=""/>
          <p:cNvSpPr txBox="1"/>
          <p:nvPr/>
        </p:nvSpPr>
        <p:spPr>
          <a:xfrm>
            <a:off x="10363096" y="3666721"/>
            <a:ext cx="168732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absorb</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6" name="TextBox 5" title=""/>
          <p:cNvSpPr txBox="1"/>
          <p:nvPr/>
        </p:nvSpPr>
        <p:spPr>
          <a:xfrm>
            <a:off x="-412342" y="4247984"/>
            <a:ext cx="475402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all kinds of resources</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28184"/>
            <a:ext cx="12658256"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长时间盯着屏幕对我们的眼睛有害。</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Staring at the screen for long time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长时间盯着屏幕对我们的眼睛有害。更糟糕的是</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我们没有很多机会与我们</a:t>
            </a:r>
            <a:r>
              <a:rPr lang="zh-CN" altLang="zh-CN" sz="2500" kern="100" smtClean="0">
                <a:latin typeface="Times New Roman" panose="02020603050405020304" pitchFamily="18" charset="0"/>
                <a:ea typeface="宋体" panose="02010600030101010101" pitchFamily="2" charset="-122"/>
              </a:rPr>
              <a:t>的</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老</a:t>
            </a:r>
            <a:r>
              <a:rPr lang="zh-CN" altLang="zh-CN" sz="2500" kern="100">
                <a:latin typeface="Times New Roman" panose="02020603050405020304" pitchFamily="18" charset="0"/>
                <a:ea typeface="宋体" panose="02010600030101010101" pitchFamily="2" charset="-122"/>
              </a:rPr>
              <a:t>师和同学互动。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补充细节</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Staring at the screen for long time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 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we don’t have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many </a:t>
            </a:r>
            <a:r>
              <a:rPr lang="en-US" altLang="zh-CN" sz="2500" kern="100">
                <a:latin typeface="Times New Roman" panose="02020603050405020304" pitchFamily="18" charset="0"/>
                <a:ea typeface="宋体" panose="02010600030101010101" pitchFamily="2" charset="-122"/>
              </a:rPr>
              <a:t>opportunities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5984728" y="1295166"/>
            <a:ext cx="409666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is harmful to our eyes</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4214990" y="3010725"/>
            <a:ext cx="620124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is harmful to our </a:t>
            </a:r>
            <a:r>
              <a:rPr lang="en-US" altLang="zh-CN" sz="2500" b="1" kern="100" smtClean="0">
                <a:solidFill>
                  <a:srgbClr val="FF0000"/>
                </a:solidFill>
                <a:uFill>
                  <a:solidFill>
                    <a:srgbClr val="000000"/>
                  </a:solidFill>
                </a:uFill>
                <a:latin typeface="Times New Roman" panose="02020603050405020304" pitchFamily="18" charset="0"/>
                <a:ea typeface="宋体" panose="02010600030101010101" pitchFamily="2" charset="-122"/>
              </a:rPr>
              <a:t>eyes </a:t>
            </a:r>
            <a:r>
              <a:rPr lang="en-US" altLang="zh-CN" sz="2500" b="1" kern="100" smtClean="0">
                <a:solidFill>
                  <a:srgbClr val="FF0000"/>
                </a:solidFill>
                <a:latin typeface="Times New Roman" panose="02020603050405020304" pitchFamily="18" charset="0"/>
                <a:ea typeface="宋体" panose="02010600030101010101" pitchFamily="2" charset="-122"/>
              </a:rPr>
              <a:t>   </a:t>
            </a:r>
            <a:r>
              <a:rPr lang="en-US" altLang="zh-CN" sz="2500" b="1" kern="100" smtClean="0">
                <a:solidFill>
                  <a:srgbClr val="FF0000"/>
                </a:solidFill>
                <a:uFill>
                  <a:solidFill>
                    <a:srgbClr val="000000"/>
                  </a:solidFill>
                </a:uFill>
                <a:latin typeface="Times New Roman" panose="02020603050405020304" pitchFamily="18" charset="0"/>
                <a:ea typeface="宋体" panose="02010600030101010101" pitchFamily="2" charset="-122"/>
              </a:rPr>
              <a:t>Worse </a:t>
            </a:r>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still</a:t>
            </a:r>
            <a:endParaRPr lang="zh-CN" altLang="en-US" sz="2500" b="1">
              <a:solidFill>
                <a:srgbClr val="FF0000"/>
              </a:solidFill>
              <a:latin typeface="Times New Roman" panose="02020603050405020304" pitchFamily="18" charset="0"/>
              <a:ea typeface="宋体" panose="02010600030101010101" pitchFamily="2" charset="-122"/>
            </a:endParaRPr>
          </a:p>
        </p:txBody>
      </p:sp>
      <p:sp>
        <p:nvSpPr>
          <p:cNvPr id="5" name="TextBox 4" title=""/>
          <p:cNvSpPr txBox="1"/>
          <p:nvPr/>
        </p:nvSpPr>
        <p:spPr>
          <a:xfrm>
            <a:off x="2087616" y="3643471"/>
            <a:ext cx="8054550"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to interact with our teachers and classmates</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41470"/>
            <a:ext cx="12605112" cy="239966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我们应该勇敢地与他人讨论我们的问题。其次</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学习</a:t>
            </a:r>
            <a:r>
              <a:rPr lang="en-US" altLang="zh-CN" sz="2500" kern="100">
                <a:latin typeface="Times New Roman" panose="02020603050405020304" pitchFamily="18" charset="0"/>
                <a:ea typeface="宋体" panose="02010600030101010101" pitchFamily="2" charset="-122"/>
              </a:rPr>
              <a:t>30</a:t>
            </a:r>
            <a:r>
              <a:rPr lang="zh-CN" altLang="zh-CN" sz="2500" kern="100">
                <a:latin typeface="Times New Roman" panose="02020603050405020304" pitchFamily="18" charset="0"/>
                <a:ea typeface="宋体" panose="02010600030101010101" pitchFamily="2" charset="-122"/>
              </a:rPr>
              <a:t>分钟后休息一下</a:t>
            </a:r>
            <a:r>
              <a:rPr lang="zh-CN" altLang="zh-CN" sz="2500" kern="100" smtClean="0">
                <a:latin typeface="Times New Roman" panose="02020603050405020304" pitchFamily="18" charset="0"/>
                <a:ea typeface="宋体" panose="02010600030101010101" pitchFamily="2" charset="-122"/>
              </a:rPr>
              <a:t>是</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明</a:t>
            </a:r>
            <a:r>
              <a:rPr lang="zh-CN" altLang="zh-CN" sz="2500" kern="100">
                <a:latin typeface="Times New Roman" panose="02020603050405020304" pitchFamily="18" charset="0"/>
                <a:ea typeface="宋体" panose="02010600030101010101" pitchFamily="2" charset="-122"/>
              </a:rPr>
              <a:t>智的。</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We should be brave to discuss our problems with others. Second, it is wise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9861549" y="1899680"/>
            <a:ext cx="183014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to take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1218086" y="2467658"/>
            <a:ext cx="929507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 short break after learning for 30 minutes</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en-US" altLang="zh-CN" sz="2500" b="1" kern="100">
                <a:latin typeface="Times New Roman" panose="02020603050405020304" pitchFamily="18" charset="0"/>
                <a:ea typeface="宋体" panose="02010600030101010101" pitchFamily="2" charset="-122"/>
              </a:rPr>
              <a:t>Be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smart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online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learners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Online learning has become an important way to learn recently. However, online learning has both advantages and disadvantages.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Its advantages are obvious. Online learning allows us to learn anytime and anywhere. Besides, we can absorb all kinds of resources to learn more efficiently. However, its disadvantages cannot be ignored. Staring at the screen for long time is harmful to our eyes. Worse still, we don’t have many opportunities to interact with our teachers and classmates.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399665"/>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Then how to be smart online learners?First, we should be brave to discuss our problems with others. Second, it is wise to take a short break after learning for 30 minutes.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In conclusion, only by being smart online learners can we truly enjoy the benefits of modern technology.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【句式储备】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开场白</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Thank you from the bottom of my heart for giving me this chance to speak to you today.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我从心底感谢你们今天给我这个机会在你们面前演讲。</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 really appreciate your making time in your schedules to attend the meeting today.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我非常感谢你们今天抽空来参加这个会议。</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拓展话题</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论证观点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In a sense, reading provides me with a safe harbor where I can escape from worries in real life, rest my soul and immediately get recharged.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从某种意义上说</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阅读给我提供了一个安全的港湾</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在那里我可以逃避现实生活中的烦恼</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让我的灵魂得到休息</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并立即得到恢复。</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Music can make us feel relaxed both mentally and physically, thus helping reduce our pressure at work and in life.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音乐可以使我们身心放松</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从而帮助我们减少工作和生活中的压力。</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 </a:t>
            </a:r>
            <a:r>
              <a:rPr lang="zh-CN" altLang="zh-CN" sz="2500" kern="100" smtClean="0">
                <a:latin typeface="Times New Roman" panose="02020603050405020304" pitchFamily="18" charset="0"/>
                <a:ea typeface="宋体" panose="02010600030101010101" pitchFamily="2" charset="-122"/>
              </a:rPr>
              <a:t>结</a:t>
            </a:r>
            <a:r>
              <a:rPr lang="zh-CN" altLang="en-US" sz="2500" kern="100" smtClean="0">
                <a:latin typeface="Times New Roman" panose="02020603050405020304" pitchFamily="18" charset="0"/>
                <a:ea typeface="宋体" panose="02010600030101010101" pitchFamily="2" charset="-122"/>
              </a:rPr>
              <a:t>尾</a:t>
            </a:r>
            <a:r>
              <a:rPr lang="en-US" altLang="zh-CN" sz="2500" kern="100" smtClean="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发出号召、呼吁或祝福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We sincerely hope that you will have a wonderful time tonight.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我们衷心希望你们今晚过得开心。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Best wishes for a very successful exhibition!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祝贺展览会圆满成功</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劳动是我国的传统美德。假定你是李华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你校将举办劳动教育活动周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请以</a:t>
            </a:r>
            <a:r>
              <a:rPr lang="en-US" altLang="zh-CN" sz="2500" kern="100">
                <a:latin typeface="Times New Roman" panose="02020603050405020304" pitchFamily="18" charset="0"/>
                <a:ea typeface="宋体" panose="02010600030101010101" pitchFamily="2" charset="-122"/>
              </a:rPr>
              <a:t>“Labor—A Traditional Virtue”</a:t>
            </a:r>
            <a:r>
              <a:rPr lang="zh-CN" altLang="zh-CN" sz="2500" kern="100">
                <a:latin typeface="Times New Roman" panose="02020603050405020304" pitchFamily="18" charset="0"/>
                <a:ea typeface="宋体" panose="02010600030101010101" pitchFamily="2" charset="-122"/>
              </a:rPr>
              <a:t>为题</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写一篇演讲稿</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一次劳动体验</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你对劳动的理解。</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en-US" altLang="zh-CN" sz="2500" b="1" kern="100">
                <a:latin typeface="Times New Roman" panose="02020603050405020304" pitchFamily="18" charset="0"/>
                <a:ea typeface="宋体" panose="02010600030101010101" pitchFamily="2" charset="-122"/>
              </a:rPr>
              <a:t>Labor</a:t>
            </a:r>
            <a:r>
              <a:rPr lang="en-US" altLang="zh-CN" sz="2500" kern="100">
                <a:latin typeface="Times New Roman" panose="02020603050405020304" pitchFamily="18" charset="0"/>
                <a:ea typeface="宋体" panose="02010600030101010101" pitchFamily="2" charset="-122"/>
              </a:rPr>
              <a:t>—</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Traditional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Virtue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Good morning, everyone.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Today, I would like to talk about the theme “Labor—A Traditional Virtue” in the context of the upcoming Labor Education Week at our school.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Recently, I had the opportunity to participate in a labor experience program organized by our school. We spent a whole day working at a local farm, planting vegetables, and doing various physical tasks. Although it was tiring, I felt a great sense of accomplishment at the end of the day. </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0223500" y="12179300"/>
            <a:ext cx="0" cy="0"/>
          </a:xfrm>
          <a:prstGeom prst="rect">
            <a:avLst/>
          </a:prstGeom>
          <a:ln>
            <a:noFill/>
          </a:ln>
        </p:spPr>
      </p:pic>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399665"/>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Through this experience, I gained a deeper understanding of the value of labor. Labor not only helps us develop a strong work ethic but also teaches us something essential such as teamwork, responsibility, and perseverance.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Thank you for your attention.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67</Paragraphs>
  <Slides>14</Slides>
  <Notes>14</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14</vt:i4>
      </vt:variant>
    </vt:vector>
  </HeadingPairs>
  <TitlesOfParts>
    <vt:vector baseType="lpstr" size="22">
      <vt:lpstr>Arial</vt:lpstr>
      <vt:lpstr>等线 Light</vt:lpstr>
      <vt:lpstr>宋体</vt:lpstr>
      <vt:lpstr>等线</vt:lpstr>
      <vt:lpstr>Calibri Light</vt:lpstr>
      <vt:lpstr>Calibri</vt:lpstr>
      <vt:lpstr>Times New Roman</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2024-05-28T18:06:05.251</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