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tags" Target="tags/tag67.xml" /><Relationship Id="rId3" Type="http://schemas.openxmlformats.org/officeDocument/2006/relationships/handoutMaster" Target="handoutMasters/handoutMaster1.xml" /><Relationship Id="rId30" Type="http://schemas.openxmlformats.org/officeDocument/2006/relationships/presProps" Target="presProps.xml" /><Relationship Id="rId31" Type="http://schemas.openxmlformats.org/officeDocument/2006/relationships/viewProps" Target="viewProps.xml" /><Relationship Id="rId32" Type="http://schemas.openxmlformats.org/officeDocument/2006/relationships/theme" Target="theme/theme1.xml" /><Relationship Id="rId33" Type="http://schemas.openxmlformats.org/officeDocument/2006/relationships/tableStyles" Target="tableStyles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ags" Target="../tags/tag57.xml" /><Relationship Id="rId13" Type="http://schemas.openxmlformats.org/officeDocument/2006/relationships/tags" Target="../tags/tag58.xml" /><Relationship Id="rId14" Type="http://schemas.openxmlformats.org/officeDocument/2006/relationships/tags" Target="../tags/tag59.xml" /><Relationship Id="rId15" Type="http://schemas.openxmlformats.org/officeDocument/2006/relationships/tags" Target="../tags/tag60.xml" /><Relationship Id="rId16" Type="http://schemas.openxmlformats.org/officeDocument/2006/relationships/tags" Target="../tags/tag61.xml" /><Relationship Id="rId17" Type="http://schemas.openxmlformats.org/officeDocument/2006/relationships/image" Target="file:///D:\qq&#25991;&#20214;\712321467\Image\C2C\Image2\%7b75232B38-A165-1FB7-499C-2E1C792CACB5%7d.png" TargetMode="External" /><Relationship Id="rId18" Type="http://schemas.openxmlformats.org/officeDocument/2006/relationships/image" Target="../media/image1.png" /><Relationship Id="rId19" Type="http://schemas.openxmlformats.org/officeDocument/2006/relationships/image" Target="../media/image2.jpeg" /><Relationship Id="rId2" Type="http://schemas.openxmlformats.org/officeDocument/2006/relationships/slideLayout" Target="../slideLayouts/slideLayout2.xml" /><Relationship Id="rId20" Type="http://schemas.openxmlformats.org/officeDocument/2006/relationships/tags" Target="../tags/tag62.xml" /><Relationship Id="rId21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18" r:link="rId17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63.xml" /><Relationship Id="rId3" Type="http://schemas.openxmlformats.org/officeDocument/2006/relationships/image" Target="../media/image3.jpeg" /><Relationship Id="rId4" Type="http://schemas.openxmlformats.org/officeDocument/2006/relationships/tags" Target="../tags/tag64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tags" Target="../tags/tag65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3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4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5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6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8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9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0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1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3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4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5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6.xml" /><Relationship Id="rId3" Type="http://schemas.openxmlformats.org/officeDocument/2006/relationships/tags" Target="../tags/tag66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7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8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9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0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2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3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副标题 2" title="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2087835"/>
            <a:ext cx="9799200" cy="1472400"/>
          </a:xfrm>
        </p:spPr>
        <p:txBody>
          <a:bodyPr/>
          <a:lstStyle/>
          <a:p>
            <a:r>
              <a:rPr lang="zh-CN" altLang="en-US" sz="4000" b="1">
                <a:latin typeface="Times New Roman" panose="02020603050405020304" pitchFamily="18" charset="0"/>
                <a:ea typeface="宋体" panose="02010600030101010101" pitchFamily="2" charset="-122"/>
              </a:rPr>
              <a:t>词汇的选择与锤炼</a:t>
            </a:r>
            <a:endParaRPr lang="zh-CN" altLang="en-US" sz="4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22555" y="861695"/>
          <a:ext cx="11866880" cy="5815965"/>
        </p:xfrm>
        <a:graphic>
          <a:graphicData uri="http://schemas.openxmlformats.org/drawingml/2006/table">
            <a:tbl>
              <a:tblPr firstRow="1" firstCol="1" bandRow="1"/>
              <a:tblGrid>
                <a:gridCol w="1086485"/>
                <a:gridCol w="10780395"/>
              </a:tblGrid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chance→opportunity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选择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choice→alternative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course→curriculum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影响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effect→influence/impact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后果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result→consequence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缺点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shortcoming→drawback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方法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way→approach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职业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job→career/profession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建议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advice→guidance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问题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problem→issue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老人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old people→the elderly/the aged/senior citizens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96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青少年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young people→youngsters/youths/adolescents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几天前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ts val="35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few days ago→the other day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框 1" title=""/>
          <p:cNvSpPr txBox="1"/>
          <p:nvPr/>
        </p:nvSpPr>
        <p:spPr>
          <a:xfrm>
            <a:off x="2695575" y="257175"/>
            <a:ext cx="6096000" cy="478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(1)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名词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短语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转换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TextBox 1" title=""/>
          <p:cNvSpPr txBox="1"/>
          <p:nvPr/>
        </p:nvSpPr>
        <p:spPr>
          <a:xfrm>
            <a:off x="271780" y="-81915"/>
            <a:ext cx="11276330" cy="546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替换常用简单词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短语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动词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短语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转换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610327" y="1521584"/>
          <a:ext cx="10972800" cy="4897755"/>
        </p:xfrm>
        <a:graphic>
          <a:graphicData uri="http://schemas.openxmlformats.org/drawingml/2006/table">
            <a:tbl>
              <a:tblPr firstRow="1" firstCol="1" bandRow="1"/>
              <a:tblGrid>
                <a:gridCol w="1555115"/>
                <a:gridCol w="9417685"/>
              </a:tblGrid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看见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see→catch sight of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遇见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meet→come across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喜欢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like→have a passion for/be fond of/have an affection for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引起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cause→lead to/result in/give rise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拥有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have→possess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提高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develop/improve→promote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替代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replace→substitute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注意到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notice→spot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完成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finish→accomplish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825378" y="134108"/>
          <a:ext cx="10892790" cy="6035040"/>
        </p:xfrm>
        <a:graphic>
          <a:graphicData uri="http://schemas.openxmlformats.org/drawingml/2006/table">
            <a:tbl>
              <a:tblPr firstRow="1" firstCol="1" bandRow="1"/>
              <a:tblGrid>
                <a:gridCol w="1791970"/>
                <a:gridCol w="9100820"/>
              </a:tblGrid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面对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face→be faced with/be confronted with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容忍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bear→tolerate/put up with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处理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deal with→cope with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使某人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意识到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make sb.realize→raise sb.’s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awareness of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决定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decide→determine/make up one’s mind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考虑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consider→take into consideration/account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应该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should→be supposed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理解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understand→make sense of/figure out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use→employ/make use of/take advantage of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道歉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apologize→make an apology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记住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remember→keep in mind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825378" y="187448"/>
          <a:ext cx="10892790" cy="5532120"/>
        </p:xfrm>
        <a:graphic>
          <a:graphicData uri="http://schemas.openxmlformats.org/drawingml/2006/table">
            <a:tbl>
              <a:tblPr firstRow="1" firstCol="1" bandRow="1"/>
              <a:tblGrid>
                <a:gridCol w="1791970"/>
                <a:gridCol w="9100820"/>
              </a:tblGrid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发生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happen→occur/come about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想起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think of→occur to/come up with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感谢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thank→appreciate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帮助某人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help sb.→do sb.a favor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节省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save→set aside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参观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visit→pay a visit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分发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hand out→distribute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站起来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stand up→rise to one’s feet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由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组成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made up of→consist of/be composed of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习惯于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used to→be accustomed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825378" y="675763"/>
          <a:ext cx="10892790" cy="4023360"/>
        </p:xfrm>
        <a:graphic>
          <a:graphicData uri="http://schemas.openxmlformats.org/drawingml/2006/table">
            <a:tbl>
              <a:tblPr firstRow="1" firstCol="1" bandRow="1"/>
              <a:tblGrid>
                <a:gridCol w="1791970"/>
                <a:gridCol w="9100820"/>
              </a:tblGrid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一定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sure to do→be bound to do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反对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against→object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厌烦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bored with→be fed up with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忙于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busy with→be occupied with/be engaged in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闻名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famous for→have a reputation for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感到舒服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feel comfortable→feel at ease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美化校园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make the school beautiful→beautify the school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想做某事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want to do sth.→intend/desire to do sth.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0410" marR="3041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610327" y="1430326"/>
          <a:ext cx="10972800" cy="2936875"/>
        </p:xfrm>
        <a:graphic>
          <a:graphicData uri="http://schemas.openxmlformats.org/drawingml/2006/table">
            <a:tbl>
              <a:tblPr firstRow="1" firstCol="1" bandRow="1"/>
              <a:tblGrid>
                <a:gridCol w="2266950"/>
                <a:gridCol w="8705850"/>
              </a:tblGrid>
              <a:tr h="5873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照看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look after→attend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75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尽力做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某事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try one’s best to do sth.→spare no effort to do sth.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475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向某人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寻求帮助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ask sb.for help→turn to sb.for help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3015072" y="290954"/>
            <a:ext cx="7652333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形容词转换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534762" y="1077206"/>
          <a:ext cx="10948035" cy="5441950"/>
        </p:xfrm>
        <a:graphic>
          <a:graphicData uri="http://schemas.openxmlformats.org/drawingml/2006/table">
            <a:tbl>
              <a:tblPr firstRow="1" firstCol="1" bandRow="1"/>
              <a:tblGrid>
                <a:gridCol w="3336290"/>
                <a:gridCol w="7611745"/>
              </a:tblGrid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令人</a:t>
                      </a:r>
                      <a:r>
                        <a:rPr lang="zh-CN" sz="25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惊奇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surprising→amazing/astonishing/shocking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贫穷的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poor→needy/poverty-stricken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优秀的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excellent→outstanding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明显的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obvious→apparent/evident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常见的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common→universal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充足的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enough→adequate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勤奋的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hard-working→diligent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可用的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useable→available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困难的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difficult→challenging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坚强的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strong→tough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534762" y="737167"/>
          <a:ext cx="10163175" cy="5749925"/>
        </p:xfrm>
        <a:graphic>
          <a:graphicData uri="http://schemas.openxmlformats.org/drawingml/2006/table">
            <a:tbl>
              <a:tblPr firstRow="1" firstCol="1" bandRow="1"/>
              <a:tblGrid>
                <a:gridCol w="3097530"/>
                <a:gridCol w="7065645"/>
              </a:tblGrid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重要的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important→significant/vital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不可能的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impossible→out of the question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69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有趣的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有吸</a:t>
                      </a:r>
                      <a:r>
                        <a:rPr lang="zh-CN" sz="25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引力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interesting→absorbing/striking/appealing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小心</a:t>
                      </a:r>
                      <a:r>
                        <a:rPr lang="zh-CN" sz="25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谨慎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careful→cautious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幸运的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lucky→fortunate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巨大的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large→enormous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合适的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proper→appropriate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丰富的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rich→abundant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古老的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old→ancient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唯一的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only→unique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全部的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whole→entire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富裕的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rich→wealthy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84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许多的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many→a large quantity/number of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4916" marR="34916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610327" y="1963926"/>
          <a:ext cx="10972800" cy="3265170"/>
        </p:xfrm>
        <a:graphic>
          <a:graphicData uri="http://schemas.openxmlformats.org/drawingml/2006/table">
            <a:tbl>
              <a:tblPr firstRow="1" firstCol="1" bandRow="1"/>
              <a:tblGrid>
                <a:gridCol w="1816100"/>
                <a:gridCol w="9156700"/>
              </a:tblGrid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有空的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free→available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有益处的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useful→be of benefit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高兴的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glad→delighted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激动的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excited→thrilled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坏的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bad→disgusting/awful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1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著名的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famous→distinguished/well-known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381926" y="154037"/>
            <a:ext cx="8521322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(4)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其他词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组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转换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1214276" y="822615"/>
          <a:ext cx="9998075" cy="5961380"/>
        </p:xfrm>
        <a:graphic>
          <a:graphicData uri="http://schemas.openxmlformats.org/drawingml/2006/table">
            <a:tbl>
              <a:tblPr firstRow="1" firstCol="1" bandRow="1"/>
              <a:tblGrid>
                <a:gridCol w="1994535"/>
                <a:gridCol w="8003540"/>
              </a:tblGrid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突然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suddenly→all of a sudden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立即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immediately→in a flash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有时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sometimes→occasionally/once in a while/from time to time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另外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lang="zh-CN" sz="25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况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且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besides→in addition/what’s more/moreover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因此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so→therefore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5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第一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lang="zh-CN" sz="25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首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first→to begin with/start with/first of all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5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第二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lang="zh-CN" sz="25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其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次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second→in addition/what’s more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最终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finally→eventually/ultimately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关于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about→concerning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也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too→as well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否则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or→otherwise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事实上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 fact→as a matter of fact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故意地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 purpose→by design/deliberately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总之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 a word→to sum up/in conclusion/in summary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58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因为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because of→on account of/due to/owing to/thanks to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2374" marR="52374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On the one hand, too much praise might lead to children’s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lack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of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enthusiasm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explore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new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things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缺乏探索新事物的热情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for they are afraid they won’t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meet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parents’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expectations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满足父母的期望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Considering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enormous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benefits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考虑到巨大的益处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which we can earn steadily from tennis practice, including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preventing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us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from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getting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short-sighted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防止我们近视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)and helping us keep physically healthy, we are lost in the training course.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477054"/>
            <a:ext cx="11847809" cy="586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special day allows people to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达爱和情感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their fathers.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是明智的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)for people to use their cellphones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更恰当地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没有充分的准备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you can hardly expect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to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answer all the questions correctly and obtain satisfactory marks, let alone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be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admitted into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梦想的大学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Tracy said she had already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通知苏珊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the change of the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appointment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4965650" y="1104181"/>
            <a:ext cx="534430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show their love and affection for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778152" y="2278333"/>
            <a:ext cx="309380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It’s advisable/wise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338397" y="2859596"/>
            <a:ext cx="478708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more appropriately/properly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679848" y="3452485"/>
            <a:ext cx="508070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Without sufficient preparation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 title=""/>
          <p:cNvSpPr txBox="1"/>
          <p:nvPr/>
        </p:nvSpPr>
        <p:spPr>
          <a:xfrm>
            <a:off x="2633488" y="4615012"/>
            <a:ext cx="361473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 desirable university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Box 7" title=""/>
          <p:cNvSpPr txBox="1"/>
          <p:nvPr/>
        </p:nvSpPr>
        <p:spPr>
          <a:xfrm>
            <a:off x="4297788" y="5207900"/>
            <a:ext cx="312269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informed Susan of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511930"/>
            <a:ext cx="11993955" cy="586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People generally thought it impossible for the Chinese team to win the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championship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the Rio Olympic Games, but they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克服许多障碍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and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最终创造了奇迹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⑥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Drama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Night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预定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)be held on the evening of next Friday in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theatre hall.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⑦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此外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having been awarded scholarship twice in our school,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have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极好的学术成就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This phenomenon has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成为焦点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)we must face today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because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of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许多严重后果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)caused by improper use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of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cellphones.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7071485" y="1139056"/>
            <a:ext cx="406220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overcame many hurdles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3048187" y="1720320"/>
            <a:ext cx="611015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eventually worked miracles/wonders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2569938" y="2313208"/>
            <a:ext cx="264905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is scheduled to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808587" y="3487361"/>
            <a:ext cx="221916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Additionally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 title=""/>
          <p:cNvSpPr txBox="1"/>
          <p:nvPr/>
        </p:nvSpPr>
        <p:spPr>
          <a:xfrm>
            <a:off x="1164162" y="4068624"/>
            <a:ext cx="539085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excellent academic performance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Box 7" title=""/>
          <p:cNvSpPr txBox="1"/>
          <p:nvPr/>
        </p:nvSpPr>
        <p:spPr>
          <a:xfrm>
            <a:off x="3613225" y="4649887"/>
            <a:ext cx="411981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become a concern/focus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Box 8" title=""/>
          <p:cNvSpPr txBox="1"/>
          <p:nvPr/>
        </p:nvSpPr>
        <p:spPr>
          <a:xfrm>
            <a:off x="1770258" y="5242776"/>
            <a:ext cx="469017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many serious consequences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变化所用词的词性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55600"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作文中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可以通过改变一个词的词性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使文章富有变化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让阅卷者感受到考生对词汇各种用法的掌握水平和灵活运用的程度。常见的变化词性的策略有名词变动词、动词变名词、形容词变名词等。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名词变动词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People are concerned about the gradual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disappearance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of the traditional values.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→People are concerned because the traditional values are gradually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disappearing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传统价值观正在渐渐地消亡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这让人们很担忧。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动词变名词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After watching his performance, I found he could really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dance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very well.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→After watching his performance, I found him a really good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dancer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看了他的表演之后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我发现他跳舞跳得很棒。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形容词变名词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wrote a letter to Tom to thank him for his being so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kind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→I wrote a letter to Tom to thank him for his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kindness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我写信给汤姆对他的善良表示感谢。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3435098" y="43125"/>
            <a:ext cx="5917262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善用短语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080" y="711200"/>
          <a:ext cx="11738610" cy="5982335"/>
        </p:xfrm>
        <a:graphic>
          <a:graphicData uri="http://schemas.openxmlformats.org/drawingml/2006/table">
            <a:tbl>
              <a:tblPr firstRow="1" firstCol="1" bandRow="1"/>
              <a:tblGrid>
                <a:gridCol w="2789555"/>
                <a:gridCol w="8949055"/>
              </a:tblGrid>
              <a:tr h="38290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汉语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高级短语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努力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struggle for=strive for=spare no effort for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从事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embark on=set about=go in for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在当代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 contemporary society=in present-day society=in this day and age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大量的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host of=a great number of=a large amount of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29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更糟</a:t>
                      </a:r>
                      <a:r>
                        <a:rPr lang="zh-CN" sz="20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糕的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what’s worse=worse still=to make matters worse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遇见</a:t>
                      </a:r>
                      <a:r>
                        <a:rPr lang="en-US" sz="20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偶遇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run into=come across=meet with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66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zh-CN" sz="20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我看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来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 my opinion=as far as I’m concerned=from my point of view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98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除了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之</a:t>
                      </a:r>
                      <a:r>
                        <a:rPr lang="zh-CN" sz="20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外</a:t>
                      </a:r>
                      <a:r>
                        <a:rPr lang="en-US" sz="2000" kern="10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还有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 addition to=apart from=as well as=along with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一方面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另一方面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 the one hand, on the other hand=for one thing, for another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90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高度评价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think highly of=sing high praise for=think well of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把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考虑在内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take...into consideration=take...into account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49617" marR="49617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823622" y="619464"/>
          <a:ext cx="10963910" cy="5364480"/>
        </p:xfrm>
        <a:graphic>
          <a:graphicData uri="http://schemas.openxmlformats.org/drawingml/2006/table">
            <a:tbl>
              <a:tblPr firstRow="1" firstCol="1" bandRow="1"/>
              <a:tblGrid>
                <a:gridCol w="3849370"/>
                <a:gridCol w="7114540"/>
              </a:tblGrid>
              <a:tr h="33528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汉语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高级短语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有资格的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有能力的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胜任的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fit for=be equal to=be qualified for=be competent in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参加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take part in/participate in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一些如何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的建议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some advice/tips/suggestions on how to...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感到紧张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feel nervous/anxious about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克服紧张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缓解焦虑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ease/overcome/get over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nervousness/relieve anxiety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树立信心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对自己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有信心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build up confidence/have confidence in oneself/be confident about oneself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有益的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be of benefit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=be beneficial to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823622" y="619464"/>
          <a:ext cx="10963910" cy="3352800"/>
        </p:xfrm>
        <a:graphic>
          <a:graphicData uri="http://schemas.openxmlformats.org/drawingml/2006/table">
            <a:tbl>
              <a:tblPr firstRow="1" firstCol="1" bandRow="1"/>
              <a:tblGrid>
                <a:gridCol w="3849370"/>
                <a:gridCol w="7114540"/>
              </a:tblGrid>
              <a:tr h="33528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汉语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高级短语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有害的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 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损害的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do harm to/do damage to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=be harmful to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接触到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;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有机会使用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gain/have access to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=be accessible to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对某人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方便的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be convenient/inconvenient for sb.=bring convenience/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inconvenience to sb.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影响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作用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have an effect/influence/impact on.../make a difference to...</a:t>
                      </a:r>
                      <a:endParaRPr lang="en-US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7709" marR="37709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【典型例句】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For example, paper-cutting and Chinese knots are all feasible methods of introducing our culture, which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are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also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more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convenient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organize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更方便组织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The reasons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why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am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qualified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for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the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job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我能胜任这份工作的原因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are as follows.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2113529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我认为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it’s true that cellphones bring us lots of benefits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and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convenience, but only when they’re used more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恰当地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can they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serve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us better.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All my teachers and classmates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高度赞扬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我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熟练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in both Chinese and English.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考虑到你的全部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要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I firmly believe I’m the right person you’re looking for.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728449" y="1361597"/>
            <a:ext cx="384422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From my point of view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7181497" y="1942860"/>
            <a:ext cx="240064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appropriately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4743109" y="3117012"/>
            <a:ext cx="576613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sing high praise for my proficiency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321806" y="4291165"/>
            <a:ext cx="921461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Taking all your requirements into account/consideration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1" y="721184"/>
            <a:ext cx="1214010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As for accommodation, I prefer to live with a local family because I want to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improve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my English and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近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距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离体验真实的美国文化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 are optimistic about life and always have confidence, whatever difficulty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you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may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遇见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which helps you stand out among the classmates.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⑥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随着人们生活水平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提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高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cellphones are flooding into our life.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⑦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We are sorry for any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我们给你带来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不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便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).Thanks for your understanding.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607156" y="1348311"/>
            <a:ext cx="743352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experience authentic American culture close up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1777752" y="3103727"/>
            <a:ext cx="172236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encounter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627653" y="3696615"/>
            <a:ext cx="795190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With the improvement of people’s living standards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3458003" y="4859142"/>
            <a:ext cx="584853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inconvenience that we’ll bring to you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455400" y="110744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69043" y="1119769"/>
            <a:ext cx="12060385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Nowadays, the smart phones have found their way to every family and are playing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very important role in our life.They are beneficial to us in many ways.However,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they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also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有害于我们的身心健康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⑨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addition, seldom do I have time to keep my parents company, so I decide to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help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my parents with some housework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缓解他们的压力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which I think is of benefit to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加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强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关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系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between my family members.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1306394" y="2349745"/>
            <a:ext cx="610616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do harm to us physically and mentally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5158297" y="3512272"/>
            <a:ext cx="677255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to release/ease/lessen/reduce their pressure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6603514" y="4105160"/>
            <a:ext cx="430062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enhancing the relationship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534762" y="721184"/>
            <a:ext cx="1127651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【语篇填空】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55600"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根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据所给信息补全短文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并注意高级词汇的使用。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Peter,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        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我非常高兴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to hear from you.You asked me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 last letter about the physical exercise in our school and the following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information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may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给你一个概述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724111" y="2535749"/>
            <a:ext cx="499217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 am exceedingly delighted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540950" y="3709901"/>
            <a:ext cx="326504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give you a sketch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162760" y="411454"/>
            <a:ext cx="12113526" cy="643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To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begin with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一座很大的新体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育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馆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已落成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), which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已成为新的地标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in our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school.Moreover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with the stadium set up,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各种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体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育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项目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are able to be held, of which ping-pong, football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以及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running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competitions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很受欢迎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).As for me,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我热爱篮球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since it has been giving me strength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去迎接生活中的挑战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      All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all, I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诚挚地邀请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 you to come to our school and 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see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for yourself. 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2060574" y="479737"/>
            <a:ext cx="6959400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 fabulous new stadium has been built up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2311912" y="1061001"/>
            <a:ext cx="5154693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has become the new landmark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5446759" y="1653889"/>
            <a:ext cx="490688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 wide range of sports events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7734501" y="2235153"/>
            <a:ext cx="172643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as well as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Box 6" title=""/>
          <p:cNvSpPr txBox="1"/>
          <p:nvPr/>
        </p:nvSpPr>
        <p:spPr>
          <a:xfrm>
            <a:off x="1790633" y="2828041"/>
            <a:ext cx="384894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enjoy great popularity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TextBox 7" title=""/>
          <p:cNvSpPr txBox="1"/>
          <p:nvPr/>
        </p:nvSpPr>
        <p:spPr>
          <a:xfrm>
            <a:off x="8280518" y="2828041"/>
            <a:ext cx="3517469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I’m intoxicated with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Box 8" title=""/>
          <p:cNvSpPr txBox="1"/>
          <p:nvPr/>
        </p:nvSpPr>
        <p:spPr>
          <a:xfrm>
            <a:off x="125278" y="3409305"/>
            <a:ext cx="1878535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basketball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Box 9" title=""/>
          <p:cNvSpPr txBox="1"/>
          <p:nvPr/>
        </p:nvSpPr>
        <p:spPr>
          <a:xfrm>
            <a:off x="8370491" y="3409305"/>
            <a:ext cx="2616756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to confront the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TextBox 10" title=""/>
          <p:cNvSpPr txBox="1"/>
          <p:nvPr/>
        </p:nvSpPr>
        <p:spPr>
          <a:xfrm>
            <a:off x="45893" y="3990568"/>
            <a:ext cx="3502087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challenges in my life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Box 11" title=""/>
          <p:cNvSpPr txBox="1"/>
          <p:nvPr/>
        </p:nvSpPr>
        <p:spPr>
          <a:xfrm>
            <a:off x="2126529" y="4583457"/>
            <a:ext cx="264239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sincerely invite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custom20205081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SHOW_EDIT_AREA_INDICATION" val="1"/>
  <p:tag name="KSO_WM_UNIT_TYPE" val="b"/>
  <p:tag name="KSO_WM_UNIT_VALUE" val="111"/>
</p:tagLst>
</file>

<file path=ppt/tags/tag64.xml><?xml version="1.0" encoding="utf-8"?>
<p:tagLst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5.xml><?xml version="1.0" encoding="utf-8"?>
<p:tagLst xmlns:p="http://schemas.openxmlformats.org/presentationml/2006/main">
  <p:tag name="TABLE_ENDDRAG_ORIGIN_RECT" val="934*471"/>
  <p:tag name="TABLE_ENDDRAG_RECT" val="9*64*934*471"/>
</p:tagLst>
</file>

<file path=ppt/tags/tag66.xml><?xml version="1.0" encoding="utf-8"?>
<p:tagLst xmlns:p="http://schemas.openxmlformats.org/presentationml/2006/main">
  <p:tag name="TABLE_ENDDRAG_ORIGIN_RECT" val="924*541"/>
  <p:tag name="TABLE_ENDDRAG_RECT" val="10*56*924*541"/>
</p:tagLst>
</file>

<file path=ppt/tags/tag67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124</Paragraphs>
  <Slides>25</Slides>
  <Notes>24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baseType="lpstr" size="33">
      <vt:lpstr>Arial</vt:lpstr>
      <vt:lpstr>微软雅黑</vt:lpstr>
      <vt:lpstr>Wingdings</vt:lpstr>
      <vt:lpstr>Calibri Light</vt:lpstr>
      <vt:lpstr>Calibri</vt:lpstr>
      <vt:lpstr>Times New Roman</vt:lpstr>
      <vt:lpstr>宋体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2024-05-29T16:38:06.744</cp:lastPrinted>
  <dcterms:created xsi:type="dcterms:W3CDTF">2024-05-29T16:38:06Z</dcterms:created>
  <dcterms:modified xsi:type="dcterms:W3CDTF">2024-05-29T08:38:06Z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