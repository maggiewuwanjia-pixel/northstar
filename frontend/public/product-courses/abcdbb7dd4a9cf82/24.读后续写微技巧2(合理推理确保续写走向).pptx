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853" r:id="rId3"/>
    <p:sldId id="813" r:id="rId4"/>
    <p:sldId id="820" r:id="rId5"/>
    <p:sldId id="821" r:id="rId6"/>
    <p:sldId id="822" r:id="rId7"/>
    <p:sldId id="823" r:id="rId8"/>
    <p:sldId id="824" r:id="rId9"/>
    <p:sldId id="817" r:id="rId10"/>
    <p:sldId id="825" r:id="rId11"/>
    <p:sldId id="826" r:id="rId12"/>
    <p:sldId id="827" r:id="rId13"/>
  </p:sldIdLst>
  <p:sldSz cx="13319125" cy="7491095"/>
  <p:notesSz cx="6858000" cy="9144000"/>
  <p:custDataLst>
    <p:tags r:id="rId14"/>
  </p:custDataLst>
  <p:defaultTextStyle>
    <a:defPPr>
      <a:defRPr lang="zh-CN"/>
    </a:defPPr>
    <a:lvl1pPr marL="0" algn="l" defTabSz="998220" rtl="0" eaLnBrk="1" latinLnBrk="0" hangingPunct="1">
      <a:defRPr sz="2000" kern="1200">
        <a:solidFill>
          <a:schemeClr val="tx1"/>
        </a:solidFill>
        <a:latin typeface="+mn-lt"/>
        <a:ea typeface="+mn-ea"/>
        <a:cs typeface="+mn-cs"/>
      </a:defRPr>
    </a:lvl1pPr>
    <a:lvl2pPr marL="499110" algn="l" defTabSz="998220" rtl="0" eaLnBrk="1" latinLnBrk="0" hangingPunct="1">
      <a:defRPr sz="2000" kern="1200">
        <a:solidFill>
          <a:schemeClr val="tx1"/>
        </a:solidFill>
        <a:latin typeface="+mn-lt"/>
        <a:ea typeface="+mn-ea"/>
        <a:cs typeface="+mn-cs"/>
      </a:defRPr>
    </a:lvl2pPr>
    <a:lvl3pPr marL="998220" algn="l" defTabSz="998220" rtl="0" eaLnBrk="1" latinLnBrk="0" hangingPunct="1">
      <a:defRPr sz="2000" kern="1200">
        <a:solidFill>
          <a:schemeClr val="tx1"/>
        </a:solidFill>
        <a:latin typeface="+mn-lt"/>
        <a:ea typeface="+mn-ea"/>
        <a:cs typeface="+mn-cs"/>
      </a:defRPr>
    </a:lvl3pPr>
    <a:lvl4pPr marL="1497330" algn="l" defTabSz="998220" rtl="0" eaLnBrk="1" latinLnBrk="0" hangingPunct="1">
      <a:defRPr sz="2000" kern="1200">
        <a:solidFill>
          <a:schemeClr val="tx1"/>
        </a:solidFill>
        <a:latin typeface="+mn-lt"/>
        <a:ea typeface="+mn-ea"/>
        <a:cs typeface="+mn-cs"/>
      </a:defRPr>
    </a:lvl4pPr>
    <a:lvl5pPr marL="1996440" algn="l" defTabSz="998220" rtl="0" eaLnBrk="1" latinLnBrk="0" hangingPunct="1">
      <a:defRPr sz="2000" kern="1200">
        <a:solidFill>
          <a:schemeClr val="tx1"/>
        </a:solidFill>
        <a:latin typeface="+mn-lt"/>
        <a:ea typeface="+mn-ea"/>
        <a:cs typeface="+mn-cs"/>
      </a:defRPr>
    </a:lvl5pPr>
    <a:lvl6pPr marL="2495550" algn="l" defTabSz="998220" rtl="0" eaLnBrk="1" latinLnBrk="0" hangingPunct="1">
      <a:defRPr sz="2000" kern="1200">
        <a:solidFill>
          <a:schemeClr val="tx1"/>
        </a:solidFill>
        <a:latin typeface="+mn-lt"/>
        <a:ea typeface="+mn-ea"/>
        <a:cs typeface="+mn-cs"/>
      </a:defRPr>
    </a:lvl6pPr>
    <a:lvl7pPr marL="2994025" algn="l" defTabSz="998220" rtl="0" eaLnBrk="1" latinLnBrk="0" hangingPunct="1">
      <a:defRPr sz="2000" kern="1200">
        <a:solidFill>
          <a:schemeClr val="tx1"/>
        </a:solidFill>
        <a:latin typeface="+mn-lt"/>
        <a:ea typeface="+mn-ea"/>
        <a:cs typeface="+mn-cs"/>
      </a:defRPr>
    </a:lvl7pPr>
    <a:lvl8pPr marL="3493135" algn="l" defTabSz="998220" rtl="0" eaLnBrk="1" latinLnBrk="0" hangingPunct="1">
      <a:defRPr sz="2000" kern="1200">
        <a:solidFill>
          <a:schemeClr val="tx1"/>
        </a:solidFill>
        <a:latin typeface="+mn-lt"/>
        <a:ea typeface="+mn-ea"/>
        <a:cs typeface="+mn-cs"/>
      </a:defRPr>
    </a:lvl8pPr>
    <a:lvl9pPr marL="3992245" algn="l" defTabSz="99822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94" userDrawn="1">
          <p15:clr>
            <a:srgbClr val="A4A3A4"/>
          </p15:clr>
        </p15:guide>
        <p15:guide id="2" pos="4184"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4" autoAdjust="0"/>
    <p:restoredTop sz="99846" autoAdjust="0"/>
  </p:normalViewPr>
  <p:slideViewPr>
    <p:cSldViewPr snapToGrid="0">
      <p:cViewPr>
        <p:scale>
          <a:sx n="66" d="100"/>
          <a:sy n="66" d="100"/>
        </p:scale>
        <p:origin x="-1086" y="-474"/>
      </p:cViewPr>
      <p:guideLst>
        <p:guide orient="horz" pos="2394"/>
        <p:guide pos="418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tags" Target="tags/tag66.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470" y="1143000"/>
            <a:ext cx="5487059"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309627" y="998813"/>
            <a:ext cx="10705116" cy="2807686"/>
          </a:xfrm>
        </p:spPr>
        <p:txBody>
          <a:bodyPr lIns="90000" tIns="46800" rIns="90000" bIns="46800" anchor="b" anchorCtr="0">
            <a:normAutofit/>
          </a:bodyPr>
          <a:lstStyle>
            <a:lvl1pPr algn="ctr">
              <a:defRPr sz="6555"/>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309627" y="3889078"/>
            <a:ext cx="10705116" cy="1608324"/>
          </a:xfrm>
        </p:spPr>
        <p:txBody>
          <a:bodyPr lIns="90000" tIns="46800" rIns="90000" bIns="46800">
            <a:normAutofit/>
          </a:bodyPr>
          <a:lstStyle>
            <a:lvl1pPr marL="0" indent="0" algn="ctr">
              <a:lnSpc>
                <a:spcPct val="110000"/>
              </a:lnSpc>
              <a:buNone/>
              <a:defRPr sz="2620" spc="200"/>
            </a:lvl1pPr>
            <a:lvl2pPr marL="499110" indent="0" algn="ctr">
              <a:buNone/>
              <a:defRPr sz="2185"/>
            </a:lvl2pPr>
            <a:lvl3pPr marL="998855" indent="0" algn="ctr">
              <a:buNone/>
              <a:defRPr sz="1965"/>
            </a:lvl3pPr>
            <a:lvl4pPr marL="1497965" indent="0" algn="ctr">
              <a:buNone/>
              <a:defRPr sz="1750"/>
            </a:lvl4pPr>
            <a:lvl5pPr marL="1997710" indent="0" algn="ctr">
              <a:buNone/>
              <a:defRPr sz="1750"/>
            </a:lvl5pPr>
            <a:lvl6pPr marL="2496820" indent="0" algn="ctr">
              <a:buNone/>
              <a:defRPr sz="1750"/>
            </a:lvl6pPr>
            <a:lvl7pPr marL="2996565" indent="0" algn="ctr">
              <a:buNone/>
              <a:defRPr sz="1750"/>
            </a:lvl7pPr>
            <a:lvl8pPr marL="3495675" indent="0" algn="ctr">
              <a:buNone/>
              <a:defRPr sz="1750"/>
            </a:lvl8pPr>
            <a:lvl9pPr marL="3995420" indent="0" algn="ctr">
              <a:buNone/>
              <a:defRPr sz="175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64645" y="1627986"/>
            <a:ext cx="11983280" cy="5198545"/>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2174845" y="4203664"/>
            <a:ext cx="8487009" cy="837587"/>
          </a:xfrm>
        </p:spPr>
        <p:txBody>
          <a:bodyPr lIns="90000" tIns="46800" rIns="90000" bIns="46800" anchor="b" anchorCtr="0">
            <a:normAutofit/>
          </a:bodyPr>
          <a:lstStyle>
            <a:lvl1pPr>
              <a:defRPr sz="4805"/>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2174845" y="5041251"/>
            <a:ext cx="8487009" cy="947692"/>
          </a:xfrm>
        </p:spPr>
        <p:txBody>
          <a:bodyPr lIns="90000" tIns="46800" rIns="90000" bIns="46800">
            <a:normAutofit/>
          </a:bodyPr>
          <a:lstStyle>
            <a:lvl1pPr marL="0" indent="0">
              <a:buNone/>
              <a:defRPr sz="1965">
                <a:solidFill>
                  <a:schemeClr val="tx1">
                    <a:lumMod val="65000"/>
                    <a:lumOff val="35000"/>
                  </a:schemeClr>
                </a:solidFill>
              </a:defRPr>
            </a:lvl1pPr>
            <a:lvl2pPr marL="499110" indent="0">
              <a:buNone/>
              <a:defRPr sz="1750">
                <a:solidFill>
                  <a:schemeClr val="tx1">
                    <a:tint val="75000"/>
                  </a:schemeClr>
                </a:solidFill>
              </a:defRPr>
            </a:lvl2pPr>
            <a:lvl3pPr marL="998855" indent="0">
              <a:buNone/>
              <a:defRPr sz="1750">
                <a:solidFill>
                  <a:schemeClr val="tx1">
                    <a:tint val="75000"/>
                  </a:schemeClr>
                </a:solidFill>
              </a:defRPr>
            </a:lvl3pPr>
            <a:lvl4pPr marL="1497965" indent="0">
              <a:buNone/>
              <a:defRPr sz="1750">
                <a:solidFill>
                  <a:schemeClr val="tx1">
                    <a:tint val="75000"/>
                  </a:schemeClr>
                </a:solidFill>
              </a:defRPr>
            </a:lvl4pPr>
            <a:lvl5pPr marL="1997710" indent="0">
              <a:buNone/>
              <a:defRPr sz="1750">
                <a:solidFill>
                  <a:schemeClr val="tx1">
                    <a:tint val="75000"/>
                  </a:schemeClr>
                </a:solidFill>
              </a:defRPr>
            </a:lvl5pPr>
            <a:lvl6pPr marL="2496820" indent="0">
              <a:buNone/>
              <a:defRPr sz="1750">
                <a:solidFill>
                  <a:schemeClr val="tx1">
                    <a:tint val="75000"/>
                  </a:schemeClr>
                </a:solidFill>
              </a:defRPr>
            </a:lvl6pPr>
            <a:lvl7pPr marL="2996565" indent="0">
              <a:buNone/>
              <a:defRPr sz="1750">
                <a:solidFill>
                  <a:schemeClr val="tx1">
                    <a:tint val="75000"/>
                  </a:schemeClr>
                </a:solidFill>
              </a:defRPr>
            </a:lvl7pPr>
            <a:lvl8pPr marL="3495675" indent="0">
              <a:buNone/>
              <a:defRPr sz="1750">
                <a:solidFill>
                  <a:schemeClr val="tx1">
                    <a:tint val="75000"/>
                  </a:schemeClr>
                </a:solidFill>
              </a:defRPr>
            </a:lvl8pPr>
            <a:lvl9pPr marL="3995420" indent="0">
              <a:buNone/>
              <a:defRPr sz="175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64645" y="1639783"/>
            <a:ext cx="5655384" cy="5186748"/>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7004339" y="1639783"/>
            <a:ext cx="5655384" cy="5186748"/>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64645" y="1561136"/>
            <a:ext cx="5836294" cy="416827"/>
          </a:xfrm>
        </p:spPr>
        <p:txBody>
          <a:bodyPr lIns="101600" tIns="38100" rIns="76200" bIns="38100" anchor="t" anchorCtr="0">
            <a:normAutofit/>
          </a:bodyPr>
          <a:lstStyle>
            <a:lvl1pPr marL="0" indent="0">
              <a:lnSpc>
                <a:spcPct val="100000"/>
              </a:lnSpc>
              <a:buNone/>
              <a:defRPr sz="2185" b="1" spc="200">
                <a:solidFill>
                  <a:schemeClr val="tx1">
                    <a:lumMod val="75000"/>
                    <a:lumOff val="25000"/>
                  </a:schemeClr>
                </a:solidFill>
              </a:defRPr>
            </a:lvl1pPr>
            <a:lvl2pPr marL="499110" indent="0">
              <a:buNone/>
              <a:defRPr sz="2185" b="1"/>
            </a:lvl2pPr>
            <a:lvl3pPr marL="998855" indent="0">
              <a:buNone/>
              <a:defRPr sz="1965" b="1"/>
            </a:lvl3pPr>
            <a:lvl4pPr marL="1497965" indent="0">
              <a:buNone/>
              <a:defRPr sz="1750" b="1"/>
            </a:lvl4pPr>
            <a:lvl5pPr marL="1997710" indent="0">
              <a:buNone/>
              <a:defRPr sz="1750" b="1"/>
            </a:lvl5pPr>
            <a:lvl6pPr marL="2496820" indent="0">
              <a:buNone/>
              <a:defRPr sz="1750" b="1"/>
            </a:lvl6pPr>
            <a:lvl7pPr marL="2996565" indent="0">
              <a:buNone/>
              <a:defRPr sz="1750" b="1"/>
            </a:lvl7pPr>
            <a:lvl8pPr marL="3495675" indent="0">
              <a:buNone/>
              <a:defRPr sz="1750" b="1"/>
            </a:lvl8pPr>
            <a:lvl9pPr marL="3995420" indent="0">
              <a:buNone/>
              <a:defRPr sz="175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64645" y="2025152"/>
            <a:ext cx="5836294" cy="480137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812232" y="1552976"/>
            <a:ext cx="5836294" cy="416827"/>
          </a:xfrm>
        </p:spPr>
        <p:txBody>
          <a:bodyPr vert="horz" lIns="101600" tIns="38100" rIns="76200" bIns="38100" rtlCol="0" anchor="t" anchorCtr="0">
            <a:normAutofit/>
          </a:bodyPr>
          <a:lstStyle>
            <a:lvl1pPr marL="0" indent="0">
              <a:lnSpc>
                <a:spcPct val="100000"/>
              </a:lnSpc>
              <a:buNone/>
              <a:defRPr sz="2185" b="1" spc="200">
                <a:solidFill>
                  <a:schemeClr val="tx1">
                    <a:lumMod val="75000"/>
                    <a:lumOff val="25000"/>
                  </a:schemeClr>
                </a:solidFill>
              </a:defRPr>
            </a:lvl1pPr>
            <a:lvl2pPr marL="499110" indent="0">
              <a:buNone/>
              <a:defRPr sz="2185" b="1"/>
            </a:lvl2pPr>
            <a:lvl3pPr marL="998855" indent="0">
              <a:buNone/>
              <a:defRPr sz="1965" b="1"/>
            </a:lvl3pPr>
            <a:lvl4pPr marL="1497965" indent="0">
              <a:buNone/>
              <a:defRPr sz="1750" b="1"/>
            </a:lvl4pPr>
            <a:lvl5pPr marL="1997710" indent="0">
              <a:buNone/>
              <a:defRPr sz="1750" b="1"/>
            </a:lvl5pPr>
            <a:lvl6pPr marL="2496820" indent="0">
              <a:buNone/>
              <a:defRPr sz="1750" b="1"/>
            </a:lvl6pPr>
            <a:lvl7pPr marL="2996565" indent="0">
              <a:buNone/>
              <a:defRPr sz="1750" b="1"/>
            </a:lvl7pPr>
            <a:lvl8pPr marL="3495675" indent="0">
              <a:buNone/>
              <a:defRPr sz="1750" b="1"/>
            </a:lvl8pPr>
            <a:lvl9pPr marL="3995420" indent="0">
              <a:buNone/>
              <a:defRPr sz="175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812232" y="2025152"/>
            <a:ext cx="5836294" cy="480137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64645" y="1698768"/>
            <a:ext cx="5716864" cy="5033387"/>
          </a:xfrm>
        </p:spPr>
        <p:txBody>
          <a:bodyPr vert="horz" lIns="90000" tIns="46800" rIns="90000" bIns="46800" rtlCol="0">
            <a:normAutofit/>
          </a:bodyPr>
          <a:lstStyle>
            <a:lvl1pPr>
              <a:buNone/>
              <a:defRPr sz="1750"/>
            </a:lvl1pPr>
          </a:lstStyle>
          <a:p>
            <a:pPr lvl="0"/>
            <a:endParaRPr lang="zh-CN" altLang="en-US"/>
          </a:p>
        </p:txBody>
      </p:sp>
      <p:sp>
        <p:nvSpPr>
          <p:cNvPr id="4" name="文本占位符 3"/>
          <p:cNvSpPr>
            <a:spLocks noGrp="1"/>
          </p:cNvSpPr>
          <p:nvPr>
            <p:ph type="body" sz="half" idx="2"/>
            <p:custDataLst>
              <p:tags r:id="rId2"/>
            </p:custDataLst>
          </p:nvPr>
        </p:nvSpPr>
        <p:spPr>
          <a:xfrm>
            <a:off x="6937481" y="1698768"/>
            <a:ext cx="5710444" cy="5033387"/>
          </a:xfrm>
        </p:spPr>
        <p:txBody>
          <a:bodyPr vert="horz" lIns="90000" tIns="46800" rIns="90000" bIns="46800" rtlCol="0">
            <a:normAutofit/>
          </a:bodyPr>
          <a:lstStyle>
            <a:lvl1pPr>
              <a:buNone/>
              <a:defRPr sz="175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1180986" y="998813"/>
            <a:ext cx="1140516" cy="5493470"/>
          </a:xfrm>
        </p:spPr>
        <p:txBody>
          <a:bodyPr vert="eaVert" lIns="90000" tIns="46800" rIns="90000" bIns="46800" rtlCol="0" anchor="ctr" anchorCtr="0">
            <a:normAutofit/>
          </a:bodyPr>
          <a:lstStyle>
            <a:lvl1pPr>
              <a:buNone/>
              <a:defRPr sz="306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98934" y="998813"/>
            <a:ext cx="10016873" cy="5493470"/>
          </a:xfrm>
        </p:spPr>
        <p:txBody>
          <a:bodyPr vert="eaVert" lIns="46800" tIns="46800" rIns="46800" bIns="46800"/>
          <a:lstStyle>
            <a:lvl1pPr marL="249555" indent="-249555">
              <a:spcAft>
                <a:spcPts val="1000"/>
              </a:spcAft>
              <a:defRPr spc="300"/>
            </a:lvl1pPr>
            <a:lvl2pPr marL="749300" indent="-249555">
              <a:defRPr spc="300"/>
            </a:lvl2pPr>
            <a:lvl3pPr marL="1248410" indent="-249555">
              <a:defRPr spc="300"/>
            </a:lvl3pPr>
            <a:lvl4pPr marL="1748155" indent="-249555">
              <a:defRPr spc="300"/>
            </a:lvl4pPr>
            <a:lvl5pPr marL="2247265" indent="-249555">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64645" y="845452"/>
            <a:ext cx="11987213" cy="598894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309627" y="2713310"/>
            <a:ext cx="10705116" cy="1112850"/>
          </a:xfrm>
        </p:spPr>
        <p:txBody>
          <a:bodyPr vert="horz" lIns="90000" tIns="46800" rIns="90000" bIns="46800" rtlCol="0" anchor="t" anchorCtr="0">
            <a:normAutofit/>
          </a:bodyPr>
          <a:lstStyle>
            <a:lvl1pPr algn="ctr">
              <a:defRPr sz="6555"/>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309627" y="3889078"/>
            <a:ext cx="10705116" cy="515136"/>
          </a:xfrm>
        </p:spPr>
        <p:txBody>
          <a:bodyPr lIns="90000" tIns="46800" rIns="90000" bIns="46800">
            <a:normAutofit/>
          </a:bodyPr>
          <a:lstStyle>
            <a:lvl1pPr algn="ctr">
              <a:lnSpc>
                <a:spcPct val="110000"/>
              </a:lnSpc>
              <a:buNone/>
              <a:defRPr sz="262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64645" y="664564"/>
            <a:ext cx="11983280" cy="770737"/>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64645" y="1627986"/>
            <a:ext cx="11983280" cy="5198545"/>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68578" y="6897313"/>
            <a:ext cx="2949609" cy="346045"/>
          </a:xfrm>
          <a:prstGeom prst="rect">
            <a:avLst/>
          </a:prstGeom>
        </p:spPr>
        <p:txBody>
          <a:bodyPr vert="horz" lIns="91440" tIns="45720" rIns="91440" bIns="45720" rtlCol="0" anchor="ctr">
            <a:normAutofit/>
          </a:bodyPr>
          <a:lstStyle>
            <a:lvl1pPr algn="l">
              <a:defRPr sz="109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496516" y="6897313"/>
            <a:ext cx="4326094" cy="346045"/>
          </a:xfrm>
          <a:prstGeom prst="rect">
            <a:avLst/>
          </a:prstGeom>
        </p:spPr>
        <p:txBody>
          <a:bodyPr vert="horz" lIns="91440" tIns="45720" rIns="91440" bIns="45720" rtlCol="0" anchor="ctr">
            <a:normAutofit/>
          </a:bodyPr>
          <a:lstStyle>
            <a:lvl1pPr algn="ctr">
              <a:defRPr sz="109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9698316" y="6897313"/>
            <a:ext cx="2949609" cy="346045"/>
          </a:xfrm>
          <a:prstGeom prst="rect">
            <a:avLst/>
          </a:prstGeom>
        </p:spPr>
        <p:txBody>
          <a:bodyPr vert="horz" lIns="91440" tIns="45720" rIns="91440" bIns="45720" rtlCol="0" anchor="ctr">
            <a:normAutofit/>
          </a:bodyPr>
          <a:lstStyle>
            <a:lvl1pPr algn="r">
              <a:defRPr sz="109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98855" rtl="0" eaLnBrk="1" fontAlgn="auto" latinLnBrk="0" hangingPunct="1">
        <a:lnSpc>
          <a:spcPct val="100000"/>
        </a:lnSpc>
        <a:spcBef>
          <a:spcPct val="0"/>
        </a:spcBef>
        <a:buNone/>
        <a:defRPr sz="3930" b="0" u="none" strike="noStrike" kern="1200" cap="none" spc="300" normalizeH="0" baseline="0">
          <a:solidFill>
            <a:schemeClr val="tx1">
              <a:lumMod val="85000"/>
              <a:lumOff val="15000"/>
            </a:schemeClr>
          </a:solidFill>
          <a:uFillTx/>
          <a:latin typeface="+mj-lt"/>
          <a:ea typeface="+mj-ea"/>
          <a:cs typeface="+mj-cs"/>
        </a:defRPr>
      </a:lvl1pPr>
    </p:titleStyle>
    <p:bodyStyle>
      <a:lvl1pPr marL="249555" indent="-249555" algn="l" defTabSz="998855" rtl="0" eaLnBrk="1" fontAlgn="auto" latinLnBrk="0" hangingPunct="1">
        <a:lnSpc>
          <a:spcPct val="130000"/>
        </a:lnSpc>
        <a:spcBef>
          <a:spcPct val="0"/>
        </a:spcBef>
        <a:spcAft>
          <a:spcPts val="1000"/>
        </a:spcAft>
        <a:buFont typeface="Arial" panose="020b0604020202020204" pitchFamily="34" charset="0"/>
        <a:buChar char="●"/>
        <a:defRPr sz="1965" u="none" strike="noStrike" kern="1200" cap="none" spc="150" normalizeH="0" baseline="0">
          <a:solidFill>
            <a:schemeClr val="tx1">
              <a:lumMod val="65000"/>
              <a:lumOff val="35000"/>
            </a:schemeClr>
          </a:solidFill>
          <a:uFillTx/>
          <a:latin typeface="+mn-lt"/>
          <a:ea typeface="+mn-ea"/>
          <a:cs typeface="+mn-cs"/>
        </a:defRPr>
      </a:lvl1pPr>
      <a:lvl2pPr marL="749300" indent="-249555" algn="l" defTabSz="998855" rtl="0" eaLnBrk="1" fontAlgn="auto" latinLnBrk="0" hangingPunct="1">
        <a:lnSpc>
          <a:spcPct val="120000"/>
        </a:lnSpc>
        <a:spcBef>
          <a:spcPct val="0"/>
        </a:spcBef>
        <a:spcAft>
          <a:spcPts val="600"/>
        </a:spcAft>
        <a:buFont typeface="Arial" panose="020b0604020202020204" pitchFamily="34" charset="0"/>
        <a:buChar char="●"/>
        <a:tabLst>
          <a:tab pos="1758315"/>
        </a:tabLst>
        <a:defRPr sz="1750" u="none" strike="noStrike" kern="1200" cap="none" spc="150" normalizeH="0" baseline="0">
          <a:solidFill>
            <a:schemeClr val="tx1">
              <a:lumMod val="65000"/>
              <a:lumOff val="35000"/>
            </a:schemeClr>
          </a:solidFill>
          <a:uFillTx/>
          <a:latin typeface="+mn-lt"/>
          <a:ea typeface="+mn-ea"/>
          <a:cs typeface="+mn-cs"/>
        </a:defRPr>
      </a:lvl2pPr>
      <a:lvl3pPr marL="1248410" indent="-249555" algn="l" defTabSz="998855" rtl="0" eaLnBrk="1" fontAlgn="auto" latinLnBrk="0" hangingPunct="1">
        <a:lnSpc>
          <a:spcPct val="120000"/>
        </a:lnSpc>
        <a:spcBef>
          <a:spcPct val="0"/>
        </a:spcBef>
        <a:spcAft>
          <a:spcPts val="600"/>
        </a:spcAft>
        <a:buFont typeface="Arial" panose="020b0604020202020204" pitchFamily="34" charset="0"/>
        <a:buChar char="●"/>
        <a:defRPr sz="1750" u="none" strike="noStrike" kern="1200" cap="none" spc="150" normalizeH="0" baseline="0">
          <a:solidFill>
            <a:schemeClr val="tx1">
              <a:lumMod val="65000"/>
              <a:lumOff val="35000"/>
            </a:schemeClr>
          </a:solidFill>
          <a:uFillTx/>
          <a:latin typeface="+mn-lt"/>
          <a:ea typeface="+mn-ea"/>
          <a:cs typeface="+mn-cs"/>
        </a:defRPr>
      </a:lvl3pPr>
      <a:lvl4pPr marL="1748155" indent="-249555" algn="l" defTabSz="998855" rtl="0" eaLnBrk="1" fontAlgn="auto" latinLnBrk="0" hangingPunct="1">
        <a:lnSpc>
          <a:spcPct val="120000"/>
        </a:lnSpc>
        <a:spcBef>
          <a:spcPct val="0"/>
        </a:spcBef>
        <a:spcAft>
          <a:spcPts val="300"/>
        </a:spcAft>
        <a:buFont typeface="Wingdings" panose="05000000000000000000" charset="0"/>
        <a:buChar char=""/>
        <a:defRPr sz="1530" u="none" strike="noStrike" kern="1200" cap="none" spc="150" normalizeH="0" baseline="0">
          <a:solidFill>
            <a:schemeClr val="tx1">
              <a:lumMod val="65000"/>
              <a:lumOff val="35000"/>
            </a:schemeClr>
          </a:solidFill>
          <a:uFillTx/>
          <a:latin typeface="+mn-lt"/>
          <a:ea typeface="+mn-ea"/>
          <a:cs typeface="+mn-cs"/>
        </a:defRPr>
      </a:lvl4pPr>
      <a:lvl5pPr marL="2247265" indent="-249555" algn="l" defTabSz="998855" rtl="0" eaLnBrk="1" fontAlgn="auto" latinLnBrk="0" hangingPunct="1">
        <a:lnSpc>
          <a:spcPct val="120000"/>
        </a:lnSpc>
        <a:spcBef>
          <a:spcPct val="0"/>
        </a:spcBef>
        <a:spcAft>
          <a:spcPts val="300"/>
        </a:spcAft>
        <a:buFont typeface="Arial" panose="020b0604020202020204" pitchFamily="34" charset="0"/>
        <a:buChar char="•"/>
        <a:defRPr sz="1530" u="none" strike="noStrike" kern="1200" cap="none" spc="150" normalizeH="0" baseline="0">
          <a:solidFill>
            <a:schemeClr val="tx1">
              <a:lumMod val="65000"/>
              <a:lumOff val="35000"/>
            </a:schemeClr>
          </a:solidFill>
          <a:uFillTx/>
          <a:latin typeface="+mn-lt"/>
          <a:ea typeface="+mn-ea"/>
          <a:cs typeface="+mn-cs"/>
        </a:defRPr>
      </a:lvl5pPr>
      <a:lvl6pPr marL="2747010"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6pPr>
      <a:lvl7pPr marL="3246120"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7pPr>
      <a:lvl8pPr marL="3745865"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8pPr>
      <a:lvl9pPr marL="4244975"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9pPr>
    </p:bodyStyle>
    <p:otherStyle>
      <a:defPPr>
        <a:defRPr lang="zh-CN"/>
      </a:defPPr>
      <a:lvl1pPr marL="0" algn="l" defTabSz="998855" rtl="0" eaLnBrk="1" latinLnBrk="0" hangingPunct="1">
        <a:defRPr sz="1965" kern="1200">
          <a:solidFill>
            <a:schemeClr val="tx1"/>
          </a:solidFill>
          <a:latin typeface="+mn-lt"/>
          <a:ea typeface="+mn-ea"/>
          <a:cs typeface="+mn-cs"/>
        </a:defRPr>
      </a:lvl1pPr>
      <a:lvl2pPr marL="499110" algn="l" defTabSz="998855" rtl="0" eaLnBrk="1" latinLnBrk="0" hangingPunct="1">
        <a:defRPr sz="1965" kern="1200">
          <a:solidFill>
            <a:schemeClr val="tx1"/>
          </a:solidFill>
          <a:latin typeface="+mn-lt"/>
          <a:ea typeface="+mn-ea"/>
          <a:cs typeface="+mn-cs"/>
        </a:defRPr>
      </a:lvl2pPr>
      <a:lvl3pPr marL="998855" algn="l" defTabSz="998855" rtl="0" eaLnBrk="1" latinLnBrk="0" hangingPunct="1">
        <a:defRPr sz="1965" kern="1200">
          <a:solidFill>
            <a:schemeClr val="tx1"/>
          </a:solidFill>
          <a:latin typeface="+mn-lt"/>
          <a:ea typeface="+mn-ea"/>
          <a:cs typeface="+mn-cs"/>
        </a:defRPr>
      </a:lvl3pPr>
      <a:lvl4pPr marL="1497965" algn="l" defTabSz="998855" rtl="0" eaLnBrk="1" latinLnBrk="0" hangingPunct="1">
        <a:defRPr sz="1965" kern="1200">
          <a:solidFill>
            <a:schemeClr val="tx1"/>
          </a:solidFill>
          <a:latin typeface="+mn-lt"/>
          <a:ea typeface="+mn-ea"/>
          <a:cs typeface="+mn-cs"/>
        </a:defRPr>
      </a:lvl4pPr>
      <a:lvl5pPr marL="1997710" algn="l" defTabSz="998855" rtl="0" eaLnBrk="1" latinLnBrk="0" hangingPunct="1">
        <a:defRPr sz="1965" kern="1200">
          <a:solidFill>
            <a:schemeClr val="tx1"/>
          </a:solidFill>
          <a:latin typeface="+mn-lt"/>
          <a:ea typeface="+mn-ea"/>
          <a:cs typeface="+mn-cs"/>
        </a:defRPr>
      </a:lvl5pPr>
      <a:lvl6pPr marL="2496820" algn="l" defTabSz="998855" rtl="0" eaLnBrk="1" latinLnBrk="0" hangingPunct="1">
        <a:defRPr sz="1965" kern="1200">
          <a:solidFill>
            <a:schemeClr val="tx1"/>
          </a:solidFill>
          <a:latin typeface="+mn-lt"/>
          <a:ea typeface="+mn-ea"/>
          <a:cs typeface="+mn-cs"/>
        </a:defRPr>
      </a:lvl6pPr>
      <a:lvl7pPr marL="2996565" algn="l" defTabSz="998855" rtl="0" eaLnBrk="1" latinLnBrk="0" hangingPunct="1">
        <a:defRPr sz="1965" kern="1200">
          <a:solidFill>
            <a:schemeClr val="tx1"/>
          </a:solidFill>
          <a:latin typeface="+mn-lt"/>
          <a:ea typeface="+mn-ea"/>
          <a:cs typeface="+mn-cs"/>
        </a:defRPr>
      </a:lvl7pPr>
      <a:lvl8pPr marL="3495675" algn="l" defTabSz="998855" rtl="0" eaLnBrk="1" latinLnBrk="0" hangingPunct="1">
        <a:defRPr sz="1965" kern="1200">
          <a:solidFill>
            <a:schemeClr val="tx1"/>
          </a:solidFill>
          <a:latin typeface="+mn-lt"/>
          <a:ea typeface="+mn-ea"/>
          <a:cs typeface="+mn-cs"/>
        </a:defRPr>
      </a:lvl8pPr>
      <a:lvl9pPr marL="3995420" algn="l" defTabSz="998855" rtl="0" eaLnBrk="1" latinLnBrk="0" hangingPunct="1">
        <a:defRPr sz="1965"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tags" Target="../tags/tag65.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46482" y="2136478"/>
            <a:ext cx="10705116" cy="1608324"/>
          </a:xfrm>
        </p:spPr>
        <p:txBody>
          <a:bodyPr/>
          <a:lstStyle/>
          <a:p>
            <a:r>
              <a:rPr lang="zh-CN" altLang="en-US" sz="4400">
                <a:latin typeface="Times New Roman" panose="02020603050405020304" pitchFamily="18" charset="0"/>
                <a:ea typeface="宋体" panose="02010600030101010101" pitchFamily="2" charset="-122"/>
              </a:rPr>
              <a:t>合理推理确保续写走向</a:t>
            </a:r>
            <a:endParaRPr lang="zh-CN" altLang="en-US" sz="44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611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ctr">
              <a:lnSpc>
                <a:spcPct val="150000"/>
              </a:lnSpc>
              <a:spcAft>
                <a:spcPct val="0"/>
              </a:spcAft>
            </a:pPr>
            <a:r>
              <a:rPr lang="zh-CN" altLang="zh-CN" kern="100">
                <a:solidFill>
                  <a:srgbClr val="0000FF"/>
                </a:solidFill>
                <a:ea typeface="宋体" panose="02010600030101010101" pitchFamily="2" charset="-122"/>
              </a:rPr>
              <a:t>【真题再现】</a:t>
            </a:r>
            <a:endParaRPr lang="zh-CN" altLang="zh-CN" kern="100">
              <a:ea typeface="宋体" panose="02010600030101010101" pitchFamily="2" charset="-122"/>
            </a:endParaRPr>
          </a:p>
          <a:p>
            <a:pPr algn="r">
              <a:lnSpc>
                <a:spcPct val="150000"/>
              </a:lnSpc>
            </a:pPr>
            <a:r>
              <a:rPr lang="en-US" altLang="zh-CN" kern="100">
                <a:ea typeface="宋体" panose="02010600030101010101" pitchFamily="2" charset="-122"/>
              </a:rPr>
              <a:t>	</a:t>
            </a:r>
            <a:r>
              <a:rPr lang="en-US" altLang="zh-CN" kern="100" smtClean="0">
                <a:ea typeface="宋体" panose="02010600030101010101" pitchFamily="2" charset="-122"/>
              </a:rPr>
              <a:t>                                                                                   (</a:t>
            </a:r>
            <a:r>
              <a:rPr lang="en-US" altLang="zh-CN" kern="100">
                <a:ea typeface="宋体" panose="02010600030101010101" pitchFamily="2" charset="-122"/>
              </a:rPr>
              <a:t>2022·</a:t>
            </a:r>
            <a:r>
              <a:rPr lang="zh-CN" altLang="zh-CN" kern="100">
                <a:ea typeface="宋体" panose="02010600030101010101" pitchFamily="2" charset="-122"/>
              </a:rPr>
              <a:t>浙江</a:t>
            </a:r>
            <a:r>
              <a:rPr lang="en-US" altLang="zh-CN" kern="100">
                <a:ea typeface="宋体" panose="02010600030101010101" pitchFamily="2" charset="-122"/>
              </a:rPr>
              <a:t>1</a:t>
            </a:r>
            <a:r>
              <a:rPr lang="zh-CN" altLang="zh-CN" kern="100">
                <a:ea typeface="宋体" panose="02010600030101010101" pitchFamily="2" charset="-122"/>
              </a:rPr>
              <a:t>月改编</a:t>
            </a:r>
            <a:r>
              <a:rPr lang="en-US" altLang="zh-CN" kern="100">
                <a:ea typeface="宋体" panose="02010600030101010101" pitchFamily="2" charset="-122"/>
              </a:rPr>
              <a:t>)</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阅读下面材料</a:t>
            </a:r>
            <a:r>
              <a:rPr lang="en-US" altLang="zh-CN" kern="100">
                <a:ea typeface="宋体" panose="02010600030101010101" pitchFamily="2" charset="-122"/>
              </a:rPr>
              <a:t>,</a:t>
            </a:r>
            <a:r>
              <a:rPr lang="zh-CN" altLang="zh-CN" kern="100">
                <a:ea typeface="宋体" panose="02010600030101010101" pitchFamily="2" charset="-122"/>
              </a:rPr>
              <a:t>根据其内容和所给段落开头语续写两段</a:t>
            </a:r>
            <a:r>
              <a:rPr lang="en-US" altLang="zh-CN" kern="100">
                <a:ea typeface="宋体" panose="02010600030101010101" pitchFamily="2" charset="-122"/>
              </a:rPr>
              <a:t>,</a:t>
            </a:r>
            <a:r>
              <a:rPr lang="zh-CN" altLang="zh-CN" kern="100">
                <a:ea typeface="宋体" panose="02010600030101010101" pitchFamily="2" charset="-122"/>
              </a:rPr>
              <a:t>使之构成一篇完整的短文。</a:t>
            </a:r>
            <a:endParaRPr lang="zh-CN" altLang="zh-CN" kern="100">
              <a:ea typeface="宋体" panose="02010600030101010101" pitchFamily="2" charset="-122"/>
            </a:endParaRPr>
          </a:p>
          <a:p>
            <a:pPr indent="355600">
              <a:lnSpc>
                <a:spcPct val="150000"/>
              </a:lnSpc>
            </a:pPr>
            <a:r>
              <a:rPr lang="en-US" altLang="zh-CN" kern="100" smtClean="0">
                <a:ea typeface="宋体" panose="02010600030101010101" pitchFamily="2" charset="-122"/>
              </a:rPr>
              <a:t>    When </a:t>
            </a:r>
            <a:r>
              <a:rPr lang="en-US" altLang="zh-CN" kern="100">
                <a:ea typeface="宋体" panose="02010600030101010101" pitchFamily="2" charset="-122"/>
              </a:rPr>
              <a:t>Dr. Henderson was assigning(</a:t>
            </a:r>
            <a:r>
              <a:rPr lang="zh-CN" altLang="zh-CN" kern="100">
                <a:ea typeface="宋体" panose="02010600030101010101" pitchFamily="2" charset="-122"/>
              </a:rPr>
              <a:t>指定</a:t>
            </a:r>
            <a:r>
              <a:rPr lang="en-US" altLang="zh-CN" kern="100">
                <a:ea typeface="宋体" panose="02010600030101010101" pitchFamily="2" charset="-122"/>
              </a:rPr>
              <a:t>) project mates for his psychology class, I secretly hoped that he would pair me with my best friend or at least a classmate I could have some fun with. Above all, I hoped he wouldn’t assign me to work with the fiercely competitive and extremely serious fellow who always wore dark clothes and apparently had a personality to match. As fate (</a:t>
            </a:r>
            <a:r>
              <a:rPr lang="zh-CN" altLang="zh-CN" kern="100">
                <a:ea typeface="宋体" panose="02010600030101010101" pitchFamily="2" charset="-122"/>
              </a:rPr>
              <a:t>命运</a:t>
            </a:r>
            <a:r>
              <a:rPr lang="en-US" altLang="zh-CN" kern="100">
                <a:ea typeface="宋体" panose="02010600030101010101" pitchFamily="2" charset="-122"/>
              </a:rPr>
              <a:t>)would have it, Dr. Henderson very deliberately matched everyone in class and announced that I would be working with the one person in class I wanted to avoid.</a:t>
            </a:r>
            <a:endParaRPr lang="zh-CN" altLang="zh-CN" kern="100">
              <a:effectLst/>
              <a:ea typeface="宋体" panose="02010600030101010101" pitchFamily="2" charset="-122"/>
            </a:endParaRPr>
          </a:p>
        </p:txBody>
      </p:sp>
      <p:pic>
        <p:nvPicPr>
          <p:cNvPr id="3" name="Picture 3"/>
          <p:cNvPicPr>
            <a:picLocks noChangeAspect="1"/>
          </p:cNvPicPr>
          <p:nvPr/>
        </p:nvPicPr>
        <p:blipFill>
          <a:blip r:embed="rId2"/>
          <a:stretch>
            <a:fillRect/>
          </a:stretch>
        </p:blipFill>
        <p:spPr>
          <a:xfrm flipH="1">
            <a:off x="11747500" y="11455400"/>
            <a:ext cx="0" cy="0"/>
          </a:xfrm>
          <a:prstGeom prst="rect">
            <a:avLst/>
          </a:prstGeom>
          <a:ln>
            <a:noFill/>
          </a:ln>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indent="355600">
              <a:lnSpc>
                <a:spcPct val="150000"/>
              </a:lnSpc>
            </a:pPr>
            <a:r>
              <a:rPr lang="en-US" altLang="zh-CN" kern="100" smtClean="0">
                <a:ea typeface="宋体" panose="02010600030101010101" pitchFamily="2" charset="-122"/>
              </a:rPr>
              <a:t>    I </a:t>
            </a:r>
            <a:r>
              <a:rPr lang="en-US" altLang="zh-CN" kern="100">
                <a:ea typeface="宋体" panose="02010600030101010101" pitchFamily="2" charset="-122"/>
              </a:rPr>
              <a:t>went up to my new teammate and introduced myself. He looked at me as though I weren’t there. I felt he treated me as though I would hold him back and probably make him fail to get an A in the course. He wasn’t mean or abusive; he just gave me the impression he could do whatever project we dreamed up better if he did it alone.</a:t>
            </a:r>
            <a:endParaRPr lang="zh-CN" altLang="zh-CN" kern="100">
              <a:ea typeface="宋体" panose="02010600030101010101" pitchFamily="2" charset="-122"/>
            </a:endParaRPr>
          </a:p>
          <a:p>
            <a:pPr indent="355600">
              <a:lnSpc>
                <a:spcPct val="150000"/>
              </a:lnSpc>
            </a:pPr>
            <a:r>
              <a:rPr lang="en-US" altLang="zh-CN" kern="100" smtClean="0">
                <a:ea typeface="宋体" panose="02010600030101010101" pitchFamily="2" charset="-122"/>
              </a:rPr>
              <a:t>    Needless </a:t>
            </a:r>
            <a:r>
              <a:rPr lang="en-US" altLang="zh-CN" kern="100">
                <a:ea typeface="宋体" panose="02010600030101010101" pitchFamily="2" charset="-122"/>
              </a:rPr>
              <a:t>to say, I didn’t look forward to an entire term of being brushed off, but I tried to make the best of it and didn’t say anything for fear that I would make things worse.</a:t>
            </a:r>
            <a:endParaRPr lang="zh-CN" altLang="zh-CN" kern="100">
              <a:ea typeface="宋体" panose="02010600030101010101" pitchFamily="2" charset="-122"/>
            </a:endParaRPr>
          </a:p>
          <a:p>
            <a:pPr indent="355600">
              <a:lnSpc>
                <a:spcPct val="150000"/>
              </a:lnSpc>
            </a:pPr>
            <a:r>
              <a:rPr lang="en-US" altLang="zh-CN" kern="100" smtClean="0">
                <a:ea typeface="宋体" panose="02010600030101010101" pitchFamily="2" charset="-122"/>
              </a:rPr>
              <a:t>    The </a:t>
            </a:r>
            <a:r>
              <a:rPr lang="en-US" altLang="zh-CN" kern="100">
                <a:ea typeface="宋体" panose="02010600030101010101" pitchFamily="2" charset="-122"/>
              </a:rPr>
              <a:t>project required each team to develop a hypothesis (</a:t>
            </a:r>
            <a:r>
              <a:rPr lang="zh-CN" altLang="zh-CN" kern="100">
                <a:ea typeface="宋体" panose="02010600030101010101" pitchFamily="2" charset="-122"/>
              </a:rPr>
              <a:t>假说</a:t>
            </a:r>
            <a:r>
              <a:rPr lang="en-US" altLang="zh-CN" kern="100">
                <a:ea typeface="宋体" panose="02010600030101010101" pitchFamily="2" charset="-122"/>
              </a:rPr>
              <a:t>), set up an experiment to test the hypothesis, do the statistical analysis and present the findings. Whatever grade the team received would be shared by both students.</a:t>
            </a:r>
            <a:endParaRPr lang="zh-CN" altLang="zh-CN" kern="100">
              <a:effectLst/>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indent="355600">
              <a:lnSpc>
                <a:spcPct val="150000"/>
              </a:lnSpc>
            </a:pPr>
            <a:r>
              <a:rPr lang="en-US" altLang="zh-CN" kern="100" smtClean="0">
                <a:ea typeface="宋体" panose="02010600030101010101" pitchFamily="2" charset="-122"/>
              </a:rPr>
              <a:t>    When </a:t>
            </a:r>
            <a:r>
              <a:rPr lang="en-US" altLang="zh-CN" kern="100">
                <a:ea typeface="宋体" panose="02010600030101010101" pitchFamily="2" charset="-122"/>
              </a:rPr>
              <a:t>my teammate and I met to discuss our project, I was uneasy. Here was this challenging student who had a reputation for single-mindedness and good grades—the exact opposite of me. I actually wanted to drop the class at one point, but stopped short because I didn’t want to give him the satisfaction of my chickening out. I decided to stick to it no matter what.</a:t>
            </a:r>
            <a:endParaRPr lang="zh-CN" altLang="zh-CN" kern="100">
              <a:ea typeface="宋体" panose="02010600030101010101" pitchFamily="2" charset="-122"/>
            </a:endParaRPr>
          </a:p>
          <a:p>
            <a:pPr indent="355600">
              <a:lnSpc>
                <a:spcPct val="150000"/>
              </a:lnSpc>
            </a:pPr>
            <a:r>
              <a:rPr lang="en-US" altLang="zh-CN" kern="100" smtClean="0">
                <a:ea typeface="宋体" panose="02010600030101010101" pitchFamily="2" charset="-122"/>
              </a:rPr>
              <a:t>    After </a:t>
            </a:r>
            <a:r>
              <a:rPr lang="en-US" altLang="zh-CN" kern="100">
                <a:ea typeface="宋体" panose="02010600030101010101" pitchFamily="2" charset="-122"/>
              </a:rPr>
              <a:t>long discussions we somehow agreed to do a study on the psychological well-being of teenagers. I wasn’t sure what it meant exactly, but at least we had a topic.</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注意</a:t>
            </a:r>
            <a:r>
              <a:rPr lang="en-US" altLang="zh-CN" kern="100">
                <a:ea typeface="宋体" panose="02010600030101010101" pitchFamily="2" charset="-122"/>
              </a:rPr>
              <a:t>:1.</a:t>
            </a:r>
            <a:r>
              <a:rPr lang="zh-CN" altLang="zh-CN" kern="100">
                <a:ea typeface="宋体" panose="02010600030101010101" pitchFamily="2" charset="-122"/>
              </a:rPr>
              <a:t>续写词数应为</a:t>
            </a:r>
            <a:r>
              <a:rPr lang="en-US" altLang="zh-CN" kern="100">
                <a:ea typeface="宋体" panose="02010600030101010101" pitchFamily="2" charset="-122"/>
              </a:rPr>
              <a:t>150</a:t>
            </a:r>
            <a:r>
              <a:rPr lang="zh-CN" altLang="zh-CN" kern="100">
                <a:ea typeface="宋体" panose="02010600030101010101" pitchFamily="2" charset="-122"/>
              </a:rPr>
              <a:t>个左右</a:t>
            </a:r>
            <a:r>
              <a:rPr lang="en-US" altLang="zh-CN" kern="100">
                <a:ea typeface="宋体" panose="02010600030101010101" pitchFamily="2" charset="-122"/>
              </a:rPr>
              <a:t>;</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2.</a:t>
            </a:r>
            <a:r>
              <a:rPr lang="zh-CN" altLang="zh-CN" kern="100">
                <a:ea typeface="宋体" panose="02010600030101010101" pitchFamily="2" charset="-122"/>
              </a:rPr>
              <a:t>请按如下格式在相应位置作答。</a:t>
            </a:r>
            <a:endParaRPr lang="zh-CN" altLang="zh-CN" kern="100">
              <a:effectLst/>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indent="355600">
              <a:lnSpc>
                <a:spcPct val="150000"/>
              </a:lnSpc>
            </a:pPr>
            <a:r>
              <a:rPr lang="en-US" altLang="zh-CN" kern="100" smtClean="0">
                <a:ea typeface="宋体" panose="02010600030101010101" pitchFamily="2" charset="-122"/>
              </a:rPr>
              <a:t>    We </a:t>
            </a:r>
            <a:r>
              <a:rPr lang="en-US" altLang="zh-CN" kern="100">
                <a:ea typeface="宋体" panose="02010600030101010101" pitchFamily="2" charset="-122"/>
              </a:rPr>
              <a:t>started to meet regularly to draw up our plans. ________________________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a:t>
            </a:r>
            <a:r>
              <a:rPr lang="en-US" altLang="zh-CN" kern="100">
                <a:ea typeface="宋体" panose="02010600030101010101" pitchFamily="2" charset="-122"/>
              </a:rPr>
              <a:t>One day I got word that he was admitted to hospital for a serious disease. 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ffectLst/>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131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l">
              <a:lnSpc>
                <a:spcPct val="150000"/>
              </a:lnSpc>
              <a:spcAft>
                <a:spcPct val="0"/>
              </a:spcAft>
            </a:pPr>
            <a:r>
              <a:rPr lang="zh-CN" altLang="zh-CN" kern="100">
                <a:solidFill>
                  <a:srgbClr val="0000FF"/>
                </a:solidFill>
                <a:ea typeface="宋体" panose="02010600030101010101" pitchFamily="2" charset="-122"/>
              </a:rPr>
              <a:t>【解题策略】</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第一步　浏览前文</a:t>
            </a:r>
            <a:r>
              <a:rPr lang="en-US" altLang="zh-CN" kern="100">
                <a:ea typeface="宋体" panose="02010600030101010101" pitchFamily="2" charset="-122"/>
              </a:rPr>
              <a:t>,</a:t>
            </a:r>
            <a:r>
              <a:rPr lang="zh-CN" altLang="zh-CN" kern="100">
                <a:ea typeface="宋体" panose="02010600030101010101" pitchFamily="2" charset="-122"/>
              </a:rPr>
              <a:t>摸清关键要素并归纳主旨</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96900" y="2154555"/>
          <a:ext cx="11942763" cy="4023360"/>
        </p:xfrm>
        <a:graphic>
          <a:graphicData uri="http://schemas.openxmlformats.org/drawingml/2006/table">
            <a:tbl>
              <a:tblPr firstRow="1" firstCol="1" bandRow="1"/>
              <a:tblGrid>
                <a:gridCol w="1285139"/>
                <a:gridCol w="5949328"/>
                <a:gridCol w="4708296"/>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要素</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描述</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主旨</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when</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when Dr. Henderson was assigning project mates for his psychology class</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5">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本文是记叙文</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文章讲述了一个和学习与成长有关的故事。作者在一次课堂上需要和一个自己想回避的队友合作完成一个项目。他们从开始的无法配合到最后圆满完成任务</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where</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in class</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who</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Dr. Henderson; my teammate</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what</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would be working with the one person I wanted to avoid</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why</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The person may be serious</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bl>
          </a:graphicData>
        </a:graphic>
      </p:graphicFrame>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316" y="93515"/>
            <a:ext cx="12420411" cy="71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第二步　利用四条线索和首句</a:t>
            </a:r>
            <a:r>
              <a:rPr lang="en-US" altLang="zh-CN" kern="100">
                <a:ea typeface="宋体" panose="02010600030101010101" pitchFamily="2" charset="-122"/>
              </a:rPr>
              <a:t>,</a:t>
            </a:r>
            <a:r>
              <a:rPr lang="zh-CN" altLang="zh-CN" kern="100">
                <a:ea typeface="宋体" panose="02010600030101010101" pitchFamily="2" charset="-122"/>
              </a:rPr>
              <a:t>预测续写走向</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custDataLst>
              <p:tags r:id="rId2"/>
            </p:custDataLst>
          </p:nvPr>
        </p:nvGraphicFramePr>
        <p:xfrm>
          <a:off x="135255" y="923925"/>
          <a:ext cx="13184505" cy="6567170"/>
        </p:xfrm>
        <a:graphic>
          <a:graphicData uri="http://schemas.openxmlformats.org/drawingml/2006/table">
            <a:tbl>
              <a:tblPr firstRow="1" firstCol="1" bandRow="1"/>
              <a:tblGrid>
                <a:gridCol w="1223010"/>
                <a:gridCol w="1252855"/>
                <a:gridCol w="6666865"/>
                <a:gridCol w="4041775"/>
              </a:tblGrid>
              <a:tr h="59690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文段</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线索</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文脉线索</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续写走向预测</a:t>
                      </a:r>
                      <a:endParaRPr lang="zh-CN" sz="2600" kern="100">
                        <a:effectLst/>
                        <a:latin typeface="Times New Roman" panose="02020603050405020304" pitchFamily="18" charset="0"/>
                        <a:ea typeface="宋体" panose="02010600030101010101" pitchFamily="2" charset="-122"/>
                      </a:endParaRPr>
                    </a:p>
                  </a:txBody>
                  <a:tcPr marL="13204" marR="132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6900">
                <a:tc rowSpan="4">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前文</a:t>
                      </a:r>
                      <a:endParaRPr lang="zh-CN" sz="2600" kern="100">
                        <a:effectLst/>
                        <a:latin typeface="Times New Roman" panose="02020603050405020304" pitchFamily="18" charset="0"/>
                        <a:ea typeface="宋体" panose="02010600030101010101" pitchFamily="2" charset="-122"/>
                      </a:endParaRPr>
                    </a:p>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a:t>
                      </a:r>
                      <a:endParaRPr lang="zh-CN" sz="2600" kern="100">
                        <a:effectLst/>
                        <a:latin typeface="Times New Roman" panose="02020603050405020304" pitchFamily="18" charset="0"/>
                        <a:ea typeface="宋体" panose="02010600030101010101" pitchFamily="2" charset="-122"/>
                      </a:endParaRPr>
                    </a:p>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首句</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时间线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Dr. Henderson</a:t>
                      </a:r>
                      <a:r>
                        <a:rPr lang="zh-CN" sz="2600" kern="100">
                          <a:effectLst/>
                          <a:latin typeface="Times New Roman" panose="02020603050405020304" pitchFamily="18" charset="0"/>
                          <a:ea typeface="宋体" panose="02010600030101010101" pitchFamily="2" charset="-122"/>
                        </a:rPr>
                        <a:t>上课期间</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上课期间</a:t>
                      </a:r>
                      <a:endParaRPr lang="zh-CN" sz="2600" kern="100">
                        <a:effectLst/>
                        <a:latin typeface="Times New Roman" panose="02020603050405020304" pitchFamily="18" charset="0"/>
                        <a:ea typeface="宋体" panose="02010600030101010101" pitchFamily="2" charset="-122"/>
                      </a:endParaRPr>
                    </a:p>
                  </a:txBody>
                  <a:tcPr marL="13581" marR="1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94435">
                <a:tc vMerge="1">
                  <a:txBody>
                    <a:bodyPr vert="horz" wrap="square"/>
                    <a:lstStyle/>
                    <a:p/>
                  </a:txBody>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空间线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作者走向队友</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作者和队友再次会面</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在课堂上</a:t>
                      </a:r>
                      <a:r>
                        <a:rPr lang="en-US" sz="2600" kern="100">
                          <a:effectLst/>
                          <a:latin typeface="Times New Roman" panose="02020603050405020304" pitchFamily="18" charset="0"/>
                          <a:ea typeface="宋体" panose="02010600030101010101" pitchFamily="2" charset="-122"/>
                        </a:rPr>
                        <a:t>)</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经常会面</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在课堂上</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医院</a:t>
                      </a:r>
                      <a:endParaRPr lang="zh-CN" sz="2600" kern="100">
                        <a:effectLst/>
                        <a:latin typeface="Times New Roman" panose="02020603050405020304" pitchFamily="18" charset="0"/>
                        <a:ea typeface="宋体" panose="02010600030101010101" pitchFamily="2" charset="-122"/>
                      </a:endParaRPr>
                    </a:p>
                  </a:txBody>
                  <a:tcPr marL="13581" marR="1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0">
                <a:tc vMerge="1">
                  <a:txBody>
                    <a:bodyPr vert="horz" wrap="square"/>
                    <a:lstStyle/>
                    <a:p/>
                  </a:txBody>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情感线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希望匹配一个能愉快合作的同伴</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期待</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结果分到一个自己想回避的人</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失望</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对方的无视和冷漠的态度</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羞辱感</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再次见面感到不适</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不想给对方看自己临阵逃脱的满足感</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决心</a:t>
                      </a:r>
                      <a:r>
                        <a:rPr lang="en-US" sz="2600" kern="100">
                          <a:effectLst/>
                          <a:latin typeface="Times New Roman" panose="02020603050405020304" pitchFamily="18" charset="0"/>
                          <a:ea typeface="宋体" panose="02010600030101010101" pitchFamily="2" charset="-122"/>
                        </a:rPr>
                        <a:t>)</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情感态度磨合</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作者看望队友</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队友吃惊</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愉快合作</a:t>
                      </a:r>
                      <a:endParaRPr lang="zh-CN" sz="2600" kern="100">
                        <a:effectLst/>
                        <a:latin typeface="Times New Roman" panose="02020603050405020304" pitchFamily="18" charset="0"/>
                        <a:ea typeface="宋体" panose="02010600030101010101" pitchFamily="2" charset="-122"/>
                      </a:endParaRPr>
                    </a:p>
                  </a:txBody>
                  <a:tcPr marL="13581" marR="1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91335">
                <a:tc vMerge="1">
                  <a:txBody>
                    <a:bodyPr vert="horz" wrap="square"/>
                    <a:lstStyle/>
                    <a:p/>
                  </a:txBody>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情节线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老师指派搭档</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作者需要和一个自己想回避的同学合作</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初次见面</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再次见面讨论项目内容</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经过讨论达成话题共识</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对方固执己见</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不接受作者的观点</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双方相互接受</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完成任务</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老师满意</a:t>
                      </a:r>
                      <a:endParaRPr lang="zh-CN" sz="2600" kern="100">
                        <a:effectLst/>
                        <a:latin typeface="Times New Roman" panose="02020603050405020304" pitchFamily="18" charset="0"/>
                        <a:ea typeface="宋体" panose="02010600030101010101" pitchFamily="2" charset="-122"/>
                      </a:endParaRPr>
                    </a:p>
                  </a:txBody>
                  <a:tcPr marL="13581" marR="1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71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第三步　借助开头</a:t>
            </a:r>
            <a:r>
              <a:rPr lang="en-US" altLang="zh-CN" kern="100">
                <a:ea typeface="宋体" panose="02010600030101010101" pitchFamily="2" charset="-122"/>
              </a:rPr>
              <a:t>, </a:t>
            </a:r>
            <a:r>
              <a:rPr lang="zh-CN" altLang="zh-CN" kern="100">
                <a:ea typeface="宋体" panose="02010600030101010101" pitchFamily="2" charset="-122"/>
              </a:rPr>
              <a:t>确定续写段落梗概</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601694" y="1735455"/>
          <a:ext cx="11507724" cy="2011680"/>
        </p:xfrm>
        <a:graphic>
          <a:graphicData uri="http://schemas.openxmlformats.org/drawingml/2006/table">
            <a:tbl>
              <a:tblPr firstRow="1" firstCol="1" bandRow="1"/>
              <a:tblGrid>
                <a:gridCol w="1107852"/>
                <a:gridCol w="10399872"/>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段落</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第一段</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开头</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We started to meet regularly to draw up our plans.</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梗概</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wanted to share my ideas, but I failed; I thought I couldn’t persuade my teammate to accept my views.</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title=""/>
          <p:cNvGraphicFramePr>
            <a:graphicFrameLocks noGrp="1"/>
          </p:cNvGraphicFramePr>
          <p:nvPr/>
        </p:nvGraphicFramePr>
        <p:xfrm>
          <a:off x="601689" y="4086768"/>
          <a:ext cx="11507724" cy="2011680"/>
        </p:xfrm>
        <a:graphic>
          <a:graphicData uri="http://schemas.openxmlformats.org/drawingml/2006/table">
            <a:tbl>
              <a:tblPr firstRow="1" firstCol="1" bandRow="1"/>
              <a:tblGrid>
                <a:gridCol w="1107852"/>
                <a:gridCol w="10399872"/>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段落</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第二段</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开头</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One day I got word that he was admitted to hospital for a serious disease.</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梗概</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went to visit my teammate in hospital. I offered to do the rest work. The teammate invited me to perfect our project. </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71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第四步　丰富语言</a:t>
            </a:r>
            <a:r>
              <a:rPr lang="en-US" altLang="zh-CN" kern="100">
                <a:ea typeface="宋体" panose="02010600030101010101" pitchFamily="2" charset="-122"/>
              </a:rPr>
              <a:t>,</a:t>
            </a:r>
            <a:r>
              <a:rPr lang="zh-CN" altLang="zh-CN" kern="100">
                <a:ea typeface="宋体" panose="02010600030101010101" pitchFamily="2" charset="-122"/>
              </a:rPr>
              <a:t>前后呼应</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66784" y="1553846"/>
          <a:ext cx="12387216" cy="5029200"/>
        </p:xfrm>
        <a:graphic>
          <a:graphicData uri="http://schemas.openxmlformats.org/drawingml/2006/table">
            <a:tbl>
              <a:tblPr firstRow="1" firstCol="1" bandRow="1"/>
              <a:tblGrid>
                <a:gridCol w="9669416"/>
                <a:gridCol w="2717800"/>
              </a:tblGrid>
              <a:tr h="290793">
                <a:tc>
                  <a:txBody>
                    <a:bodyPr vert="horz" wrap="square"/>
                    <a:lstStyle/>
                    <a:p>
                      <a:pPr algn="ctr">
                        <a:lnSpc>
                          <a:spcPct val="110000"/>
                        </a:lnSpc>
                        <a:spcAft>
                          <a:spcPct val="0"/>
                        </a:spcAft>
                      </a:pPr>
                      <a:r>
                        <a:rPr lang="zh-CN" sz="2000" kern="100">
                          <a:effectLst/>
                          <a:latin typeface="Times New Roman" panose="02020603050405020304" pitchFamily="18" charset="0"/>
                          <a:ea typeface="宋体" panose="02010600030101010101" pitchFamily="2" charset="-122"/>
                        </a:rPr>
                        <a:t>考场高分作文</a:t>
                      </a:r>
                      <a:endParaRPr lang="zh-CN" sz="2000" kern="100">
                        <a:effectLst/>
                        <a:latin typeface="Times New Roman" panose="02020603050405020304" pitchFamily="18" charset="0"/>
                        <a:ea typeface="宋体" panose="02010600030101010101" pitchFamily="2" charset="-122"/>
                      </a:endParaRPr>
                    </a:p>
                  </a:txBody>
                  <a:tcPr marL="60582" marR="6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10000"/>
                        </a:lnSpc>
                        <a:spcAft>
                          <a:spcPct val="0"/>
                        </a:spcAft>
                      </a:pPr>
                      <a:r>
                        <a:rPr lang="zh-CN" sz="2000" kern="100">
                          <a:effectLst/>
                          <a:latin typeface="Times New Roman" panose="02020603050405020304" pitchFamily="18" charset="0"/>
                          <a:ea typeface="宋体" panose="02010600030101010101" pitchFamily="2" charset="-122"/>
                        </a:rPr>
                        <a:t>评卷老师点评</a:t>
                      </a:r>
                      <a:endParaRPr lang="zh-CN" sz="2000" kern="100">
                        <a:effectLst/>
                        <a:latin typeface="Times New Roman" panose="02020603050405020304" pitchFamily="18" charset="0"/>
                        <a:ea typeface="宋体" panose="02010600030101010101" pitchFamily="2" charset="-122"/>
                      </a:endParaRPr>
                    </a:p>
                  </a:txBody>
                  <a:tcPr marL="60582" marR="6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52682">
                <a:tc>
                  <a:txBody>
                    <a:bodyPr vert="horz" wrap="square"/>
                    <a:lstStyle/>
                    <a:p>
                      <a:pPr algn="just">
                        <a:lnSpc>
                          <a:spcPct val="110000"/>
                        </a:lnSpc>
                        <a:spcAft>
                          <a:spcPct val="0"/>
                        </a:spcAft>
                      </a:pPr>
                      <a:r>
                        <a:rPr lang="zh-CN" sz="2000" kern="100">
                          <a:effectLst/>
                          <a:latin typeface="Times New Roman" panose="02020603050405020304" pitchFamily="18" charset="0"/>
                          <a:ea typeface="宋体" panose="02010600030101010101" pitchFamily="2" charset="-122"/>
                        </a:rPr>
                        <a:t>　　</a:t>
                      </a:r>
                      <a:r>
                        <a:rPr lang="en-US" sz="2000" kern="100">
                          <a:effectLst/>
                          <a:latin typeface="Times New Roman" panose="02020603050405020304" pitchFamily="18" charset="0"/>
                          <a:ea typeface="宋体" panose="02010600030101010101" pitchFamily="2" charset="-122"/>
                        </a:rPr>
                        <a:t>We started to meet regularly to draw up our plans. Though</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①</a:t>
                      </a:r>
                      <a:r>
                        <a:rPr lang="en-US" sz="2000" kern="100">
                          <a:effectLst/>
                          <a:latin typeface="Times New Roman" panose="02020603050405020304" pitchFamily="18" charset="0"/>
                          <a:ea typeface="宋体" panose="02010600030101010101" pitchFamily="2" charset="-122"/>
                        </a:rPr>
                        <a:t> I wanted to share my ideas with him fully, I failed to do so for fear that I would hold him back. I just kept nodding when he asked me whether it is ok to do this way or that way.</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②</a:t>
                      </a:r>
                      <a:r>
                        <a:rPr lang="en-US" sz="2000" kern="100">
                          <a:effectLst/>
                          <a:latin typeface="Times New Roman" panose="02020603050405020304" pitchFamily="18" charset="0"/>
                          <a:ea typeface="宋体" panose="02010600030101010101" pitchFamily="2" charset="-122"/>
                        </a:rPr>
                        <a:t> I thought it was impossible to persuade him into accepting my views,</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③</a:t>
                      </a:r>
                      <a:r>
                        <a:rPr lang="en-US" sz="2000" kern="100">
                          <a:effectLst/>
                          <a:latin typeface="Times New Roman" panose="02020603050405020304" pitchFamily="18" charset="0"/>
                          <a:ea typeface="宋体" panose="02010600030101010101" pitchFamily="2" charset="-122"/>
                        </a:rPr>
                        <a:t> so I didn’t want to waste our time to discuss. I started to wait to leave immediately</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④</a:t>
                      </a:r>
                      <a:r>
                        <a:rPr lang="en-US" sz="2000" kern="100">
                          <a:effectLst/>
                          <a:latin typeface="Times New Roman" panose="02020603050405020304" pitchFamily="18" charset="0"/>
                          <a:ea typeface="宋体" panose="02010600030101010101" pitchFamily="2" charset="-122"/>
                        </a:rPr>
                        <a:t> we arrived at the place, and so did he. I just hoped that the presentation day could come earlier.</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rPr>
                        <a:t>　　</a:t>
                      </a:r>
                      <a:r>
                        <a:rPr lang="en-US" sz="2000" kern="100">
                          <a:effectLst/>
                          <a:latin typeface="Times New Roman" panose="02020603050405020304" pitchFamily="18" charset="0"/>
                          <a:ea typeface="宋体" panose="02010600030101010101" pitchFamily="2" charset="-122"/>
                        </a:rPr>
                        <a:t>One day I got word that he was admitted to hospital for a serious disease. I felt so sorry to hear that and I thought I should visit him in any case. He was a little surprised to see me when I stepped into his ward with some flowers and fruit.I offered to do the rest work of our project and he invited me to share my ideas to perfect it.</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⑤</a:t>
                      </a:r>
                      <a:r>
                        <a:rPr lang="en-US" sz="2000" kern="100">
                          <a:effectLst/>
                          <a:latin typeface="Times New Roman" panose="02020603050405020304" pitchFamily="18" charset="0"/>
                          <a:ea typeface="宋体" panose="02010600030101010101" pitchFamily="2" charset="-122"/>
                        </a:rPr>
                        <a:t> We began to work as a fine team and finally finished our project on time. Our hard work paid off</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⑥</a:t>
                      </a:r>
                      <a:r>
                        <a:rPr lang="en-US" sz="2000" kern="100">
                          <a:effectLst/>
                          <a:latin typeface="Times New Roman" panose="02020603050405020304" pitchFamily="18" charset="0"/>
                          <a:ea typeface="宋体" panose="02010600030101010101" pitchFamily="2" charset="-122"/>
                        </a:rPr>
                        <a:t> and Dr. Henderson was very satisfied with our wonderful findings. From this project, we also learned the significance of teamwork. Just as the saying goes, one person can go far, but a group of persons can travel farther.</a:t>
                      </a:r>
                      <a:r>
                        <a:rPr lang="zh-CN" sz="2000" kern="100" baseline="30000">
                          <a:effectLst/>
                          <a:latin typeface="Times New Roman" panose="02020603050405020304" pitchFamily="18" charset="0"/>
                          <a:ea typeface="宋体" panose="02010600030101010101" pitchFamily="2" charset="-122"/>
                          <a:cs typeface="宋体" panose="02010600030101010101" pitchFamily="2" charset="-122"/>
                        </a:rPr>
                        <a:t>⑦</a:t>
                      </a:r>
                      <a:endParaRPr lang="zh-CN" sz="2000" kern="100">
                        <a:effectLst/>
                        <a:latin typeface="Times New Roman" panose="02020603050405020304" pitchFamily="18" charset="0"/>
                        <a:ea typeface="宋体" panose="02010600030101010101" pitchFamily="2" charset="-122"/>
                      </a:endParaRPr>
                    </a:p>
                  </a:txBody>
                  <a:tcPr marL="60582" marR="6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①</a:t>
                      </a:r>
                      <a:r>
                        <a:rPr lang="zh-CN" sz="2000" kern="100">
                          <a:effectLst/>
                          <a:latin typeface="Times New Roman" panose="02020603050405020304" pitchFamily="18" charset="0"/>
                          <a:ea typeface="宋体" panose="02010600030101010101" pitchFamily="2" charset="-122"/>
                        </a:rPr>
                        <a:t>使用逻辑关系词。</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②</a:t>
                      </a:r>
                      <a:r>
                        <a:rPr lang="zh-CN" sz="2000" kern="100">
                          <a:effectLst/>
                          <a:latin typeface="Times New Roman" panose="02020603050405020304" pitchFamily="18" charset="0"/>
                          <a:ea typeface="宋体" panose="02010600030101010101" pitchFamily="2" charset="-122"/>
                        </a:rPr>
                        <a:t>使用了非谓语、时间状语从句和宾语从句。</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③</a:t>
                      </a:r>
                      <a:r>
                        <a:rPr lang="zh-CN" sz="2000" kern="100">
                          <a:effectLst/>
                          <a:latin typeface="Times New Roman" panose="02020603050405020304" pitchFamily="18" charset="0"/>
                          <a:ea typeface="宋体" panose="02010600030101010101" pitchFamily="2" charset="-122"/>
                        </a:rPr>
                        <a:t> 使用了高级句式。</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④</a:t>
                      </a:r>
                      <a:r>
                        <a:rPr lang="zh-CN" sz="2000" kern="100">
                          <a:effectLst/>
                          <a:latin typeface="Times New Roman" panose="02020603050405020304" pitchFamily="18" charset="0"/>
                          <a:ea typeface="宋体" panose="02010600030101010101" pitchFamily="2" charset="-122"/>
                        </a:rPr>
                        <a:t>使用了高级词汇。</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⑤</a:t>
                      </a:r>
                      <a:r>
                        <a:rPr lang="zh-CN" sz="2000" kern="100">
                          <a:effectLst/>
                          <a:latin typeface="Times New Roman" panose="02020603050405020304" pitchFamily="18" charset="0"/>
                          <a:ea typeface="宋体" panose="02010600030101010101" pitchFamily="2" charset="-122"/>
                        </a:rPr>
                        <a:t>使用了并列句结构。</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⑥</a:t>
                      </a:r>
                      <a:r>
                        <a:rPr lang="zh-CN" sz="2000" kern="100">
                          <a:effectLst/>
                          <a:latin typeface="Times New Roman" panose="02020603050405020304" pitchFamily="18" charset="0"/>
                          <a:ea typeface="宋体" panose="02010600030101010101" pitchFamily="2" charset="-122"/>
                        </a:rPr>
                        <a:t>使用了高级词汇。</a:t>
                      </a:r>
                      <a:endParaRPr lang="zh-CN" sz="2000" kern="100">
                        <a:effectLst/>
                        <a:latin typeface="Times New Roman" panose="02020603050405020304" pitchFamily="18" charset="0"/>
                        <a:ea typeface="宋体" panose="02010600030101010101" pitchFamily="2" charset="-122"/>
                      </a:endParaRPr>
                    </a:p>
                    <a:p>
                      <a:pPr algn="just">
                        <a:lnSpc>
                          <a:spcPct val="11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⑦</a:t>
                      </a:r>
                      <a:r>
                        <a:rPr lang="zh-CN" sz="2000" kern="100">
                          <a:effectLst/>
                          <a:latin typeface="Times New Roman" panose="02020603050405020304" pitchFamily="18" charset="0"/>
                          <a:ea typeface="宋体" panose="02010600030101010101" pitchFamily="2" charset="-122"/>
                        </a:rPr>
                        <a:t>引用了谚语。</a:t>
                      </a:r>
                      <a:endParaRPr lang="zh-CN" sz="2000" kern="100">
                        <a:effectLst/>
                        <a:latin typeface="Times New Roman" panose="02020603050405020304" pitchFamily="18" charset="0"/>
                        <a:ea typeface="宋体" panose="02010600030101010101" pitchFamily="2" charset="-122"/>
                      </a:endParaRPr>
                    </a:p>
                  </a:txBody>
                  <a:tcPr marL="60582" marR="6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ctr">
              <a:lnSpc>
                <a:spcPct val="150000"/>
              </a:lnSpc>
              <a:spcAft>
                <a:spcPct val="0"/>
              </a:spcAft>
            </a:pPr>
            <a:r>
              <a:rPr lang="zh-CN" altLang="zh-CN" kern="100">
                <a:solidFill>
                  <a:srgbClr val="0000FF"/>
                </a:solidFill>
                <a:ea typeface="宋体" panose="02010600030101010101" pitchFamily="2" charset="-122"/>
              </a:rPr>
              <a:t>【技巧分析】</a:t>
            </a:r>
            <a:endParaRPr lang="zh-CN" altLang="zh-CN" kern="100">
              <a:ea typeface="宋体" panose="02010600030101010101" pitchFamily="2" charset="-122"/>
            </a:endParaRPr>
          </a:p>
          <a:p>
            <a:pPr indent="355600">
              <a:lnSpc>
                <a:spcPct val="150000"/>
              </a:lnSpc>
            </a:pPr>
            <a:r>
              <a:rPr lang="en-US" altLang="zh-CN" kern="100" smtClean="0">
                <a:ea typeface="宋体" panose="02010600030101010101" pitchFamily="2" charset="-122"/>
              </a:rPr>
              <a:t>    </a:t>
            </a:r>
            <a:r>
              <a:rPr lang="zh-CN" altLang="zh-CN" kern="100" smtClean="0">
                <a:ea typeface="宋体" panose="02010600030101010101" pitchFamily="2" charset="-122"/>
              </a:rPr>
              <a:t>读</a:t>
            </a:r>
            <a:r>
              <a:rPr lang="zh-CN" altLang="zh-CN" kern="100">
                <a:ea typeface="宋体" panose="02010600030101010101" pitchFamily="2" charset="-122"/>
              </a:rPr>
              <a:t>后续写要求考生首先要读懂已有信息</a:t>
            </a:r>
            <a:r>
              <a:rPr lang="en-US" altLang="zh-CN" kern="100">
                <a:ea typeface="宋体" panose="02010600030101010101" pitchFamily="2" charset="-122"/>
              </a:rPr>
              <a:t>,</a:t>
            </a:r>
            <a:r>
              <a:rPr lang="zh-CN" altLang="zh-CN" kern="100">
                <a:ea typeface="宋体" panose="02010600030101010101" pitchFamily="2" charset="-122"/>
              </a:rPr>
              <a:t>不仅要读懂字面含义</a:t>
            </a:r>
            <a:r>
              <a:rPr lang="en-US" altLang="zh-CN" kern="100">
                <a:ea typeface="宋体" panose="02010600030101010101" pitchFamily="2" charset="-122"/>
              </a:rPr>
              <a:t>,</a:t>
            </a:r>
            <a:r>
              <a:rPr lang="zh-CN" altLang="zh-CN" kern="100">
                <a:ea typeface="宋体" panose="02010600030101010101" pitchFamily="2" charset="-122"/>
              </a:rPr>
              <a:t>还要厘清文章的脉络和关系。续写短文时</a:t>
            </a:r>
            <a:r>
              <a:rPr lang="en-US" altLang="zh-CN" kern="100">
                <a:ea typeface="宋体" panose="02010600030101010101" pitchFamily="2" charset="-122"/>
              </a:rPr>
              <a:t>,</a:t>
            </a:r>
            <a:r>
              <a:rPr lang="zh-CN" altLang="zh-CN" kern="100">
                <a:ea typeface="宋体" panose="02010600030101010101" pitchFamily="2" charset="-122"/>
              </a:rPr>
              <a:t>考生需要明白故事的发展进程、前因后果、地理位置变化、人物情感等。在此基础上</a:t>
            </a:r>
            <a:r>
              <a:rPr lang="en-US" altLang="zh-CN" kern="100">
                <a:ea typeface="宋体" panose="02010600030101010101" pitchFamily="2" charset="-122"/>
              </a:rPr>
              <a:t>,</a:t>
            </a:r>
            <a:r>
              <a:rPr lang="zh-CN" altLang="zh-CN" kern="100">
                <a:ea typeface="宋体" panose="02010600030101010101" pitchFamily="2" charset="-122"/>
              </a:rPr>
              <a:t>顺着文章的思路</a:t>
            </a:r>
            <a:r>
              <a:rPr lang="en-US" altLang="zh-CN" kern="100">
                <a:ea typeface="宋体" panose="02010600030101010101" pitchFamily="2" charset="-122"/>
              </a:rPr>
              <a:t>,</a:t>
            </a:r>
            <a:r>
              <a:rPr lang="zh-CN" altLang="zh-CN" kern="100">
                <a:ea typeface="宋体" panose="02010600030101010101" pitchFamily="2" charset="-122"/>
              </a:rPr>
              <a:t>根据线索</a:t>
            </a:r>
            <a:r>
              <a:rPr lang="en-US" altLang="zh-CN" kern="100">
                <a:ea typeface="宋体" panose="02010600030101010101" pitchFamily="2" charset="-122"/>
              </a:rPr>
              <a:t>,</a:t>
            </a:r>
            <a:r>
              <a:rPr lang="zh-CN" altLang="zh-CN" kern="100">
                <a:ea typeface="宋体" panose="02010600030101010101" pitchFamily="2" charset="-122"/>
              </a:rPr>
              <a:t>发挥想象</a:t>
            </a:r>
            <a:r>
              <a:rPr lang="en-US" altLang="zh-CN" kern="100">
                <a:ea typeface="宋体" panose="02010600030101010101" pitchFamily="2" charset="-122"/>
              </a:rPr>
              <a:t>,</a:t>
            </a:r>
            <a:r>
              <a:rPr lang="zh-CN" altLang="zh-CN" kern="100">
                <a:ea typeface="宋体" panose="02010600030101010101" pitchFamily="2" charset="-122"/>
              </a:rPr>
              <a:t>对其后的情节进行合理预测</a:t>
            </a:r>
            <a:r>
              <a:rPr lang="en-US" altLang="zh-CN" kern="100">
                <a:ea typeface="宋体" panose="02010600030101010101" pitchFamily="2" charset="-122"/>
              </a:rPr>
              <a:t>,</a:t>
            </a:r>
            <a:r>
              <a:rPr lang="zh-CN" altLang="zh-CN" kern="100">
                <a:ea typeface="宋体" panose="02010600030101010101" pitchFamily="2" charset="-122"/>
              </a:rPr>
              <a:t>并用英语表达出来。为了保证续写是基于前文</a:t>
            </a:r>
            <a:r>
              <a:rPr lang="en-US" altLang="zh-CN" kern="100">
                <a:ea typeface="宋体" panose="02010600030101010101" pitchFamily="2" charset="-122"/>
              </a:rPr>
              <a:t>“</a:t>
            </a:r>
            <a:r>
              <a:rPr lang="zh-CN" altLang="zh-CN" kern="100">
                <a:ea typeface="宋体" panose="02010600030101010101" pitchFamily="2" charset="-122"/>
              </a:rPr>
              <a:t>开出的花朵</a:t>
            </a:r>
            <a:r>
              <a:rPr lang="en-US" altLang="zh-CN" kern="100">
                <a:ea typeface="宋体" panose="02010600030101010101" pitchFamily="2" charset="-122"/>
              </a:rPr>
              <a:t>”, </a:t>
            </a:r>
            <a:r>
              <a:rPr lang="zh-CN" altLang="zh-CN" kern="100">
                <a:ea typeface="宋体" panose="02010600030101010101" pitchFamily="2" charset="-122"/>
              </a:rPr>
              <a:t>续写中我们必须要做到</a:t>
            </a:r>
            <a:r>
              <a:rPr lang="en-US" altLang="zh-CN" kern="100">
                <a:ea typeface="宋体" panose="02010600030101010101" pitchFamily="2" charset="-122"/>
              </a:rPr>
              <a:t>“7</a:t>
            </a:r>
            <a:r>
              <a:rPr lang="zh-CN" altLang="zh-CN" kern="100">
                <a:ea typeface="宋体" panose="02010600030101010101" pitchFamily="2" charset="-122"/>
              </a:rPr>
              <a:t>个不</a:t>
            </a:r>
            <a:r>
              <a:rPr lang="en-US" altLang="zh-CN" kern="100">
                <a:ea typeface="宋体" panose="02010600030101010101" pitchFamily="2" charset="-122"/>
              </a:rPr>
              <a:t>”</a:t>
            </a:r>
            <a:r>
              <a:rPr lang="zh-CN" altLang="zh-CN" kern="100">
                <a:ea typeface="宋体" panose="02010600030101010101" pitchFamily="2" charset="-122"/>
              </a:rPr>
              <a:t>。</a:t>
            </a:r>
            <a:endParaRPr lang="zh-CN" altLang="zh-CN" kern="100">
              <a:effectLst/>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4" name="表格 3" title=""/>
          <p:cNvGraphicFramePr>
            <a:graphicFrameLocks noGrp="1"/>
          </p:cNvGraphicFramePr>
          <p:nvPr/>
        </p:nvGraphicFramePr>
        <p:xfrm>
          <a:off x="228600" y="179070"/>
          <a:ext cx="12649200" cy="5532120"/>
        </p:xfrm>
        <a:graphic>
          <a:graphicData uri="http://schemas.openxmlformats.org/drawingml/2006/table">
            <a:tbl>
              <a:tblPr firstRow="1" firstCol="1" bandRow="1"/>
              <a:tblGrid>
                <a:gridCol w="584200"/>
                <a:gridCol w="2645410"/>
                <a:gridCol w="9419590"/>
              </a:tblGrid>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1</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400" kern="100">
                          <a:effectLst/>
                          <a:latin typeface="Times New Roman" panose="02020603050405020304" pitchFamily="18" charset="0"/>
                          <a:ea typeface="宋体" panose="02010600030101010101" pitchFamily="2" charset="-122"/>
                        </a:rPr>
                        <a:t>不增加人物</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续写的故事情节发展都是由原文的人物所推进</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因此</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强行增加人物有可能会偏离情节发展</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2</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不增加旁支情节</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题目要求</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根据其内容和段落开头语续写两段</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旨在延续原材料的故事情节</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并不是要发展新情节</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3</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不用过多对话</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在续写中展示对话</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虽能丰富内容和语言</a:t>
                      </a:r>
                      <a:r>
                        <a:rPr lang="en-US" sz="2400" kern="100">
                          <a:effectLst/>
                          <a:latin typeface="Times New Roman" panose="02020603050405020304" pitchFamily="18" charset="0"/>
                          <a:ea typeface="宋体" panose="02010600030101010101" pitchFamily="2" charset="-122"/>
                        </a:rPr>
                        <a:t>, </a:t>
                      </a:r>
                      <a:r>
                        <a:rPr lang="zh-CN" sz="2400" kern="100">
                          <a:effectLst/>
                          <a:latin typeface="Times New Roman" panose="02020603050405020304" pitchFamily="18" charset="0"/>
                          <a:ea typeface="宋体" panose="02010600030101010101" pitchFamily="2" charset="-122"/>
                        </a:rPr>
                        <a:t>增强语篇的连贯性</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但使用过多的对话</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会显得篇幅累赘且很难在限定的词数里把整个后续的情节发展补充完整</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4</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不用负能量结尾</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结尾设计绝对不能负能量。内容应该积极向上</a:t>
                      </a:r>
                      <a:r>
                        <a:rPr lang="en-US" sz="2400" kern="100">
                          <a:effectLst/>
                          <a:latin typeface="Times New Roman" panose="02020603050405020304" pitchFamily="18" charset="0"/>
                          <a:ea typeface="宋体" panose="02010600030101010101" pitchFamily="2" charset="-122"/>
                        </a:rPr>
                        <a:t>, </a:t>
                      </a:r>
                      <a:r>
                        <a:rPr lang="zh-CN" sz="2400" kern="100">
                          <a:effectLst/>
                          <a:latin typeface="Times New Roman" panose="02020603050405020304" pitchFamily="18" charset="0"/>
                          <a:ea typeface="宋体" panose="02010600030101010101" pitchFamily="2" charset="-122"/>
                        </a:rPr>
                        <a:t>能增长知识或传播正能量</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5</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不在文末设置悬念</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题目要求是</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使之构成一篇完整的短文</a:t>
                      </a:r>
                      <a:r>
                        <a:rPr lang="en-US" sz="2400" kern="100">
                          <a:effectLst/>
                          <a:latin typeface="Times New Roman" panose="02020603050405020304" pitchFamily="18" charset="0"/>
                          <a:ea typeface="宋体" panose="02010600030101010101" pitchFamily="2" charset="-122"/>
                        </a:rPr>
                        <a:t>”, </a:t>
                      </a:r>
                      <a:r>
                        <a:rPr lang="zh-CN" sz="2400" kern="100">
                          <a:effectLst/>
                          <a:latin typeface="Times New Roman" panose="02020603050405020304" pitchFamily="18" charset="0"/>
                          <a:ea typeface="宋体" panose="02010600030101010101" pitchFamily="2" charset="-122"/>
                        </a:rPr>
                        <a:t>若在文末设置悬念</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就会给人一种还没结束的感觉</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这样的故事是不完整的</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6</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不偏离原文主题</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续写的情节应时刻围绕着短文的主题去推进</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en-US" sz="2400" kern="100">
                          <a:effectLst/>
                          <a:latin typeface="Times New Roman" panose="02020603050405020304" pitchFamily="18" charset="0"/>
                          <a:ea typeface="宋体" panose="02010600030101010101" pitchFamily="2" charset="-122"/>
                        </a:rPr>
                        <a:t>7</a:t>
                      </a:r>
                      <a:endParaRPr lang="en-US" sz="24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不违背逻辑常理</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400" kern="100">
                          <a:effectLst/>
                          <a:latin typeface="Times New Roman" panose="02020603050405020304" pitchFamily="18" charset="0"/>
                          <a:ea typeface="宋体" panose="02010600030101010101" pitchFamily="2" charset="-122"/>
                        </a:rPr>
                        <a:t>情节和细节的想象要合理</a:t>
                      </a:r>
                      <a:r>
                        <a:rPr lang="en-US" sz="2400" kern="100">
                          <a:effectLst/>
                          <a:latin typeface="Times New Roman" panose="02020603050405020304" pitchFamily="18" charset="0"/>
                          <a:ea typeface="宋体" panose="02010600030101010101" pitchFamily="2" charset="-122"/>
                        </a:rPr>
                        <a:t>,</a:t>
                      </a:r>
                      <a:r>
                        <a:rPr lang="zh-CN" sz="2400" kern="100">
                          <a:effectLst/>
                          <a:latin typeface="Times New Roman" panose="02020603050405020304" pitchFamily="18" charset="0"/>
                          <a:ea typeface="宋体" panose="02010600030101010101" pitchFamily="2" charset="-122"/>
                        </a:rPr>
                        <a:t>符合生活常识并具有逻辑性</a:t>
                      </a:r>
                      <a:endParaRPr lang="zh-CN" sz="24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TABLE_ENDDRAG_ORIGIN_RECT" val="1038*517"/>
  <p:tag name="TABLE_ENDDRAG_RECT" val="10*89*1038*517"/>
</p:tagLst>
</file>

<file path=ppt/tags/tag66.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 name="KSO_WPP_MARK_KEY" val="fd6d4fc7-3877-46e0-a3e4-f9546e5763fb"/>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25</Paragraphs>
  <Slides>11</Slides>
  <Notes>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11</vt:i4>
      </vt:variant>
    </vt:vector>
  </HeadingPairs>
  <TitlesOfParts>
    <vt:vector baseType="lpstr" size="19">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2024-05-30T10:35:32.424</cp:lastPrinted>
  <dcterms:created xsi:type="dcterms:W3CDTF">2024-05-30T10:35:32Z</dcterms:created>
  <dcterms:modified xsi:type="dcterms:W3CDTF">2024-05-30T02:35:32Z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