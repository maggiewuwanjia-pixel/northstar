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notesMasterIdLst>
    <p:notesMasterId r:id="rId2"/>
  </p:notesMasterIdLst>
  <p:sldIdLst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tags" Target="tags/tag1.xml" /><Relationship Id="rId16" Type="http://schemas.openxmlformats.org/officeDocument/2006/relationships/presProps" Target="presProps.xml" /><Relationship Id="rId17" Type="http://schemas.openxmlformats.org/officeDocument/2006/relationships/viewProps" Target="viewProps.xml" /><Relationship Id="rId18" Type="http://schemas.openxmlformats.org/officeDocument/2006/relationships/theme" Target="theme/theme1.xml" /><Relationship Id="rId19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 txBox="1"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file:///D:\qq&#25991;&#20214;\712321467\Image\C2C\Image2\%7b75232B38-A165-1FB7-499C-2E1C792CACB5%7d.png" TargetMode="External" /><Relationship Id="rId3" Type="http://schemas.openxmlformats.org/officeDocument/2006/relationships/image" Target="../media/image1.png" /><Relationship Id="rId4" Type="http://schemas.openxmlformats.org/officeDocument/2006/relationships/image" Target="../media/image2.jpeg" /><Relationship Id="rId5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图片 1073743875" descr="学科网 zxxk.com" title=""/>
          <p:cNvPicPr>
            <a:picLocks noChangeAspect="1"/>
          </p:cNvPicPr>
          <p:nvPr/>
        </p:nvPicPr>
        <p:blipFill>
          <a:blip r:embed="rId3" r:link="rId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iming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95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7pPr>
      <a:lvl8pPr marL="1370965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8pPr>
      <a:lvl9pPr marL="1828165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ct val="198000"/>
        </a:spcBef>
        <a:spcAft>
          <a:spcPct val="0"/>
        </a:spcAft>
        <a:buFont typeface="Arial" panose="020b0604020202020204" pitchFamily="34" charset="0"/>
        <a:buChar char="•"/>
        <a:defRPr sz="284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rtl="0" eaLnBrk="0" fontAlgn="base" hangingPunct="0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 sz="2380">
          <a:solidFill>
            <a:schemeClr val="tx1"/>
          </a:solidFill>
          <a:latin typeface="+mn-lt"/>
          <a:ea typeface="+mn-ea"/>
        </a:defRPr>
      </a:lvl2pPr>
      <a:lvl3pPr marL="1144270" indent="-229870" algn="l" rtl="0" eaLnBrk="0" fontAlgn="base" hangingPunct="0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 sz="2105">
          <a:solidFill>
            <a:schemeClr val="tx1"/>
          </a:solidFill>
          <a:latin typeface="+mn-lt"/>
          <a:ea typeface="+mn-ea"/>
        </a:defRPr>
      </a:lvl3pPr>
      <a:lvl4pPr marL="1598930" indent="-228600" algn="l" rtl="0" eaLnBrk="0" fontAlgn="base" hangingPunct="0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6130" indent="-229870" algn="l" rtl="0" eaLnBrk="0" fontAlgn="base" hangingPunct="0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2695" indent="-229870" algn="l" rtl="0" fontAlgn="base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0530" indent="-229870" algn="l" rtl="0" fontAlgn="base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7095" indent="-229870" algn="l" rtl="0" fontAlgn="base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3660" indent="-229870" algn="l" rtl="0" fontAlgn="base">
        <a:lnSpc>
          <a:spcPct val="90000"/>
        </a:lnSpc>
        <a:spcBef>
          <a:spcPct val="10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30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5pPr>
      <a:lvl6pPr marL="228409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8pPr>
      <a:lvl9pPr marL="3655060" algn="l" defTabSz="913765" rtl="0" eaLnBrk="1" latinLnBrk="0" hangingPunct="1">
        <a:defRPr sz="18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3.png" /><Relationship Id="rId4" Type="http://schemas.openxmlformats.org/officeDocument/2006/relationships/image" Target="../media/image4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1972479"/>
            <a:ext cx="11701662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推荐信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50000"/>
              </a:lnSpc>
              <a:spcAft>
                <a:spcPct val="0"/>
              </a:spcAft>
            </a:pP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1633200" y="119507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【试题探究】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假定你是李华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你的美国网友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David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看完电影《哪吒之魔童降世》海外版后非常喜欢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写信想请你再推荐一部中国电影。请你根据以下要点给他回信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表示高兴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推荐一部电影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推荐的理由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至少两条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注意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1.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词数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80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左右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可以适当增加细节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以使行文连贯。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Step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审题布局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 title=""/>
          <p:cNvGraphicFramePr>
            <a:graphicFrameLocks noGrp="1"/>
          </p:cNvGraphicFramePr>
          <p:nvPr/>
        </p:nvGraphicFramePr>
        <p:xfrm>
          <a:off x="1120829" y="1496341"/>
          <a:ext cx="9765665" cy="2936875"/>
        </p:xfrm>
        <a:graphic>
          <a:graphicData uri="http://schemas.openxmlformats.org/drawingml/2006/table">
            <a:tbl>
              <a:tblPr firstRow="1" firstCol="1" bandRow="1"/>
              <a:tblGrid>
                <a:gridCol w="1492885"/>
                <a:gridCol w="8272780"/>
              </a:tblGrid>
              <a:tr h="58737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人称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第一人称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(I)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为主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37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时态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一般现在时</a:t>
                      </a: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一般将来时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62125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要点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 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说明写信目的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 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推荐的电影和推荐的理由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 </a:t>
                      </a:r>
                      <a:r>
                        <a:rPr lang="zh-CN" sz="25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表达希望</a:t>
                      </a:r>
                      <a:endParaRPr lang="zh-CN" sz="2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1032" marR="610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297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Step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巧饰亮点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要点</a:t>
            </a:r>
            <a:r>
              <a:rPr lang="en-US" altLang="zh-CN" sz="2500" b="1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我很高兴知道你对中国电影《哪吒之魔童降世》感兴趣。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一般表达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I am glad to know you’re interested in the Chinese film, </a:t>
            </a:r>
            <a:r>
              <a:rPr lang="en-US" altLang="zh-CN" sz="2500" i="1" kern="100">
                <a:latin typeface="Times New Roman" panose="02020603050405020304" pitchFamily="18" charset="0"/>
                <a:ea typeface="宋体" panose="02010600030101010101" pitchFamily="2" charset="-122"/>
              </a:rPr>
              <a:t>Ne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i="1" kern="100" err="1">
                <a:latin typeface="Times New Roman" panose="02020603050405020304" pitchFamily="18" charset="0"/>
                <a:ea typeface="宋体" panose="02010600030101010101" pitchFamily="2" charset="-122"/>
              </a:rPr>
              <a:t>Zha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句式升级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高级词汇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被动语态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):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I’m delighted to know you’re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by the Chinese film, </a:t>
            </a:r>
            <a:r>
              <a:rPr lang="en-US" altLang="zh-CN" sz="2500" i="1" kern="100">
                <a:latin typeface="Times New Roman" panose="02020603050405020304" pitchFamily="18" charset="0"/>
                <a:ea typeface="宋体" panose="02010600030101010101" pitchFamily="2" charset="-122"/>
              </a:rPr>
              <a:t>Ne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i="1" kern="100" err="1">
                <a:latin typeface="Times New Roman" panose="02020603050405020304" pitchFamily="18" charset="0"/>
                <a:ea typeface="宋体" panose="02010600030101010101" pitchFamily="2" charset="-122"/>
              </a:rPr>
              <a:t>Zha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3600511" y="3050582"/>
            <a:ext cx="2936211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fascinated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41470"/>
            <a:ext cx="12525395" cy="413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要点</a:t>
            </a:r>
            <a:r>
              <a:rPr lang="en-US" altLang="zh-CN" sz="2500" b="1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这部动画电影也是以中国经典神话故事为基础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和《哪吒之魔童降世</a:t>
            </a: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》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许多相似之处。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一般表达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 This animated film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classic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Chinese fairy tales, and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 </a:t>
            </a:r>
            <a:endParaRPr lang="en-US" altLang="zh-CN" sz="2500" b="1" kern="100" smtClean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</a:t>
            </a:r>
            <a:r>
              <a:rPr lang="en-US" altLang="zh-CN" sz="2500" i="1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Ne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i="1" kern="100" err="1">
                <a:latin typeface="Times New Roman" panose="02020603050405020304" pitchFamily="18" charset="0"/>
                <a:ea typeface="宋体" panose="02010600030101010101" pitchFamily="2" charset="-122"/>
              </a:rPr>
              <a:t>Zha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句式升级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定语从句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):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This animated film, </a:t>
            </a:r>
            <a:r>
              <a:rPr lang="en-US" altLang="zh-CN" sz="2500" b="1" kern="100" smtClean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</a:t>
            </a: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has much in </a:t>
            </a:r>
            <a:endParaRPr lang="en-US" altLang="zh-CN" sz="2500" kern="10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 smtClean="0">
                <a:latin typeface="Times New Roman" panose="02020603050405020304" pitchFamily="18" charset="0"/>
                <a:ea typeface="宋体" panose="02010600030101010101" pitchFamily="2" charset="-122"/>
              </a:rPr>
              <a:t>common 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with </a:t>
            </a:r>
            <a:r>
              <a:rPr lang="en-US" altLang="zh-CN" sz="2500" i="1" kern="100">
                <a:latin typeface="Times New Roman" panose="02020603050405020304" pitchFamily="18" charset="0"/>
                <a:ea typeface="宋体" panose="02010600030101010101" pitchFamily="2" charset="-122"/>
              </a:rPr>
              <a:t>Ne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i="1" kern="100" err="1">
                <a:latin typeface="Times New Roman" panose="02020603050405020304" pitchFamily="18" charset="0"/>
                <a:ea typeface="宋体" panose="02010600030101010101" pitchFamily="2" charset="-122"/>
              </a:rPr>
              <a:t>Zha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Box 2" title=""/>
          <p:cNvSpPr txBox="1"/>
          <p:nvPr/>
        </p:nvSpPr>
        <p:spPr>
          <a:xfrm>
            <a:off x="3501500" y="1886395"/>
            <a:ext cx="4320012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is also based on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 title=""/>
          <p:cNvSpPr txBox="1"/>
          <p:nvPr/>
        </p:nvSpPr>
        <p:spPr>
          <a:xfrm>
            <a:off x="10711853" y="1886395"/>
            <a:ext cx="115256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has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Box 4" title=""/>
          <p:cNvSpPr txBox="1"/>
          <p:nvPr/>
        </p:nvSpPr>
        <p:spPr>
          <a:xfrm>
            <a:off x="-982580" y="2467658"/>
            <a:ext cx="6057254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much in common with</a:t>
            </a:r>
            <a:r>
              <a:rPr lang="en-US" altLang="zh-CN" sz="2500" b="1" kern="1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5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Box 5" title=""/>
          <p:cNvSpPr txBox="1"/>
          <p:nvPr/>
        </p:nvSpPr>
        <p:spPr>
          <a:xfrm>
            <a:off x="220129" y="3641810"/>
            <a:ext cx="12347538" cy="475615"/>
          </a:xfrm>
          <a:prstGeom prst="rect">
            <a:avLst/>
          </a:prstGeom>
          <a:noFill/>
        </p:spPr>
        <p:txBody>
          <a:bodyPr vert="horz" wrap="square" rtlCol="0" anchor="b" anchorCtr="1">
            <a:spAutoFit/>
          </a:bodyPr>
          <a:lstStyle/>
          <a:p>
            <a:r>
              <a:rPr lang="en-US" altLang="zh-CN" sz="2500" b="1" kern="10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宋体" panose="02010600030101010101" pitchFamily="2" charset="-122"/>
              </a:rPr>
              <a:t>which is also based on classic Chinese fairy tales</a:t>
            </a:r>
            <a:endParaRPr lang="en-US" altLang="zh-CN" sz="2500" b="1" kern="100">
              <a:solidFill>
                <a:srgbClr val="FF0000"/>
              </a:solidFill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701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Step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衔接成篇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Dear David,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I’m delighted to know you’re fascinated by the Chinese film, </a:t>
            </a:r>
            <a:r>
              <a:rPr lang="en-US" altLang="zh-CN" sz="2500" i="1" kern="100">
                <a:latin typeface="Times New Roman" panose="02020603050405020304" pitchFamily="18" charset="0"/>
                <a:ea typeface="宋体" panose="02010600030101010101" pitchFamily="2" charset="-122"/>
              </a:rPr>
              <a:t>Ne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i="1" kern="100" err="1">
                <a:latin typeface="Times New Roman" panose="02020603050405020304" pitchFamily="18" charset="0"/>
                <a:ea typeface="宋体" panose="02010600030101010101" pitchFamily="2" charset="-122"/>
              </a:rPr>
              <a:t>Zha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 And I’m perfectly willing to recommend another impressive Chinese movie at your request.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Since I know animated films are your favorites, you can’t miss </a:t>
            </a:r>
            <a:r>
              <a:rPr lang="en-US" altLang="zh-CN" sz="2500" i="1" kern="100">
                <a:latin typeface="Times New Roman" panose="02020603050405020304" pitchFamily="18" charset="0"/>
                <a:ea typeface="宋体" panose="02010600030101010101" pitchFamily="2" charset="-122"/>
              </a:rPr>
              <a:t>Monkey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i="1" kern="100">
                <a:latin typeface="Times New Roman" panose="02020603050405020304" pitchFamily="18" charset="0"/>
                <a:ea typeface="宋体" panose="02010600030101010101" pitchFamily="2" charset="-122"/>
              </a:rPr>
              <a:t>King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en-US" altLang="zh-CN" sz="2500" i="1" kern="100">
                <a:latin typeface="Times New Roman" panose="02020603050405020304" pitchFamily="18" charset="0"/>
                <a:ea typeface="宋体" panose="02010600030101010101" pitchFamily="2" charset="-122"/>
              </a:rPr>
              <a:t>Hero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i="1" kern="100">
                <a:latin typeface="Times New Roman" panose="02020603050405020304" pitchFamily="18" charset="0"/>
                <a:ea typeface="宋体" panose="02010600030101010101" pitchFamily="2" charset="-122"/>
              </a:rPr>
              <a:t>Is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i="1" kern="100">
                <a:latin typeface="Times New Roman" panose="02020603050405020304" pitchFamily="18" charset="0"/>
                <a:ea typeface="宋体" panose="02010600030101010101" pitchFamily="2" charset="-122"/>
              </a:rPr>
              <a:t>Back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. This animated film, which is also based on classic Chinese fairy tales, has much in common with </a:t>
            </a:r>
            <a:r>
              <a:rPr lang="en-US" altLang="zh-CN" sz="2500" i="1" kern="100">
                <a:latin typeface="Times New Roman" panose="02020603050405020304" pitchFamily="18" charset="0"/>
                <a:ea typeface="宋体" panose="02010600030101010101" pitchFamily="2" charset="-122"/>
              </a:rPr>
              <a:t>Ne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500" i="1" kern="100" err="1">
                <a:latin typeface="Times New Roman" panose="02020603050405020304" pitchFamily="18" charset="0"/>
                <a:ea typeface="宋体" panose="02010600030101010101" pitchFamily="2" charset="-122"/>
              </a:rPr>
              <a:t>Zha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so I think it’ll appeal to you. Additionally, Monkey King and Ne Zha are both regarded as heroes by Chinese people. Through these two movies, you will get a better understanding of Chinese culture.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hope you’ll find the movie well worth seeing.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Yours,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Li Hua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【句式储备】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篇头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开篇表意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说明目的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Our school’s approaching 100th birthday will be celebrated this July. Could you please recommend a student to address at the opening ceremony in English?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我们学校将在今年七月庆祝即将到来的百年校庆。你能推荐一位学生在开幕式上用英语发言吗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Hearing/Learning that you are coming to visit China, I would like to recommend several places of interest to you.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听说你要来中国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我想向你推荐几个名胜古迹。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篇中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紧扣要点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推荐理由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He is an all-round student with excellent grades in all subjects. As a boy with great potential, he is good/skillful at solving difficult problems.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他是一个全面的学生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各科成绩优异。作为一个很有潜力的男孩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他善于解决难题。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In addition, what makes him a model student is his positive attitude towards life.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此外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使他成为模范学生的是他积极的生活态度。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413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结尾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表达希望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盼回复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Your taking my recommendation into consideration will be highly expected. Keenly anticipate your prompt reply.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希望您能考虑我的建议。热切期待您的及时答复。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do hope that you can find my recommendation beneficial. Looking forward to your early/prompt reply.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我希望我的推荐对你有帮助。期待你的早日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及时回复。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495325"/>
            <a:ext cx="11701662" cy="5862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【拓展训练】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假定你是李华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你的英国朋友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Peter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打算这个寒假来中国旅游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让你推荐一个城市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你想推荐杭州作为他旅游行程的首选。请用英语给他写封信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内容包括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推荐城市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推荐理由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你的祝愿。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注意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词数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80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左右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可适当增加细节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以使行文连贯。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_________________________________________________________________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kern="1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【参考范文】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Dear Peter,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I’m delighted to know you’re coming to China for your winter holiday. Personally, I’d like to recommend the city of Hangzhou to you.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When it comes to Hangzhou, the first thing that comes to mind is West Lake, which has been a scenic spot for hundreds of years. Besides, there are many tourist attractions in and around the city, such as Tiger-running Spring, the Lingyin Monastery and Spring Dawn at Su Causeway. Most importantly, Hangzhou is home to delicious food, such as Dongpo Pork and Longjing Shrimp.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Box 1" title=""/>
          <p:cNvSpPr txBox="1"/>
          <p:nvPr/>
        </p:nvSpPr>
        <p:spPr>
          <a:xfrm>
            <a:off x="255757" y="628184"/>
            <a:ext cx="11701662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ct val="0"/>
              </a:spcAft>
            </a:pPr>
            <a:r>
              <a:rPr lang="zh-CN" altLang="zh-CN" sz="2500" b="1" kern="100">
                <a:latin typeface="Times New Roman" panose="02020603050405020304" pitchFamily="18" charset="0"/>
                <a:ea typeface="宋体" panose="02010600030101010101" pitchFamily="2" charset="-122"/>
              </a:rPr>
              <a:t>　　</a:t>
            </a: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I hope the nice weather and convenient transportation here can make your trip more enjoyable.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Yours, 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r">
              <a:lnSpc>
                <a:spcPct val="150000"/>
              </a:lnSpc>
              <a:spcAft>
                <a:spcPct val="0"/>
              </a:spcAft>
            </a:pPr>
            <a:r>
              <a:rPr lang="en-US" altLang="zh-CN" sz="2500" kern="100">
                <a:latin typeface="Times New Roman" panose="02020603050405020304" pitchFamily="18" charset="0"/>
                <a:ea typeface="宋体" panose="02010600030101010101" pitchFamily="2" charset="-122"/>
              </a:rPr>
              <a:t>Li Hua</a:t>
            </a:r>
            <a:endParaRPr lang="zh-CN" altLang="zh-CN" sz="2500" kern="1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ZjgyZmZhYjFlODliMjVlMjhmZmU1Y2ZlZmViZTBiYWYifQ=="/>
</p:tagLst>
</file>

<file path=ppt/theme/theme1.xml><?xml version="1.0" encoding="utf-8"?>
<a:theme xmlns:r="http://schemas.openxmlformats.org/officeDocument/2006/relationships" xmlns:a="http://schemas.openxmlformats.org/drawingml/2006/main" name="4_Office 主题​​">
  <a:themeElements>
    <a:clrScheme name="Office 主题​​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​​">
      <a:majorFont>
        <a:latin typeface="等线 Light"/>
        <a:ea typeface="宋体"/>
        <a:cs typeface="Arial"/>
      </a:majorFont>
      <a:minorFont>
        <a:latin typeface="等线"/>
        <a:ea typeface="宋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117235" tIns="58618" rIns="117235" bIns="58618" numCol="1" anchor="t" anchorCtr="0" compatLnSpc="1">
        <a:spAutoFit/>
      </a:bodyPr>
      <a:lstStyle>
        <a:defPPr marL="0" marR="0" indent="0" algn="just" defTabSz="1171575" rtl="0" eaLnBrk="1" fontAlgn="base" latinLnBrk="0" hangingPunct="1">
          <a:lnSpc>
            <a:spcPct val="15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微软雅黑" panose="020B0503020204020204" charset="-122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117235" tIns="58618" rIns="117235" bIns="58618" numCol="1" anchor="t" anchorCtr="0" compatLnSpc="1">
        <a:spAutoFit/>
      </a:bodyPr>
      <a:lstStyle>
        <a:defPPr marL="0" marR="0" indent="0" algn="just" defTabSz="1171575" rtl="0" eaLnBrk="1" fontAlgn="base" latinLnBrk="0" hangingPunct="1">
          <a:lnSpc>
            <a:spcPct val="15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微软雅黑" panose="020B0503020204020204" charset="-122"/>
            <a:cs typeface="Times New Roman" panose="02020603050405020304" pitchFamily="18" charset="0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65</Paragraphs>
  <Slides>12</Slides>
  <Notes>12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20">
      <vt:lpstr>Arial</vt:lpstr>
      <vt:lpstr>等线 Light</vt:lpstr>
      <vt:lpstr>宋体</vt:lpstr>
      <vt:lpstr>等线</vt:lpstr>
      <vt:lpstr>Calibri Light</vt:lpstr>
      <vt:lpstr>Calibri</vt:lpstr>
      <vt:lpstr>Times New Roman</vt:lpstr>
      <vt:lpstr>4_Office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2024-05-28T18:06:05.698</cp:lastPrinted>
  <dcterms:created xsi:type="dcterms:W3CDTF">2024-05-28T18:06:05Z</dcterms:created>
  <dcterms:modified xsi:type="dcterms:W3CDTF">2024-05-28T10:06:05Z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