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2"/>
  </p:notesMasterIdLst>
  <p:sldIdLst>
    <p:sldId id="280" r:id="rId3"/>
    <p:sldId id="380" r:id="rId4"/>
    <p:sldId id="381" r:id="rId5"/>
    <p:sldId id="324" r:id="rId6"/>
    <p:sldId id="287" r:id="rId7"/>
    <p:sldId id="323" r:id="rId8"/>
    <p:sldId id="281" r:id="rId9"/>
    <p:sldId id="389" r:id="rId10"/>
    <p:sldId id="382" r:id="rId11"/>
    <p:sldId id="282" r:id="rId12"/>
    <p:sldId id="321" r:id="rId13"/>
    <p:sldId id="286" r:id="rId14"/>
    <p:sldId id="285" r:id="rId15"/>
    <p:sldId id="390" r:id="rId16"/>
    <p:sldId id="258" r:id="rId17"/>
    <p:sldId id="283" r:id="rId18"/>
    <p:sldId id="383" r:id="rId19"/>
    <p:sldId id="384" r:id="rId20"/>
    <p:sldId id="385" r:id="rId21"/>
    <p:sldId id="386" r:id="rId22"/>
    <p:sldId id="387" r:id="rId23"/>
    <p:sldId id="284" r:id="rId24"/>
    <p:sldId id="391" r:id="rId25"/>
    <p:sldId id="322" r:id="rId26"/>
    <p:sldId id="259" r:id="rId27"/>
    <p:sldId id="388" r:id="rId28"/>
    <p:sldId id="393" r:id="rId29"/>
    <p:sldId id="392" r:id="rId30"/>
    <p:sldId id="394" r:id="rId31"/>
    <p:sldId id="395" r:id="rId32"/>
    <p:sldId id="396" r:id="rId33"/>
    <p:sldId id="367" r:id="rId34"/>
    <p:sldId id="397" r:id="rId35"/>
    <p:sldId id="398" r:id="rId36"/>
    <p:sldId id="399" r:id="rId37"/>
    <p:sldId id="400" r:id="rId38"/>
    <p:sldId id="401" r:id="rId39"/>
    <p:sldId id="403" r:id="rId40"/>
    <p:sldId id="404" r:id="rId41"/>
    <p:sldId id="320" r:id="rId42"/>
    <p:sldId id="405" r:id="rId43"/>
    <p:sldId id="315" r:id="rId44"/>
    <p:sldId id="409" r:id="rId45"/>
    <p:sldId id="277" r:id="rId46"/>
    <p:sldId id="410" r:id="rId47"/>
    <p:sldId id="407" r:id="rId48"/>
    <p:sldId id="408" r:id="rId49"/>
    <p:sldId id="411" r:id="rId50"/>
    <p:sldId id="316" r:id="rId51"/>
    <p:sldId id="412" r:id="rId52"/>
    <p:sldId id="265" r:id="rId53"/>
    <p:sldId id="413" r:id="rId54"/>
    <p:sldId id="414" r:id="rId55"/>
    <p:sldId id="317" r:id="rId56"/>
    <p:sldId id="415" r:id="rId57"/>
    <p:sldId id="420" r:id="rId58"/>
    <p:sldId id="421" r:id="rId59"/>
    <p:sldId id="416" r:id="rId60"/>
    <p:sldId id="417" r:id="rId61"/>
    <p:sldId id="418" r:id="rId62"/>
    <p:sldId id="419" r:id="rId63"/>
    <p:sldId id="422" r:id="rId64"/>
    <p:sldId id="427" r:id="rId65"/>
    <p:sldId id="318" r:id="rId66"/>
    <p:sldId id="423" r:id="rId67"/>
    <p:sldId id="424" r:id="rId68"/>
    <p:sldId id="425" r:id="rId69"/>
    <p:sldId id="319" r:id="rId70"/>
    <p:sldId id="426" r:id="rId71"/>
  </p:sldIdLst>
  <p:sldSz cx="12192000" cy="6858000"/>
  <p:notesSz cx="6858000" cy="9144000"/>
  <p:custDataLst>
    <p:tags r:id="rId7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优优学姐英语学科分享" id="{889DCCC6-9B3A-4A89-A5ED-0DE8BB60518E}">
          <p14:sldIdLst>
            <p14:sldId id="280"/>
            <p14:sldId id="380"/>
            <p14:sldId id="381"/>
          </p14:sldIdLst>
        </p14:section>
        <p14:section name="个人介绍" id="{690AC3DB-B94A-9348-8614-96E2E012C06E}">
          <p14:sldIdLst>
            <p14:sldId id="324"/>
            <p14:sldId id="287"/>
          </p14:sldIdLst>
        </p14:section>
        <p14:section name="背单词" id="{DE82F6A1-7AD9-BA4B-A65B-A9028622FA3D}">
          <p14:sldIdLst>
            <p14:sldId id="323"/>
            <p14:sldId id="281"/>
            <p14:sldId id="389"/>
            <p14:sldId id="382"/>
            <p14:sldId id="282"/>
          </p14:sldIdLst>
        </p14:section>
        <p14:section name="阅读" id="{417724FA-F574-4674-B888-AE0D5D91146F}">
          <p14:sldIdLst>
            <p14:sldId id="321"/>
            <p14:sldId id="286"/>
            <p14:sldId id="285"/>
            <p14:sldId id="390"/>
            <p14:sldId id="258"/>
            <p14:sldId id="283"/>
            <p14:sldId id="383"/>
            <p14:sldId id="384"/>
            <p14:sldId id="385"/>
            <p14:sldId id="386"/>
            <p14:sldId id="387"/>
            <p14:sldId id="284"/>
            <p14:sldId id="391"/>
          </p14:sldIdLst>
        </p14:section>
        <p14:section name="完形填空" id="{3E6FC1AD-C380-4330-A8FF-4A46BC075D83}">
          <p14:sldIdLst>
            <p14:sldId id="322"/>
            <p14:sldId id="259"/>
            <p14:sldId id="388"/>
            <p14:sldId id="393"/>
            <p14:sldId id="392"/>
            <p14:sldId id="394"/>
            <p14:sldId id="395"/>
            <p14:sldId id="396"/>
          </p14:sldIdLst>
        </p14:section>
        <p14:section name="七选五" id="{3B3F165B-6EDB-4428-92E5-8E8C9317E625}">
          <p14:sldIdLst>
            <p14:sldId id="367"/>
            <p14:sldId id="397"/>
            <p14:sldId id="398"/>
            <p14:sldId id="399"/>
            <p14:sldId id="400"/>
            <p14:sldId id="401"/>
            <p14:sldId id="403"/>
            <p14:sldId id="404"/>
          </p14:sldIdLst>
        </p14:section>
        <p14:section name="平时怎么积累" id="{A7E51EDC-8683-4639-BC3C-90E0501D1A01}">
          <p14:sldIdLst>
            <p14:sldId id="320"/>
            <p14:sldId id="405"/>
            <p14:sldId id="315"/>
            <p14:sldId id="409"/>
          </p14:sldIdLst>
        </p14:section>
        <p14:section name="语法" id="{68619436-E17A-4A95-B6F7-BB92DFC132BD}">
          <p14:sldIdLst>
            <p14:sldId id="277"/>
            <p14:sldId id="410"/>
            <p14:sldId id="407"/>
            <p14:sldId id="408"/>
            <p14:sldId id="411"/>
          </p14:sldIdLst>
        </p14:section>
        <p14:section name="口语" id="{8AFE43BF-1887-4A52-9484-48A601D61BE5}">
          <p14:sldIdLst>
            <p14:sldId id="316"/>
            <p14:sldId id="412"/>
            <p14:sldId id="265"/>
            <p14:sldId id="413"/>
            <p14:sldId id="414"/>
          </p14:sldIdLst>
        </p14:section>
        <p14:section name="作文" id="{C75DA1AF-60E7-4BE7-A1CB-CB079AE0A22F}">
          <p14:sldIdLst>
            <p14:sldId id="317"/>
            <p14:sldId id="415"/>
            <p14:sldId id="420"/>
            <p14:sldId id="421"/>
            <p14:sldId id="416"/>
            <p14:sldId id="417"/>
            <p14:sldId id="418"/>
            <p14:sldId id="419"/>
            <p14:sldId id="422"/>
            <p14:sldId id="427"/>
          </p14:sldIdLst>
        </p14:section>
        <p14:section name="错题本" id="{446DAA72-6DC4-4F98-8750-383F251C792E}">
          <p14:sldIdLst>
            <p14:sldId id="318"/>
            <p14:sldId id="423"/>
            <p14:sldId id="424"/>
            <p14:sldId id="425"/>
          </p14:sldIdLst>
        </p14:section>
        <p14:section name="总结" id="{67F1B555-D565-42A5-9D35-727ED07D9EE7}">
          <p14:sldIdLst>
            <p14:sldId id="319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DCC"/>
    <a:srgbClr val="FCEDEB"/>
    <a:srgbClr val="FDF5D6"/>
    <a:srgbClr val="A41AD4"/>
    <a:srgbClr val="223AAC"/>
    <a:srgbClr val="E8F0FE"/>
    <a:srgbClr val="E9F1FF"/>
    <a:srgbClr val="FDF4D5"/>
    <a:srgbClr val="EBFFE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5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1FF1-9F3F-0E40-9843-E28C0A016924}" type="datetimeFigureOut">
              <a:rPr kumimoji="1" lang="zh-CN" altLang="en-US" smtClean="0"/>
              <a:t>2025/2/28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2DE8C-B653-9D41-B4D4-760D8F8C7F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85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993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6979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5" Type="http://schemas.openxmlformats.org/officeDocument/2006/relationships/image" Target="../media/image3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3.png"/><Relationship Id="rId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689——{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分数与分数背后的故事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英语分数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——{146}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7335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阅读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提高阅读速度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小说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阅读做题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只笔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学会学姐阅读英文文章的笔记方法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97267-87E9-1A4D-99C1-E744BAF9E7CC}"/>
              </a:ext>
            </a:extLst>
          </p:cNvPr>
          <p:cNvSpPr txBox="1"/>
          <p:nvPr/>
        </p:nvSpPr>
        <p:spPr>
          <a:xfrm>
            <a:off x="1056821" y="3341790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背单词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817AB8-4FF7-A74C-AD60-DD12D44C8FDB}"/>
              </a:ext>
            </a:extLst>
          </p:cNvPr>
          <p:cNvSpPr txBox="1"/>
          <p:nvPr/>
        </p:nvSpPr>
        <p:spPr>
          <a:xfrm>
            <a:off x="1137158" y="3624813"/>
            <a:ext cx="494270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谐音记忆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联想记忆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关联记忆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读音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拼读背诵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会拼就会背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周期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——{3+7+21}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提高英语背诵能力的方法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——{1+1+1}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完形填空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填哪些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挖坑类型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例题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42900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55909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七选五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842119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逻辑结构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排除方法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选最优解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例题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听力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学会精听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速记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精听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速记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用好音频与原文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速记方法学习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814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4169175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语法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语法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结构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时态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学习语法方法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划分长难句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一首歌学会英文时态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——{Love story}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66865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295921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29696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口语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52456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如何提高英语口语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跟读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美剧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实战中提高口语能力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英文歌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英语角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438143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作文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460903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学会英语的万能展开大法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总分总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万能展开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针对续写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思路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实践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DB2BC6-5038-E042-9F67-06081AA0AEAB}"/>
              </a:ext>
            </a:extLst>
          </p:cNvPr>
          <p:cNvSpPr txBox="1"/>
          <p:nvPr/>
        </p:nvSpPr>
        <p:spPr>
          <a:xfrm>
            <a:off x="1056821" y="5359037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AC1DF-68C5-054E-BD40-390502FAD553}"/>
              </a:ext>
            </a:extLst>
          </p:cNvPr>
          <p:cNvSpPr txBox="1"/>
          <p:nvPr/>
        </p:nvSpPr>
        <p:spPr>
          <a:xfrm>
            <a:off x="1137158" y="5642060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手把手教你整理错题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题型怎么做？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按板块梳理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怎么针对自己的问题总结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2386F2B-85FD-C24C-9EDB-DA2A7A842B49}"/>
              </a:ext>
            </a:extLst>
          </p:cNvPr>
          <p:cNvCxnSpPr>
            <a:cxnSpLocks/>
          </p:cNvCxnSpPr>
          <p:nvPr/>
        </p:nvCxnSpPr>
        <p:spPr>
          <a:xfrm>
            <a:off x="1137158" y="5261174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优优学姐个人介绍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英语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146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英语的分数是「捡」来的，每一分都要重视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高考英语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493318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73179E-710F-2744-AE28-66102F6B7763}"/>
              </a:ext>
            </a:extLst>
          </p:cNvPr>
          <p:cNvSpPr/>
          <p:nvPr/>
        </p:nvSpPr>
        <p:spPr>
          <a:xfrm>
            <a:off x="1029994" y="3060148"/>
            <a:ext cx="4427223" cy="1137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2121B-E71F-164E-AB7F-D2ED96C904AA}"/>
              </a:ext>
            </a:extLst>
          </p:cNvPr>
          <p:cNvSpPr/>
          <p:nvPr/>
        </p:nvSpPr>
        <p:spPr>
          <a:xfrm>
            <a:off x="1029994" y="4746052"/>
            <a:ext cx="4427223" cy="64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15806-7293-0744-A6B0-0E868DAAA474}"/>
              </a:ext>
            </a:extLst>
          </p:cNvPr>
          <p:cNvSpPr txBox="1"/>
          <p:nvPr/>
        </p:nvSpPr>
        <p:spPr>
          <a:xfrm>
            <a:off x="1029994" y="2713079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英语要掌握什么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949657" y="5558458"/>
            <a:ext cx="873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（英语的语言性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工具性）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是我们学习的重点，需要注意英语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A509C-079E-2746-B3B6-0336A5BDFC25}"/>
              </a:ext>
            </a:extLst>
          </p:cNvPr>
          <p:cNvSpPr txBox="1"/>
          <p:nvPr/>
        </p:nvSpPr>
        <p:spPr>
          <a:xfrm>
            <a:off x="1029994" y="4398983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 英语怎么学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A3C46-DF57-9E45-AAD0-A6DAAD32EC14}"/>
              </a:ext>
            </a:extLst>
          </p:cNvPr>
          <p:cNvSpPr txBox="1"/>
          <p:nvPr/>
        </p:nvSpPr>
        <p:spPr>
          <a:xfrm>
            <a:off x="2583531" y="3115391"/>
            <a:ext cx="132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注重</a:t>
            </a:r>
            <a:r>
              <a:rPr kumimoji="1" lang="zh-CN" altLang="en-US" sz="12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词汇积累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强化听力训练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阅读理解提升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写作技能培养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语法知识掌握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高效记忆法应用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提高口语表达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多元化学习资源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2320" y="1590675"/>
            <a:ext cx="1062799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Chapter-2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背单词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1+1+1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的背诵方法：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人们对于自己表达的东西记忆最深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「自己先背一遍」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「录音」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「睡前」听一遍录音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「第二天起床后」再背一遍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背什么？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单词要背哪些？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个方法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7266984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</a:t>
            </a:r>
            <a:r>
              <a:rPr kumimoji="1"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中考考纲</a:t>
            </a:r>
            <a:r>
              <a:rPr kumimoji="1"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1600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记忆方法：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按照「话题」速记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7266984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②高中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高考考纲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3500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词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7266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记忆方法：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按照「乱序」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「少量多次」重复记忆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*每天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个，坚持一个月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一天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个，不坚持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1254D146-6DF3-4E46-B67D-EF2B5F647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333"/>
          <a:stretch/>
        </p:blipFill>
        <p:spPr>
          <a:xfrm>
            <a:off x="4489981" y="1797910"/>
            <a:ext cx="3429812" cy="8081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10F7E0-0751-1641-8C43-9A60171A0A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761"/>
          <a:stretch/>
        </p:blipFill>
        <p:spPr>
          <a:xfrm>
            <a:off x="4591665" y="3121780"/>
            <a:ext cx="3328128" cy="9532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可以看到；「谐音记忆」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「联想记忆」就是我们经常用的方法，是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中文谐音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英文引申义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的结合，很多单词在记忆时都可以采用这样的方法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是一种非常高效形象的记忆方法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背单词的方法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单词要怎么背？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个方法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7266984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谐音记忆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Tedious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冗长的、啰嗦的、单调乏味的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踢地而死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Endow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捐赠、资助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银到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Disgruntle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使不满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[diss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光头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7266984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②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联想记忆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726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Hideous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丑恶的、可怕的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hide+ous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躲藏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因为令人讨厌而躲藏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Casualty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事故、急诊室、伤亡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因为太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casual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随意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造成了（事故）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（伤亡）很多，送到了（急诊室）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0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可以看到；「关联记忆」可以让我们从一个词扩充到相关的许多词，「读音记忆」可以让我们准确又快速记住，是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读音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拼写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的结合，可以说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会读就会背，而且不会拼错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怎么快速拼读？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背单词的方法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如果不好谐音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联想怎么办？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千万不要死记硬背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6224702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③关联记忆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Plodding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沉重的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plod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1200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v.n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辛勤工作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沉重步伐；沉重地走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辛勤地工作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谐音记忆：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Plod 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辛勤工作、沉重地走 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破锣的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6224702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④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读音记忆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按照读音分节背，会读就会背：</a:t>
            </a:r>
            <a:r>
              <a:rPr kumimoji="1" lang="fr-FR" altLang="zh-CN" sz="1200" u="sng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Too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12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th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1200" u="sng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some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fr-FR" altLang="zh-CN" sz="12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de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12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li</a:t>
            </a:r>
            <a:r>
              <a:rPr kumimoji="1" lang="fr-FR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fr-FR" altLang="zh-CN" sz="1200" u="sng" dirty="0" err="1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cate</a:t>
            </a:r>
            <a:endParaRPr kumimoji="1" lang="fr-FR" altLang="zh-CN" sz="12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5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快速拼读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遇到新单词不知道怎么读？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在这一部分里，我们需要总结单词的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相似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相同音节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记住：「会读就会背」，不用死记硬背音标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从自己的积累中去总结相同的发音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B8A1FE-10D1-4943-8D03-FDD15B91F890}"/>
              </a:ext>
            </a:extLst>
          </p:cNvPr>
          <p:cNvSpPr/>
          <p:nvPr/>
        </p:nvSpPr>
        <p:spPr>
          <a:xfrm>
            <a:off x="655529" y="3724018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x…e</a:t>
            </a:r>
            <a:r>
              <a:rPr lang="zh-CN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就读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x(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字母的发音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Ride fade pipe delicate</a:t>
            </a:r>
          </a:p>
          <a:p>
            <a:pPr algn="just">
              <a:spcAft>
                <a:spcPts val="0"/>
              </a:spcAft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请你跟读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algn="just">
              <a:spcAft>
                <a:spcPts val="0"/>
              </a:spcAft>
            </a:pP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CN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lang="zh-CN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就读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pack back clock</a:t>
            </a:r>
          </a:p>
          <a:p>
            <a:pPr algn="just"/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请你跟读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algn="just"/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kern="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tion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sz="1200" kern="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sion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就读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200" kern="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ʃ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(e)n]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situation examination creation passion mission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constitution</a:t>
            </a:r>
          </a:p>
          <a:p>
            <a:pPr algn="just"/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请你跟读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Chapter-3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阅读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阅读分为两部分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平时阅读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平时阅读：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「特点」时间多但时间碎、阅读多但杂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「策略」重在“广”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考试阅读：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「特点」时间少但时间集中、阅读目的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为了做题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「策略」重在“精”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平时阅读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考试阅读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53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7850" y="429895"/>
            <a:ext cx="10928350" cy="59397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504CAA-CB13-344A-A051-A4C9B34B38EF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平时阅读：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F920-4694-514B-99A0-52771F8BA78F}"/>
              </a:ext>
            </a:extLst>
          </p:cNvPr>
          <p:cNvSpPr/>
          <p:nvPr/>
        </p:nvSpPr>
        <p:spPr>
          <a:xfrm>
            <a:off x="609559" y="828139"/>
            <a:ext cx="11129686" cy="554154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DF3F4-143F-DA4D-A73B-2D4EEF36AB3B}"/>
              </a:ext>
            </a:extLst>
          </p:cNvPr>
          <p:cNvSpPr txBox="1"/>
          <p:nvPr/>
        </p:nvSpPr>
        <p:spPr>
          <a:xfrm>
            <a:off x="965898" y="1203790"/>
            <a:ext cx="10417008" cy="52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读什么？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英文原著小说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课内怎么读？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课内文章：课后单词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背诵全文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跟读磁带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学姐的亲身经历：</a:t>
            </a:r>
            <a:b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初中时，每个单元课文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短对话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长文章：全文背诵「理解所有生词表单词在文中的意思」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「被动式学习语法，因为背诵的课文中本身包含了很多语法结构、时态」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「跟读每篇课文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遍以上，做到语言流畅、和范文抑扬顿挫一致」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课内文章三个目的：生词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语法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口语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通过背诵形成肌肉记忆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课外怎么读？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选一本「自己喜欢」的英文小说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每周读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10-15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页，「查单词」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「理解情节」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课外小说两个目的：养成查单词的好习惯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养成阅读习惯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37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7850" y="429895"/>
            <a:ext cx="10928350" cy="59397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504CAA-CB13-344A-A051-A4C9B34B38EF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平时阅读：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F920-4694-514B-99A0-52771F8BA78F}"/>
              </a:ext>
            </a:extLst>
          </p:cNvPr>
          <p:cNvSpPr/>
          <p:nvPr/>
        </p:nvSpPr>
        <p:spPr>
          <a:xfrm>
            <a:off x="609559" y="828139"/>
            <a:ext cx="11129686" cy="554154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DF3F4-143F-DA4D-A73B-2D4EEF36AB3B}"/>
              </a:ext>
            </a:extLst>
          </p:cNvPr>
          <p:cNvSpPr txBox="1"/>
          <p:nvPr/>
        </p:nvSpPr>
        <p:spPr>
          <a:xfrm>
            <a:off x="965898" y="1203790"/>
            <a:ext cx="10417008" cy="49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学姐推荐的十本英文小说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fr-FR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Great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Gatsby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了不起的盖茨比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F. Scott Fitzgerald)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To Kill a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Mockingbird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杀死一只知更鸟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Harper Lee)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Gone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with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the Wind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Margaret Mitchell)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 Game of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Thrones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冰与火之歌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George R.R. Martin)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Chronicles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of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Narnia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纳尼亚传奇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C.S. Lewis)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1984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一九八四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George Orwell)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Brave New World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美丽新世界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Aldous Huxley)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Catcher in the Rye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麦田里的守望者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J.D. Salinger)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Lord of the </a:t>
            </a:r>
            <a:r>
              <a:rPr kumimoji="1" lang="fr-FR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Flies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蝇王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William Golding)</a:t>
            </a:r>
          </a:p>
          <a:p>
            <a:pPr>
              <a:lnSpc>
                <a:spcPct val="150000"/>
              </a:lnSpc>
            </a:pP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Frankenstein – 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弗兰肯斯坦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 (</a:t>
            </a:r>
            <a:r>
              <a:rPr kumimoji="1" lang="fr-FR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Mary Shelley)</a:t>
            </a:r>
          </a:p>
          <a:p>
            <a:pPr>
              <a:lnSpc>
                <a:spcPct val="150000"/>
              </a:lnSpc>
            </a:pPr>
            <a:endParaRPr kumimoji="1" lang="fr-FR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这些原著小说都具有深刻的思想性和文学价值，适合初、高中生和小学生进行阅读和思考。</a:t>
            </a:r>
            <a:endParaRPr kumimoji="1" lang="fr-FR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09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2"/>
            <a:ext cx="11043316" cy="3248722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359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通读全文，划分内容 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一划分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拿到文章，把文章通读一遍，重在「精」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按照学姐的「一纵几点」的方法，划分文章为几部分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每个段落用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{//}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划出，在其后总结大意，并在原文「标出」相应中心句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定位原文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[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二定位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拿到题目，迅速定位原文位置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无非三种题目：词义猜测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段落理解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细节理解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Step3.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找上下文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段落逻辑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解题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先回顾自己「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」后的段落总结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寻找上下句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上下段，判断逻辑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语义，选出准确选项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67377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一定要牢记 「不要一味追求阅读速度」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先学会「精」读一篇，再逐渐增加速度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56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8" name="图片 7" descr="报纸上的表格&#10;&#10;描述已自动生成">
            <a:extLst>
              <a:ext uri="{FF2B5EF4-FFF2-40B4-BE49-F238E27FC236}">
                <a16:creationId xmlns:a16="http://schemas.microsoft.com/office/drawing/2014/main" id="{BAD0A3B6-0ECA-A548-9C48-FEE5712F7A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t="10108" r="43667" b="40246"/>
          <a:stretch/>
        </p:blipFill>
        <p:spPr>
          <a:xfrm>
            <a:off x="3280858" y="629017"/>
            <a:ext cx="8301583" cy="571854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如何划分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一篇文章往往可以划分为：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「头」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「脖子」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「身体」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「尾」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在左边列出纵向结构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0A1357-A445-2949-AD30-4FB673D3CBEE}"/>
              </a:ext>
            </a:extLst>
          </p:cNvPr>
          <p:cNvSpPr/>
          <p:nvPr/>
        </p:nvSpPr>
        <p:spPr>
          <a:xfrm>
            <a:off x="3111910" y="798294"/>
            <a:ext cx="707922" cy="5549267"/>
          </a:xfrm>
          <a:prstGeom prst="rect">
            <a:avLst/>
          </a:prstGeom>
          <a:noFill/>
          <a:ln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4729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8" name="图片 7" descr="报纸上的表格&#10;&#10;描述已自动生成">
            <a:extLst>
              <a:ext uri="{FF2B5EF4-FFF2-40B4-BE49-F238E27FC236}">
                <a16:creationId xmlns:a16="http://schemas.microsoft.com/office/drawing/2014/main" id="{BAD0A3B6-0ECA-A548-9C48-FEE5712F7A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t="10108" r="43667" b="40246"/>
          <a:stretch/>
        </p:blipFill>
        <p:spPr>
          <a:xfrm>
            <a:off x="3280858" y="629017"/>
            <a:ext cx="8301583" cy="571854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如何划分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一篇文章往往可以划分为：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「头」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「脖子」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「身体」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「尾」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在文中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后写出段落主题，在文中用（）划出主题定位在哪里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0A1357-A445-2949-AD30-4FB673D3CBEE}"/>
              </a:ext>
            </a:extLst>
          </p:cNvPr>
          <p:cNvSpPr/>
          <p:nvPr/>
        </p:nvSpPr>
        <p:spPr>
          <a:xfrm>
            <a:off x="7282628" y="1651819"/>
            <a:ext cx="2610571" cy="383458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A3FB92-B146-7544-BE18-D4A6D57018E4}"/>
              </a:ext>
            </a:extLst>
          </p:cNvPr>
          <p:cNvSpPr/>
          <p:nvPr/>
        </p:nvSpPr>
        <p:spPr>
          <a:xfrm>
            <a:off x="7250162" y="2690657"/>
            <a:ext cx="2610571" cy="361647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4C3DF9-8332-4342-9EEA-FA239F52FB5A}"/>
              </a:ext>
            </a:extLst>
          </p:cNvPr>
          <p:cNvSpPr/>
          <p:nvPr/>
        </p:nvSpPr>
        <p:spPr>
          <a:xfrm>
            <a:off x="8596660" y="3415427"/>
            <a:ext cx="1564979" cy="361647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23953-9F8A-E341-B94C-60EED4F892D5}"/>
              </a:ext>
            </a:extLst>
          </p:cNvPr>
          <p:cNvSpPr/>
          <p:nvPr/>
        </p:nvSpPr>
        <p:spPr>
          <a:xfrm>
            <a:off x="8596660" y="4192156"/>
            <a:ext cx="1564979" cy="361647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632FE4-DF6D-B24E-A014-7CFAE7B27ED7}"/>
              </a:ext>
            </a:extLst>
          </p:cNvPr>
          <p:cNvSpPr/>
          <p:nvPr/>
        </p:nvSpPr>
        <p:spPr>
          <a:xfrm>
            <a:off x="4953441" y="5214711"/>
            <a:ext cx="2610571" cy="361647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0AA978-19F5-144D-B041-008FD471B425}"/>
              </a:ext>
            </a:extLst>
          </p:cNvPr>
          <p:cNvSpPr/>
          <p:nvPr/>
        </p:nvSpPr>
        <p:spPr>
          <a:xfrm>
            <a:off x="7291374" y="5996581"/>
            <a:ext cx="2610571" cy="361647"/>
          </a:xfrm>
          <a:prstGeom prst="rect">
            <a:avLst/>
          </a:prstGeom>
          <a:noFill/>
          <a:ln w="19050">
            <a:solidFill>
              <a:srgbClr val="223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68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高考英语全国一卷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如何定位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这道题：词义猜测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定位到文中，寻找上下文，「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print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」材料更好用来学习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因为更容易看，对应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后的段落主题，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在做题时会直接作为提示！！做题速度自然提升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548086-0D37-0E49-8A59-95672A14D4B5}"/>
              </a:ext>
            </a:extLst>
          </p:cNvPr>
          <p:cNvGrpSpPr/>
          <p:nvPr/>
        </p:nvGrpSpPr>
        <p:grpSpPr>
          <a:xfrm>
            <a:off x="4468370" y="585956"/>
            <a:ext cx="7029724" cy="4851457"/>
            <a:chOff x="3280858" y="629017"/>
            <a:chExt cx="8301583" cy="5729211"/>
          </a:xfrm>
        </p:grpSpPr>
        <p:pic>
          <p:nvPicPr>
            <p:cNvPr id="8" name="图片 7" descr="报纸上的表格&#10;&#10;描述已自动生成">
              <a:extLst>
                <a:ext uri="{FF2B5EF4-FFF2-40B4-BE49-F238E27FC236}">
                  <a16:creationId xmlns:a16="http://schemas.microsoft.com/office/drawing/2014/main" id="{BAD0A3B6-0ECA-A548-9C48-FEE5712F7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4" t="10108" r="43667" b="40246"/>
            <a:stretch/>
          </p:blipFill>
          <p:spPr>
            <a:xfrm>
              <a:off x="3280858" y="629017"/>
              <a:ext cx="8301583" cy="571854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0A1357-A445-2949-AD30-4FB673D3CBEE}"/>
                </a:ext>
              </a:extLst>
            </p:cNvPr>
            <p:cNvSpPr/>
            <p:nvPr/>
          </p:nvSpPr>
          <p:spPr>
            <a:xfrm>
              <a:off x="7282628" y="1651819"/>
              <a:ext cx="2610571" cy="383458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A3FB92-B146-7544-BE18-D4A6D57018E4}"/>
                </a:ext>
              </a:extLst>
            </p:cNvPr>
            <p:cNvSpPr/>
            <p:nvPr/>
          </p:nvSpPr>
          <p:spPr>
            <a:xfrm>
              <a:off x="7250162" y="2690657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74C3DF9-8332-4342-9EEA-FA239F52FB5A}"/>
                </a:ext>
              </a:extLst>
            </p:cNvPr>
            <p:cNvSpPr/>
            <p:nvPr/>
          </p:nvSpPr>
          <p:spPr>
            <a:xfrm>
              <a:off x="8596660" y="3415427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423953-9F8A-E341-B94C-60EED4F892D5}"/>
                </a:ext>
              </a:extLst>
            </p:cNvPr>
            <p:cNvSpPr/>
            <p:nvPr/>
          </p:nvSpPr>
          <p:spPr>
            <a:xfrm>
              <a:off x="8596660" y="4192156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632FE4-DF6D-B24E-A014-7CFAE7B27ED7}"/>
                </a:ext>
              </a:extLst>
            </p:cNvPr>
            <p:cNvSpPr/>
            <p:nvPr/>
          </p:nvSpPr>
          <p:spPr>
            <a:xfrm>
              <a:off x="4953441" y="521471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0AA978-19F5-144D-B041-008FD471B425}"/>
                </a:ext>
              </a:extLst>
            </p:cNvPr>
            <p:cNvSpPr/>
            <p:nvPr/>
          </p:nvSpPr>
          <p:spPr>
            <a:xfrm>
              <a:off x="7291374" y="599658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7" name="图片 16" descr="报纸上的表格&#10;&#10;描述已自动生成">
            <a:extLst>
              <a:ext uri="{FF2B5EF4-FFF2-40B4-BE49-F238E27FC236}">
                <a16:creationId xmlns:a16="http://schemas.microsoft.com/office/drawing/2014/main" id="{7F7A73D2-2F7C-A74C-BE1D-A3E5934F03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59041" r="48837" b="33354"/>
          <a:stretch/>
        </p:blipFill>
        <p:spPr>
          <a:xfrm>
            <a:off x="4433243" y="5478919"/>
            <a:ext cx="7148091" cy="868642"/>
          </a:xfrm>
          <a:prstGeom prst="rect">
            <a:avLst/>
          </a:prstGeom>
          <a:ln>
            <a:solidFill>
              <a:srgbClr val="223AAC"/>
            </a:solidFill>
          </a:ln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7332D104-80AC-D143-821F-B2443ACB9E6B}"/>
              </a:ext>
            </a:extLst>
          </p:cNvPr>
          <p:cNvCxnSpPr/>
          <p:nvPr/>
        </p:nvCxnSpPr>
        <p:spPr>
          <a:xfrm>
            <a:off x="10825843" y="2188029"/>
            <a:ext cx="0" cy="3290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75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如何定位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这道题：段落理解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定位到文中，有这一内容的位置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-shallowing hypothesis </a:t>
            </a: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找上下文，后文解释：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less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mental effort</a:t>
            </a: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对应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后的段落主题，与问的段落内容直接相关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548086-0D37-0E49-8A59-95672A14D4B5}"/>
              </a:ext>
            </a:extLst>
          </p:cNvPr>
          <p:cNvGrpSpPr/>
          <p:nvPr/>
        </p:nvGrpSpPr>
        <p:grpSpPr>
          <a:xfrm>
            <a:off x="4468370" y="585956"/>
            <a:ext cx="7029724" cy="4851457"/>
            <a:chOff x="3280858" y="629017"/>
            <a:chExt cx="8301583" cy="5729211"/>
          </a:xfrm>
        </p:grpSpPr>
        <p:pic>
          <p:nvPicPr>
            <p:cNvPr id="8" name="图片 7" descr="报纸上的表格&#10;&#10;描述已自动生成">
              <a:extLst>
                <a:ext uri="{FF2B5EF4-FFF2-40B4-BE49-F238E27FC236}">
                  <a16:creationId xmlns:a16="http://schemas.microsoft.com/office/drawing/2014/main" id="{BAD0A3B6-0ECA-A548-9C48-FEE5712F7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4" t="10108" r="43667" b="40246"/>
            <a:stretch/>
          </p:blipFill>
          <p:spPr>
            <a:xfrm>
              <a:off x="3280858" y="629017"/>
              <a:ext cx="8301583" cy="571854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0A1357-A445-2949-AD30-4FB673D3CBEE}"/>
                </a:ext>
              </a:extLst>
            </p:cNvPr>
            <p:cNvSpPr/>
            <p:nvPr/>
          </p:nvSpPr>
          <p:spPr>
            <a:xfrm>
              <a:off x="7282628" y="1651819"/>
              <a:ext cx="2610571" cy="383458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A3FB92-B146-7544-BE18-D4A6D57018E4}"/>
                </a:ext>
              </a:extLst>
            </p:cNvPr>
            <p:cNvSpPr/>
            <p:nvPr/>
          </p:nvSpPr>
          <p:spPr>
            <a:xfrm>
              <a:off x="7250162" y="2690657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74C3DF9-8332-4342-9EEA-FA239F52FB5A}"/>
                </a:ext>
              </a:extLst>
            </p:cNvPr>
            <p:cNvSpPr/>
            <p:nvPr/>
          </p:nvSpPr>
          <p:spPr>
            <a:xfrm>
              <a:off x="8596660" y="3415427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423953-9F8A-E341-B94C-60EED4F892D5}"/>
                </a:ext>
              </a:extLst>
            </p:cNvPr>
            <p:cNvSpPr/>
            <p:nvPr/>
          </p:nvSpPr>
          <p:spPr>
            <a:xfrm>
              <a:off x="8596660" y="4192156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632FE4-DF6D-B24E-A014-7CFAE7B27ED7}"/>
                </a:ext>
              </a:extLst>
            </p:cNvPr>
            <p:cNvSpPr/>
            <p:nvPr/>
          </p:nvSpPr>
          <p:spPr>
            <a:xfrm>
              <a:off x="4953441" y="521471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0AA978-19F5-144D-B041-008FD471B425}"/>
                </a:ext>
              </a:extLst>
            </p:cNvPr>
            <p:cNvSpPr/>
            <p:nvPr/>
          </p:nvSpPr>
          <p:spPr>
            <a:xfrm>
              <a:off x="7291374" y="599658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7F7A73D2-2F7C-A74C-BE1D-A3E5934F03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66422" r="48837" b="26634"/>
          <a:stretch/>
        </p:blipFill>
        <p:spPr>
          <a:xfrm>
            <a:off x="4433243" y="5478919"/>
            <a:ext cx="7148091" cy="793125"/>
          </a:xfrm>
          <a:prstGeom prst="rect">
            <a:avLst/>
          </a:prstGeom>
          <a:ln>
            <a:solidFill>
              <a:srgbClr val="223AAC"/>
            </a:solidFill>
          </a:ln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7332D104-80AC-D143-821F-B2443ACB9E6B}"/>
              </a:ext>
            </a:extLst>
          </p:cNvPr>
          <p:cNvCxnSpPr>
            <a:cxnSpLocks/>
          </p:cNvCxnSpPr>
          <p:nvPr/>
        </p:nvCxnSpPr>
        <p:spPr>
          <a:xfrm>
            <a:off x="10825843" y="3429000"/>
            <a:ext cx="0" cy="204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493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如何定位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这道题：细节理解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定位到文中「尾」提出新现象段，寻找上下文，这一细节「用新技术教学为什么」因为上文「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feel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more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engaging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」，对应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后的段落主题，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直接指示段落中现象、细节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zh-CN" altLang="en-US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548086-0D37-0E49-8A59-95672A14D4B5}"/>
              </a:ext>
            </a:extLst>
          </p:cNvPr>
          <p:cNvGrpSpPr/>
          <p:nvPr/>
        </p:nvGrpSpPr>
        <p:grpSpPr>
          <a:xfrm>
            <a:off x="4468370" y="585956"/>
            <a:ext cx="7029724" cy="4851457"/>
            <a:chOff x="3280858" y="629017"/>
            <a:chExt cx="8301583" cy="5729211"/>
          </a:xfrm>
        </p:grpSpPr>
        <p:pic>
          <p:nvPicPr>
            <p:cNvPr id="8" name="图片 7" descr="报纸上的表格&#10;&#10;描述已自动生成">
              <a:extLst>
                <a:ext uri="{FF2B5EF4-FFF2-40B4-BE49-F238E27FC236}">
                  <a16:creationId xmlns:a16="http://schemas.microsoft.com/office/drawing/2014/main" id="{BAD0A3B6-0ECA-A548-9C48-FEE5712F7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4" t="10108" r="43667" b="40246"/>
            <a:stretch/>
          </p:blipFill>
          <p:spPr>
            <a:xfrm>
              <a:off x="3280858" y="629017"/>
              <a:ext cx="8301583" cy="571854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0A1357-A445-2949-AD30-4FB673D3CBEE}"/>
                </a:ext>
              </a:extLst>
            </p:cNvPr>
            <p:cNvSpPr/>
            <p:nvPr/>
          </p:nvSpPr>
          <p:spPr>
            <a:xfrm>
              <a:off x="7282628" y="1651819"/>
              <a:ext cx="2610571" cy="383458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A3FB92-B146-7544-BE18-D4A6D57018E4}"/>
                </a:ext>
              </a:extLst>
            </p:cNvPr>
            <p:cNvSpPr/>
            <p:nvPr/>
          </p:nvSpPr>
          <p:spPr>
            <a:xfrm>
              <a:off x="7250162" y="2690657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74C3DF9-8332-4342-9EEA-FA239F52FB5A}"/>
                </a:ext>
              </a:extLst>
            </p:cNvPr>
            <p:cNvSpPr/>
            <p:nvPr/>
          </p:nvSpPr>
          <p:spPr>
            <a:xfrm>
              <a:off x="8596660" y="3415427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423953-9F8A-E341-B94C-60EED4F892D5}"/>
                </a:ext>
              </a:extLst>
            </p:cNvPr>
            <p:cNvSpPr/>
            <p:nvPr/>
          </p:nvSpPr>
          <p:spPr>
            <a:xfrm>
              <a:off x="8596660" y="4192156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632FE4-DF6D-B24E-A014-7CFAE7B27ED7}"/>
                </a:ext>
              </a:extLst>
            </p:cNvPr>
            <p:cNvSpPr/>
            <p:nvPr/>
          </p:nvSpPr>
          <p:spPr>
            <a:xfrm>
              <a:off x="4953441" y="521471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0AA978-19F5-144D-B041-008FD471B425}"/>
                </a:ext>
              </a:extLst>
            </p:cNvPr>
            <p:cNvSpPr/>
            <p:nvPr/>
          </p:nvSpPr>
          <p:spPr>
            <a:xfrm>
              <a:off x="7291374" y="599658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7F7A73D2-2F7C-A74C-BE1D-A3E5934F03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72733" r="48837" b="19662"/>
          <a:stretch/>
        </p:blipFill>
        <p:spPr>
          <a:xfrm>
            <a:off x="4433243" y="5478919"/>
            <a:ext cx="7148091" cy="868642"/>
          </a:xfrm>
          <a:prstGeom prst="rect">
            <a:avLst/>
          </a:prstGeom>
          <a:ln>
            <a:solidFill>
              <a:srgbClr val="223AAC"/>
            </a:solidFill>
          </a:ln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7332D104-80AC-D143-821F-B2443ACB9E6B}"/>
              </a:ext>
            </a:extLst>
          </p:cNvPr>
          <p:cNvCxnSpPr>
            <a:cxnSpLocks/>
          </p:cNvCxnSpPr>
          <p:nvPr/>
        </p:nvCxnSpPr>
        <p:spPr>
          <a:xfrm>
            <a:off x="10825843" y="4469091"/>
            <a:ext cx="0" cy="1009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612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3804ED6-EA08-BA46-BBDD-CF4B989BECAF}"/>
              </a:ext>
            </a:extLst>
          </p:cNvPr>
          <p:cNvSpPr/>
          <p:nvPr/>
        </p:nvSpPr>
        <p:spPr>
          <a:xfrm>
            <a:off x="609559" y="2737923"/>
            <a:ext cx="2384364" cy="3609638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8528DD-6C63-D249-B423-71135C7BDF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6179D-47DF-4840-BDA2-2978EB2C905C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E6E14-23E4-8A4D-BDB6-BC324CB27F6D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D1A39-1DBF-6249-91DB-B3878AB83A88}"/>
              </a:ext>
            </a:extLst>
          </p:cNvPr>
          <p:cNvSpPr txBox="1"/>
          <p:nvPr/>
        </p:nvSpPr>
        <p:spPr>
          <a:xfrm>
            <a:off x="693907" y="3251717"/>
            <a:ext cx="20492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如何定位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这道题：段落理解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定位到最后一段，直接看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后自己总结内容，多观点总结，对应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C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每个部分用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后的段落主题，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在做题时会直接作为提示！！做题速度自然提升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548086-0D37-0E49-8A59-95672A14D4B5}"/>
              </a:ext>
            </a:extLst>
          </p:cNvPr>
          <p:cNvGrpSpPr/>
          <p:nvPr/>
        </p:nvGrpSpPr>
        <p:grpSpPr>
          <a:xfrm>
            <a:off x="4468370" y="585956"/>
            <a:ext cx="7029724" cy="4851457"/>
            <a:chOff x="3280858" y="629017"/>
            <a:chExt cx="8301583" cy="5729211"/>
          </a:xfrm>
        </p:grpSpPr>
        <p:pic>
          <p:nvPicPr>
            <p:cNvPr id="8" name="图片 7" descr="报纸上的表格&#10;&#10;描述已自动生成">
              <a:extLst>
                <a:ext uri="{FF2B5EF4-FFF2-40B4-BE49-F238E27FC236}">
                  <a16:creationId xmlns:a16="http://schemas.microsoft.com/office/drawing/2014/main" id="{BAD0A3B6-0ECA-A548-9C48-FEE5712F7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4" t="10108" r="43667" b="40246"/>
            <a:stretch/>
          </p:blipFill>
          <p:spPr>
            <a:xfrm>
              <a:off x="3280858" y="629017"/>
              <a:ext cx="8301583" cy="571854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0A1357-A445-2949-AD30-4FB673D3CBEE}"/>
                </a:ext>
              </a:extLst>
            </p:cNvPr>
            <p:cNvSpPr/>
            <p:nvPr/>
          </p:nvSpPr>
          <p:spPr>
            <a:xfrm>
              <a:off x="7282628" y="1651819"/>
              <a:ext cx="2610571" cy="383458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A3FB92-B146-7544-BE18-D4A6D57018E4}"/>
                </a:ext>
              </a:extLst>
            </p:cNvPr>
            <p:cNvSpPr/>
            <p:nvPr/>
          </p:nvSpPr>
          <p:spPr>
            <a:xfrm>
              <a:off x="7250162" y="2690657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74C3DF9-8332-4342-9EEA-FA239F52FB5A}"/>
                </a:ext>
              </a:extLst>
            </p:cNvPr>
            <p:cNvSpPr/>
            <p:nvPr/>
          </p:nvSpPr>
          <p:spPr>
            <a:xfrm>
              <a:off x="8596660" y="3415427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423953-9F8A-E341-B94C-60EED4F892D5}"/>
                </a:ext>
              </a:extLst>
            </p:cNvPr>
            <p:cNvSpPr/>
            <p:nvPr/>
          </p:nvSpPr>
          <p:spPr>
            <a:xfrm>
              <a:off x="8596660" y="4192156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632FE4-DF6D-B24E-A014-7CFAE7B27ED7}"/>
                </a:ext>
              </a:extLst>
            </p:cNvPr>
            <p:cNvSpPr/>
            <p:nvPr/>
          </p:nvSpPr>
          <p:spPr>
            <a:xfrm>
              <a:off x="4953441" y="521471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0AA978-19F5-144D-B041-008FD471B425}"/>
                </a:ext>
              </a:extLst>
            </p:cNvPr>
            <p:cNvSpPr/>
            <p:nvPr/>
          </p:nvSpPr>
          <p:spPr>
            <a:xfrm>
              <a:off x="7291374" y="599658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7F7A73D2-2F7C-A74C-BE1D-A3E5934F03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79697" r="48837" b="8229"/>
          <a:stretch/>
        </p:blipFill>
        <p:spPr>
          <a:xfrm>
            <a:off x="4433243" y="5462589"/>
            <a:ext cx="7148091" cy="1379081"/>
          </a:xfrm>
          <a:prstGeom prst="rect">
            <a:avLst/>
          </a:prstGeom>
          <a:ln>
            <a:solidFill>
              <a:srgbClr val="223AAC"/>
            </a:solidFill>
          </a:ln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7332D104-80AC-D143-821F-B2443ACB9E6B}"/>
              </a:ext>
            </a:extLst>
          </p:cNvPr>
          <p:cNvCxnSpPr>
            <a:cxnSpLocks/>
          </p:cNvCxnSpPr>
          <p:nvPr/>
        </p:nvCxnSpPr>
        <p:spPr>
          <a:xfrm>
            <a:off x="10825843" y="4963886"/>
            <a:ext cx="0" cy="515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52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）定位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）解题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如何解题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）细节理解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）段落理解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）词义猜测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*无非就是三种题目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直接用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「划分」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「定位」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所有题目都可以直接找到相应位置，节约时间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后的总结帮助理解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07E1981-03F8-D640-B568-EFEA59909328}"/>
              </a:ext>
            </a:extLst>
          </p:cNvPr>
          <p:cNvGrpSpPr/>
          <p:nvPr/>
        </p:nvGrpSpPr>
        <p:grpSpPr>
          <a:xfrm>
            <a:off x="3425087" y="585956"/>
            <a:ext cx="8366922" cy="5774304"/>
            <a:chOff x="3280858" y="629017"/>
            <a:chExt cx="8301583" cy="5729211"/>
          </a:xfrm>
        </p:grpSpPr>
        <p:pic>
          <p:nvPicPr>
            <p:cNvPr id="9" name="图片 8" descr="报纸上的表格&#10;&#10;描述已自动生成">
              <a:extLst>
                <a:ext uri="{FF2B5EF4-FFF2-40B4-BE49-F238E27FC236}">
                  <a16:creationId xmlns:a16="http://schemas.microsoft.com/office/drawing/2014/main" id="{65AAB17E-FAFE-3D44-871F-E84FB8D3C6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4" t="10108" r="43667" b="40246"/>
            <a:stretch/>
          </p:blipFill>
          <p:spPr>
            <a:xfrm>
              <a:off x="3280858" y="629017"/>
              <a:ext cx="8301583" cy="571854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658F5C7-FD02-1A4F-8F87-76A882D474B9}"/>
                </a:ext>
              </a:extLst>
            </p:cNvPr>
            <p:cNvSpPr/>
            <p:nvPr/>
          </p:nvSpPr>
          <p:spPr>
            <a:xfrm>
              <a:off x="7282628" y="1651819"/>
              <a:ext cx="2610571" cy="383458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CF76804-BD16-4640-A3ED-5DE68004315F}"/>
                </a:ext>
              </a:extLst>
            </p:cNvPr>
            <p:cNvSpPr/>
            <p:nvPr/>
          </p:nvSpPr>
          <p:spPr>
            <a:xfrm>
              <a:off x="7250162" y="2690657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3F65356-2637-A645-9D24-203A48076DF2}"/>
                </a:ext>
              </a:extLst>
            </p:cNvPr>
            <p:cNvSpPr/>
            <p:nvPr/>
          </p:nvSpPr>
          <p:spPr>
            <a:xfrm>
              <a:off x="8596660" y="3415427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91275B0-43AA-3B4F-9F04-D43F197A8AFB}"/>
                </a:ext>
              </a:extLst>
            </p:cNvPr>
            <p:cNvSpPr/>
            <p:nvPr/>
          </p:nvSpPr>
          <p:spPr>
            <a:xfrm>
              <a:off x="8596660" y="4192156"/>
              <a:ext cx="1564979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996CF0F-DA4A-394A-8F58-9A8AA2591863}"/>
                </a:ext>
              </a:extLst>
            </p:cNvPr>
            <p:cNvSpPr/>
            <p:nvPr/>
          </p:nvSpPr>
          <p:spPr>
            <a:xfrm>
              <a:off x="4953441" y="521471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2A27834-7DDA-4342-A9B5-D40638016EAA}"/>
                </a:ext>
              </a:extLst>
            </p:cNvPr>
            <p:cNvSpPr/>
            <p:nvPr/>
          </p:nvSpPr>
          <p:spPr>
            <a:xfrm>
              <a:off x="7291374" y="5996581"/>
              <a:ext cx="2610571" cy="361647"/>
            </a:xfrm>
            <a:prstGeom prst="rect">
              <a:avLst/>
            </a:prstGeom>
            <a:noFill/>
            <a:ln w="19050">
              <a:solidFill>
                <a:srgbClr val="223A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6369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考试阅读示范：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做完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订正后干什么？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用好一篇阅读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）查出生词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）理解长难句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）整理错题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*精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=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用好每一篇文本！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「积累生词」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「分析长难句」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直接帮助我们增加词汇量、积累语法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9" name="图片 8" descr="报纸上的表格&#10;&#10;描述已自动生成">
            <a:extLst>
              <a:ext uri="{FF2B5EF4-FFF2-40B4-BE49-F238E27FC236}">
                <a16:creationId xmlns:a16="http://schemas.microsoft.com/office/drawing/2014/main" id="{65AAB17E-FAFE-3D44-871F-E84FB8D3C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94" t="10108" r="43667" b="40246"/>
          <a:stretch/>
        </p:blipFill>
        <p:spPr>
          <a:xfrm>
            <a:off x="3425087" y="585956"/>
            <a:ext cx="8366922" cy="5763553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F8A7EC9E-B42A-6543-B257-7AD269B5191C}"/>
              </a:ext>
            </a:extLst>
          </p:cNvPr>
          <p:cNvSpPr/>
          <p:nvPr/>
        </p:nvSpPr>
        <p:spPr>
          <a:xfrm>
            <a:off x="4716624" y="1398693"/>
            <a:ext cx="1298328" cy="691317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A7C9814-5C87-3540-A538-0F9B9443FFD2}"/>
              </a:ext>
            </a:extLst>
          </p:cNvPr>
          <p:cNvSpPr/>
          <p:nvPr/>
        </p:nvSpPr>
        <p:spPr>
          <a:xfrm>
            <a:off x="4581832" y="5592014"/>
            <a:ext cx="1298328" cy="691317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A802F9E-3038-0A4A-81FC-5122FB5035C3}"/>
              </a:ext>
            </a:extLst>
          </p:cNvPr>
          <p:cNvSpPr/>
          <p:nvPr/>
        </p:nvSpPr>
        <p:spPr>
          <a:xfrm>
            <a:off x="7359445" y="5561581"/>
            <a:ext cx="1298328" cy="691317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1289622-7FA7-8947-98A5-9E6D5186F9DE}"/>
              </a:ext>
            </a:extLst>
          </p:cNvPr>
          <p:cNvSpPr/>
          <p:nvPr/>
        </p:nvSpPr>
        <p:spPr>
          <a:xfrm>
            <a:off x="2180719" y="3562509"/>
            <a:ext cx="707570" cy="376758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E0C2CC-8791-D34D-A338-AA337EE6832D}"/>
              </a:ext>
            </a:extLst>
          </p:cNvPr>
          <p:cNvSpPr/>
          <p:nvPr/>
        </p:nvSpPr>
        <p:spPr>
          <a:xfrm>
            <a:off x="9740900" y="4851400"/>
            <a:ext cx="1943100" cy="203200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1BE19A-C3B0-F545-8590-670F2FC9F550}"/>
              </a:ext>
            </a:extLst>
          </p:cNvPr>
          <p:cNvSpPr/>
          <p:nvPr/>
        </p:nvSpPr>
        <p:spPr>
          <a:xfrm>
            <a:off x="3937060" y="5112712"/>
            <a:ext cx="7746940" cy="203200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66DA75-F7A3-AD4E-AABF-CAF8F3141CD4}"/>
              </a:ext>
            </a:extLst>
          </p:cNvPr>
          <p:cNvSpPr/>
          <p:nvPr/>
        </p:nvSpPr>
        <p:spPr>
          <a:xfrm>
            <a:off x="3937060" y="5388814"/>
            <a:ext cx="779564" cy="203200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B27BEE-BBE8-C547-900B-A2EFFE16C8F5}"/>
              </a:ext>
            </a:extLst>
          </p:cNvPr>
          <p:cNvSpPr/>
          <p:nvPr/>
        </p:nvSpPr>
        <p:spPr>
          <a:xfrm>
            <a:off x="2144722" y="4018461"/>
            <a:ext cx="779564" cy="203200"/>
          </a:xfrm>
          <a:prstGeom prst="rect">
            <a:avLst/>
          </a:prstGeom>
          <a:solidFill>
            <a:schemeClr val="accent4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1500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Chapter-4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完形填空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完形填空：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注意易错类型「排除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选最优解」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1-4: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657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先看一遍文章，划分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总结大意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用阅读方法：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纵向划分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+//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后总结大意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73322"/>
            <a:ext cx="9354349" cy="976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选出适合选项，「瞻前顾后」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上文、下文「瞻前顾后」：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上下文语义、对象、搭配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A5FF36-7DEE-564D-A769-4C8C32AD7436}"/>
              </a:ext>
            </a:extLst>
          </p:cNvPr>
          <p:cNvSpPr txBox="1"/>
          <p:nvPr/>
        </p:nvSpPr>
        <p:spPr>
          <a:xfrm>
            <a:off x="952507" y="3827475"/>
            <a:ext cx="9354349" cy="121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学会「排除」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排除：对象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语义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大胆排除！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解决掉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80%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的题目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6B5722-2F93-B44C-AE67-32E9B04802D0}"/>
              </a:ext>
            </a:extLst>
          </p:cNvPr>
          <p:cNvSpPr txBox="1"/>
          <p:nvPr/>
        </p:nvSpPr>
        <p:spPr>
          <a:xfrm>
            <a:off x="952507" y="5290535"/>
            <a:ext cx="9354349" cy="121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拿不准的选项，选最优解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最容易失分的部分！往往有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个选项都比较适合，但是一定有一个最优！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秘诀：情感态度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搭配「最适合」的项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E412AFC-C287-FF4A-B7B0-65E3F25EF90B}"/>
              </a:ext>
            </a:extLst>
          </p:cNvPr>
          <p:cNvCxnSpPr>
            <a:cxnSpLocks/>
          </p:cNvCxnSpPr>
          <p:nvPr/>
        </p:nvCxnSpPr>
        <p:spPr>
          <a:xfrm>
            <a:off x="952507" y="3614006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BD698BA-A12F-7A4F-8185-AD228F11FD73}"/>
              </a:ext>
            </a:extLst>
          </p:cNvPr>
          <p:cNvCxnSpPr>
            <a:cxnSpLocks/>
          </p:cNvCxnSpPr>
          <p:nvPr/>
        </p:nvCxnSpPr>
        <p:spPr>
          <a:xfrm>
            <a:off x="979718" y="5133395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1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）通读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）排除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）选择最优解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如何通读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通读文章，只读一遍：这一遍要用学姐在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阅读中的「划分」方法直接套用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纵向：总分总结构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</a:p>
          <a:p>
            <a:pPr algn="ctr"/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后总结内容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首段：主题「人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后续：描述过程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C28BB7-AC25-FB4B-BAC0-60E165B8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6" t="45761" b="25224"/>
          <a:stretch/>
        </p:blipFill>
        <p:spPr>
          <a:xfrm>
            <a:off x="3010201" y="2737922"/>
            <a:ext cx="8947169" cy="366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7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）通读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）排除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）选择最优解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开始做题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养成一个好习惯！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*确定了选项之后把单词「填入文中」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再读一遍看是否通顺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与上下文是否匹配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C28BB7-AC25-FB4B-BAC0-60E165B8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6" t="45761" b="25224"/>
          <a:stretch/>
        </p:blipFill>
        <p:spPr>
          <a:xfrm>
            <a:off x="3010201" y="2737922"/>
            <a:ext cx="8947169" cy="366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79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）通读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）排除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）选择最优解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如何排除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这一步完成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80%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的题目！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*不正确的选项：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搭配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语义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事实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对象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C28BB7-AC25-FB4B-BAC0-60E165B8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6" t="45761" b="5214"/>
          <a:stretch/>
        </p:blipFill>
        <p:spPr>
          <a:xfrm>
            <a:off x="3010201" y="114452"/>
            <a:ext cx="8947169" cy="61847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E7F4FA-AF16-CD49-8A65-68F4A3F51318}"/>
              </a:ext>
            </a:extLst>
          </p:cNvPr>
          <p:cNvSpPr/>
          <p:nvPr/>
        </p:nvSpPr>
        <p:spPr>
          <a:xfrm>
            <a:off x="3149600" y="3797300"/>
            <a:ext cx="7670800" cy="2413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8A3603-8984-FD44-A6ED-700473500DDC}"/>
              </a:ext>
            </a:extLst>
          </p:cNvPr>
          <p:cNvSpPr/>
          <p:nvPr/>
        </p:nvSpPr>
        <p:spPr>
          <a:xfrm>
            <a:off x="3149600" y="4387345"/>
            <a:ext cx="7670800" cy="2413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A738DB-FE82-CC45-867E-72856D2981A8}"/>
              </a:ext>
            </a:extLst>
          </p:cNvPr>
          <p:cNvSpPr/>
          <p:nvPr/>
        </p:nvSpPr>
        <p:spPr>
          <a:xfrm>
            <a:off x="3149600" y="5808723"/>
            <a:ext cx="7670800" cy="2413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6162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）通读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）排除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）选择最优解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如何解决纠结选项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让人纠结、最容易选错的题目！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*牢记：选择最优解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情感态度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最优</a:t>
            </a:r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搭配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最优</a:t>
            </a:r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C28BB7-AC25-FB4B-BAC0-60E165B8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6" t="45762" b="11077"/>
          <a:stretch/>
        </p:blipFill>
        <p:spPr>
          <a:xfrm>
            <a:off x="3010201" y="114451"/>
            <a:ext cx="8947169" cy="544509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38A3603-8984-FD44-A6ED-700473500DDC}"/>
              </a:ext>
            </a:extLst>
          </p:cNvPr>
          <p:cNvSpPr/>
          <p:nvPr/>
        </p:nvSpPr>
        <p:spPr>
          <a:xfrm>
            <a:off x="3149600" y="5200144"/>
            <a:ext cx="8572500" cy="3594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939E31-50A5-5E49-8F7C-2DEA919CE394}"/>
              </a:ext>
            </a:extLst>
          </p:cNvPr>
          <p:cNvSpPr txBox="1"/>
          <p:nvPr/>
        </p:nvSpPr>
        <p:spPr>
          <a:xfrm>
            <a:off x="3149600" y="5689714"/>
            <a:ext cx="8572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搭配最优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纠结「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way 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跑步的方式」还是「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reason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跑步的原因」呢？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46.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根据上下文，这句话在「段」尾进行总结与解释 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后半「句」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if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一种设想的情况，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reason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「表达：解释原因」更加合适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B13A84-271B-2442-ADEF-979D5538B760}"/>
              </a:ext>
            </a:extLst>
          </p:cNvPr>
          <p:cNvSpPr/>
          <p:nvPr/>
        </p:nvSpPr>
        <p:spPr>
          <a:xfrm>
            <a:off x="9461499" y="1492541"/>
            <a:ext cx="1333199" cy="35940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6378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）通读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）排除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）选择最优解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049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如何解决纠结选项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让人纠结、最容易选错的题目！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*牢记：选择最优解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情感态度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最优</a:t>
            </a:r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搭配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最优</a:t>
            </a:r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C28BB7-AC25-FB4B-BAC0-60E165B8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6" t="45762" b="25224"/>
          <a:stretch/>
        </p:blipFill>
        <p:spPr>
          <a:xfrm>
            <a:off x="3010201" y="114451"/>
            <a:ext cx="8947169" cy="36603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7939E31-50A5-5E49-8F7C-2DEA919CE394}"/>
              </a:ext>
            </a:extLst>
          </p:cNvPr>
          <p:cNvSpPr txBox="1"/>
          <p:nvPr/>
        </p:nvSpPr>
        <p:spPr>
          <a:xfrm>
            <a:off x="3149600" y="5689714"/>
            <a:ext cx="8572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情感态度最优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纠结「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such events 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这样的事情」还是「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such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challenges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这样的挑战」呢？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51.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这个词在「概括」“我”骑车的不顺利经历 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events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「表达：较为中性的态度」，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challenges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「表达：遇到挑战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不顺利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感到困难」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具有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情感色彩、作者态度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，所以更加合适</a:t>
            </a:r>
          </a:p>
        </p:txBody>
      </p:sp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5013B734-E45F-D244-A4B4-3A6549EF58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8" r="50915" b="82778"/>
          <a:stretch/>
        </p:blipFill>
        <p:spPr>
          <a:xfrm>
            <a:off x="3276389" y="3899981"/>
            <a:ext cx="8445709" cy="138694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38A3603-8984-FD44-A6ED-700473500DDC}"/>
              </a:ext>
            </a:extLst>
          </p:cNvPr>
          <p:cNvSpPr/>
          <p:nvPr/>
        </p:nvSpPr>
        <p:spPr>
          <a:xfrm>
            <a:off x="3276389" y="3809244"/>
            <a:ext cx="8572500" cy="3594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8547101" y="2583116"/>
            <a:ext cx="1387676" cy="35940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457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3D4F4D0-0802-5846-87FB-4AEB53DB83CE}"/>
              </a:ext>
            </a:extLst>
          </p:cNvPr>
          <p:cNvSpPr/>
          <p:nvPr/>
        </p:nvSpPr>
        <p:spPr>
          <a:xfrm>
            <a:off x="473535" y="3200860"/>
            <a:ext cx="11004232" cy="3466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139488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完形填空：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总结如何快速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准确做题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1-4: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先看一遍文章，划分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总结大意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选出适合选项，「瞻前顾后」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填入选项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学会「排除」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拿不准的选项，选最优解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3238853"/>
            <a:ext cx="9354349" cy="653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上文、下文「瞻前顾后」：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上下文语义、对象、搭配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A5FF36-7DEE-564D-A769-4C8C32AD7436}"/>
              </a:ext>
            </a:extLst>
          </p:cNvPr>
          <p:cNvSpPr txBox="1"/>
          <p:nvPr/>
        </p:nvSpPr>
        <p:spPr>
          <a:xfrm>
            <a:off x="952507" y="3827475"/>
            <a:ext cx="9354349" cy="888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排除：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对象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语义</a:t>
            </a:r>
            <a:endParaRPr kumimoji="1" lang="en-US" altLang="zh-CN" sz="12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大胆排除！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解决掉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80%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的题目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6B5722-2F93-B44C-AE67-32E9B04802D0}"/>
              </a:ext>
            </a:extLst>
          </p:cNvPr>
          <p:cNvSpPr txBox="1"/>
          <p:nvPr/>
        </p:nvSpPr>
        <p:spPr>
          <a:xfrm>
            <a:off x="952507" y="5290535"/>
            <a:ext cx="9354349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最容易失分的部分！往往有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个选项都比较适合，但是一定有一个最优！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秘诀：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情感态度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「最适合」的项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E412AFC-C287-FF4A-B7B0-65E3F25EF90B}"/>
              </a:ext>
            </a:extLst>
          </p:cNvPr>
          <p:cNvCxnSpPr>
            <a:cxnSpLocks/>
          </p:cNvCxnSpPr>
          <p:nvPr/>
        </p:nvCxnSpPr>
        <p:spPr>
          <a:xfrm>
            <a:off x="952507" y="3614006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BD698BA-A12F-7A4F-8185-AD228F11FD73}"/>
              </a:ext>
            </a:extLst>
          </p:cNvPr>
          <p:cNvCxnSpPr>
            <a:cxnSpLocks/>
          </p:cNvCxnSpPr>
          <p:nvPr/>
        </p:nvCxnSpPr>
        <p:spPr>
          <a:xfrm>
            <a:off x="979718" y="5133395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A145D78-95B6-EC44-AC4F-6C5715CF2163}"/>
              </a:ext>
            </a:extLst>
          </p:cNvPr>
          <p:cNvSpPr txBox="1"/>
          <p:nvPr/>
        </p:nvSpPr>
        <p:spPr>
          <a:xfrm>
            <a:off x="473535" y="2850785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排除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最优解方法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17920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Chapter-5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七选五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七选五：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首段看主题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读首段，抓全文关键词「谁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什么事」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全文主题一定据此展开！！！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看文章，划分过程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按照「阅读」中的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后概括每部分大意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Step3.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联系选项与文章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解题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找填空位置：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段首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段中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段尾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题目无非四种：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）段落转换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对应段首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段尾；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）同义对应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）对比转折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）解释原因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对应段中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79944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一定要先阅读全文 「不要零散看选项」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把握文章「划分」，和文中「逻辑词」是上分秘诀！！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937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首段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人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怎么了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theme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作家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写作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拼写文字问题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全文围绕主题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3796716" y="778697"/>
            <a:ext cx="7516855" cy="8463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6676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全文划分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按照阅读中的划分方法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后总结段落意思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*全文结构：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提出主题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——1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词典的作用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1——2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词点的作用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2——3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举例论证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——4&amp;5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结构清晰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内容概括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4888917" y="1201865"/>
            <a:ext cx="3124784" cy="3221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D42785-A33B-CC4A-B25F-E46F4CB105CA}"/>
              </a:ext>
            </a:extLst>
          </p:cNvPr>
          <p:cNvSpPr/>
          <p:nvPr/>
        </p:nvSpPr>
        <p:spPr>
          <a:xfrm>
            <a:off x="8876717" y="1302898"/>
            <a:ext cx="1664283" cy="47510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0D64B-7B67-B04D-BD17-FDC7F2D48381}"/>
              </a:ext>
            </a:extLst>
          </p:cNvPr>
          <p:cNvSpPr/>
          <p:nvPr/>
        </p:nvSpPr>
        <p:spPr>
          <a:xfrm>
            <a:off x="5880100" y="2262820"/>
            <a:ext cx="1917699" cy="47510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D952BB-2CED-9846-A128-3900878C4A15}"/>
              </a:ext>
            </a:extLst>
          </p:cNvPr>
          <p:cNvSpPr/>
          <p:nvPr/>
        </p:nvSpPr>
        <p:spPr>
          <a:xfrm>
            <a:off x="7212434" y="2817757"/>
            <a:ext cx="2680765" cy="47510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1078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联系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先看段首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段尾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①段落转换</a:t>
            </a:r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）上一段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这一段讲了什么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）有「段落转换」的选项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{E: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but-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逻辑转折 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not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only…</a:t>
            </a:r>
            <a:r>
              <a:rPr kumimoji="1" lang="zh-CN" altLang="en-US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内容联系上一段</a:t>
            </a:r>
            <a:r>
              <a:rPr kumimoji="1" lang="en-US" altLang="zh-CN" sz="1400" b="1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3820810" y="2466966"/>
            <a:ext cx="865490" cy="3221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0D64B-7B67-B04D-BD17-FDC7F2D48381}"/>
              </a:ext>
            </a:extLst>
          </p:cNvPr>
          <p:cNvSpPr/>
          <p:nvPr/>
        </p:nvSpPr>
        <p:spPr>
          <a:xfrm>
            <a:off x="4170412" y="5703949"/>
            <a:ext cx="3843288" cy="3221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4177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联系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再看段中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36.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在段中：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②同义对应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往往有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Which means, that means, in other words, it equals to…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等等提示词！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5716461" y="929483"/>
            <a:ext cx="865490" cy="3221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0D64B-7B67-B04D-BD17-FDC7F2D48381}"/>
              </a:ext>
            </a:extLst>
          </p:cNvPr>
          <p:cNvSpPr/>
          <p:nvPr/>
        </p:nvSpPr>
        <p:spPr>
          <a:xfrm>
            <a:off x="4030712" y="5936581"/>
            <a:ext cx="4236988" cy="3221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894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联系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再看段中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37.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在段中：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③解释原因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前文有现象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态度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后文有解释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往往有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Because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why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reason for…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等等提示词！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4616062" y="1743091"/>
            <a:ext cx="865490" cy="3221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0D64B-7B67-B04D-BD17-FDC7F2D48381}"/>
              </a:ext>
            </a:extLst>
          </p:cNvPr>
          <p:cNvSpPr/>
          <p:nvPr/>
        </p:nvSpPr>
        <p:spPr>
          <a:xfrm>
            <a:off x="3969617" y="5022181"/>
            <a:ext cx="3370983" cy="26101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DD09E5-63A0-6642-91F5-C3442669BE30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5830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5257B9-431D-8E4A-86A7-53930FB17B2B}"/>
              </a:ext>
            </a:extLst>
          </p:cNvPr>
          <p:cNvGrpSpPr/>
          <p:nvPr/>
        </p:nvGrpSpPr>
        <p:grpSpPr>
          <a:xfrm>
            <a:off x="3731361" y="459740"/>
            <a:ext cx="7830131" cy="6013701"/>
            <a:chOff x="5212555" y="524079"/>
            <a:chExt cx="4813300" cy="3696713"/>
          </a:xfrm>
        </p:grpSpPr>
        <p:pic>
          <p:nvPicPr>
            <p:cNvPr id="14" name="图片 13" descr="报纸上的表格&#10;&#10;中度可信度描述已自动生成">
              <a:extLst>
                <a:ext uri="{FF2B5EF4-FFF2-40B4-BE49-F238E27FC236}">
                  <a16:creationId xmlns:a16="http://schemas.microsoft.com/office/drawing/2014/main" id="{6F3609E9-DB36-724E-947F-4473B7956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0" t="2223" r="175" b="58742"/>
            <a:stretch/>
          </p:blipFill>
          <p:spPr>
            <a:xfrm>
              <a:off x="5212555" y="1543979"/>
              <a:ext cx="4813300" cy="2676813"/>
            </a:xfrm>
            <a:prstGeom prst="rect">
              <a:avLst/>
            </a:prstGeom>
          </p:spPr>
        </p:pic>
        <p:pic>
          <p:nvPicPr>
            <p:cNvPr id="10" name="图片 9" descr="报纸上的表格&#10;&#10;中度可信度描述已自动生成">
              <a:extLst>
                <a:ext uri="{FF2B5EF4-FFF2-40B4-BE49-F238E27FC236}">
                  <a16:creationId xmlns:a16="http://schemas.microsoft.com/office/drawing/2014/main" id="{EE6CE5FD-6995-D547-9023-9381969DE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5" t="79776" r="50000" b="3703"/>
            <a:stretch/>
          </p:blipFill>
          <p:spPr>
            <a:xfrm>
              <a:off x="5212555" y="524079"/>
              <a:ext cx="4660900" cy="1132944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63A571E-2F89-F74F-8875-5269527B170A}"/>
              </a:ext>
            </a:extLst>
          </p:cNvPr>
          <p:cNvSpPr/>
          <p:nvPr/>
        </p:nvSpPr>
        <p:spPr>
          <a:xfrm>
            <a:off x="609559" y="2737922"/>
            <a:ext cx="2384364" cy="3660337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AE8D3-268D-4C44-AD74-3DB95B19BFCB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考试完形填空示范：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39BBB-1E1D-7344-9A13-86EEDF550E12}"/>
              </a:ext>
            </a:extLst>
          </p:cNvPr>
          <p:cNvSpPr txBox="1"/>
          <p:nvPr/>
        </p:nvSpPr>
        <p:spPr>
          <a:xfrm>
            <a:off x="538850" y="1090551"/>
            <a:ext cx="9354349" cy="166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范文：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高考全国一卷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）首段看主题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）全文划分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）联系选项与文章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0AD5B-CF0C-9044-84C6-890E3379EA3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CFD39-FC30-324E-BD0A-ACD4C0CF6E63}"/>
              </a:ext>
            </a:extLst>
          </p:cNvPr>
          <p:cNvSpPr txBox="1"/>
          <p:nvPr/>
        </p:nvSpPr>
        <p:spPr>
          <a:xfrm>
            <a:off x="693907" y="3251717"/>
            <a:ext cx="22016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联系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再看段中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40.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在段中：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④对比转折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前文有情感态度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后文有另一个情感态度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往往有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But</a:t>
            </a:r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however</a:t>
            </a:r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nevertheless, in contrast…</a:t>
            </a: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等等提示词！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7898D-6DEC-9245-850C-5C1B06D6F348}"/>
              </a:ext>
            </a:extLst>
          </p:cNvPr>
          <p:cNvSpPr/>
          <p:nvPr/>
        </p:nvSpPr>
        <p:spPr>
          <a:xfrm>
            <a:off x="4303800" y="4454586"/>
            <a:ext cx="865490" cy="3221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0D64B-7B67-B04D-BD17-FDC7F2D48381}"/>
              </a:ext>
            </a:extLst>
          </p:cNvPr>
          <p:cNvSpPr/>
          <p:nvPr/>
        </p:nvSpPr>
        <p:spPr>
          <a:xfrm>
            <a:off x="4151483" y="5433457"/>
            <a:ext cx="3646317" cy="32213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7959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Chapter-6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听力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为什么听力容易出错？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）不会听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在「听」里，我们把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发音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文本对应起来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记住：「学会精听」，先听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遍音频，再打开文本，一字一句对照听！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直到每个单词都听清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0569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D35ACD-135F-314A-9F1E-FE71E76D5812}"/>
              </a:ext>
            </a:extLst>
          </p:cNvPr>
          <p:cNvSpPr txBox="1"/>
          <p:nvPr/>
        </p:nvSpPr>
        <p:spPr>
          <a:xfrm>
            <a:off x="417830" y="3705874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）不会记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在「记」里，我们学会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速记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为什么要速记：一句很长的话，信息点只有几个！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学会速记方法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不遗漏要点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节省时间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85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究竟要听什么？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信息需要充分判断和取舍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核心方法就睡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抓关键词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关键词：主谓宾结构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全国高考一卷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】text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{These days you can see traffic jams around schools at drop-off and pick-up times. But it’s hard to blame the parents. They have good reasons for driving their kids to school, mostly to do with safety and convenience.}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提炼主干，缩减到不能再缩减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（不改变原义，不考虑语法结构）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｜｜这句话缩减速记：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jams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fr-FR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放学时）</a:t>
            </a:r>
            <a:r>
              <a:rPr lang="en-US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to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blame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parents </a:t>
            </a:r>
          </a:p>
          <a:p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Bec. (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1200" b="1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" t="36296" r="6718" b="8334"/>
          <a:stretch/>
        </p:blipFill>
        <p:spPr>
          <a:xfrm>
            <a:off x="7586087" y="901918"/>
            <a:ext cx="3912006" cy="5316772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8F2D008-60E7-654E-ACA2-34C4709F2CD4}"/>
              </a:ext>
            </a:extLst>
          </p:cNvPr>
          <p:cNvCxnSpPr/>
          <p:nvPr/>
        </p:nvCxnSpPr>
        <p:spPr>
          <a:xfrm>
            <a:off x="9013677" y="3530600"/>
            <a:ext cx="23655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12E04E2B-43FA-F240-A373-BB53995FF95C}"/>
              </a:ext>
            </a:extLst>
          </p:cNvPr>
          <p:cNvCxnSpPr>
            <a:cxnSpLocks/>
          </p:cNvCxnSpPr>
          <p:nvPr/>
        </p:nvCxnSpPr>
        <p:spPr>
          <a:xfrm>
            <a:off x="7830915" y="3937000"/>
            <a:ext cx="35482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70FCFC8-24D3-264C-979B-C1C15660F934}"/>
              </a:ext>
            </a:extLst>
          </p:cNvPr>
          <p:cNvCxnSpPr>
            <a:cxnSpLocks/>
          </p:cNvCxnSpPr>
          <p:nvPr/>
        </p:nvCxnSpPr>
        <p:spPr>
          <a:xfrm>
            <a:off x="7830914" y="4254500"/>
            <a:ext cx="35482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7A93E7D-D6D1-4249-BACA-E027FB647F8B}"/>
              </a:ext>
            </a:extLst>
          </p:cNvPr>
          <p:cNvCxnSpPr>
            <a:cxnSpLocks/>
          </p:cNvCxnSpPr>
          <p:nvPr/>
        </p:nvCxnSpPr>
        <p:spPr>
          <a:xfrm>
            <a:off x="7830913" y="4598579"/>
            <a:ext cx="23655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07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和学姐学会速记方法：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注意不同词速记方法不同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速记举例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657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符号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箭头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 表示：导致、结果原因等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/ ( )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表示：原因、解释、修饰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…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560678"/>
            <a:ext cx="9354349" cy="663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缩写（逻辑词）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Bec. =because /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∴=so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B.= but/</a:t>
            </a:r>
            <a:r>
              <a:rPr kumimoji="1" lang="zh-CN" alt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12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=first, 2</a:t>
            </a:r>
            <a:r>
              <a:rPr kumimoji="1" lang="en-US" altLang="zh-CN" sz="12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nd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=second, 3</a:t>
            </a:r>
            <a:r>
              <a:rPr kumimoji="1" lang="en-US" altLang="zh-CN" sz="12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rd</a:t>
            </a:r>
            <a:r>
              <a:rPr kumimoji="1" lang="en-US" altLang="zh-CN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=third,…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A5FF36-7DEE-564D-A769-4C8C32AD7436}"/>
              </a:ext>
            </a:extLst>
          </p:cNvPr>
          <p:cNvSpPr txBox="1"/>
          <p:nvPr/>
        </p:nvSpPr>
        <p:spPr>
          <a:xfrm>
            <a:off x="952507" y="3713175"/>
            <a:ext cx="9354349" cy="121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首字母（名词）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Sch=school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 info=information / </a:t>
            </a:r>
            <a:r>
              <a:rPr kumimoji="1"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uni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= university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M=man / W=woman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6B5722-2F93-B44C-AE67-32E9B04802D0}"/>
              </a:ext>
            </a:extLst>
          </p:cNvPr>
          <p:cNvSpPr txBox="1"/>
          <p:nvPr/>
        </p:nvSpPr>
        <p:spPr>
          <a:xfrm>
            <a:off x="952507" y="4959287"/>
            <a:ext cx="9354349" cy="65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重点音节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Cps=campus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ASAP=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as soon as possible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E412AFC-C287-FF4A-B7B0-65E3F25EF90B}"/>
              </a:ext>
            </a:extLst>
          </p:cNvPr>
          <p:cNvCxnSpPr>
            <a:cxnSpLocks/>
          </p:cNvCxnSpPr>
          <p:nvPr/>
        </p:nvCxnSpPr>
        <p:spPr>
          <a:xfrm>
            <a:off x="952507" y="3461606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BD698BA-A12F-7A4F-8185-AD228F11FD73}"/>
              </a:ext>
            </a:extLst>
          </p:cNvPr>
          <p:cNvCxnSpPr>
            <a:cxnSpLocks/>
          </p:cNvCxnSpPr>
          <p:nvPr/>
        </p:nvCxnSpPr>
        <p:spPr>
          <a:xfrm>
            <a:off x="979718" y="4803195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BAA4F9D-0CC5-EB4F-B056-D4C7BD9F0CF4}"/>
              </a:ext>
            </a:extLst>
          </p:cNvPr>
          <p:cNvSpPr txBox="1"/>
          <p:nvPr/>
        </p:nvSpPr>
        <p:spPr>
          <a:xfrm>
            <a:off x="979718" y="5801166"/>
            <a:ext cx="9354349" cy="65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中文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山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=mountain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火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fire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=children</a:t>
            </a: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A280B4DC-F430-E541-B014-ECCD58C23F68}"/>
              </a:ext>
            </a:extLst>
          </p:cNvPr>
          <p:cNvCxnSpPr>
            <a:cxnSpLocks/>
          </p:cNvCxnSpPr>
          <p:nvPr/>
        </p:nvCxnSpPr>
        <p:spPr>
          <a:xfrm>
            <a:off x="979718" y="5689461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804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Chapter-7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语法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A4E91F-70F7-6E4E-8889-DCCD480C2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817" y="0"/>
            <a:ext cx="8804366" cy="6858000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698376BF-AEB8-1B43-963D-A5CE6DF40AAA}"/>
              </a:ext>
            </a:extLst>
          </p:cNvPr>
          <p:cNvSpPr/>
          <p:nvPr/>
        </p:nvSpPr>
        <p:spPr>
          <a:xfrm>
            <a:off x="1566042" y="2564524"/>
            <a:ext cx="1923393" cy="4414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9F26E10-FAB7-2E42-B7F3-3C4F15BF8200}"/>
              </a:ext>
            </a:extLst>
          </p:cNvPr>
          <p:cNvSpPr/>
          <p:nvPr/>
        </p:nvSpPr>
        <p:spPr>
          <a:xfrm>
            <a:off x="7761890" y="2075792"/>
            <a:ext cx="1923393" cy="4414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BFBD433-4CF9-5E4E-9004-C54B94DBF77B}"/>
              </a:ext>
            </a:extLst>
          </p:cNvPr>
          <p:cNvSpPr/>
          <p:nvPr/>
        </p:nvSpPr>
        <p:spPr>
          <a:xfrm>
            <a:off x="8187559" y="3904593"/>
            <a:ext cx="1923393" cy="52026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CEFB5EF-C00C-2845-AE28-4DC42404BD6C}"/>
              </a:ext>
            </a:extLst>
          </p:cNvPr>
          <p:cNvSpPr/>
          <p:nvPr/>
        </p:nvSpPr>
        <p:spPr>
          <a:xfrm>
            <a:off x="1634360" y="4374931"/>
            <a:ext cx="1923393" cy="52026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A321C0A-A492-8E4F-B553-11A8604B1D4E}"/>
              </a:ext>
            </a:extLst>
          </p:cNvPr>
          <p:cNvSpPr/>
          <p:nvPr/>
        </p:nvSpPr>
        <p:spPr>
          <a:xfrm>
            <a:off x="8266387" y="5552090"/>
            <a:ext cx="1923393" cy="52026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F2BC756-C081-F547-B4A0-6FBBE4AE8EAD}"/>
              </a:ext>
            </a:extLst>
          </p:cNvPr>
          <p:cNvSpPr/>
          <p:nvPr/>
        </p:nvSpPr>
        <p:spPr>
          <a:xfrm>
            <a:off x="1693817" y="6072352"/>
            <a:ext cx="1923393" cy="52026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5E8BDB-F0AC-DF4F-849E-796C6ABEDC4B}"/>
              </a:ext>
            </a:extLst>
          </p:cNvPr>
          <p:cNvSpPr/>
          <p:nvPr/>
        </p:nvSpPr>
        <p:spPr>
          <a:xfrm>
            <a:off x="1404905" y="1414642"/>
            <a:ext cx="4424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怎么练语法？</a:t>
            </a:r>
            <a:r>
              <a:rPr kumimoji="1" lang="en-US" altLang="zh-CN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例子！例子！例子！</a:t>
            </a:r>
          </a:p>
        </p:txBody>
      </p:sp>
    </p:spTree>
    <p:extLst>
      <p:ext uri="{BB962C8B-B14F-4D97-AF65-F5344CB8AC3E}">
        <p14:creationId xmlns:p14="http://schemas.microsoft.com/office/powerpoint/2010/main" val="26928712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怎么练语法？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例子！例子！例子！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）从英语课文里学习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很多人说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要系统的学习语法？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*学姐经验：把每篇课文都能够背诵，课文中的语法自然能够通过内容被记住！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对话中，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向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描述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ta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已经做完的事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现在完成时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而不是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一般过去时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0569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D35ACD-135F-314A-9F1E-FE71E76D5812}"/>
              </a:ext>
            </a:extLst>
          </p:cNvPr>
          <p:cNvSpPr txBox="1"/>
          <p:nvPr/>
        </p:nvSpPr>
        <p:spPr>
          <a:xfrm>
            <a:off x="417830" y="3705874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）从考试错题里面学习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在「考试错题」里，应该怎么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高效利用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*学姐经验：把每一篇考试「阅读」、「完形」、「短文改错」、「七选五」里面的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长难句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有较多从句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修饰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逻辑连词的句子进行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划分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90372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怎么用好考试错题？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无论这篇文章有没有出错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「阅读」、「完形」、「短文改错」、「七选五」 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文本</a:t>
            </a:r>
            <a:endParaRPr kumimoji="1" lang="en-US" altLang="zh-CN" sz="16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全部过一遍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理解长难句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全国高考一卷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】text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{These days you can see traffic jams around schools at drop-off and pick-up times. But it’s hard to blame the parents. They have good reasons for driving their kids to school, mostly to do with safety and convenience.}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长难句怎么理解？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找出主谓宾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判断句式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框出所有从句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｜｜长难句划分后：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jams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fr-FR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放学时）</a:t>
            </a:r>
            <a:r>
              <a:rPr lang="en-US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to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blame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parents </a:t>
            </a:r>
          </a:p>
          <a:p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Bec. (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altLang="zh-CN" sz="1200" b="1" dirty="0" err="1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lang="fr-FR" altLang="zh-CN" sz="1200" b="1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1200" b="1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" t="36296" r="6718" b="8334"/>
          <a:stretch/>
        </p:blipFill>
        <p:spPr>
          <a:xfrm>
            <a:off x="7586087" y="901918"/>
            <a:ext cx="3912006" cy="5316772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8F2D008-60E7-654E-ACA2-34C4709F2CD4}"/>
              </a:ext>
            </a:extLst>
          </p:cNvPr>
          <p:cNvCxnSpPr/>
          <p:nvPr/>
        </p:nvCxnSpPr>
        <p:spPr>
          <a:xfrm>
            <a:off x="9013677" y="3530600"/>
            <a:ext cx="23655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12E04E2B-43FA-F240-A373-BB53995FF95C}"/>
              </a:ext>
            </a:extLst>
          </p:cNvPr>
          <p:cNvCxnSpPr>
            <a:cxnSpLocks/>
          </p:cNvCxnSpPr>
          <p:nvPr/>
        </p:nvCxnSpPr>
        <p:spPr>
          <a:xfrm>
            <a:off x="7830915" y="3937000"/>
            <a:ext cx="35482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70FCFC8-24D3-264C-979B-C1C15660F934}"/>
              </a:ext>
            </a:extLst>
          </p:cNvPr>
          <p:cNvCxnSpPr>
            <a:cxnSpLocks/>
          </p:cNvCxnSpPr>
          <p:nvPr/>
        </p:nvCxnSpPr>
        <p:spPr>
          <a:xfrm>
            <a:off x="7830914" y="4254500"/>
            <a:ext cx="35482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7A93E7D-D6D1-4249-BACA-E027FB647F8B}"/>
              </a:ext>
            </a:extLst>
          </p:cNvPr>
          <p:cNvCxnSpPr>
            <a:cxnSpLocks/>
          </p:cNvCxnSpPr>
          <p:nvPr/>
        </p:nvCxnSpPr>
        <p:spPr>
          <a:xfrm>
            <a:off x="7830913" y="4598579"/>
            <a:ext cx="23655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941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C0D19E7-E06D-1C4A-BE0D-44C752889FCB}"/>
              </a:ext>
            </a:extLst>
          </p:cNvPr>
          <p:cNvSpPr/>
          <p:nvPr/>
        </p:nvSpPr>
        <p:spPr>
          <a:xfrm>
            <a:off x="6975903" y="502905"/>
            <a:ext cx="4522467" cy="5872495"/>
          </a:xfrm>
          <a:prstGeom prst="rect">
            <a:avLst/>
          </a:prstGeom>
          <a:solidFill>
            <a:srgbClr val="FC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怎么生活中学习语法？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多听英文歌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「听歌曲」、「看歌词」、「想象画面」、「理解语法」 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多遍重复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歌词中的语法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时态，理解才能记住！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56781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7358631" y="591750"/>
            <a:ext cx="36272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/Love story/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一般过去时——描述过去的画面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We were both young when I first saw you</a:t>
            </a:r>
          </a:p>
          <a:p>
            <a:endParaRPr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过去的画面开启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一般现在时——描述现在的心情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 close my eyes and the flashback starts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一般进行时——描述当时的场景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I'm standing there on a balcony in summer air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See the lights see the party the ball gowns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See you make your way through the crow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And say hello</a:t>
            </a:r>
          </a:p>
          <a:p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倒装句</a:t>
            </a:r>
            <a:endParaRPr lang="zh-CN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Little did I know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一般过去时——描述过去的画面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That you were Romeo </a:t>
            </a: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过去进行时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过去的男孩正在做什么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you were throwing pebbles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And my daddy said</a:t>
            </a:r>
          </a:p>
          <a:p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祈使句</a:t>
            </a:r>
            <a:endParaRPr lang="zh-CN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Stay away from Juliet</a:t>
            </a: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过去进行时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过去的我正在做什么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And I was crying on the staircase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Begging you please don't go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And I said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祈使句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Romeo take me somewhere we can be alone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将来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进行</a:t>
            </a:r>
            <a:r>
              <a:rPr lang="zh-CN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对未来爱情的想象</a:t>
            </a:r>
            <a:r>
              <a:rPr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I'll be waiting all there's left to do is run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You'll be the prince and I'll be the princess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It's a love story baby just say yes</a:t>
            </a:r>
            <a:endParaRPr lang="zh-CN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1109127" y="3113218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学姐建议加入歌单</a:t>
            </a:r>
            <a:r>
              <a:rPr kumimoji="1" lang="en-US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循环播放的歌曲</a:t>
            </a:r>
            <a:r>
              <a:rPr kumimoji="1" lang="en-US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endParaRPr kumimoji="1" lang="zh-CN" altLang="en-US" sz="1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1109127" y="3621049"/>
            <a:ext cx="308834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Yesterday once more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一般过去时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Lemon tree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现在进行时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Monsters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一般将来时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Love story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过去进行时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Counting stars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现在完成时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和小伙伴一起听起来！</a:t>
            </a:r>
          </a:p>
        </p:txBody>
      </p:sp>
    </p:spTree>
    <p:extLst>
      <p:ext uri="{BB962C8B-B14F-4D97-AF65-F5344CB8AC3E}">
        <p14:creationId xmlns:p14="http://schemas.microsoft.com/office/powerpoint/2010/main" val="1819250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Chapter-8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口语怎么说好？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口语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不同情况可以提高口语：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无交流对象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「跟读课文」、「看无字幕美剧」、「听英文新闻」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有交流对象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「英语角」、「英文歌」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输出的本质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足够的输入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足量的模仿！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03986F-47C0-7E46-AA54-8CDCD4E68E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1531" y="2101180"/>
            <a:ext cx="5126963" cy="34226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573517"/>
            <a:ext cx="9503133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我们要怎么做：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用好自己的课本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学姐亲身经历：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初中时，每篇课文听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【7】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遍以上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做到全文背诵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默写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跟读，模仿语调、抑扬顿挫、停顿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带语音语调去自己说一遍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*利用上学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放学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午饭后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30min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碎片化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时间重复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99064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口语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不同情况可以提高口语：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无交流对象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「跟读课文」、「看无字幕美剧」、「听英文新闻」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有交流对象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「听歌曲」、「看歌词」、「想象画面」、「理解语法」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输出的本质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足够的输入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足量的模仿！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03986F-47C0-7E46-AA54-8CDCD4E68E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09"/>
          <a:stretch/>
        </p:blipFill>
        <p:spPr>
          <a:xfrm>
            <a:off x="5602014" y="2101180"/>
            <a:ext cx="5785997" cy="34226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573517"/>
            <a:ext cx="4169175" cy="391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我们要怎么做：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用好「美剧、新闻」等输入材料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无字幕看美剧 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听英文新闻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模仿发音和语调：模仿演员或主播的发音、语调和节奏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口音和流利度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扩展词汇和表达：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不同情境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下表达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提高反应速度：快速反应剧情或新闻内容，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锻炼思维速度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口语表达的自信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*做到不看字幕就能理解剧情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新闻！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586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看哪些？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09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学姐推荐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部美剧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个网站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不依赖字幕，磨耳朵！！！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56781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1109127" y="2916073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美剧</a:t>
            </a:r>
            <a:r>
              <a:rPr kumimoji="1" lang="en-US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动画推荐：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1109127" y="3429000"/>
            <a:ext cx="4682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Friends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语言自然且充满日常对话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Simpsons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幽默风趣，俚语和日常对话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Stranger Things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紧张刺激，贴近青少年生活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Big Bang Theory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丰富的学术和幽默词汇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Sherlock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英式侦探剧，虽语言偏难，但能够提升推理能力和语言组织能力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和小伙伴一起看起来！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93CAE-41FA-5244-9AF4-39185648DF76}"/>
              </a:ext>
            </a:extLst>
          </p:cNvPr>
          <p:cNvSpPr/>
          <p:nvPr/>
        </p:nvSpPr>
        <p:spPr>
          <a:xfrm>
            <a:off x="6256326" y="2821759"/>
            <a:ext cx="56781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3B9E2B-1E99-4B4C-9259-1135C3F71AE6}"/>
              </a:ext>
            </a:extLst>
          </p:cNvPr>
          <p:cNvSpPr/>
          <p:nvPr/>
        </p:nvSpPr>
        <p:spPr>
          <a:xfrm>
            <a:off x="6532125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3691C6-DB70-F541-90C1-ED1C26EDD26C}"/>
              </a:ext>
            </a:extLst>
          </p:cNvPr>
          <p:cNvSpPr txBox="1"/>
          <p:nvPr/>
        </p:nvSpPr>
        <p:spPr>
          <a:xfrm>
            <a:off x="6947623" y="2921187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个英文新闻网站：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C37F91-801D-264B-A6C0-1FA46C0E1864}"/>
              </a:ext>
            </a:extLst>
          </p:cNvPr>
          <p:cNvSpPr txBox="1"/>
          <p:nvPr/>
        </p:nvSpPr>
        <p:spPr>
          <a:xfrm>
            <a:off x="6947623" y="3429000"/>
            <a:ext cx="47385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BBC News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提供全球新闻，语言标准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CNN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全球新闻为主，提升词汇和时事了解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zh-CN" altLang="en-US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New York Times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深度报道，进阶学习：复杂句式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zh-CN" altLang="en-US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Reuters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简洁直接的报道见长，适合初学</a:t>
            </a: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kumimoji="1" lang="zh-CN" altLang="en-US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Guardian - </a:t>
            </a:r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国际新闻，语言多样：提高写作和表达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i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在家和爸爸妈妈一起听起来！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4B8FD2-4860-0044-8B36-CE04981D8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658" y="447724"/>
            <a:ext cx="3178637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973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口语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不同情况可以提高口语：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无交流对象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「跟读课文」、「看无字幕美剧」、「听英文新闻」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有交流对象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「英语角」、「英文歌」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交流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输入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输出的实践！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573517"/>
            <a:ext cx="9503133" cy="359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我们要怎么做：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多讲！多讲！多讲！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学姐亲身经历：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和小伙伴学一首新的英文歌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备考托福时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参加全英讨论，每周看一部英文电影，讨论「情节、手法、感受」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在交流时：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大胆讲！开口已经达到了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80%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的进步！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用输出刺激输入，每次逼自己用一个「新」的表达来表达同一意思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*在讨论的时候，保证自己每次都有「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次」以上的发言！！！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2088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Chapter-9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作文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独立写作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哪些体裁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重视要点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信件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邮件 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对人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道歉、感谢、建议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信件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邮件 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对事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申请、投诉、推荐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议论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倡议书、报道、正反观点对比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介绍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传统节日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地点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9503133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正确的体裁：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格式！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文体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人称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时态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观点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理由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 布局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模仿范文！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041B4E-EA4C-F04D-8880-E34A57D10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62"/>
          <a:stretch/>
        </p:blipFill>
        <p:spPr>
          <a:xfrm>
            <a:off x="5034455" y="2448910"/>
            <a:ext cx="6247073" cy="3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505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独立写作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0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用好范文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好作文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清晰的骨架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丰富的血肉 ！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795101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高分的基础：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字数和书写：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字数要达到要求！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独立写作不少于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续写不少于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180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702723" y="387630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041B4E-EA4C-F04D-8880-E34A57D10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62"/>
          <a:stretch/>
        </p:blipFill>
        <p:spPr>
          <a:xfrm>
            <a:off x="5034455" y="2448910"/>
            <a:ext cx="6247073" cy="3713378"/>
          </a:xfrm>
          <a:prstGeom prst="rect">
            <a:avLst/>
          </a:prstGeom>
        </p:spPr>
      </p:pic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88FC119-75B8-D246-8B8E-CD8990F46123}"/>
              </a:ext>
            </a:extLst>
          </p:cNvPr>
          <p:cNvCxnSpPr/>
          <p:nvPr/>
        </p:nvCxnSpPr>
        <p:spPr>
          <a:xfrm flipV="1">
            <a:off x="10494537" y="1923393"/>
            <a:ext cx="0" cy="725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F5B5AB3C-5046-8D4A-A1FC-364DF6FF70EC}"/>
              </a:ext>
            </a:extLst>
          </p:cNvPr>
          <p:cNvSpPr/>
          <p:nvPr/>
        </p:nvSpPr>
        <p:spPr>
          <a:xfrm>
            <a:off x="5356276" y="401081"/>
            <a:ext cx="6096000" cy="16576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每天练字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 学姐在高中时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每天抄写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篇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范文</a:t>
            </a:r>
            <a:endParaRPr kumimoji="1" lang="en-US" altLang="zh-CN" sz="1400" b="1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积累句式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高级表达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】+【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练习书写！！！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坚持！坚持！作文需要积累，量变才能质变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61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独立写作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学会英语的万能展开大法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「开头」、「中间段首句」、「结尾」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用好「逻辑词」、「高级句式」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好作文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清晰的骨架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丰富的血肉 ！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22002" y="39362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041B4E-EA4C-F04D-8880-E34A57D10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62"/>
          <a:stretch/>
        </p:blipFill>
        <p:spPr>
          <a:xfrm>
            <a:off x="5034455" y="2448910"/>
            <a:ext cx="6247073" cy="3713378"/>
          </a:xfrm>
          <a:prstGeom prst="rect">
            <a:avLst/>
          </a:prstGeom>
        </p:spPr>
      </p:pic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88FC119-75B8-D246-8B8E-CD8990F46123}"/>
              </a:ext>
            </a:extLst>
          </p:cNvPr>
          <p:cNvCxnSpPr>
            <a:cxnSpLocks/>
          </p:cNvCxnSpPr>
          <p:nvPr/>
        </p:nvCxnSpPr>
        <p:spPr>
          <a:xfrm flipH="1">
            <a:off x="3584448" y="4649667"/>
            <a:ext cx="1167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A287FB8-CA72-C840-8B60-02EA1A9928B4}"/>
              </a:ext>
            </a:extLst>
          </p:cNvPr>
          <p:cNvSpPr txBox="1"/>
          <p:nvPr/>
        </p:nvSpPr>
        <p:spPr>
          <a:xfrm>
            <a:off x="971647" y="3888039"/>
            <a:ext cx="3921633" cy="10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范文怎么用？</a:t>
            </a:r>
            <a:endParaRPr kumimoji="1" lang="en-US" altLang="zh-CN" sz="14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红笔勾出优秀表达</a:t>
            </a:r>
            <a:endParaRPr kumimoji="1" lang="en-US" altLang="zh-CN" sz="14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黑笔抄写全文，练习书写</a:t>
            </a:r>
            <a:endParaRPr kumimoji="1" lang="en-US" altLang="zh-CN" sz="1400" dirty="0">
              <a:solidFill>
                <a:srgbClr val="223AAC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43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万能展开大法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3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学会英语的万能展开大法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「开头」、「中间段首句」、「结尾」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用好「逻辑词」、「高级句式」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888828"/>
            <a:ext cx="9503133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高分的结构：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三部分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提出要解决的问题或观点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时间、地点、人物、事件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摆出事实或论据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事情发展的经过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得出结论或阐述理由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抒发态度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展望未来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首段、尾段必用高级表达！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第二部分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不要漏要点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】+【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尽量多用高级句式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134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62618"/>
            <a:ext cx="11129686" cy="290706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55470" y="3321046"/>
            <a:ext cx="9503133" cy="2627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三部分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提出要解决的问题或观点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时间、地点、人物、事件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摆出事实或论据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事情发展的经过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得出结论或阐述理由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抒发态度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展望未来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首段、尾段必用高级表达！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第二部分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不要漏要点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】+【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尽量多用高级句式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38079" y="366525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2B8580-38C7-2143-90EF-E53F94C0A234}"/>
              </a:ext>
            </a:extLst>
          </p:cNvPr>
          <p:cNvSpPr txBox="1"/>
          <p:nvPr/>
        </p:nvSpPr>
        <p:spPr>
          <a:xfrm>
            <a:off x="638079" y="392654"/>
            <a:ext cx="8208853" cy="374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二卷      英语作文真题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EF9343D-9705-9840-8ADF-DA59AC9954BC}"/>
              </a:ext>
            </a:extLst>
          </p:cNvPr>
          <p:cNvGrpSpPr/>
          <p:nvPr/>
        </p:nvGrpSpPr>
        <p:grpSpPr>
          <a:xfrm>
            <a:off x="609559" y="843047"/>
            <a:ext cx="4314981" cy="2538428"/>
            <a:chOff x="6391528" y="819795"/>
            <a:chExt cx="4809067" cy="2829090"/>
          </a:xfrm>
        </p:grpSpPr>
        <p:pic>
          <p:nvPicPr>
            <p:cNvPr id="8" name="图片 7" descr="图片包含 表格&#10;&#10;描述已自动生成">
              <a:extLst>
                <a:ext uri="{FF2B5EF4-FFF2-40B4-BE49-F238E27FC236}">
                  <a16:creationId xmlns:a16="http://schemas.microsoft.com/office/drawing/2014/main" id="{F6C023E2-3DA5-0D4B-B5D6-9467C030AE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E7EAED"/>
                </a:clrFrom>
                <a:clrTo>
                  <a:srgbClr val="E7EAE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25" t="15185" b="14692"/>
            <a:stretch/>
          </p:blipFill>
          <p:spPr>
            <a:xfrm rot="16200000">
              <a:off x="7381517" y="-170194"/>
              <a:ext cx="2829090" cy="4809067"/>
            </a:xfrm>
            <a:prstGeom prst="rect">
              <a:avLst/>
            </a:prstGeom>
            <a:ln>
              <a:solidFill>
                <a:srgbClr val="223AAC"/>
              </a:solidFill>
            </a:ln>
          </p:spPr>
        </p:pic>
        <p:pic>
          <p:nvPicPr>
            <p:cNvPr id="16" name="图片 15" descr="图片包含 表格&#10;&#10;描述已自动生成">
              <a:extLst>
                <a:ext uri="{FF2B5EF4-FFF2-40B4-BE49-F238E27FC236}">
                  <a16:creationId xmlns:a16="http://schemas.microsoft.com/office/drawing/2014/main" id="{6B15647E-79B5-F14B-B8CC-BAC8B8979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E7EAED"/>
                </a:clrFrom>
                <a:clrTo>
                  <a:srgbClr val="E7EAE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51" t="20636" r="56863" b="52042"/>
            <a:stretch/>
          </p:blipFill>
          <p:spPr>
            <a:xfrm rot="16200000">
              <a:off x="9879952" y="1736562"/>
              <a:ext cx="842511" cy="1697467"/>
            </a:xfrm>
            <a:prstGeom prst="rect">
              <a:avLst/>
            </a:prstGeom>
          </p:spPr>
        </p:pic>
      </p:grpSp>
      <p:pic>
        <p:nvPicPr>
          <p:cNvPr id="24" name="图片 23" descr="图形用户界面, 文本&#10;&#10;描述已自动生成">
            <a:extLst>
              <a:ext uri="{FF2B5EF4-FFF2-40B4-BE49-F238E27FC236}">
                <a16:creationId xmlns:a16="http://schemas.microsoft.com/office/drawing/2014/main" id="{01E133A7-18F4-9440-8684-43BD93F700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3" t="22651" r="3879" b="46401"/>
          <a:stretch/>
        </p:blipFill>
        <p:spPr>
          <a:xfrm>
            <a:off x="6341460" y="766813"/>
            <a:ext cx="5010943" cy="5108466"/>
          </a:xfrm>
          <a:prstGeom prst="rect">
            <a:avLst/>
          </a:prstGeom>
          <a:ln>
            <a:solidFill>
              <a:srgbClr val="223AAC"/>
            </a:solidFill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74BAA1E-7D78-3C4F-81FF-83E1315F1DE8}"/>
              </a:ext>
            </a:extLst>
          </p:cNvPr>
          <p:cNvSpPr txBox="1"/>
          <p:nvPr/>
        </p:nvSpPr>
        <p:spPr>
          <a:xfrm>
            <a:off x="820872" y="2581735"/>
            <a:ext cx="3921633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#【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分享经历；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要点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】1.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作品 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感想</a:t>
            </a:r>
            <a:endParaRPr kumimoji="1" lang="en-US" altLang="zh-CN" sz="14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40FB1B7F-6E62-B249-A2A8-5AA13BA1DDEC}"/>
              </a:ext>
            </a:extLst>
          </p:cNvPr>
          <p:cNvCxnSpPr/>
          <p:nvPr/>
        </p:nvCxnSpPr>
        <p:spPr>
          <a:xfrm flipV="1">
            <a:off x="5794872" y="1795749"/>
            <a:ext cx="546588" cy="2238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69C3B5F-4672-E343-9932-F19A6148C521}"/>
              </a:ext>
            </a:extLst>
          </p:cNvPr>
          <p:cNvSpPr/>
          <p:nvPr/>
        </p:nvSpPr>
        <p:spPr>
          <a:xfrm>
            <a:off x="5795577" y="4335011"/>
            <a:ext cx="1114569" cy="326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展望未来</a:t>
            </a:r>
            <a:endParaRPr kumimoji="1" lang="en-US" altLang="zh-CN" sz="1200" dirty="0">
              <a:solidFill>
                <a:srgbClr val="223AAC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4602243-F393-B743-93ED-A3E7DE0D051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5794872" y="3321046"/>
            <a:ext cx="546588" cy="1104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86AF7E4-B78A-7A4C-B5D5-FDF79FA6F2D9}"/>
              </a:ext>
            </a:extLst>
          </p:cNvPr>
          <p:cNvCxnSpPr>
            <a:cxnSpLocks/>
          </p:cNvCxnSpPr>
          <p:nvPr/>
        </p:nvCxnSpPr>
        <p:spPr>
          <a:xfrm flipV="1">
            <a:off x="5794872" y="4634610"/>
            <a:ext cx="546588" cy="195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A9F6082-C1F6-F74F-91C8-42C3177F4F99}"/>
              </a:ext>
            </a:extLst>
          </p:cNvPr>
          <p:cNvSpPr/>
          <p:nvPr/>
        </p:nvSpPr>
        <p:spPr>
          <a:xfrm>
            <a:off x="5794872" y="1562623"/>
            <a:ext cx="954107" cy="326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提出话题</a:t>
            </a:r>
            <a:endParaRPr kumimoji="1" lang="en-US" altLang="zh-CN" sz="12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2FF7CD-E598-734D-B9B2-09AAD1FB3E78}"/>
              </a:ext>
            </a:extLst>
          </p:cNvPr>
          <p:cNvSpPr/>
          <p:nvPr/>
        </p:nvSpPr>
        <p:spPr>
          <a:xfrm>
            <a:off x="5798943" y="3021710"/>
            <a:ext cx="954107" cy="326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发展经过</a:t>
            </a:r>
            <a:endParaRPr kumimoji="1" lang="en-US" altLang="zh-CN" sz="12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641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150825"/>
            <a:ext cx="11129686" cy="321886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万能展开大法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3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学会英语的万能展开大法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总分总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「开头」、「中间段首句」、「结尾」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用好「逻辑词」、「高级句式」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270143"/>
            <a:ext cx="9503133" cy="424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高分的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如何进行：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并列展开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】——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即把两个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三个独立的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要素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句子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连接在一起！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怎么连？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靠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逻辑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}+{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句式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#【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逻辑词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多用时间逻辑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因果逻辑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对比逻辑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时间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Firstly/Besides/ In addition/ What’s more/ Moreover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因果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because/ the reason why/ since/ as/ 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对比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however/ nevertheless/ nonetheless/ in contrast/ on the contrary/ instead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#【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高级句式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把一般句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组合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换顺序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变从句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换成高级句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 A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句 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and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句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not only, but also… /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with A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句信息（变从句），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B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句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3892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62618"/>
            <a:ext cx="11129686" cy="290706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55470" y="3321046"/>
            <a:ext cx="9503133" cy="2627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#【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中间段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怎么展开？：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①三个要素并列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状态、动作、对象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用大量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非谓语动词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引导的解释部分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万能展开！！！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38079" y="366525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2B8580-38C7-2143-90EF-E53F94C0A234}"/>
              </a:ext>
            </a:extLst>
          </p:cNvPr>
          <p:cNvSpPr txBox="1"/>
          <p:nvPr/>
        </p:nvSpPr>
        <p:spPr>
          <a:xfrm>
            <a:off x="638079" y="392654"/>
            <a:ext cx="8208853" cy="374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高考全国一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二卷      英语作文真题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EF9343D-9705-9840-8ADF-DA59AC9954BC}"/>
              </a:ext>
            </a:extLst>
          </p:cNvPr>
          <p:cNvGrpSpPr/>
          <p:nvPr/>
        </p:nvGrpSpPr>
        <p:grpSpPr>
          <a:xfrm>
            <a:off x="609559" y="843047"/>
            <a:ext cx="4314981" cy="2538428"/>
            <a:chOff x="6391528" y="819795"/>
            <a:chExt cx="4809067" cy="2829090"/>
          </a:xfrm>
        </p:grpSpPr>
        <p:pic>
          <p:nvPicPr>
            <p:cNvPr id="8" name="图片 7" descr="图片包含 表格&#10;&#10;描述已自动生成">
              <a:extLst>
                <a:ext uri="{FF2B5EF4-FFF2-40B4-BE49-F238E27FC236}">
                  <a16:creationId xmlns:a16="http://schemas.microsoft.com/office/drawing/2014/main" id="{F6C023E2-3DA5-0D4B-B5D6-9467C030AE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E7EAED"/>
                </a:clrFrom>
                <a:clrTo>
                  <a:srgbClr val="E7EAE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25" t="15185" b="14692"/>
            <a:stretch/>
          </p:blipFill>
          <p:spPr>
            <a:xfrm rot="16200000">
              <a:off x="7381517" y="-170194"/>
              <a:ext cx="2829090" cy="4809067"/>
            </a:xfrm>
            <a:prstGeom prst="rect">
              <a:avLst/>
            </a:prstGeom>
            <a:ln>
              <a:solidFill>
                <a:srgbClr val="223AAC"/>
              </a:solidFill>
            </a:ln>
          </p:spPr>
        </p:pic>
        <p:pic>
          <p:nvPicPr>
            <p:cNvPr id="16" name="图片 15" descr="图片包含 表格&#10;&#10;描述已自动生成">
              <a:extLst>
                <a:ext uri="{FF2B5EF4-FFF2-40B4-BE49-F238E27FC236}">
                  <a16:creationId xmlns:a16="http://schemas.microsoft.com/office/drawing/2014/main" id="{6B15647E-79B5-F14B-B8CC-BAC8B8979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E7EAED"/>
                </a:clrFrom>
                <a:clrTo>
                  <a:srgbClr val="E7EAE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51" t="20636" r="56863" b="52042"/>
            <a:stretch/>
          </p:blipFill>
          <p:spPr>
            <a:xfrm rot="16200000">
              <a:off x="9879952" y="1736562"/>
              <a:ext cx="842511" cy="1697467"/>
            </a:xfrm>
            <a:prstGeom prst="rect">
              <a:avLst/>
            </a:prstGeom>
          </p:spPr>
        </p:pic>
      </p:grpSp>
      <p:pic>
        <p:nvPicPr>
          <p:cNvPr id="24" name="图片 23" descr="图形用户界面, 文本&#10;&#10;描述已自动生成">
            <a:extLst>
              <a:ext uri="{FF2B5EF4-FFF2-40B4-BE49-F238E27FC236}">
                <a16:creationId xmlns:a16="http://schemas.microsoft.com/office/drawing/2014/main" id="{01E133A7-18F4-9440-8684-43BD93F700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5" t="22651" r="3879" b="46401"/>
          <a:stretch/>
        </p:blipFill>
        <p:spPr>
          <a:xfrm>
            <a:off x="6235548" y="766813"/>
            <a:ext cx="5116856" cy="5108466"/>
          </a:xfrm>
          <a:prstGeom prst="rect">
            <a:avLst/>
          </a:prstGeom>
          <a:ln>
            <a:solidFill>
              <a:srgbClr val="223AAC"/>
            </a:solidFill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74BAA1E-7D78-3C4F-81FF-83E1315F1DE8}"/>
              </a:ext>
            </a:extLst>
          </p:cNvPr>
          <p:cNvSpPr txBox="1"/>
          <p:nvPr/>
        </p:nvSpPr>
        <p:spPr>
          <a:xfrm>
            <a:off x="820872" y="2581735"/>
            <a:ext cx="3921633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#【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展开的重点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：描述发展经过的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中间段</a:t>
            </a:r>
            <a:r>
              <a:rPr kumimoji="1" lang="en-US" altLang="zh-CN" sz="14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}!!!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4602243-F393-B743-93ED-A3E7DE0D0510}"/>
              </a:ext>
            </a:extLst>
          </p:cNvPr>
          <p:cNvCxnSpPr>
            <a:cxnSpLocks/>
            <a:stCxn id="22" idx="2"/>
            <a:endCxn id="24" idx="1"/>
          </p:cNvCxnSpPr>
          <p:nvPr/>
        </p:nvCxnSpPr>
        <p:spPr>
          <a:xfrm>
            <a:off x="5638853" y="1241257"/>
            <a:ext cx="596695" cy="207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02FF7CD-E598-734D-B9B2-09AAD1FB3E78}"/>
              </a:ext>
            </a:extLst>
          </p:cNvPr>
          <p:cNvSpPr/>
          <p:nvPr/>
        </p:nvSpPr>
        <p:spPr>
          <a:xfrm>
            <a:off x="5161799" y="915206"/>
            <a:ext cx="954107" cy="326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200" dirty="0">
                <a:solidFill>
                  <a:srgbClr val="C00000"/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发展经过</a:t>
            </a:r>
            <a:endParaRPr kumimoji="1" lang="en-US" altLang="zh-CN" sz="1200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1A58C8-4186-1D40-98DC-420584F47DD7}"/>
              </a:ext>
            </a:extLst>
          </p:cNvPr>
          <p:cNvSpPr/>
          <p:nvPr/>
        </p:nvSpPr>
        <p:spPr>
          <a:xfrm>
            <a:off x="6341460" y="2238825"/>
            <a:ext cx="4917779" cy="2079788"/>
          </a:xfrm>
          <a:prstGeom prst="rect">
            <a:avLst/>
          </a:prstGeom>
          <a:solidFill>
            <a:srgbClr val="F9CDCC">
              <a:alpha val="13000"/>
            </a:srgb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9AB4C23-5EE4-6B4F-AB1C-4497142C18DD}"/>
              </a:ext>
            </a:extLst>
          </p:cNvPr>
          <p:cNvCxnSpPr/>
          <p:nvPr/>
        </p:nvCxnSpPr>
        <p:spPr>
          <a:xfrm>
            <a:off x="6801004" y="2500829"/>
            <a:ext cx="438471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25F2AA5-1ABE-404A-BA72-EEA3ECE4B9B8}"/>
              </a:ext>
            </a:extLst>
          </p:cNvPr>
          <p:cNvCxnSpPr>
            <a:cxnSpLocks/>
          </p:cNvCxnSpPr>
          <p:nvPr/>
        </p:nvCxnSpPr>
        <p:spPr>
          <a:xfrm>
            <a:off x="6391543" y="2911820"/>
            <a:ext cx="482362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96F90150-A1B6-A44D-BDEF-F636D3B43778}"/>
              </a:ext>
            </a:extLst>
          </p:cNvPr>
          <p:cNvCxnSpPr>
            <a:cxnSpLocks/>
          </p:cNvCxnSpPr>
          <p:nvPr/>
        </p:nvCxnSpPr>
        <p:spPr>
          <a:xfrm>
            <a:off x="6391050" y="3321046"/>
            <a:ext cx="482362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5EC697-788A-CB4A-B25B-25D48E8949D2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C54912-C21C-FB44-AE97-7030C2BB1F1D}"/>
              </a:ext>
            </a:extLst>
          </p:cNvPr>
          <p:cNvSpPr/>
          <p:nvPr/>
        </p:nvSpPr>
        <p:spPr>
          <a:xfrm>
            <a:off x="6418279" y="218493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AD5FF3-B13C-F04A-B321-32FFA1EE6DE3}"/>
              </a:ext>
            </a:extLst>
          </p:cNvPr>
          <p:cNvSpPr/>
          <p:nvPr/>
        </p:nvSpPr>
        <p:spPr>
          <a:xfrm>
            <a:off x="9984046" y="1832585"/>
            <a:ext cx="44114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A042D7-C572-B54E-A98A-8F25CD84C5C9}"/>
              </a:ext>
            </a:extLst>
          </p:cNvPr>
          <p:cNvSpPr/>
          <p:nvPr/>
        </p:nvSpPr>
        <p:spPr>
          <a:xfrm>
            <a:off x="11383311" y="2911820"/>
            <a:ext cx="44114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8268121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读后续写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604709" y="781680"/>
            <a:ext cx="9503133" cy="133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重视要点：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情绪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动作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场景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60404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四步写：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原文最后段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续写句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续写句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找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要素：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人物、事件、情绪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4289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51BF46-C993-8941-9F8C-6D240A997B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" t="16241" b="29913"/>
          <a:stretch/>
        </p:blipFill>
        <p:spPr>
          <a:xfrm>
            <a:off x="6500703" y="340850"/>
            <a:ext cx="4942701" cy="5876331"/>
          </a:xfrm>
          <a:prstGeom prst="rect">
            <a:avLst/>
          </a:prstGeom>
        </p:spPr>
      </p:pic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3E624A9-A9A0-604F-A8CE-6EC34BD7170D}"/>
              </a:ext>
            </a:extLst>
          </p:cNvPr>
          <p:cNvCxnSpPr/>
          <p:nvPr/>
        </p:nvCxnSpPr>
        <p:spPr>
          <a:xfrm>
            <a:off x="6758609" y="4482548"/>
            <a:ext cx="207727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6C8D2E05-570B-6241-936D-B88FA82FB98F}"/>
              </a:ext>
            </a:extLst>
          </p:cNvPr>
          <p:cNvCxnSpPr>
            <a:cxnSpLocks/>
          </p:cNvCxnSpPr>
          <p:nvPr/>
        </p:nvCxnSpPr>
        <p:spPr>
          <a:xfrm>
            <a:off x="6758609" y="6115878"/>
            <a:ext cx="334923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2A17F95-05C5-BA49-AE80-FAE054AF1984}"/>
              </a:ext>
            </a:extLst>
          </p:cNvPr>
          <p:cNvSpPr/>
          <p:nvPr/>
        </p:nvSpPr>
        <p:spPr>
          <a:xfrm>
            <a:off x="8945729" y="3611710"/>
            <a:ext cx="1569660" cy="8800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我和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Gunter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求助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情绪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着急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FAA180-B282-7D45-9A13-64EED5BACD37}"/>
              </a:ext>
            </a:extLst>
          </p:cNvPr>
          <p:cNvSpPr/>
          <p:nvPr/>
        </p:nvSpPr>
        <p:spPr>
          <a:xfrm>
            <a:off x="6390861" y="3101009"/>
            <a:ext cx="5158409" cy="60628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682858-AF50-9740-B115-7B403ACA71EB}"/>
              </a:ext>
            </a:extLst>
          </p:cNvPr>
          <p:cNvSpPr/>
          <p:nvPr/>
        </p:nvSpPr>
        <p:spPr>
          <a:xfrm>
            <a:off x="9873744" y="5202858"/>
            <a:ext cx="1569660" cy="8800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我和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Gunter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应约返回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情绪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感激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1231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读后续写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60404"/>
            <a:ext cx="9503133" cy="359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四步写：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原文最后段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续写句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1】【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续写句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找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要素：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人物、事件、情绪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*标记线索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关键句！！！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动作线</a:t>
            </a:r>
            <a:r>
              <a:rPr kumimoji="1" lang="en-US" altLang="zh-CN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情绪线</a:t>
            </a:r>
            <a:r>
              <a:rPr kumimoji="1" lang="en-US" altLang="zh-CN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场景线</a:t>
            </a:r>
            <a:endParaRPr kumimoji="1" lang="en-US" altLang="zh-CN" sz="1400" b="1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丰富内容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高级表达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动词、情绪词、句式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升华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高分！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4289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7D1EA4-B866-3140-AA68-6B179CF1AE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8" b="24292"/>
          <a:stretch/>
        </p:blipFill>
        <p:spPr>
          <a:xfrm>
            <a:off x="6931976" y="842786"/>
            <a:ext cx="4233266" cy="469788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8E17658-2D0C-4F4B-804B-89A9433ADF57}"/>
              </a:ext>
            </a:extLst>
          </p:cNvPr>
          <p:cNvSpPr/>
          <p:nvPr/>
        </p:nvSpPr>
        <p:spPr>
          <a:xfrm>
            <a:off x="3890758" y="917146"/>
            <a:ext cx="3041217" cy="2273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动作线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求助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帮助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解决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情绪线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着急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感激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感动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场景线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车站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上车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远去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变换场景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介词短语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】+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连续动作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动词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用从句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插入语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情绪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融合在一句话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丰富的高分表达！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4AD1AB-EA95-A04A-88E8-CD81A22EF854}"/>
              </a:ext>
            </a:extLst>
          </p:cNvPr>
          <p:cNvSpPr/>
          <p:nvPr/>
        </p:nvSpPr>
        <p:spPr>
          <a:xfrm>
            <a:off x="7033591" y="712315"/>
            <a:ext cx="4131651" cy="247814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2DC8CC87-DCB1-A047-AA38-551D7F5C99C8}"/>
              </a:ext>
            </a:extLst>
          </p:cNvPr>
          <p:cNvCxnSpPr/>
          <p:nvPr/>
        </p:nvCxnSpPr>
        <p:spPr>
          <a:xfrm>
            <a:off x="6584106" y="1371600"/>
            <a:ext cx="34786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8574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Chapter-10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错题本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英语错题本怎么做？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两个方面分别积累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①按照题型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②按照语法、短语、单词、作文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分板块积累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学姐英语错题本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详见附赠笔记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一共十一个方面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*把错题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✂️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剪下来，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黑笔写：解题步骤，红笔写：错因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知识点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｜｜订正一张卷子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一个练习：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及时总结！绝不把今天的错题拖到明天！！！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38421" y="901918"/>
            <a:ext cx="3007338" cy="5316772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8F2D008-60E7-654E-ACA2-34C4709F2CD4}"/>
              </a:ext>
            </a:extLst>
          </p:cNvPr>
          <p:cNvCxnSpPr/>
          <p:nvPr/>
        </p:nvCxnSpPr>
        <p:spPr>
          <a:xfrm>
            <a:off x="8245581" y="3258829"/>
            <a:ext cx="23655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02BFDFB-5C05-9841-AFAF-A90975C277C3}"/>
              </a:ext>
            </a:extLst>
          </p:cNvPr>
          <p:cNvSpPr txBox="1"/>
          <p:nvPr/>
        </p:nvSpPr>
        <p:spPr>
          <a:xfrm>
            <a:off x="11241477" y="193878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11241477" y="436522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528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Part1: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英语错题题型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黑笔写题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红笔总结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写出错误原因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①保留相关文段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②对比正确、错误选项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③红笔订正，尽量简略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用小三角高亮自己的易错点！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767" y="901918"/>
            <a:ext cx="5496444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732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Part2: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按照板块积累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积累生词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短语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997000" y="3193642"/>
            <a:ext cx="67732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当在考试中遇到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词义猜测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文段生词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不要放过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「精」查词典！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①写出词性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②写出</a:t>
            </a:r>
            <a:r>
              <a:rPr kumimoji="1"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英文</a:t>
            </a:r>
            <a:r>
              <a:rPr kumimoji="1"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释义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*英文释义</a:t>
            </a:r>
            <a:r>
              <a:rPr kumimoji="1" lang="en-US" altLang="zh-CN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是这个词最准确的意思！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③给自己写一个例句</a:t>
            </a:r>
            <a:endParaRPr kumimoji="1" lang="en-US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考试重点总结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重在精字！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每次考试都是宝贵的积累机会，每天积累一篇阅读里的</a:t>
            </a:r>
            <a:endParaRPr kumimoji="1" lang="en-US" altLang="zh-CN" sz="12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生词，都是在为最后的考试做准备</a:t>
            </a:r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9"/>
          <a:stretch/>
        </p:blipFill>
        <p:spPr>
          <a:xfrm>
            <a:off x="6379714" y="905256"/>
            <a:ext cx="4953619" cy="531847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6F6D1C7-C642-CA42-9504-A63FEF2E8545}"/>
              </a:ext>
            </a:extLst>
          </p:cNvPr>
          <p:cNvSpPr/>
          <p:nvPr/>
        </p:nvSpPr>
        <p:spPr>
          <a:xfrm>
            <a:off x="6725920" y="1142167"/>
            <a:ext cx="426720" cy="5443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1074E6-F29E-C34D-88DE-F8BE4C225DFA}"/>
              </a:ext>
            </a:extLst>
          </p:cNvPr>
          <p:cNvSpPr/>
          <p:nvPr/>
        </p:nvSpPr>
        <p:spPr>
          <a:xfrm>
            <a:off x="8280400" y="2083096"/>
            <a:ext cx="2062480" cy="1858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BA47A1-2A37-B944-B71E-42DA77E1E9CE}"/>
              </a:ext>
            </a:extLst>
          </p:cNvPr>
          <p:cNvSpPr/>
          <p:nvPr/>
        </p:nvSpPr>
        <p:spPr>
          <a:xfrm>
            <a:off x="6578600" y="5049816"/>
            <a:ext cx="4616400" cy="3451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44370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总结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英语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146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英语的分数是「捡」来的，每一分都要重视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高考英语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493318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747878" y="3458208"/>
            <a:ext cx="4750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（英语的语言性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工具性）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是我们学习的重点，需要注意英语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</a:p>
          <a:p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6323D53-D1F4-AA40-8F3F-1ED0BAC4E9E4}"/>
              </a:ext>
            </a:extLst>
          </p:cNvPr>
          <p:cNvSpPr/>
          <p:nvPr/>
        </p:nvSpPr>
        <p:spPr>
          <a:xfrm>
            <a:off x="822245" y="5163667"/>
            <a:ext cx="4717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备考方法」才能百战百胜！</a:t>
            </a:r>
          </a:p>
        </p:txBody>
      </p:sp>
    </p:spTree>
    <p:extLst>
      <p:ext uri="{BB962C8B-B14F-4D97-AF65-F5344CB8AC3E}">
        <p14:creationId xmlns:p14="http://schemas.microsoft.com/office/powerpoint/2010/main" val="1137686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kMDVjMzAzNmQ3MmQ0M2VhODM2ZTcyYjc4Y2UwN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10172</TotalTime>
  <Words>6619</Words>
  <Application>Microsoft Macintosh PowerPoint</Application>
  <PresentationFormat>宽屏</PresentationFormat>
  <Paragraphs>1022</Paragraphs>
  <Slides>69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76" baseType="lpstr">
      <vt:lpstr>等线</vt:lpstr>
      <vt:lpstr>等线 Light</vt:lpstr>
      <vt:lpstr>KaiTi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yufei zhang</dc:creator>
  <cp:lastModifiedBy>charlotte wu</cp:lastModifiedBy>
  <cp:revision>74</cp:revision>
  <dcterms:created xsi:type="dcterms:W3CDTF">2024-01-01T22:59:00Z</dcterms:created>
  <dcterms:modified xsi:type="dcterms:W3CDTF">2025-03-03T05:22:54Z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0AB5E3226DEF47F5B09FD4CBAD1E6851_12</vt:lpwstr>
  </property>
  <property fmtid="{D5CDD505-2E9C-101B-9397-08002B2CF9AE}" pid="3" name="KSOProductBuildVer">
    <vt:lpwstr>2052-12.1.0.16388</vt:lpwstr>
  </property>
</Properties>
</file>