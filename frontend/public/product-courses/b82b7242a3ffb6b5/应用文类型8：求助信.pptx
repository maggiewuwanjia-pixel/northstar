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sldIdLst>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tags" Target="tags/tag1.xml" /><Relationship Id="rId18" Type="http://schemas.openxmlformats.org/officeDocument/2006/relationships/presProps" Target="presProps.xml" /><Relationship Id="rId19" Type="http://schemas.openxmlformats.org/officeDocument/2006/relationships/viewProps" Target="viewProps.xml" /><Relationship Id="rId2" Type="http://schemas.openxmlformats.org/officeDocument/2006/relationships/notesMaster" Target="notesMasters/notesMaster1.xml" /><Relationship Id="rId20" Type="http://schemas.openxmlformats.org/officeDocument/2006/relationships/theme" Target="theme/theme1.xml" /><Relationship Id="rId21"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file:///D:\qq&#25991;&#20214;\712321467\Image\C2C\Image2\%7b75232B38-A165-1FB7-499C-2E1C792CACB5%7d.png"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p:cSld>
    <p:bg>
      <p:bgPr>
        <a:blipFill rotWithShape="0">
          <a:blip r:embed="rId4"/>
          <a:stretch>
            <a:fillRect/>
          </a:stretch>
        </a:blipFill>
        <a:effectLst/>
      </p:bgPr>
    </p:bg>
    <p:spTree>
      <p:nvGrpSpPr>
        <p:cNvPr id="1" name=""/>
        <p:cNvGrpSpPr/>
        <p:nvPr/>
      </p:nvGrpSpPr>
      <p:grpSpPr>
        <a:xfrm>
          <a:off x="0" y="0"/>
          <a:ext cx="0" cy="0"/>
        </a:xfrm>
      </p:grpSpPr>
      <p:pic>
        <p:nvPicPr>
          <p:cNvPr id="2" name="图片 1073743875" descr="学科网 zxxk.com" title=""/>
          <p:cNvPicPr>
            <a:picLocks noChangeAspect="1"/>
          </p:cNvPicPr>
          <p:nvPr/>
        </p:nvPicPr>
        <p:blipFill>
          <a:blip r:embed="rId3" r:link="rId2"/>
          <a:stretch>
            <a:fillRect/>
          </a:stretch>
        </p:blipFill>
        <p:spPr>
          <a:xfrm>
            <a:off x="838200" y="365125"/>
            <a:ext cx="9525" cy="9525"/>
          </a:xfrm>
          <a:prstGeom prst="rect">
            <a:avLst/>
          </a:prstGeom>
          <a:noFill/>
          <a:ln>
            <a:noFill/>
            <a:miter lim="800000"/>
          </a:ln>
        </p:spPr>
      </p:pic>
    </p:spTree>
  </p:cSld>
  <p:clrMap bg1="lt1" tx1="dk1" bg2="lt2" tx2="dk2" accent1="accent1" accent2="accent2" accent3="accent3" accent4="accent4" accent5="accent5" accent6="accent6" hlink="hlink" folHlink="folHlink"/>
  <p:sldLayoutIdLst>
    <p:sldLayoutId id="2147483649" r:id="rId1"/>
  </p:sldLayoutIdLst>
  <p:transition/>
  <p:timing/>
  <p:txStyles>
    <p:titleStyle>
      <a:lvl1pPr algn="l" rtl="0" eaLnBrk="0" fontAlgn="base" hangingPunct="0">
        <a:lnSpc>
          <a:spcPct val="90000"/>
        </a:lnSpc>
        <a:spcBef>
          <a:spcPct val="0"/>
        </a:spcBef>
        <a:spcAft>
          <a:spcPct val="0"/>
        </a:spcAft>
        <a:defRPr sz="4395">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7pPr>
      <a:lvl8pPr marL="13709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8pPr>
      <a:lvl9pPr marL="1828165" algn="l" rtl="0" fontAlgn="base">
        <a:lnSpc>
          <a:spcPct val="90000"/>
        </a:lnSpc>
        <a:spcBef>
          <a:spcPct val="0"/>
        </a:spcBef>
        <a:spcAft>
          <a:spcPct val="0"/>
        </a:spcAft>
        <a:defRPr sz="4400">
          <a:solidFill>
            <a:schemeClr val="tx1"/>
          </a:solidFill>
          <a:latin typeface="等线 Light" panose="02010600030101010101" pitchFamily="2" charset="-122"/>
          <a:ea typeface="宋体" panose="02010600030101010101" pitchFamily="2" charset="-122"/>
        </a:defRPr>
      </a:lvl9pPr>
    </p:titleStyle>
    <p:bodyStyle>
      <a:lvl1pPr marL="228600" indent="-228600" algn="l" rtl="0" eaLnBrk="0" fontAlgn="base" hangingPunct="0">
        <a:lnSpc>
          <a:spcPct val="90000"/>
        </a:lnSpc>
        <a:spcBef>
          <a:spcPct val="198000"/>
        </a:spcBef>
        <a:spcAft>
          <a:spcPct val="0"/>
        </a:spcAft>
        <a:buFont typeface="Arial" panose="020b0604020202020204" pitchFamily="34" charset="0"/>
        <a:buChar char="•"/>
        <a:defRPr sz="2840">
          <a:solidFill>
            <a:schemeClr val="tx1"/>
          </a:solidFill>
          <a:latin typeface="+mn-lt"/>
          <a:ea typeface="+mn-ea"/>
          <a:cs typeface="+mn-cs"/>
        </a:defRPr>
      </a:lvl1pPr>
      <a:lvl2pPr marL="685165" indent="-228600" algn="l" rtl="0" eaLnBrk="0" fontAlgn="base" hangingPunct="0">
        <a:lnSpc>
          <a:spcPct val="90000"/>
        </a:lnSpc>
        <a:spcBef>
          <a:spcPct val="100000"/>
        </a:spcBef>
        <a:spcAft>
          <a:spcPct val="0"/>
        </a:spcAft>
        <a:buFont typeface="Arial" panose="020b0604020202020204" pitchFamily="34" charset="0"/>
        <a:buChar char="•"/>
        <a:defRPr sz="2380">
          <a:solidFill>
            <a:schemeClr val="tx1"/>
          </a:solidFill>
          <a:latin typeface="+mn-lt"/>
          <a:ea typeface="+mn-ea"/>
        </a:defRPr>
      </a:lvl2pPr>
      <a:lvl3pPr marL="1144270" indent="-229870" algn="l" rtl="0" eaLnBrk="0" fontAlgn="base" hangingPunct="0">
        <a:lnSpc>
          <a:spcPct val="90000"/>
        </a:lnSpc>
        <a:spcBef>
          <a:spcPct val="100000"/>
        </a:spcBef>
        <a:spcAft>
          <a:spcPct val="0"/>
        </a:spcAft>
        <a:buFont typeface="Arial" panose="020b0604020202020204" pitchFamily="34" charset="0"/>
        <a:buChar char="•"/>
        <a:defRPr sz="2105">
          <a:solidFill>
            <a:schemeClr val="tx1"/>
          </a:solidFill>
          <a:latin typeface="+mn-lt"/>
          <a:ea typeface="+mn-ea"/>
        </a:defRPr>
      </a:lvl3pPr>
      <a:lvl4pPr marL="1598930" indent="-22860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4pPr>
      <a:lvl5pPr marL="2056130" indent="-229870" algn="l" rtl="0" eaLnBrk="0" fontAlgn="base" hangingPunct="0">
        <a:lnSpc>
          <a:spcPct val="90000"/>
        </a:lnSpc>
        <a:spcBef>
          <a:spcPct val="100000"/>
        </a:spcBef>
        <a:spcAft>
          <a:spcPct val="0"/>
        </a:spcAft>
        <a:buFont typeface="Arial" panose="020b0604020202020204" pitchFamily="34" charset="0"/>
        <a:buChar char="•"/>
        <a:defRPr>
          <a:solidFill>
            <a:schemeClr val="tx1"/>
          </a:solidFill>
          <a:latin typeface="+mn-lt"/>
          <a:ea typeface="+mn-ea"/>
        </a:defRPr>
      </a:lvl5pPr>
      <a:lvl6pPr marL="25126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6pPr>
      <a:lvl7pPr marL="297053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7pPr>
      <a:lvl8pPr marL="3427095"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8pPr>
      <a:lvl9pPr marL="3883660" indent="-229870" algn="l" rtl="0" fontAlgn="base">
        <a:lnSpc>
          <a:spcPct val="90000"/>
        </a:lnSpc>
        <a:spcBef>
          <a:spcPct val="10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3765" rtl="0" eaLnBrk="1" latinLnBrk="0" hangingPunct="1">
        <a:defRPr sz="1830" kern="1200">
          <a:solidFill>
            <a:schemeClr val="tx1"/>
          </a:solidFill>
          <a:latin typeface="+mn-lt"/>
          <a:ea typeface="+mn-ea"/>
          <a:cs typeface="+mn-cs"/>
        </a:defRPr>
      </a:lvl1pPr>
      <a:lvl2pPr marL="456565" algn="l" defTabSz="913765" rtl="0" eaLnBrk="1" latinLnBrk="0" hangingPunct="1">
        <a:defRPr sz="1830" kern="1200">
          <a:solidFill>
            <a:schemeClr val="tx1"/>
          </a:solidFill>
          <a:latin typeface="+mn-lt"/>
          <a:ea typeface="+mn-ea"/>
          <a:cs typeface="+mn-cs"/>
        </a:defRPr>
      </a:lvl2pPr>
      <a:lvl3pPr marL="913765" algn="l" defTabSz="913765" rtl="0" eaLnBrk="1" latinLnBrk="0" hangingPunct="1">
        <a:defRPr sz="1830" kern="1200">
          <a:solidFill>
            <a:schemeClr val="tx1"/>
          </a:solidFill>
          <a:latin typeface="+mn-lt"/>
          <a:ea typeface="+mn-ea"/>
          <a:cs typeface="+mn-cs"/>
        </a:defRPr>
      </a:lvl3pPr>
      <a:lvl4pPr marL="1370330" algn="l" defTabSz="913765" rtl="0" eaLnBrk="1" latinLnBrk="0" hangingPunct="1">
        <a:defRPr sz="1830" kern="1200">
          <a:solidFill>
            <a:schemeClr val="tx1"/>
          </a:solidFill>
          <a:latin typeface="+mn-lt"/>
          <a:ea typeface="+mn-ea"/>
          <a:cs typeface="+mn-cs"/>
        </a:defRPr>
      </a:lvl4pPr>
      <a:lvl5pPr marL="1827530" algn="l" defTabSz="913765" rtl="0" eaLnBrk="1" latinLnBrk="0" hangingPunct="1">
        <a:defRPr sz="1830" kern="1200">
          <a:solidFill>
            <a:schemeClr val="tx1"/>
          </a:solidFill>
          <a:latin typeface="+mn-lt"/>
          <a:ea typeface="+mn-ea"/>
          <a:cs typeface="+mn-cs"/>
        </a:defRPr>
      </a:lvl5pPr>
      <a:lvl6pPr marL="2284095" algn="l" defTabSz="913765" rtl="0" eaLnBrk="1" latinLnBrk="0" hangingPunct="1">
        <a:defRPr sz="1830" kern="1200">
          <a:solidFill>
            <a:schemeClr val="tx1"/>
          </a:solidFill>
          <a:latin typeface="+mn-lt"/>
          <a:ea typeface="+mn-ea"/>
          <a:cs typeface="+mn-cs"/>
        </a:defRPr>
      </a:lvl6pPr>
      <a:lvl7pPr marL="2741295" algn="l" defTabSz="913765" rtl="0" eaLnBrk="1" latinLnBrk="0" hangingPunct="1">
        <a:defRPr sz="1830" kern="1200">
          <a:solidFill>
            <a:schemeClr val="tx1"/>
          </a:solidFill>
          <a:latin typeface="+mn-lt"/>
          <a:ea typeface="+mn-ea"/>
          <a:cs typeface="+mn-cs"/>
        </a:defRPr>
      </a:lvl7pPr>
      <a:lvl8pPr marL="3198495" algn="l" defTabSz="913765" rtl="0" eaLnBrk="1" latinLnBrk="0" hangingPunct="1">
        <a:defRPr sz="1830" kern="1200">
          <a:solidFill>
            <a:schemeClr val="tx1"/>
          </a:solidFill>
          <a:latin typeface="+mn-lt"/>
          <a:ea typeface="+mn-ea"/>
          <a:cs typeface="+mn-cs"/>
        </a:defRPr>
      </a:lvl8pPr>
      <a:lvl9pPr marL="3655060" algn="l" defTabSz="913765" rtl="0" eaLnBrk="1" latinLnBrk="0" hangingPunct="1">
        <a:defRPr sz="183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 Id="rId3" Type="http://schemas.openxmlformats.org/officeDocument/2006/relationships/image" Target="../media/image3.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0.xml" /><Relationship Id="rId3" Type="http://schemas.openxmlformats.org/officeDocument/2006/relationships/image" Target="../media/image4.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2" name="TextBox 1" title=""/>
          <p:cNvSpPr txBox="1"/>
          <p:nvPr/>
        </p:nvSpPr>
        <p:spPr>
          <a:xfrm>
            <a:off x="379582" y="1926124"/>
            <a:ext cx="11701662" cy="1938020"/>
          </a:xfrm>
          <a:prstGeom prst="rect">
            <a:avLst/>
          </a:prstGeom>
          <a:noFill/>
        </p:spPr>
        <p:txBody>
          <a:bodyPr wrap="square" rtlCol="0">
            <a:spAutoFit/>
          </a:bodyPr>
          <a:lstStyle/>
          <a:p>
            <a:pPr algn="ctr">
              <a:lnSpc>
                <a:spcPct val="150000"/>
              </a:lnSpc>
              <a:spcAft>
                <a:spcPct val="0"/>
              </a:spcAft>
            </a:pPr>
            <a:r>
              <a:rPr lang="zh-CN" altLang="zh-CN" sz="4000" kern="100">
                <a:latin typeface="Times New Roman" panose="02020603050405020304" pitchFamily="18" charset="0"/>
                <a:ea typeface="宋体" panose="02010600030101010101" pitchFamily="2" charset="-122"/>
              </a:rPr>
              <a:t>求助信</a:t>
            </a:r>
            <a:endParaRPr lang="zh-CN" altLang="zh-CN" sz="4000" kern="100">
              <a:latin typeface="Times New Roman" panose="02020603050405020304" pitchFamily="18" charset="0"/>
              <a:ea typeface="宋体" panose="02010600030101010101" pitchFamily="2" charset="-122"/>
            </a:endParaRPr>
          </a:p>
          <a:p>
            <a:pPr algn="ctr">
              <a:lnSpc>
                <a:spcPct val="150000"/>
              </a:lnSpc>
              <a:spcAft>
                <a:spcPct val="0"/>
              </a:spcAft>
            </a:pPr>
            <a:endParaRPr lang="zh-CN" altLang="zh-CN" sz="40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ctr">
              <a:lnSpc>
                <a:spcPct val="150000"/>
              </a:lnSpc>
              <a:spcAft>
                <a:spcPct val="0"/>
              </a:spcAft>
            </a:pPr>
            <a:endParaRPr lang="zh-CN" altLang="zh-CN" sz="2500" kern="100">
              <a:latin typeface="Times New Roman" panose="02020603050405020304" pitchFamily="18" charset="0"/>
              <a:ea typeface="宋体" panose="02010600030101010101" pitchFamily="2" charset="-122"/>
            </a:endParaRPr>
          </a:p>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【试题探究】</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你和同学根据英语课文改编了一个短剧。请你给外教</a:t>
            </a:r>
            <a:r>
              <a:rPr lang="en-US" altLang="zh-CN" sz="2500" kern="100">
                <a:latin typeface="Times New Roman" panose="02020603050405020304" pitchFamily="18" charset="0"/>
                <a:ea typeface="宋体" panose="02010600030101010101" pitchFamily="2" charset="-122"/>
              </a:rPr>
              <a:t>Miss Evans</a:t>
            </a:r>
            <a:r>
              <a:rPr lang="zh-CN" altLang="zh-CN" sz="2500" kern="100">
                <a:latin typeface="Times New Roman" panose="02020603050405020304" pitchFamily="18" charset="0"/>
                <a:ea typeface="宋体" panose="02010600030101010101" pitchFamily="2" charset="-122"/>
              </a:rPr>
              <a:t>写一封邮件</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请她帮忙指导。邮件内容包括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剧情简介</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指导内容</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商定时间、地点。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左右。</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66802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1</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审题布局</a:t>
            </a:r>
            <a:endParaRPr lang="zh-CN" altLang="zh-CN" sz="2500" kern="100">
              <a:latin typeface="Times New Roman" panose="02020603050405020304" pitchFamily="18" charset="0"/>
              <a:ea typeface="宋体" panose="02010600030101010101" pitchFamily="2" charset="-122"/>
            </a:endParaRPr>
          </a:p>
        </p:txBody>
      </p:sp>
      <p:graphicFrame>
        <p:nvGraphicFramePr>
          <p:cNvPr id="4" name="表格 3" title=""/>
          <p:cNvGraphicFramePr>
            <a:graphicFrameLocks noGrp="1"/>
          </p:cNvGraphicFramePr>
          <p:nvPr/>
        </p:nvGraphicFramePr>
        <p:xfrm>
          <a:off x="934824" y="1602961"/>
          <a:ext cx="10065385" cy="2728595"/>
        </p:xfrm>
        <a:graphic>
          <a:graphicData uri="http://schemas.openxmlformats.org/drawingml/2006/table">
            <a:tbl>
              <a:tblPr firstRow="1" firstCol="1" bandRow="1"/>
              <a:tblGrid>
                <a:gridCol w="1262380"/>
                <a:gridCol w="8803005"/>
              </a:tblGrid>
              <a:tr h="66040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人称</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第一人称、第二人称</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59765">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时态</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zh-CN" sz="2500" kern="100">
                          <a:effectLst/>
                          <a:latin typeface="Times New Roman" panose="02020603050405020304" pitchFamily="18" charset="0"/>
                          <a:ea typeface="宋体" panose="02010600030101010101" pitchFamily="2" charset="-122"/>
                        </a:rPr>
                        <a:t>一般现在时和现在完成时</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08430">
                <a:tc>
                  <a:txBody>
                    <a:bodyPr vert="horz" wrap="square"/>
                    <a:lstStyle/>
                    <a:p>
                      <a:pPr algn="ctr">
                        <a:lnSpc>
                          <a:spcPct val="150000"/>
                        </a:lnSpc>
                        <a:spcAft>
                          <a:spcPct val="0"/>
                        </a:spcAft>
                      </a:pPr>
                      <a:r>
                        <a:rPr lang="zh-CN" sz="2500" kern="100">
                          <a:effectLst/>
                          <a:latin typeface="Times New Roman" panose="02020603050405020304" pitchFamily="18" charset="0"/>
                          <a:ea typeface="宋体" panose="02010600030101010101" pitchFamily="2" charset="-122"/>
                        </a:rPr>
                        <a:t>要点</a:t>
                      </a:r>
                      <a:endParaRPr lang="zh-CN" sz="2500" kern="100">
                        <a:effectLst/>
                        <a:latin typeface="Times New Roman" panose="02020603050405020304" pitchFamily="18" charset="0"/>
                        <a:ea typeface="宋体" panose="02010600030101010101" pitchFamily="2" charset="-122"/>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20000"/>
                        <a:lumOff val="80000"/>
                      </a:schemeClr>
                    </a:solidFill>
                  </a:tcPr>
                </a:tc>
                <a:tc>
                  <a:txBody>
                    <a:bodyPr vert="horz" wrap="square"/>
                    <a:lstStyle/>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1. </a:t>
                      </a:r>
                      <a:r>
                        <a:rPr lang="zh-CN" sz="2500" kern="100">
                          <a:effectLst/>
                          <a:latin typeface="Times New Roman" panose="02020603050405020304" pitchFamily="18" charset="0"/>
                          <a:ea typeface="宋体" panose="02010600030101010101" pitchFamily="2" charset="-122"/>
                        </a:rPr>
                        <a:t>写邮件的目的</a:t>
                      </a:r>
                      <a:endParaRPr lang="zh-CN" sz="2500" kern="100">
                        <a:effectLst/>
                        <a:latin typeface="Times New Roman" panose="02020603050405020304" pitchFamily="18" charset="0"/>
                        <a:ea typeface="宋体" panose="02010600030101010101" pitchFamily="2" charset="-122"/>
                      </a:endParaRPr>
                    </a:p>
                    <a:p>
                      <a:pPr algn="just">
                        <a:lnSpc>
                          <a:spcPct val="150000"/>
                        </a:lnSpc>
                        <a:spcAft>
                          <a:spcPct val="0"/>
                        </a:spcAft>
                      </a:pPr>
                      <a:r>
                        <a:rPr lang="en-US" sz="2500" kern="100">
                          <a:effectLst/>
                          <a:latin typeface="Times New Roman" panose="02020603050405020304" pitchFamily="18" charset="0"/>
                          <a:ea typeface="宋体" panose="02010600030101010101" pitchFamily="2" charset="-122"/>
                        </a:rPr>
                        <a:t>2. </a:t>
                      </a:r>
                      <a:r>
                        <a:rPr lang="zh-CN" sz="2500" kern="100">
                          <a:effectLst/>
                          <a:latin typeface="Times New Roman" panose="02020603050405020304" pitchFamily="18" charset="0"/>
                          <a:ea typeface="宋体" panose="02010600030101010101" pitchFamily="2" charset="-122"/>
                        </a:rPr>
                        <a:t>说明求助事项</a:t>
                      </a:r>
                      <a:endParaRPr lang="zh-CN" sz="2500" kern="100">
                        <a:effectLst/>
                        <a:latin typeface="Times New Roman" panose="02020603050405020304" pitchFamily="18" charset="0"/>
                        <a:ea typeface="宋体" panose="02010600030101010101" pitchFamily="2" charset="-122"/>
                      </a:endParaRPr>
                    </a:p>
                  </a:txBody>
                  <a:tcPr marL="61032" marR="610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654756"/>
            <a:ext cx="12658256" cy="355346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巧饰亮点</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1</a:t>
            </a:r>
            <a:r>
              <a:rPr lang="en-US" altLang="zh-CN" sz="2500" kern="100">
                <a:solidFill>
                  <a:srgbClr val="0000FF"/>
                </a:solidFill>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我写邮件是想就我们改编自课本的一个剧本征求您的意见。</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zh-CN" altLang="zh-CN" sz="2500" kern="100">
                <a:latin typeface="Times New Roman" panose="02020603050405020304" pitchFamily="18" charset="0"/>
                <a:ea typeface="宋体" panose="02010600030101010101" pitchFamily="2" charset="-122"/>
              </a:rPr>
              <a:t>高级词汇</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a:t>
            </a:r>
            <a:r>
              <a:rPr lang="en-US" altLang="zh-CN" sz="2500" kern="100" smtClean="0">
                <a:latin typeface="Times New Roman" panose="02020603050405020304" pitchFamily="18" charset="0"/>
                <a:ea typeface="宋体" panose="02010600030101010101" pitchFamily="2" charset="-122"/>
              </a:rPr>
              <a:t>adapted </a:t>
            </a:r>
            <a:r>
              <a:rPr lang="en-US" altLang="zh-CN" sz="2500" kern="100">
                <a:latin typeface="Times New Roman" panose="02020603050405020304" pitchFamily="18" charset="0"/>
                <a:ea typeface="宋体" panose="02010600030101010101" pitchFamily="2" charset="-122"/>
              </a:rPr>
              <a:t>from our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textbook</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zh-CN" altLang="zh-CN" sz="2500" kern="100">
                <a:latin typeface="Times New Roman" panose="02020603050405020304" pitchFamily="18" charset="0"/>
                <a:ea typeface="宋体" panose="02010600030101010101" pitchFamily="2" charset="-122"/>
              </a:rPr>
              <a:t>高级句式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利用定语从句升级</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1598644" y="1871448"/>
            <a:ext cx="8404732"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I’m writing to ask you for advice regarding a play</a:t>
            </a:r>
            <a:r>
              <a:rPr lang="en-US" altLang="zh-CN" sz="2500" b="1" kern="100">
                <a:solidFill>
                  <a:srgbClr val="FF0000"/>
                </a:solidFill>
                <a:latin typeface="Times New Roman" panose="02020603050405020304" pitchFamily="18" charset="0"/>
                <a:ea typeface="宋体" panose="02010600030101010101" pitchFamily="2" charset="-122"/>
              </a:rPr>
              <a:t> </a:t>
            </a:r>
            <a:endParaRPr lang="zh-CN" altLang="en-US" sz="2500" b="1">
              <a:solidFill>
                <a:srgbClr val="FF0000"/>
              </a:solidFill>
              <a:latin typeface="Times New Roman" panose="02020603050405020304" pitchFamily="18" charset="0"/>
              <a:ea typeface="宋体" panose="02010600030101010101" pitchFamily="2" charset="-122"/>
            </a:endParaRPr>
          </a:p>
        </p:txBody>
      </p:sp>
      <p:sp>
        <p:nvSpPr>
          <p:cNvPr id="4" name="TextBox 3" title=""/>
          <p:cNvSpPr txBox="1"/>
          <p:nvPr/>
        </p:nvSpPr>
        <p:spPr>
          <a:xfrm>
            <a:off x="4414280" y="3033975"/>
            <a:ext cx="7609569"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I’m writing to ask you for advice regarding a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5" name="TextBox 4" title=""/>
          <p:cNvSpPr txBox="1"/>
          <p:nvPr/>
        </p:nvSpPr>
        <p:spPr>
          <a:xfrm>
            <a:off x="-200676" y="3626864"/>
            <a:ext cx="7721950"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play that we have adapted from our textbook.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6" y="588327"/>
            <a:ext cx="12565253" cy="586232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要点</a:t>
            </a:r>
            <a:r>
              <a:rPr lang="en-US" altLang="zh-CN" sz="2500" b="1" kern="100">
                <a:solidFill>
                  <a:srgbClr val="0000FF"/>
                </a:solidFill>
                <a:latin typeface="Times New Roman" panose="02020603050405020304" pitchFamily="18" charset="0"/>
                <a:ea typeface="宋体" panose="02010600030101010101" pitchFamily="2" charset="-122"/>
              </a:rPr>
              <a:t>2</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我们不确定情节是否完整</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我们也想知道如何使用适当的语气来完美地</a:t>
            </a:r>
            <a:r>
              <a:rPr lang="zh-CN" altLang="zh-CN" sz="2500" kern="100" smtClean="0">
                <a:latin typeface="Times New Roman" panose="02020603050405020304" pitchFamily="18" charset="0"/>
                <a:ea typeface="宋体" panose="02010600030101010101" pitchFamily="2" charset="-122"/>
              </a:rPr>
              <a:t>说</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台</a:t>
            </a:r>
            <a:r>
              <a:rPr lang="zh-CN" altLang="zh-CN" sz="2500" kern="100">
                <a:latin typeface="Times New Roman" panose="02020603050405020304" pitchFamily="18" charset="0"/>
                <a:ea typeface="宋体" panose="02010600030101010101" pitchFamily="2" charset="-122"/>
              </a:rPr>
              <a:t>词。</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zh-CN" altLang="zh-CN" sz="2500" kern="100">
                <a:latin typeface="Times New Roman" panose="02020603050405020304" pitchFamily="18" charset="0"/>
                <a:ea typeface="宋体" panose="02010600030101010101" pitchFamily="2" charset="-122"/>
              </a:rPr>
              <a:t>高级词汇和句式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宾语从句</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a:t>
            </a:r>
            <a:r>
              <a:rPr lang="en-US" altLang="zh-CN" sz="2500" kern="100" smtClean="0">
                <a:latin typeface="Times New Roman" panose="02020603050405020304" pitchFamily="18" charset="0"/>
                <a:ea typeface="宋体" panose="02010600030101010101" pitchFamily="2" charset="-122"/>
              </a:rPr>
              <a:t>. </a:t>
            </a:r>
            <a:endParaRPr lang="en-US"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smtClean="0">
                <a:latin typeface="Times New Roman" panose="02020603050405020304" pitchFamily="18" charset="0"/>
                <a:ea typeface="宋体" panose="02010600030101010101" pitchFamily="2" charset="-122"/>
              </a:rPr>
              <a:t>We are </a:t>
            </a:r>
            <a:r>
              <a:rPr lang="en-US" altLang="zh-CN" sz="2500" kern="100">
                <a:latin typeface="Times New Roman" panose="02020603050405020304" pitchFamily="18" charset="0"/>
                <a:ea typeface="宋体" panose="02010600030101010101" pitchFamily="2" charset="-122"/>
              </a:rPr>
              <a:t>also wondering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a:t>
            </a:r>
            <a:r>
              <a:rPr lang="en-US" altLang="zh-CN" sz="2500" kern="100" smtClean="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zh-CN" altLang="zh-CN" sz="2500" kern="100">
                <a:latin typeface="Times New Roman" panose="02020603050405020304" pitchFamily="18" charset="0"/>
                <a:ea typeface="宋体" panose="02010600030101010101" pitchFamily="2" charset="-122"/>
              </a:rPr>
              <a:t>高级句式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利用</a:t>
            </a:r>
            <a:r>
              <a:rPr lang="en-US" altLang="zh-CN" sz="2500" kern="100">
                <a:latin typeface="Times New Roman" panose="02020603050405020304" pitchFamily="18" charset="0"/>
                <a:ea typeface="宋体" panose="02010600030101010101" pitchFamily="2" charset="-122"/>
              </a:rPr>
              <a:t>not only. . . but also</a:t>
            </a:r>
            <a:r>
              <a:rPr lang="zh-CN" altLang="zh-CN" sz="2500" kern="100">
                <a:latin typeface="Times New Roman" panose="02020603050405020304" pitchFamily="18" charset="0"/>
                <a:ea typeface="宋体" panose="02010600030101010101" pitchFamily="2" charset="-122"/>
              </a:rPr>
              <a:t>合并两个句子</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③</a:t>
            </a:r>
            <a:r>
              <a:rPr lang="zh-CN" altLang="zh-CN" sz="2500" kern="100">
                <a:latin typeface="Times New Roman" panose="02020603050405020304" pitchFamily="18" charset="0"/>
                <a:ea typeface="宋体" panose="02010600030101010101" pitchFamily="2" charset="-122"/>
              </a:rPr>
              <a:t>高级句式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利用倒装句升级</a:t>
            </a:r>
            <a:r>
              <a:rPr lang="en-US" altLang="zh-CN" sz="2500" kern="100">
                <a:latin typeface="Times New Roman" panose="02020603050405020304" pitchFamily="18" charset="0"/>
                <a:ea typeface="宋体" panose="02010600030101010101" pitchFamily="2" charset="-122"/>
              </a:rPr>
              <a:t>): </a:t>
            </a: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____________________________________________________________________</a:t>
            </a:r>
            <a:endParaRPr lang="en-US" altLang="zh-CN" sz="2500" b="1" kern="100" smtClean="0">
              <a:uFill>
                <a:solidFill>
                  <a:srgbClr val="000000"/>
                </a:solidFill>
              </a:uFill>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smtClean="0">
                <a:uFill>
                  <a:solidFill>
                    <a:srgbClr val="000000"/>
                  </a:solidFill>
                </a:uFill>
                <a:latin typeface="Times New Roman" panose="02020603050405020304" pitchFamily="18" charset="0"/>
                <a:ea typeface="宋体" panose="02010600030101010101" pitchFamily="2" charset="-122"/>
              </a:rPr>
              <a:t>__________</a:t>
            </a:r>
            <a:endParaRPr lang="zh-CN" altLang="zh-CN" sz="2500" kern="100">
              <a:latin typeface="Times New Roman" panose="02020603050405020304" pitchFamily="18" charset="0"/>
              <a:ea typeface="宋体" panose="02010600030101010101" pitchFamily="2" charset="-122"/>
            </a:endParaRPr>
          </a:p>
        </p:txBody>
      </p:sp>
      <p:sp>
        <p:nvSpPr>
          <p:cNvPr id="3" name="TextBox 2" title=""/>
          <p:cNvSpPr txBox="1"/>
          <p:nvPr/>
        </p:nvSpPr>
        <p:spPr>
          <a:xfrm>
            <a:off x="4474662" y="1786750"/>
            <a:ext cx="700054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We are uncertain whether the plot is complete</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4" name="TextBox 3" title=""/>
          <p:cNvSpPr txBox="1"/>
          <p:nvPr/>
        </p:nvSpPr>
        <p:spPr>
          <a:xfrm>
            <a:off x="3199306" y="2379639"/>
            <a:ext cx="7737714"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how to use proper tones to speak the lines perfectly</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5" name="TextBox 4" title=""/>
          <p:cNvSpPr txBox="1"/>
          <p:nvPr/>
        </p:nvSpPr>
        <p:spPr>
          <a:xfrm>
            <a:off x="7410993" y="2960903"/>
            <a:ext cx="4127201"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We are not only uncertain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6" name="TextBox 5" title=""/>
          <p:cNvSpPr txBox="1"/>
          <p:nvPr/>
        </p:nvSpPr>
        <p:spPr>
          <a:xfrm>
            <a:off x="-14947" y="3429475"/>
            <a:ext cx="12503807" cy="668020"/>
          </a:xfrm>
          <a:prstGeom prst="rect">
            <a:avLst/>
          </a:prstGeom>
          <a:noFill/>
        </p:spPr>
        <p:txBody>
          <a:bodyPr vert="horz" wrap="square" rtlCol="0" anchor="b" anchorCtr="1">
            <a:spAutoFit/>
          </a:bodyPr>
          <a:lstStyle/>
          <a:p>
            <a:pPr lvl="0" algn="just">
              <a:lnSpc>
                <a:spcPct val="150000"/>
              </a:lnSpc>
            </a:pPr>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whether the plot is complete, but also we are wondering how to use proper tones to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7" name="TextBox 6" title=""/>
          <p:cNvSpPr txBox="1"/>
          <p:nvPr/>
        </p:nvSpPr>
        <p:spPr>
          <a:xfrm>
            <a:off x="217925" y="4022364"/>
            <a:ext cx="3900375" cy="668020"/>
          </a:xfrm>
          <a:prstGeom prst="rect">
            <a:avLst/>
          </a:prstGeom>
          <a:noFill/>
        </p:spPr>
        <p:txBody>
          <a:bodyPr vert="horz" wrap="square" rtlCol="0" anchor="b" anchorCtr="1">
            <a:spAutoFit/>
          </a:bodyPr>
          <a:lstStyle/>
          <a:p>
            <a:pPr lvl="0" algn="just">
              <a:lnSpc>
                <a:spcPct val="150000"/>
              </a:lnSpc>
            </a:pPr>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speak the lines perfectly.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8" name="TextBox 7" title=""/>
          <p:cNvSpPr txBox="1"/>
          <p:nvPr/>
        </p:nvSpPr>
        <p:spPr>
          <a:xfrm>
            <a:off x="4420979" y="4782747"/>
            <a:ext cx="6945157"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Not only are we uncertain whether the plot is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9" name="TextBox 8" title=""/>
          <p:cNvSpPr txBox="1"/>
          <p:nvPr/>
        </p:nvSpPr>
        <p:spPr>
          <a:xfrm>
            <a:off x="-48328" y="5183230"/>
            <a:ext cx="11919554" cy="668020"/>
          </a:xfrm>
          <a:prstGeom prst="rect">
            <a:avLst/>
          </a:prstGeom>
          <a:noFill/>
        </p:spPr>
        <p:txBody>
          <a:bodyPr vert="horz" wrap="square" rtlCol="0" anchor="b" anchorCtr="1">
            <a:spAutoFit/>
          </a:bodyPr>
          <a:lstStyle/>
          <a:p>
            <a:pPr lvl="0" algn="just">
              <a:lnSpc>
                <a:spcPct val="150000"/>
              </a:lnSpc>
            </a:pPr>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complete, but also we are wondering how to use proper tones to speak the lines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
        <p:nvSpPr>
          <p:cNvPr id="10" name="TextBox 9" title=""/>
          <p:cNvSpPr txBox="1"/>
          <p:nvPr/>
        </p:nvSpPr>
        <p:spPr>
          <a:xfrm>
            <a:off x="-9963" y="5890470"/>
            <a:ext cx="2321731" cy="475615"/>
          </a:xfrm>
          <a:prstGeom prst="rect">
            <a:avLst/>
          </a:prstGeom>
          <a:noFill/>
        </p:spPr>
        <p:txBody>
          <a:bodyPr vert="horz" wrap="square" rtlCol="0" anchor="b" anchorCtr="1">
            <a:spAutoFit/>
          </a:bodyPr>
          <a:lstStyle/>
          <a:p>
            <a:r>
              <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rPr>
              <a:t>perfectly. </a:t>
            </a:r>
            <a:endParaRPr lang="en-US" altLang="zh-CN" sz="2500" b="1" kern="100">
              <a:solidFill>
                <a:srgbClr val="FF0000"/>
              </a:solidFill>
              <a:uFill>
                <a:solidFill>
                  <a:srgbClr val="000000"/>
                </a:solidFill>
              </a:u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Step</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3</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衔接成篇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Miss Evans,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How is everything going? I’m writing to ask you for advice regarding a play that we have adapted from our textbook.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The play is about how money influences the attitude of people treating others. However, not only are we uncertain whether the plot is complete, but also we are wondering how to use proper tones to speak the lines perfectly. Hopefully, you would be so kind as to give us some guidance.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399665"/>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If it’s convenient for you, let’s meet at 8: 30 a. m. tomorrow in the school theater. We’d appreciate it if you could do us a favor.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355346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【句式储备】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开篇表意</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请求帮助</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I wonder if you could do me a favor to pick up my uncle at the airport. </a:t>
            </a:r>
            <a:r>
              <a:rPr lang="zh-CN" altLang="zh-CN" sz="2500" kern="100">
                <a:latin typeface="Times New Roman" panose="02020603050405020304" pitchFamily="18" charset="0"/>
                <a:ea typeface="宋体" panose="02010600030101010101" pitchFamily="2" charset="-122"/>
              </a:rPr>
              <a:t>我想知道你是否能帮我一个忙</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到机场接我叔叔。</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Would you like to do me a favor to have my draft polished?</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你愿意帮我润色草稿吗</a:t>
            </a:r>
            <a:r>
              <a:rPr lang="en-US" altLang="zh-CN" sz="2500" kern="100" smtClean="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en-US" altLang="zh-CN" sz="2500" b="1"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篇中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详细描述</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讲清困难</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a:latin typeface="Times New Roman" panose="02020603050405020304" pitchFamily="18" charset="0"/>
                <a:ea typeface="宋体" panose="02010600030101010101" pitchFamily="2" charset="-122"/>
              </a:rPr>
              <a:t>Faced with the above problems, I am anxious to get your help. Would you please offer me some advice on maths learning?</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面对上述问题</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我渴望得到你的帮助。你能给我一些数学学习建议吗</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a:latin typeface="Times New Roman" panose="02020603050405020304" pitchFamily="18" charset="0"/>
                <a:ea typeface="宋体" panose="02010600030101010101" pitchFamily="2" charset="-122"/>
              </a:rPr>
              <a:t>Now, I </a:t>
            </a:r>
            <a:r>
              <a:rPr lang="en-US" altLang="zh-CN" sz="2500" b="1" kern="100">
                <a:latin typeface="Times New Roman" panose="02020603050405020304" pitchFamily="18" charset="0"/>
                <a:ea typeface="宋体" panose="02010600030101010101" pitchFamily="2" charset="-122"/>
              </a:rPr>
              <a:t>struggle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a</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lot</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in</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study</a:t>
            </a:r>
            <a:r>
              <a:rPr lang="en-US" altLang="zh-CN" sz="2500" kern="100">
                <a:latin typeface="Times New Roman" panose="02020603050405020304" pitchFamily="18" charset="0"/>
                <a:ea typeface="宋体" panose="02010600030101010101" pitchFamily="2" charset="-122"/>
              </a:rPr>
              <a:t>. I’ve found that </a:t>
            </a:r>
            <a:r>
              <a:rPr lang="en-US" altLang="zh-CN" sz="2500" b="1" kern="100">
                <a:latin typeface="Times New Roman" panose="02020603050405020304" pitchFamily="18" charset="0"/>
                <a:ea typeface="宋体" panose="02010600030101010101" pitchFamily="2" charset="-122"/>
              </a:rPr>
              <a:t>hardly</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I</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take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sports</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due</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too</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much</a:t>
            </a:r>
            <a:r>
              <a:rPr lang="en-US" altLang="zh-CN" sz="2500" kern="100">
                <a:latin typeface="Times New Roman" panose="02020603050405020304" pitchFamily="18" charset="0"/>
                <a:ea typeface="宋体" panose="02010600030101010101" pitchFamily="2" charset="-122"/>
              </a:rPr>
              <a:t> </a:t>
            </a:r>
            <a:r>
              <a:rPr lang="en-US" altLang="zh-CN" sz="2500" b="1" kern="100">
                <a:latin typeface="Times New Roman" panose="02020603050405020304" pitchFamily="18" charset="0"/>
                <a:ea typeface="宋体" panose="02010600030101010101" pitchFamily="2" charset="-122"/>
              </a:rPr>
              <a:t>homework. </a:t>
            </a:r>
            <a:r>
              <a:rPr lang="zh-CN" altLang="zh-CN" sz="2500" kern="100">
                <a:latin typeface="Times New Roman" panose="02020603050405020304" pitchFamily="18" charset="0"/>
                <a:ea typeface="宋体" panose="02010600030101010101" pitchFamily="2" charset="-122"/>
              </a:rPr>
              <a:t>现在</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我在学习上很痛苦。我发现由于作业太多</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我几乎没时间运动。</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707890"/>
          </a:xfrm>
          <a:prstGeom prst="rect">
            <a:avLst/>
          </a:prstGeom>
          <a:noFill/>
        </p:spPr>
        <p:txBody>
          <a:bodyPr wrap="square" rtlCol="0">
            <a:spAutoFit/>
          </a:bodyPr>
          <a:lstStyle/>
          <a:p>
            <a:pPr algn="just">
              <a:lnSpc>
                <a:spcPct val="150000"/>
              </a:lnSpc>
              <a:spcAft>
                <a:spcPct val="0"/>
              </a:spcAft>
            </a:pPr>
            <a:r>
              <a:rPr lang="en-US" altLang="zh-CN" sz="2500" b="1" kern="100" smtClean="0">
                <a:latin typeface="Times New Roman" panose="02020603050405020304" pitchFamily="18" charset="0"/>
                <a:ea typeface="宋体" panose="02010600030101010101" pitchFamily="2" charset="-122"/>
              </a:rPr>
              <a:t>3. </a:t>
            </a:r>
            <a:r>
              <a:rPr lang="zh-CN" altLang="zh-CN" sz="2500" kern="100" smtClean="0">
                <a:latin typeface="Times New Roman" panose="02020603050405020304" pitchFamily="18" charset="0"/>
                <a:ea typeface="宋体" panose="02010600030101010101" pitchFamily="2" charset="-122"/>
              </a:rPr>
              <a:t>结尾</a:t>
            </a:r>
            <a:r>
              <a:rPr lang="en-US" altLang="zh-CN" sz="2500" kern="100" smtClean="0">
                <a:latin typeface="Times New Roman" panose="02020603050405020304" pitchFamily="18" charset="0"/>
                <a:ea typeface="宋体" panose="02010600030101010101" pitchFamily="2" charset="-122"/>
              </a:rPr>
              <a:t>——</a:t>
            </a:r>
            <a:r>
              <a:rPr lang="zh-CN" altLang="zh-CN" sz="2500" kern="100" smtClean="0">
                <a:latin typeface="Times New Roman" panose="02020603050405020304" pitchFamily="18" charset="0"/>
                <a:ea typeface="宋体" panose="02010600030101010101" pitchFamily="2" charset="-122"/>
              </a:rPr>
              <a:t>盼回复</a:t>
            </a:r>
            <a:r>
              <a:rPr lang="en-US" altLang="zh-CN" sz="2500" kern="100" smtClean="0">
                <a:latin typeface="Times New Roman" panose="02020603050405020304" pitchFamily="18" charset="0"/>
                <a:ea typeface="宋体" panose="02010600030101010101" pitchFamily="2" charset="-122"/>
              </a:rPr>
              <a:t>, </a:t>
            </a:r>
            <a:r>
              <a:rPr lang="zh-CN" altLang="zh-CN" sz="2500" kern="100" smtClean="0">
                <a:latin typeface="Times New Roman" panose="02020603050405020304" pitchFamily="18" charset="0"/>
                <a:ea typeface="宋体" panose="02010600030101010101" pitchFamily="2" charset="-122"/>
              </a:rPr>
              <a:t>希望得到帮助</a:t>
            </a:r>
            <a:endParaRPr lang="zh-CN"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cs typeface="宋体" panose="02010600030101010101" pitchFamily="2" charset="-122"/>
              </a:rPr>
              <a:t>①</a:t>
            </a:r>
            <a:r>
              <a:rPr lang="en-US" altLang="zh-CN" sz="2500" kern="100" smtClean="0">
                <a:latin typeface="Times New Roman" panose="02020603050405020304" pitchFamily="18" charset="0"/>
                <a:ea typeface="宋体" panose="02010600030101010101" pitchFamily="2" charset="-122"/>
              </a:rPr>
              <a:t>I wonder if you can help me with these difficulties. I would really appreciate it if you could help me. </a:t>
            </a:r>
            <a:endParaRPr lang="zh-CN"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我想知道你能不能帮我解决这些困难。如果你能帮助我</a:t>
            </a:r>
            <a:r>
              <a:rPr lang="en-US" altLang="zh-CN" sz="2500" kern="100" smtClean="0">
                <a:latin typeface="Times New Roman" panose="02020603050405020304" pitchFamily="18" charset="0"/>
                <a:ea typeface="宋体" panose="02010600030101010101" pitchFamily="2" charset="-122"/>
              </a:rPr>
              <a:t>, </a:t>
            </a:r>
            <a:r>
              <a:rPr lang="zh-CN" altLang="zh-CN" sz="2500" kern="100" smtClean="0">
                <a:latin typeface="Times New Roman" panose="02020603050405020304" pitchFamily="18" charset="0"/>
                <a:ea typeface="宋体" panose="02010600030101010101" pitchFamily="2" charset="-122"/>
              </a:rPr>
              <a:t>我真的很感激。</a:t>
            </a:r>
            <a:endParaRPr lang="zh-CN"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cs typeface="宋体" panose="02010600030101010101" pitchFamily="2" charset="-122"/>
              </a:rPr>
              <a:t>②</a:t>
            </a:r>
            <a:r>
              <a:rPr lang="en-US" altLang="zh-CN" sz="2500" kern="100" smtClean="0">
                <a:latin typeface="Times New Roman" panose="02020603050405020304" pitchFamily="18" charset="0"/>
                <a:ea typeface="宋体" panose="02010600030101010101" pitchFamily="2" charset="-122"/>
              </a:rPr>
              <a:t>I would appreciate it very much if you could offer me some necessary/timely help(give/lend me some practical/valuable advice). </a:t>
            </a:r>
            <a:endParaRPr lang="zh-CN" altLang="zh-CN" sz="2500" kern="100" smtClean="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smtClean="0">
                <a:latin typeface="Times New Roman" panose="02020603050405020304" pitchFamily="18" charset="0"/>
                <a:ea typeface="宋体" panose="02010600030101010101" pitchFamily="2" charset="-122"/>
              </a:rPr>
              <a:t>如果你能给我一些必要的帮助</a:t>
            </a:r>
            <a:r>
              <a:rPr lang="en-US" altLang="zh-CN" sz="2500" kern="100" smtClean="0">
                <a:latin typeface="Times New Roman" panose="02020603050405020304" pitchFamily="18" charset="0"/>
                <a:ea typeface="宋体" panose="02010600030101010101" pitchFamily="2" charset="-122"/>
              </a:rPr>
              <a:t>/</a:t>
            </a:r>
            <a:r>
              <a:rPr lang="zh-CN" altLang="zh-CN" sz="2500" kern="100" smtClean="0">
                <a:latin typeface="Times New Roman" panose="02020603050405020304" pitchFamily="18" charset="0"/>
                <a:ea typeface="宋体" panose="02010600030101010101" pitchFamily="2" charset="-122"/>
              </a:rPr>
              <a:t>及时的帮助</a:t>
            </a:r>
            <a:r>
              <a:rPr lang="en-US" altLang="zh-CN" sz="2500" kern="100" smtClean="0">
                <a:latin typeface="Times New Roman" panose="02020603050405020304" pitchFamily="18" charset="0"/>
                <a:ea typeface="宋体" panose="02010600030101010101" pitchFamily="2" charset="-122"/>
              </a:rPr>
              <a:t>(</a:t>
            </a:r>
            <a:r>
              <a:rPr lang="zh-CN" altLang="zh-CN" sz="2500" kern="100" smtClean="0">
                <a:latin typeface="Times New Roman" panose="02020603050405020304" pitchFamily="18" charset="0"/>
                <a:ea typeface="宋体" panose="02010600030101010101" pitchFamily="2" charset="-122"/>
              </a:rPr>
              <a:t>给我一些实用的</a:t>
            </a:r>
            <a:r>
              <a:rPr lang="en-US" altLang="zh-CN" sz="2500" kern="100" smtClean="0">
                <a:latin typeface="Times New Roman" panose="02020603050405020304" pitchFamily="18" charset="0"/>
                <a:ea typeface="宋体" panose="02010600030101010101" pitchFamily="2" charset="-122"/>
              </a:rPr>
              <a:t>/</a:t>
            </a:r>
            <a:r>
              <a:rPr lang="zh-CN" altLang="zh-CN" sz="2500" kern="100" smtClean="0">
                <a:latin typeface="Times New Roman" panose="02020603050405020304" pitchFamily="18" charset="0"/>
                <a:ea typeface="宋体" panose="02010600030101010101" pitchFamily="2" charset="-122"/>
              </a:rPr>
              <a:t>有价值的建议</a:t>
            </a:r>
            <a:r>
              <a:rPr lang="en-US" altLang="zh-CN" sz="2500" kern="100" smtClean="0">
                <a:latin typeface="Times New Roman" panose="02020603050405020304" pitchFamily="18" charset="0"/>
                <a:ea typeface="宋体" panose="02010600030101010101" pitchFamily="2" charset="-122"/>
              </a:rPr>
              <a:t>)</a:t>
            </a:r>
            <a:r>
              <a:rPr lang="zh-CN" altLang="zh-CN" sz="2500" kern="100" smtClean="0">
                <a:latin typeface="Times New Roman" panose="02020603050405020304" pitchFamily="18" charset="0"/>
                <a:ea typeface="宋体" panose="02010600030101010101" pitchFamily="2" charset="-122"/>
              </a:rPr>
              <a:t>我会很感激。</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534900" y="10998200"/>
            <a:ext cx="0" cy="0"/>
          </a:xfrm>
          <a:prstGeom prst="rect">
            <a:avLst/>
          </a:prstGeom>
          <a:ln>
            <a:noFill/>
          </a:ln>
        </p:spPr>
      </p:pic>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5862320"/>
          </a:xfrm>
          <a:prstGeom prst="rect">
            <a:avLst/>
          </a:prstGeom>
          <a:noFill/>
        </p:spPr>
        <p:txBody>
          <a:bodyPr wrap="square" rtlCol="0">
            <a:spAutoFit/>
          </a:bodyPr>
          <a:lstStyle/>
          <a:p>
            <a:pPr algn="ctr">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【拓展训练】</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假定你是李华。最近你校英语俱乐部将举办主题为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魅力中国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的演讲比赛</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请给你的外教</a:t>
            </a:r>
            <a:r>
              <a:rPr lang="en-US" altLang="zh-CN" sz="2500" kern="100" err="1">
                <a:latin typeface="Times New Roman" panose="02020603050405020304" pitchFamily="18" charset="0"/>
                <a:ea typeface="宋体" panose="02010600030101010101" pitchFamily="2" charset="-122"/>
              </a:rPr>
              <a:t>Cheslie </a:t>
            </a:r>
            <a:r>
              <a:rPr lang="zh-CN" altLang="zh-CN" sz="2500" kern="100">
                <a:latin typeface="Times New Roman" panose="02020603050405020304" pitchFamily="18" charset="0"/>
                <a:ea typeface="宋体" panose="02010600030101010101" pitchFamily="2" charset="-122"/>
              </a:rPr>
              <a:t>写一封电子邮件</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请她帮助润色你的演讲稿并给予你有关演讲技巧的指导。内容包括</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写信原因</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你的困惑</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3. </a:t>
            </a:r>
            <a:r>
              <a:rPr lang="zh-CN" altLang="zh-CN" sz="2500" kern="100">
                <a:latin typeface="Times New Roman" panose="02020603050405020304" pitchFamily="18" charset="0"/>
                <a:ea typeface="宋体" panose="02010600030101010101" pitchFamily="2" charset="-122"/>
              </a:rPr>
              <a:t>请求帮助。</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注意</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1. </a:t>
            </a:r>
            <a:r>
              <a:rPr lang="zh-CN" altLang="zh-CN" sz="2500" kern="100">
                <a:latin typeface="Times New Roman" panose="02020603050405020304" pitchFamily="18" charset="0"/>
                <a:ea typeface="宋体" panose="02010600030101010101" pitchFamily="2" charset="-122"/>
              </a:rPr>
              <a:t>写作词数应为</a:t>
            </a:r>
            <a:r>
              <a:rPr lang="en-US" altLang="zh-CN" sz="2500" kern="100">
                <a:latin typeface="Times New Roman" panose="02020603050405020304" pitchFamily="18" charset="0"/>
                <a:ea typeface="宋体" panose="02010600030101010101" pitchFamily="2" charset="-122"/>
              </a:rPr>
              <a:t>80</a:t>
            </a:r>
            <a:r>
              <a:rPr lang="zh-CN" altLang="zh-CN" sz="2500" kern="100">
                <a:latin typeface="Times New Roman" panose="02020603050405020304" pitchFamily="18" charset="0"/>
                <a:ea typeface="宋体" panose="02010600030101010101" pitchFamily="2" charset="-122"/>
              </a:rPr>
              <a:t>左右</a:t>
            </a:r>
            <a:r>
              <a:rPr lang="en-US" altLang="zh-CN" sz="2500" kern="100">
                <a:latin typeface="Times New Roman" panose="02020603050405020304" pitchFamily="18" charset="0"/>
                <a:ea typeface="宋体" panose="02010600030101010101" pitchFamily="2" charset="-122"/>
              </a:rPr>
              <a:t>;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2. </a:t>
            </a:r>
            <a:r>
              <a:rPr lang="zh-CN" altLang="zh-CN" sz="2500" kern="100">
                <a:latin typeface="Times New Roman" panose="02020603050405020304" pitchFamily="18" charset="0"/>
                <a:ea typeface="宋体" panose="02010600030101010101" pitchFamily="2" charset="-122"/>
              </a:rPr>
              <a:t>可适当增加细节</a:t>
            </a:r>
            <a:r>
              <a:rPr lang="en-US" altLang="zh-CN" sz="2500" kern="100">
                <a:latin typeface="Times New Roman" panose="02020603050405020304" pitchFamily="18" charset="0"/>
                <a:ea typeface="宋体" panose="02010600030101010101" pitchFamily="2" charset="-122"/>
              </a:rPr>
              <a:t>, </a:t>
            </a:r>
            <a:r>
              <a:rPr lang="zh-CN" altLang="zh-CN" sz="2500" kern="100">
                <a:latin typeface="Times New Roman" panose="02020603050405020304" pitchFamily="18" charset="0"/>
                <a:ea typeface="宋体" panose="02010600030101010101" pitchFamily="2" charset="-122"/>
              </a:rPr>
              <a:t>以使行文连贯。</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4130675"/>
          </a:xfrm>
          <a:prstGeom prst="rect">
            <a:avLst/>
          </a:prstGeom>
          <a:noFill/>
        </p:spPr>
        <p:txBody>
          <a:bodyPr wrap="square" rtlCol="0">
            <a:spAutoFit/>
          </a:bodyPr>
          <a:lstStyle/>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Cheslie,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am writing to ask you to do me a favor. </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nSpc>
                <a:spcPct val="150000"/>
              </a:lnSpc>
            </a:pPr>
            <a:r>
              <a:rPr lang="en-US" altLang="zh-CN" sz="2500" kern="100">
                <a:latin typeface="Times New Roman" panose="02020603050405020304" pitchFamily="18" charset="0"/>
                <a:ea typeface="宋体" panose="02010600030101010101" pitchFamily="2" charset="-122"/>
              </a:rPr>
              <a:t>_________________________________________________________________</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sincerely,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28184"/>
            <a:ext cx="11701662"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【参考范文】</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Dear Cheslie,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I am writing to ask you to do me a favor. I’ll participate in an English speech contest with the title “Charming China”. I’ve finished my speech draft, but I find it far from satisfactory. </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255757" y="687742"/>
            <a:ext cx="11701662" cy="4707890"/>
          </a:xfrm>
          <a:prstGeom prst="rect">
            <a:avLst/>
          </a:prstGeom>
          <a:noFill/>
        </p:spPr>
        <p:txBody>
          <a:bodyPr wrap="square" rtlCol="0">
            <a:spAutoFit/>
          </a:bodyPr>
          <a:lstStyle/>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Firstly, I’m not sure of some proper expressions in English and not aware of the mistakes in grammar and sentence structures. Would you please go through the attachment to this email and then help me correct the mistakes and polish the speech draft? Besides, I am pretty nervous about the speech, so I’d like you to offer me some presentation skills, which can improve my performance. I’d appreciate it if you could give me your guidance.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b="1" kern="100">
                <a:latin typeface="Times New Roman" panose="02020603050405020304" pitchFamily="18" charset="0"/>
                <a:ea typeface="宋体" panose="02010600030101010101" pitchFamily="2" charset="-122"/>
              </a:rPr>
              <a:t>　　</a:t>
            </a:r>
            <a:r>
              <a:rPr lang="en-US" altLang="zh-CN" sz="2500" kern="100">
                <a:latin typeface="Times New Roman" panose="02020603050405020304" pitchFamily="18" charset="0"/>
                <a:ea typeface="宋体" panose="02010600030101010101" pitchFamily="2" charset="-122"/>
              </a:rPr>
              <a:t>Looking forward to your early reply!</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Yours sincerely, </a:t>
            </a:r>
            <a:endParaRPr lang="zh-CN" altLang="zh-CN" sz="2500" kern="100">
              <a:latin typeface="Times New Roman" panose="02020603050405020304" pitchFamily="18" charset="0"/>
              <a:ea typeface="宋体" panose="02010600030101010101" pitchFamily="2" charset="-122"/>
            </a:endParaRPr>
          </a:p>
          <a:p>
            <a:pPr algn="r">
              <a:lnSpc>
                <a:spcPct val="150000"/>
              </a:lnSpc>
              <a:spcAft>
                <a:spcPct val="0"/>
              </a:spcAft>
            </a:pPr>
            <a:r>
              <a:rPr lang="en-US" altLang="zh-CN" sz="2500" kern="100">
                <a:latin typeface="Times New Roman" panose="02020603050405020304" pitchFamily="18" charset="0"/>
                <a:ea typeface="宋体" panose="02010600030101010101" pitchFamily="2" charset="-122"/>
              </a:rPr>
              <a:t>Li Hua</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4_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等线 Light"/>
        <a:ea typeface="宋体"/>
        <a:cs typeface="Arial"/>
      </a:majorFont>
      <a:minorFont>
        <a:latin typeface="等线"/>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117235" tIns="58618" rIns="117235" bIns="58618" numCol="1" anchor="t" anchorCtr="0" compatLnSpc="1">
        <a:spAutoFit/>
      </a:bodyPr>
      <a:lstStyle>
        <a:defPPr marL="0" marR="0" indent="0" algn="just" defTabSz="1171575" rtl="0" eaLnBrk="1" fontAlgn="base" latinLnBrk="0" hangingPunct="1">
          <a:lnSpc>
            <a:spcPct val="150000"/>
          </a:lnSpc>
          <a:spcBef>
            <a:spcPct val="0"/>
          </a:spcBef>
          <a:spcAft>
            <a:spcPct val="0"/>
          </a:spcAft>
          <a:buClrTx/>
          <a:buSzTx/>
          <a:buFontTx/>
          <a:buNone/>
          <a:defRPr kumimoji="0" lang="zh-CN" altLang="en-US" sz="2600" b="0" i="0" u="none" strike="noStrike" cap="none" normalizeH="0" baseline="0" smtClean="0">
            <a:ln>
              <a:noFill/>
            </a:ln>
            <a:solidFill>
              <a:srgbClr val="000000"/>
            </a:solidFill>
            <a:effectLst/>
            <a:latin typeface="Times New Roman" panose="02020603050405020304" pitchFamily="18" charset="0"/>
            <a:ea typeface="微软雅黑" panose="020B0503020204020204" charset="-122"/>
            <a:cs typeface="Times New Roman" panose="02020603050405020304" pitchFamily="18" charset="0"/>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78</Paragraphs>
  <Slides>14</Slides>
  <Notes>14</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14</vt:i4>
      </vt:variant>
    </vt:vector>
  </HeadingPairs>
  <TitlesOfParts>
    <vt:vector baseType="lpstr" size="22">
      <vt:lpstr>Arial</vt:lpstr>
      <vt:lpstr>等线 Light</vt:lpstr>
      <vt:lpstr>宋体</vt:lpstr>
      <vt:lpstr>等线</vt:lpstr>
      <vt:lpstr>Calibri Light</vt:lpstr>
      <vt:lpstr>Calibri</vt:lpstr>
      <vt:lpstr>Times New Roman</vt:lpstr>
      <vt:lpstr>4_Office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2024-05-28T18:06:05.724</cp:lastPrinted>
  <dcterms:created xsi:type="dcterms:W3CDTF">2024-05-28T18:06:05Z</dcterms:created>
  <dcterms:modified xsi:type="dcterms:W3CDTF">2024-05-28T10:06:05Z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