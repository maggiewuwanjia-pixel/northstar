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7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tags" Target="tags/tag65.xml" /><Relationship Id="rId28" Type="http://schemas.openxmlformats.org/officeDocument/2006/relationships/presProps" Target="presProps.xml" /><Relationship Id="rId29" Type="http://schemas.openxmlformats.org/officeDocument/2006/relationships/viewProps" Target="viewProps.xml" /><Relationship Id="rId3" Type="http://schemas.openxmlformats.org/officeDocument/2006/relationships/handoutMaster" Target="handoutMasters/handoutMaster1.xml" /><Relationship Id="rId30" Type="http://schemas.openxmlformats.org/officeDocument/2006/relationships/theme" Target="theme/theme1.xml" /><Relationship Id="rId31" Type="http://schemas.openxmlformats.org/officeDocument/2006/relationships/tableStyles" Target="tableStyles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tags" Target="../tags/tag5.xml" /><Relationship Id="rId6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.xml" /><Relationship Id="rId2" Type="http://schemas.openxmlformats.org/officeDocument/2006/relationships/tags" Target="../tags/tag7.xml" /><Relationship Id="rId3" Type="http://schemas.openxmlformats.org/officeDocument/2006/relationships/tags" Target="../tags/tag8.xml" /><Relationship Id="rId4" Type="http://schemas.openxmlformats.org/officeDocument/2006/relationships/tags" Target="../tags/tag9.xml" /><Relationship Id="rId5" Type="http://schemas.openxmlformats.org/officeDocument/2006/relationships/tags" Target="../tags/tag10.xml" /><Relationship Id="rId6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1.xml" /><Relationship Id="rId2" Type="http://schemas.openxmlformats.org/officeDocument/2006/relationships/tags" Target="../tags/tag12.xml" /><Relationship Id="rId3" Type="http://schemas.openxmlformats.org/officeDocument/2006/relationships/tags" Target="../tags/tag13.xml" /><Relationship Id="rId4" Type="http://schemas.openxmlformats.org/officeDocument/2006/relationships/tags" Target="../tags/tag14.xml" /><Relationship Id="rId5" Type="http://schemas.openxmlformats.org/officeDocument/2006/relationships/tags" Target="../tags/tag15.xml" /><Relationship Id="rId6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6.xml" /><Relationship Id="rId2" Type="http://schemas.openxmlformats.org/officeDocument/2006/relationships/tags" Target="../tags/tag17.xml" /><Relationship Id="rId3" Type="http://schemas.openxmlformats.org/officeDocument/2006/relationships/tags" Target="../tags/tag18.xml" /><Relationship Id="rId4" Type="http://schemas.openxmlformats.org/officeDocument/2006/relationships/tags" Target="../tags/tag19.xml" /><Relationship Id="rId5" Type="http://schemas.openxmlformats.org/officeDocument/2006/relationships/tags" Target="../tags/tag20.xml" /><Relationship Id="rId6" Type="http://schemas.openxmlformats.org/officeDocument/2006/relationships/tags" Target="../tags/tag21.xml" /><Relationship Id="rId7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2.xml" /><Relationship Id="rId2" Type="http://schemas.openxmlformats.org/officeDocument/2006/relationships/tags" Target="../tags/tag23.xml" /><Relationship Id="rId3" Type="http://schemas.openxmlformats.org/officeDocument/2006/relationships/tags" Target="../tags/tag24.xml" /><Relationship Id="rId4" Type="http://schemas.openxmlformats.org/officeDocument/2006/relationships/tags" Target="../tags/tag25.xml" /><Relationship Id="rId5" Type="http://schemas.openxmlformats.org/officeDocument/2006/relationships/tags" Target="../tags/tag26.xml" /><Relationship Id="rId6" Type="http://schemas.openxmlformats.org/officeDocument/2006/relationships/tags" Target="../tags/tag27.xml" /><Relationship Id="rId7" Type="http://schemas.openxmlformats.org/officeDocument/2006/relationships/tags" Target="../tags/tag28.xml" /><Relationship Id="rId8" Type="http://schemas.openxmlformats.org/officeDocument/2006/relationships/tags" Target="../tags/tag29.xml" /><Relationship Id="rId9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0.xml" /><Relationship Id="rId2" Type="http://schemas.openxmlformats.org/officeDocument/2006/relationships/tags" Target="../tags/tag31.xml" /><Relationship Id="rId3" Type="http://schemas.openxmlformats.org/officeDocument/2006/relationships/tags" Target="../tags/tag32.xml" /><Relationship Id="rId4" Type="http://schemas.openxmlformats.org/officeDocument/2006/relationships/tags" Target="../tags/tag33.xml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4.xml" /><Relationship Id="rId2" Type="http://schemas.openxmlformats.org/officeDocument/2006/relationships/tags" Target="../tags/tag35.xml" /><Relationship Id="rId3" Type="http://schemas.openxmlformats.org/officeDocument/2006/relationships/tags" Target="../tags/tag36.xml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7.xml" /><Relationship Id="rId2" Type="http://schemas.openxmlformats.org/officeDocument/2006/relationships/tags" Target="../tags/tag38.xml" /><Relationship Id="rId3" Type="http://schemas.openxmlformats.org/officeDocument/2006/relationships/tags" Target="../tags/tag39.xml" /><Relationship Id="rId4" Type="http://schemas.openxmlformats.org/officeDocument/2006/relationships/tags" Target="../tags/tag40.xml" /><Relationship Id="rId5" Type="http://schemas.openxmlformats.org/officeDocument/2006/relationships/tags" Target="../tags/tag41.xml" /><Relationship Id="rId6" Type="http://schemas.openxmlformats.org/officeDocument/2006/relationships/tags" Target="../tags/tag42.xml" /><Relationship Id="rId7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3.xml" /><Relationship Id="rId2" Type="http://schemas.openxmlformats.org/officeDocument/2006/relationships/tags" Target="../tags/tag44.xml" /><Relationship Id="rId3" Type="http://schemas.openxmlformats.org/officeDocument/2006/relationships/tags" Target="../tags/tag45.xml" /><Relationship Id="rId4" Type="http://schemas.openxmlformats.org/officeDocument/2006/relationships/tags" Target="../tags/tag46.xml" /><Relationship Id="rId5" Type="http://schemas.openxmlformats.org/officeDocument/2006/relationships/tags" Target="../tags/tag47.xml" /><Relationship Id="rId6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8.xml" /><Relationship Id="rId2" Type="http://schemas.openxmlformats.org/officeDocument/2006/relationships/tags" Target="../tags/tag49.xml" /><Relationship Id="rId3" Type="http://schemas.openxmlformats.org/officeDocument/2006/relationships/tags" Target="../tags/tag50.xml" /><Relationship Id="rId4" Type="http://schemas.openxmlformats.org/officeDocument/2006/relationships/tags" Target="../tags/tag51.xml" /><Relationship Id="rId5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2.xml" /><Relationship Id="rId2" Type="http://schemas.openxmlformats.org/officeDocument/2006/relationships/tags" Target="../tags/tag53.xml" /><Relationship Id="rId3" Type="http://schemas.openxmlformats.org/officeDocument/2006/relationships/tags" Target="../tags/tag54.xml" /><Relationship Id="rId4" Type="http://schemas.openxmlformats.org/officeDocument/2006/relationships/tags" Target="../tags/tag55.xml" /><Relationship Id="rId5" Type="http://schemas.openxmlformats.org/officeDocument/2006/relationships/tags" Target="../tags/tag56.xml" /><Relationship Id="rId6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ags" Target="../tags/tag57.xml" /><Relationship Id="rId13" Type="http://schemas.openxmlformats.org/officeDocument/2006/relationships/tags" Target="../tags/tag58.xml" /><Relationship Id="rId14" Type="http://schemas.openxmlformats.org/officeDocument/2006/relationships/tags" Target="../tags/tag59.xml" /><Relationship Id="rId15" Type="http://schemas.openxmlformats.org/officeDocument/2006/relationships/tags" Target="../tags/tag60.xml" /><Relationship Id="rId16" Type="http://schemas.openxmlformats.org/officeDocument/2006/relationships/tags" Target="../tags/tag61.xml" /><Relationship Id="rId17" Type="http://schemas.openxmlformats.org/officeDocument/2006/relationships/image" Target="file:///D:\qq&#25991;&#20214;\712321467\Image\C2C\Image2\%7b75232B38-A165-1FB7-499C-2E1C792CACB5%7d.png" TargetMode="External" /><Relationship Id="rId18" Type="http://schemas.openxmlformats.org/officeDocument/2006/relationships/image" Target="../media/image1.png" /><Relationship Id="rId19" Type="http://schemas.openxmlformats.org/officeDocument/2006/relationships/image" Target="../media/image2.jpeg" /><Relationship Id="rId2" Type="http://schemas.openxmlformats.org/officeDocument/2006/relationships/slideLayout" Target="../slideLayouts/slideLayout2.xml" /><Relationship Id="rId20" Type="http://schemas.openxmlformats.org/officeDocument/2006/relationships/tags" Target="../tags/tag62.xml" /><Relationship Id="rId21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0</a:t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/>
        </p:nvPicPr>
        <p:blipFill>
          <a:blip r:embed="rId18" r:link="rId17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63.xml" /><Relationship Id="rId3" Type="http://schemas.openxmlformats.org/officeDocument/2006/relationships/image" Target="../media/image3.jpeg" /><Relationship Id="rId4" Type="http://schemas.openxmlformats.org/officeDocument/2006/relationships/tags" Target="../tags/tag64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3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4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5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6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7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8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9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0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1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3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4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5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6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7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8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9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0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1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副标题 2" title="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2087835"/>
            <a:ext cx="9799200" cy="1472400"/>
          </a:xfrm>
        </p:spPr>
        <p:txBody>
          <a:bodyPr/>
          <a:lstStyle/>
          <a:p>
            <a:r>
              <a:rPr lang="zh-CN" altLang="en-US" sz="4000" b="1">
                <a:latin typeface="Times New Roman" panose="02020603050405020304" pitchFamily="18" charset="0"/>
                <a:ea typeface="宋体" panose="02010600030101010101" pitchFamily="2" charset="-122"/>
              </a:rPr>
              <a:t>表达的多样与扩充</a:t>
            </a:r>
            <a:endParaRPr lang="zh-CN" altLang="en-US" sz="40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358775" y="721360"/>
            <a:ext cx="11452225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句子形式多样化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根据表达的需求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可以采用多种句式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这样既能恰当表达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又能避免形式单一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They were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heavy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that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如此沉重以至于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)we couldn’t lift them at first.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There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no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doubt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that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毫无疑问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it is unwise to depend completely on the ratings in consumption.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1" y="721184"/>
            <a:ext cx="11993955" cy="586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In recent years, more and more people start to protect our environment,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which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makes our environment more and more colorful.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__________________________________________________________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our environment is becoming more and more colorful.(with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复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合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结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构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→In recent years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who start to protect our environment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that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our environment is becoming more and more colorful.(there be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句式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If you study hard, you will make rapid progress.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并列句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587905" y="2495892"/>
            <a:ext cx="1014720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In recent years, with more and more people starting to protect our 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552979" y="3077155"/>
            <a:ext cx="2079365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environment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2864086" y="4251307"/>
            <a:ext cx="3897551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there are so many people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Box 5" title=""/>
          <p:cNvSpPr txBox="1"/>
          <p:nvPr/>
        </p:nvSpPr>
        <p:spPr>
          <a:xfrm>
            <a:off x="761007" y="6006723"/>
            <a:ext cx="703418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Study hard and you will make rapid progress.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413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使用非谓语动词形式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句子凝练高端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After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learning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course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学过这门课程后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I’m sure I’ll have a better understanding of the differences and similarities between Chinese culture and Western culture.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arriving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tea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house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一到达茶室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the foreign students were impressed by the unique tea pots and tea cups.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297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She walked out of the lab and many students followed her.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→She walked out of the lab,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非谓语动词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They sang and laughed as they went back to school.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→They went back to school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非谓语动词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3959235" y="1903003"/>
            <a:ext cx="4822826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followed by many students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4007472" y="3077155"/>
            <a:ext cx="381958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singing and laughing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413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运用定语从句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增加细节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填补内容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Material collecting took us a whole week,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during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which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在此期间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)we interviewed our teachers and took pictures of every aspect of school life.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am eager to invite you to join our team for the upcoming event,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which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在活动中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)you will demonstrate your ability and make acquaintance with more friends with the same interest.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1" y="721184"/>
            <a:ext cx="11900953" cy="413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Besides, there will be a lot of useful and interesting activities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 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从中你对中国文化会有更清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晰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认识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have found a flat for you on Fangcao Street near Jianxin Chinese School.It is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on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the third floor with three rooms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其中一个是卧室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and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the other two are bathroom and kitchen.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8649200" y="1361597"/>
            <a:ext cx="3069071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from which you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-354364" y="1942860"/>
            <a:ext cx="828840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can have a clearer picture of Chinese culture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4673679" y="3709901"/>
            <a:ext cx="462621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one of which is bedroom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巧用倒装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增强句子的表现力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Not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only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will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our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club’s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works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displayed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不仅我们俱乐部的作品会被展出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but we also have a valuable set of paper-cutting created by a famous artist of this field.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Not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only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did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you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help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improve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my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English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你不但帮我提升了英语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but you also gave me more confidence in learning.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Next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came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moment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when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asked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them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have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try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themselves.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接下来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我让他们自己试一试。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297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Though I’m weak, I’ll make the effort.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I’ll make the effort.(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倒装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He had no sooner come back from Beijing than he was sent abroad.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than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he was sent abroad.(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倒装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781540" y="1903003"/>
            <a:ext cx="3575288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Weak as/though I am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574620" y="3077155"/>
            <a:ext cx="6918697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No sooner had he come back from Beijing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5.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恰当使用强调句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增强说服力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was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you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who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taught me how to learn English well.(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是你教我如何学好英语的。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was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on Friday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that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our activity began.(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我们的活动是在星期五开始的。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2020527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He did not know what had happened until he had read the news in the newspaper.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he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had read the news in the newspaper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he knew what had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happened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强调句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working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in teams instead of on my own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has freed me of trouble and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made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my work more efficient.(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强调句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657658" y="1956146"/>
            <a:ext cx="300928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It was not until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849641" y="3130298"/>
            <a:ext cx="997781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It is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8370194" y="1969432"/>
            <a:ext cx="102302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that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Box 5" title=""/>
          <p:cNvSpPr txBox="1"/>
          <p:nvPr/>
        </p:nvSpPr>
        <p:spPr>
          <a:xfrm>
            <a:off x="6893785" y="3117012"/>
            <a:ext cx="102302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that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6.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自如应用各种名词性从句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精彩纷呈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If you are interested in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what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I have stated above(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如果你对我上面所说的感兴趣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sign up on our school website before September 1st.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That’s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why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I think the trip along the Yangtze River will be a better choice.(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那就是我认为沿长江旅行将是一个更好的选择的原因。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1" y="1209446"/>
            <a:ext cx="12060385" cy="297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To his surprise, the little girl knows so many things.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is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that the little girl knows so many things.(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主语从句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have just found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___________________________________________________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我那天下午得参加一个重要会议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796552" y="2404550"/>
            <a:ext cx="338251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What surprises him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2756849" y="2997439"/>
            <a:ext cx="922714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that I have to attend an important meeting that afternoon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1874500" y="108712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1157132"/>
            <a:ext cx="11276510" cy="297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7.with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without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精彩点缀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妙不可言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With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many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different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forms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of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poetry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choose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from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有这么多不同形式的诗可供选择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students may eventually want to write poems of their own.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Without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any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hesitation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毫不延迟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we began to work.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1" y="1366387"/>
            <a:ext cx="12140102" cy="297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As an old saying goes, living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没有清晰可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达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的目标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is like sailing without a compass.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can’t thank you enough for your generous help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没有这些帮助我不能获得这么大的进步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4391784" y="2025898"/>
            <a:ext cx="586427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without a clear and achievable aim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6968518" y="3188425"/>
            <a:ext cx="5081903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without which I couldn’t have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350515" y="3781313"/>
            <a:ext cx="4437341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 made such great progress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8.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巧用副词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充分表情达意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am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extremely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delighted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非常高兴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to hear that you have been admitted into a key university.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genuinely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hope 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真心希望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)that you can squeeze some time for our festival and have fun with us.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She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耐心地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explained all the rules to the students and required everyone to follow them.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We were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完全地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satisfied with the result of the experiment.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1190231" y="1374883"/>
            <a:ext cx="210689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patiently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1843435" y="2479283"/>
            <a:ext cx="2102513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perfectly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9.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变主动为被动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凸显英语思维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My father gave me a new book on my birthday.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→I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was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given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a new book (by my father) on my birthday.(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间接宾语作主语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→A new book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was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given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to me (by my father) on my birthday.(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直接宾语作主语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And some world-famous players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will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invited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将会被邀请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)to give lessons.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At most five books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可以被借用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at a time and they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可以被保存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for ten days.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被允许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)about ten minutes to prepare for the work.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3261718" y="1374883"/>
            <a:ext cx="3102286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can be borrowed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416547" y="1956146"/>
            <a:ext cx="2189476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can be kept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1388992" y="2549035"/>
            <a:ext cx="229063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are allowed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1" y="721184"/>
            <a:ext cx="11781379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10.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语气委婉而中肯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易于接受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If you have further questions,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please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feel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free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let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me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know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请随时告诉我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sincerely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hope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真诚地希望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you can set aside some time for the art feast.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wonder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你能否告诉我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what books I need to read and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the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requirements of my homework.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What do you think of it? Are you satisfied with it? If not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 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请尽快告诉我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1826299" y="3696615"/>
            <a:ext cx="367132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if you could tell me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8011470" y="4859142"/>
            <a:ext cx="3135501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please tell me as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199036" y="5452031"/>
            <a:ext cx="3601019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quickly as possible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1" y="721184"/>
            <a:ext cx="11807951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【语篇填空】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根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据所给信息补全短文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并注意高级句式的应用。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假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定你是李华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你校的交换生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Tom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对中国的民间艺术很感兴趣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本周五学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校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要举办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校园文化节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”,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请你写一封电子邮件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邀请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Tom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去体验编织艺术。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Dear Tom,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       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好消息来了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).The Campus Culture Festival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will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be hosted this Friday.Since you have a strong passion for Chinese folk art, it’s a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great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pleasure for me to invite you to join us.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820411" y="3670044"/>
            <a:ext cx="545059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Here comes a piece of good news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1" y="721184"/>
            <a:ext cx="11794665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The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activity is scheduled to last about two hours, from 3:30 pm to 5:30 pm in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the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school hall.It covers a wide variety of contents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 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____________________________________________________________________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我们不仅能够欣赏到许多吸引人的编织艺术作品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从桌椅到各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种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装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饰品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不一而足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but also we’ll watch the documentary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关于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the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history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of the weaving art.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7216586" y="1361597"/>
            <a:ext cx="4120757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Not only can we appreciate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383634" y="1750455"/>
            <a:ext cx="11613643" cy="668020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numerous appealing weaving works ranging from chairs and tables to various 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578330" y="2535749"/>
            <a:ext cx="186591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decorations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Box 5" title=""/>
          <p:cNvSpPr txBox="1"/>
          <p:nvPr/>
        </p:nvSpPr>
        <p:spPr>
          <a:xfrm>
            <a:off x="8219423" y="3117012"/>
            <a:ext cx="1789577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concerning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481619" y="721184"/>
            <a:ext cx="11555517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In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addition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一些著名教授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)will be invited to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deliver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lectures about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如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何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促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进编织艺术的发展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在这期间你一定会对它有更好的了解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).By the way, if you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are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available, we’ll meet at three outside the school gate.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      __________________________________________________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我多么希望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你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能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考虑一下我的邀请啊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)! I’m expecting your reply.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Yours,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Li Hua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2312474" y="767048"/>
            <a:ext cx="4721768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some distinguished professors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3093373" y="1348311"/>
            <a:ext cx="801933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how to promote the development of the weaving art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3484259" y="1929575"/>
            <a:ext cx="7888576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during which time you will definitely gain a better 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Box 5" title=""/>
          <p:cNvSpPr txBox="1"/>
          <p:nvPr/>
        </p:nvSpPr>
        <p:spPr>
          <a:xfrm>
            <a:off x="481952" y="2522463"/>
            <a:ext cx="3104941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understanding of it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Box 6" title=""/>
          <p:cNvSpPr txBox="1"/>
          <p:nvPr/>
        </p:nvSpPr>
        <p:spPr>
          <a:xfrm>
            <a:off x="661797" y="3696615"/>
            <a:ext cx="892989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How I hope you can take my invitation into consideration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tags/tag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custom20205081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SHOW_EDIT_AREA_INDICATION" val="1"/>
  <p:tag name="KSO_WM_UNIT_TYPE" val="b"/>
  <p:tag name="KSO_WM_UNIT_VALUE" val="111"/>
</p:tagLst>
</file>

<file path=ppt/tags/tag64.xml><?xml version="1.0" encoding="utf-8"?>
<p:tagLst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5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ZjgyZmZhYjFlODliMjVlMjhmZmU1Y2ZlZmViZTBiYWYifQ=="/>
</p:tagLst>
</file>

<file path=ppt/theme/theme1.xml><?xml version="1.0" encoding="utf-8"?>
<a:theme xmlns:r="http://schemas.openxmlformats.org/officeDocument/2006/relationships"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160</Paragraphs>
  <Slides>23</Slides>
  <Notes>22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baseType="lpstr" size="31">
      <vt:lpstr>Arial</vt:lpstr>
      <vt:lpstr>微软雅黑</vt:lpstr>
      <vt:lpstr>Wingdings</vt:lpstr>
      <vt:lpstr>Calibri Light</vt:lpstr>
      <vt:lpstr>Calibri</vt:lpstr>
      <vt:lpstr>Times New Roman</vt:lpstr>
      <vt:lpstr>宋体</vt:lpstr>
      <vt:lpstr>WPS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2024-05-29T16:38:05.557</cp:lastPrinted>
  <dcterms:created xsi:type="dcterms:W3CDTF">2024-05-29T16:38:05Z</dcterms:created>
  <dcterms:modified xsi:type="dcterms:W3CDTF">2024-05-29T08:38:05Z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