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tags" Target="tags/tag65.xml" /><Relationship Id="rId25" Type="http://schemas.openxmlformats.org/officeDocument/2006/relationships/presProps" Target="presProps.xml" /><Relationship Id="rId26" Type="http://schemas.openxmlformats.org/officeDocument/2006/relationships/viewProps" Target="viewProps.xml" /><Relationship Id="rId27" Type="http://schemas.openxmlformats.org/officeDocument/2006/relationships/theme" Target="theme/theme1.xml" /><Relationship Id="rId28"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4.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554400" y="1956390"/>
            <a:ext cx="9799200" cy="1472400"/>
          </a:xfrm>
        </p:spPr>
        <p:txBody>
          <a:bodyPr/>
          <a:lstStyle/>
          <a:p>
            <a:r>
              <a:rPr lang="zh-CN" altLang="en-US" sz="4800">
                <a:latin typeface="Times New Roman" panose="02020603050405020304" pitchFamily="18" charset="0"/>
                <a:ea typeface="宋体" panose="02010600030101010101" pitchFamily="2" charset="-122"/>
              </a:rPr>
              <a:t>读后续写作基本技法</a:t>
            </a:r>
            <a:endParaRPr lang="zh-CN" altLang="en-US" sz="48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(2021·</a:t>
            </a:r>
            <a:r>
              <a:rPr lang="zh-CN" altLang="zh-CN" sz="2500" kern="100">
                <a:latin typeface="Times New Roman" panose="02020603050405020304" pitchFamily="18" charset="0"/>
                <a:ea typeface="宋体" panose="02010600030101010101" pitchFamily="2" charset="-122"/>
              </a:rPr>
              <a:t>新高考</a:t>
            </a:r>
            <a:r>
              <a:rPr lang="zh-CN" altLang="zh-CN" sz="2500" kern="100">
                <a:latin typeface="Times New Roman" panose="02020603050405020304" pitchFamily="18" charset="0"/>
                <a:ea typeface="宋体" panose="02010600030101010101" pitchFamily="2" charset="-122"/>
                <a:cs typeface="宋体" panose="02010600030101010101" pitchFamily="2" charset="-122"/>
              </a:rPr>
              <a:t>Ⅰ</a:t>
            </a:r>
            <a:r>
              <a:rPr lang="zh-CN" altLang="zh-CN" sz="2500" kern="100">
                <a:latin typeface="Times New Roman" panose="02020603050405020304" pitchFamily="18" charset="0"/>
                <a:ea typeface="宋体" panose="02010600030101010101" pitchFamily="2" charset="-122"/>
              </a:rPr>
              <a:t>卷</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ctr">
              <a:lnSpc>
                <a:spcPct val="150000"/>
              </a:lnSpc>
              <a:spcAft>
                <a:spcPct val="0"/>
              </a:spcAft>
            </a:pPr>
            <a:r>
              <a:rPr lang="en-US" altLang="zh-CN" sz="2500" b="1" kern="100">
                <a:latin typeface="Times New Roman" panose="02020603050405020304" pitchFamily="18" charset="0"/>
                <a:ea typeface="宋体" panose="02010600030101010101" pitchFamily="2" charset="-122"/>
              </a:rPr>
              <a:t>A</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MOTHER’S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DAY</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SURPRISE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 twins were filled with excitement as they thought of the surprise they were planning for Mother’s Day. How pleased and proud Mother would be when they brought her breakfast in bed. They planned to make French toast and chicken porridge. They had watched their mother in the kitchen. There was nothing to it. Jenna and Jeff knew exactly what to do.</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 big day came at last. The alarm rang at 6 a.m. The pair went down the stairs quietly to the kitchen. They decided to boil the porridge first. They put some rice into a pot of water and left it to boil while they made the French toast. Jeff broke two eggs into a plate and added in some milk. Jenna found the bread and put two slices into the egg mixture. Next, Jeff turned on the second stove burner to heat up the frying pan. Everything was going smoothly until Jeff started frying the bread. The pan was too hot and the bread turned black within seconds. Jenna threw the burnt piece into the sink and put in the other slice of bread. This time, she turned down the fire so it cooked nicely.</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Then Jeff noticed steam shooting out of the pot and the lid starting to shake. The next minute, the porridge boiled over and put out the fire. Jenna panicked. Thankfully, Jeff stayed calm and turned off the gas quickly. But the stove was a mess now. Jenna told Jeff to clean it up so they could continue to cook the rest of the porridge. But Jeff’s hand touched the hot burner and he gave a cry of pain. Jenna made him put his hand in cold water. Then she caught the smell of burning. Oh dear! The piece of bread in the pan had turned black as well.</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续写词数应为</a:t>
            </a:r>
            <a:r>
              <a:rPr lang="en-US" altLang="zh-CN" sz="2500" kern="100">
                <a:latin typeface="Times New Roman" panose="02020603050405020304" pitchFamily="18" charset="0"/>
                <a:ea typeface="宋体" panose="02010600030101010101" pitchFamily="2" charset="-122"/>
              </a:rPr>
              <a:t>150</a:t>
            </a:r>
            <a:r>
              <a:rPr lang="zh-CN" altLang="zh-CN" sz="2500" kern="100">
                <a:latin typeface="Times New Roman" panose="02020603050405020304" pitchFamily="18" charset="0"/>
                <a:ea typeface="宋体" panose="02010600030101010101" pitchFamily="2" charset="-122"/>
              </a:rPr>
              <a:t>个左右。</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As </a:t>
            </a:r>
            <a:r>
              <a:rPr lang="en-US" altLang="zh-CN" sz="2500" kern="100">
                <a:latin typeface="Times New Roman" panose="02020603050405020304" pitchFamily="18" charset="0"/>
                <a:ea typeface="宋体" panose="02010600030101010101" pitchFamily="2" charset="-122"/>
              </a:rPr>
              <a:t>the twins looked around them in disappointment, their father appeared.</a:t>
            </a:r>
            <a:r>
              <a:rPr lang="en-US" altLang="zh-CN" sz="2500" kern="100">
                <a:uFill>
                  <a:solidFill>
                    <a:srgbClr val="000000"/>
                  </a:solidFill>
                </a:uFill>
                <a:latin typeface="Times New Roman" panose="02020603050405020304" pitchFamily="18" charset="0"/>
                <a:ea typeface="宋体" panose="02010600030101010101" pitchFamily="2" charset="-122"/>
              </a:rPr>
              <a:t> ____</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The </a:t>
            </a:r>
            <a:r>
              <a:rPr lang="en-US" altLang="zh-CN" sz="2500" kern="100">
                <a:latin typeface="Times New Roman" panose="02020603050405020304" pitchFamily="18" charset="0"/>
                <a:ea typeface="宋体" panose="02010600030101010101" pitchFamily="2" charset="-122"/>
              </a:rPr>
              <a:t>twins carried the breakfast upstairs and woke their mother up.</a:t>
            </a:r>
            <a:r>
              <a:rPr lang="en-US" altLang="zh-CN" sz="2500" kern="100">
                <a:uFill>
                  <a:solidFill>
                    <a:srgbClr val="000000"/>
                  </a:solidFill>
                </a:uFill>
                <a:latin typeface="Times New Roman" panose="02020603050405020304" pitchFamily="18" charset="0"/>
                <a:ea typeface="宋体" panose="02010600030101010101" pitchFamily="2" charset="-122"/>
              </a:rPr>
              <a:t> _______</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6680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厘清主题，把握走向</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534762" y="1974306"/>
          <a:ext cx="10972800" cy="4352290"/>
        </p:xfrm>
        <a:graphic>
          <a:graphicData uri="http://schemas.openxmlformats.org/drawingml/2006/table">
            <a:tbl>
              <a:tblPr firstRow="1" firstCol="1" bandRow="1"/>
              <a:tblGrid>
                <a:gridCol w="892175"/>
                <a:gridCol w="4755515"/>
                <a:gridCol w="5325110"/>
              </a:tblGrid>
              <a:tr h="54419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要素</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描述</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主 题</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r>
              <a:tr h="544195">
                <a:tc>
                  <a:txBody>
                    <a:bodyPr vert="horz" wrap="square"/>
                    <a:lstStyle/>
                    <a:p>
                      <a:pPr algn="ctr">
                        <a:lnSpc>
                          <a:spcPct val="150000"/>
                        </a:lnSpc>
                        <a:spcAft>
                          <a:spcPct val="0"/>
                        </a:spcAft>
                      </a:pPr>
                      <a:r>
                        <a:rPr lang="en-US" sz="2500" kern="100">
                          <a:effectLst/>
                          <a:latin typeface="Times New Roman" panose="02020603050405020304" pitchFamily="18" charset="0"/>
                          <a:ea typeface="宋体" panose="02010600030101010101" pitchFamily="2" charset="-122"/>
                        </a:rPr>
                        <a:t>when</a:t>
                      </a:r>
                      <a:endParaRPr lang="en-US"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Mother’s Day</a:t>
                      </a:r>
                      <a:endParaRPr lang="en-US" sz="2500" kern="100">
                        <a:effectLst/>
                        <a:latin typeface="Times New Roman" panose="02020603050405020304" pitchFamily="18" charset="0"/>
                        <a:ea typeface="宋体" panose="02010600030101010101" pitchFamily="2" charset="-122"/>
                      </a:endParaRPr>
                    </a:p>
                  </a:txBody>
                  <a:tcPr marL="30225" marR="302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5">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本文以母亲节为线索展开</a:t>
                      </a:r>
                      <a:r>
                        <a:rPr lang="en-US" sz="2500" kern="100">
                          <a:effectLst/>
                          <a:latin typeface="Times New Roman" panose="02020603050405020304" pitchFamily="18" charset="0"/>
                          <a:ea typeface="宋体" panose="02010600030101010101" pitchFamily="2" charset="-122"/>
                        </a:rPr>
                        <a:t>,</a:t>
                      </a:r>
                      <a:r>
                        <a:rPr lang="zh-CN" sz="2500" kern="100">
                          <a:effectLst/>
                          <a:latin typeface="Times New Roman" panose="02020603050405020304" pitchFamily="18" charset="0"/>
                          <a:ea typeface="宋体" panose="02010600030101010101" pitchFamily="2" charset="-122"/>
                        </a:rPr>
                        <a:t>讲述了双胞胎</a:t>
                      </a:r>
                      <a:r>
                        <a:rPr lang="en-US" sz="2500" kern="100">
                          <a:effectLst/>
                          <a:latin typeface="Times New Roman" panose="02020603050405020304" pitchFamily="18" charset="0"/>
                          <a:ea typeface="宋体" panose="02010600030101010101" pitchFamily="2" charset="-122"/>
                        </a:rPr>
                        <a:t>Jenna</a:t>
                      </a:r>
                      <a:r>
                        <a:rPr lang="zh-CN" sz="2500" kern="100">
                          <a:effectLst/>
                          <a:latin typeface="Times New Roman" panose="02020603050405020304" pitchFamily="18" charset="0"/>
                          <a:ea typeface="宋体" panose="02010600030101010101" pitchFamily="2" charset="-122"/>
                        </a:rPr>
                        <a:t>和</a:t>
                      </a:r>
                      <a:r>
                        <a:rPr lang="en-US" sz="2500" kern="100">
                          <a:effectLst/>
                          <a:latin typeface="Times New Roman" panose="02020603050405020304" pitchFamily="18" charset="0"/>
                          <a:ea typeface="宋体" panose="02010600030101010101" pitchFamily="2" charset="-122"/>
                        </a:rPr>
                        <a:t>Jeff</a:t>
                      </a:r>
                      <a:r>
                        <a:rPr lang="zh-CN" sz="2500" kern="100">
                          <a:effectLst/>
                          <a:latin typeface="Times New Roman" panose="02020603050405020304" pitchFamily="18" charset="0"/>
                          <a:ea typeface="宋体" panose="02010600030101010101" pitchFamily="2" charset="-122"/>
                        </a:rPr>
                        <a:t>为了献给母亲一份美味的早餐</a:t>
                      </a:r>
                      <a:r>
                        <a:rPr lang="en-US" sz="2500" kern="100">
                          <a:effectLst/>
                          <a:latin typeface="Times New Roman" panose="02020603050405020304" pitchFamily="18" charset="0"/>
                          <a:ea typeface="宋体" panose="02010600030101010101" pitchFamily="2" charset="-122"/>
                        </a:rPr>
                        <a:t>,</a:t>
                      </a:r>
                      <a:r>
                        <a:rPr lang="zh-CN" sz="2500" kern="100">
                          <a:effectLst/>
                          <a:latin typeface="Times New Roman" panose="02020603050405020304" pitchFamily="18" charset="0"/>
                          <a:ea typeface="宋体" panose="02010600030101010101" pitchFamily="2" charset="-122"/>
                        </a:rPr>
                        <a:t>自己动手做起早餐来</a:t>
                      </a:r>
                      <a:r>
                        <a:rPr lang="en-US" sz="2500" kern="100">
                          <a:effectLst/>
                          <a:latin typeface="Times New Roman" panose="02020603050405020304" pitchFamily="18" charset="0"/>
                          <a:ea typeface="宋体" panose="02010600030101010101" pitchFamily="2" charset="-122"/>
                        </a:rPr>
                        <a:t>,</a:t>
                      </a:r>
                      <a:r>
                        <a:rPr lang="zh-CN" sz="2500" kern="100">
                          <a:effectLst/>
                          <a:latin typeface="Times New Roman" panose="02020603050405020304" pitchFamily="18" charset="0"/>
                          <a:ea typeface="宋体" panose="02010600030101010101" pitchFamily="2" charset="-122"/>
                        </a:rPr>
                        <a:t>但不幸的是</a:t>
                      </a:r>
                      <a:r>
                        <a:rPr lang="en-US" sz="2500" kern="100">
                          <a:effectLst/>
                          <a:latin typeface="Times New Roman" panose="02020603050405020304" pitchFamily="18" charset="0"/>
                          <a:ea typeface="宋体" panose="02010600030101010101" pitchFamily="2" charset="-122"/>
                        </a:rPr>
                        <a:t>,</a:t>
                      </a:r>
                      <a:r>
                        <a:rPr lang="zh-CN" sz="2500" kern="100">
                          <a:effectLst/>
                          <a:latin typeface="Times New Roman" panose="02020603050405020304" pitchFamily="18" charset="0"/>
                          <a:ea typeface="宋体" panose="02010600030101010101" pitchFamily="2" charset="-122"/>
                        </a:rPr>
                        <a:t>他们接连失败</a:t>
                      </a:r>
                      <a:r>
                        <a:rPr lang="en-US" sz="2500" kern="100">
                          <a:effectLst/>
                          <a:latin typeface="Times New Roman" panose="02020603050405020304" pitchFamily="18" charset="0"/>
                          <a:ea typeface="宋体" panose="02010600030101010101" pitchFamily="2" charset="-122"/>
                        </a:rPr>
                        <a:t>,</a:t>
                      </a:r>
                      <a:r>
                        <a:rPr lang="zh-CN" sz="2500" kern="100">
                          <a:effectLst/>
                          <a:latin typeface="Times New Roman" panose="02020603050405020304" pitchFamily="18" charset="0"/>
                          <a:ea typeface="宋体" panose="02010600030101010101" pitchFamily="2" charset="-122"/>
                        </a:rPr>
                        <a:t>后来在父亲的帮助下获得成功</a:t>
                      </a:r>
                      <a:r>
                        <a:rPr lang="en-US" sz="2500" kern="100">
                          <a:effectLst/>
                          <a:latin typeface="Times New Roman" panose="02020603050405020304" pitchFamily="18" charset="0"/>
                          <a:ea typeface="宋体" panose="02010600030101010101" pitchFamily="2" charset="-122"/>
                        </a:rPr>
                        <a:t>,</a:t>
                      </a:r>
                      <a:r>
                        <a:rPr lang="zh-CN" sz="2500" kern="100">
                          <a:effectLst/>
                          <a:latin typeface="Times New Roman" panose="02020603050405020304" pitchFamily="18" charset="0"/>
                          <a:ea typeface="宋体" panose="02010600030101010101" pitchFamily="2" charset="-122"/>
                        </a:rPr>
                        <a:t>他们把早餐献给亲爱的母亲</a:t>
                      </a:r>
                      <a:r>
                        <a:rPr lang="en-US" sz="2500" kern="100">
                          <a:effectLst/>
                          <a:latin typeface="Times New Roman" panose="02020603050405020304" pitchFamily="18" charset="0"/>
                          <a:ea typeface="宋体" panose="02010600030101010101" pitchFamily="2" charset="-122"/>
                        </a:rPr>
                        <a:t>,</a:t>
                      </a:r>
                      <a:r>
                        <a:rPr lang="zh-CN" sz="2500" kern="100">
                          <a:effectLst/>
                          <a:latin typeface="Times New Roman" panose="02020603050405020304" pitchFamily="18" charset="0"/>
                          <a:ea typeface="宋体" panose="02010600030101010101" pitchFamily="2" charset="-122"/>
                        </a:rPr>
                        <a:t>母亲非常感动的故事。</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3560">
                <a:tc>
                  <a:txBody>
                    <a:bodyPr vert="horz" wrap="square"/>
                    <a:lstStyle/>
                    <a:p>
                      <a:pPr algn="ctr">
                        <a:lnSpc>
                          <a:spcPct val="150000"/>
                        </a:lnSpc>
                        <a:spcAft>
                          <a:spcPct val="0"/>
                        </a:spcAft>
                      </a:pPr>
                      <a:r>
                        <a:rPr lang="en-US" sz="2500" kern="100">
                          <a:effectLst/>
                          <a:latin typeface="Times New Roman" panose="02020603050405020304" pitchFamily="18" charset="0"/>
                          <a:ea typeface="宋体" panose="02010600030101010101" pitchFamily="2" charset="-122"/>
                        </a:rPr>
                        <a:t>where</a:t>
                      </a:r>
                      <a:endParaRPr lang="en-US"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At home</a:t>
                      </a:r>
                      <a:endParaRPr lang="en-US" sz="2500" kern="100">
                        <a:effectLst/>
                        <a:latin typeface="Times New Roman" panose="02020603050405020304" pitchFamily="18" charset="0"/>
                        <a:ea typeface="宋体" panose="02010600030101010101" pitchFamily="2" charset="-122"/>
                      </a:endParaRPr>
                    </a:p>
                  </a:txBody>
                  <a:tcPr marL="30225" marR="302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544195">
                <a:tc>
                  <a:txBody>
                    <a:bodyPr vert="horz" wrap="square"/>
                    <a:lstStyle/>
                    <a:p>
                      <a:pPr algn="ctr">
                        <a:lnSpc>
                          <a:spcPct val="150000"/>
                        </a:lnSpc>
                        <a:spcAft>
                          <a:spcPct val="0"/>
                        </a:spcAft>
                      </a:pPr>
                      <a:r>
                        <a:rPr lang="en-US" sz="2500" kern="100">
                          <a:effectLst/>
                          <a:latin typeface="Times New Roman" panose="02020603050405020304" pitchFamily="18" charset="0"/>
                          <a:ea typeface="宋体" panose="02010600030101010101" pitchFamily="2" charset="-122"/>
                        </a:rPr>
                        <a:t>who</a:t>
                      </a:r>
                      <a:endParaRPr lang="en-US"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The twins—Jeff and Jenna</a:t>
                      </a:r>
                      <a:endParaRPr lang="en-US" sz="2500" kern="100">
                        <a:effectLst/>
                        <a:latin typeface="Times New Roman" panose="02020603050405020304" pitchFamily="18" charset="0"/>
                        <a:ea typeface="宋体" panose="02010600030101010101" pitchFamily="2" charset="-122"/>
                      </a:endParaRPr>
                    </a:p>
                  </a:txBody>
                  <a:tcPr marL="30225" marR="302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1088390">
                <a:tc>
                  <a:txBody>
                    <a:bodyPr vert="horz" wrap="square"/>
                    <a:lstStyle/>
                    <a:p>
                      <a:pPr algn="ctr">
                        <a:lnSpc>
                          <a:spcPct val="150000"/>
                        </a:lnSpc>
                        <a:spcAft>
                          <a:spcPct val="0"/>
                        </a:spcAft>
                      </a:pPr>
                      <a:r>
                        <a:rPr lang="en-US" sz="2500" kern="100">
                          <a:effectLst/>
                          <a:latin typeface="Times New Roman" panose="02020603050405020304" pitchFamily="18" charset="0"/>
                          <a:ea typeface="宋体" panose="02010600030101010101" pitchFamily="2" charset="-122"/>
                        </a:rPr>
                        <a:t>what</a:t>
                      </a:r>
                      <a:endParaRPr lang="en-US"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The pair prepared breakfast for their mother.</a:t>
                      </a:r>
                      <a:endParaRPr lang="en-US" sz="2500" kern="100">
                        <a:effectLst/>
                        <a:latin typeface="Times New Roman" panose="02020603050405020304" pitchFamily="18" charset="0"/>
                        <a:ea typeface="宋体" panose="02010600030101010101" pitchFamily="2" charset="-122"/>
                      </a:endParaRPr>
                    </a:p>
                  </a:txBody>
                  <a:tcPr marL="30225" marR="302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1087755">
                <a:tc>
                  <a:txBody>
                    <a:bodyPr vert="horz" wrap="square"/>
                    <a:lstStyle/>
                    <a:p>
                      <a:pPr algn="ctr">
                        <a:lnSpc>
                          <a:spcPct val="150000"/>
                        </a:lnSpc>
                        <a:spcAft>
                          <a:spcPct val="0"/>
                        </a:spcAft>
                      </a:pPr>
                      <a:r>
                        <a:rPr lang="en-US" sz="2500" kern="100">
                          <a:effectLst/>
                          <a:latin typeface="Times New Roman" panose="02020603050405020304" pitchFamily="18" charset="0"/>
                          <a:ea typeface="宋体" panose="02010600030101010101" pitchFamily="2" charset="-122"/>
                        </a:rPr>
                        <a:t>why</a:t>
                      </a:r>
                      <a:endParaRPr lang="en-US"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They wanted to give their mother a surprise.</a:t>
                      </a:r>
                      <a:endParaRPr lang="en-US" sz="2500" kern="100">
                        <a:effectLst/>
                        <a:latin typeface="Times New Roman" panose="02020603050405020304" pitchFamily="18" charset="0"/>
                        <a:ea typeface="宋体" panose="02010600030101010101" pitchFamily="2" charset="-122"/>
                      </a:endParaRPr>
                    </a:p>
                  </a:txBody>
                  <a:tcPr marL="30225" marR="302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bl>
          </a:graphicData>
        </a:graphic>
      </p:graphicFrame>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6680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寻找主线，深挖要点</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534762" y="1721539"/>
          <a:ext cx="11155680" cy="4660900"/>
        </p:xfrm>
        <a:graphic>
          <a:graphicData uri="http://schemas.openxmlformats.org/drawingml/2006/table">
            <a:tbl>
              <a:tblPr firstRow="1" firstCol="1" bandRow="1"/>
              <a:tblGrid>
                <a:gridCol w="680085"/>
                <a:gridCol w="2098040"/>
                <a:gridCol w="8377555"/>
              </a:tblGrid>
              <a:tr h="62166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文段</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线索</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文脉线索</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r>
              <a:tr h="621665">
                <a:tc rowSpan="2">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前文</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情感线</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excited→disappointed</a:t>
                      </a:r>
                      <a:endParaRPr lang="en-US"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4240">
                <a:tc vMerge="1">
                  <a:txBody>
                    <a:bodyPr vert="horz" wrap="square"/>
                    <a:lstStyle/>
                    <a:p/>
                  </a:txBody>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故事线</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First, they boiled the porridge.→Next, they made the French toast.→A slice of bread turned black.→Then they found the porridge boiled over and put out the fire.→The other piece of bread turned black, too.</a:t>
                      </a:r>
                      <a:endParaRPr lang="en-US"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4333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续写</a:t>
                      </a:r>
                      <a:endParaRPr lang="zh-CN" sz="2500" kern="100">
                        <a:effectLst/>
                        <a:latin typeface="Times New Roman" panose="02020603050405020304" pitchFamily="18" charset="0"/>
                        <a:ea typeface="宋体" panose="02010600030101010101" pitchFamily="2" charset="-122"/>
                      </a:endParaRPr>
                    </a:p>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要点</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1.They made the bread and then went on cooking porridge.</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2.Their mother was surprised to find the breakfast cooked by Jeff and Jenna.</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vert="horz" wrap="square"/>
                    <a:lstStyle/>
                    <a:p/>
                  </a:txBody>
                  <a:tcPr/>
                </a:tc>
              </a:tr>
            </a:tbl>
          </a:graphicData>
        </a:graphic>
      </p:graphicFrame>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精研首句，起承转合</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a:t>
            </a:r>
            <a:r>
              <a:rPr lang="zh-CN" altLang="zh-CN" sz="2500" kern="100" smtClean="0">
                <a:latin typeface="Times New Roman" panose="02020603050405020304" pitchFamily="18" charset="0"/>
                <a:ea typeface="宋体" panose="02010600030101010101" pitchFamily="2" charset="-122"/>
              </a:rPr>
              <a:t>根</a:t>
            </a:r>
            <a:r>
              <a:rPr lang="zh-CN" altLang="zh-CN" sz="2500" kern="100">
                <a:latin typeface="Times New Roman" panose="02020603050405020304" pitchFamily="18" charset="0"/>
                <a:ea typeface="宋体" panose="02010600030101010101" pitchFamily="2" charset="-122"/>
              </a:rPr>
              <a:t>据所给续文段落首句产生问题链接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形成续写思路</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采用</a:t>
            </a:r>
            <a:r>
              <a:rPr lang="en-US" altLang="zh-CN" sz="2500" kern="100">
                <a:latin typeface="Times New Roman" panose="02020603050405020304" pitchFamily="18" charset="0"/>
                <a:ea typeface="宋体" panose="02010600030101010101" pitchFamily="2" charset="-122"/>
              </a:rPr>
              <a:t>G-N(Given-New)</a:t>
            </a:r>
            <a:r>
              <a:rPr lang="zh-CN" altLang="zh-CN" sz="2500" kern="100">
                <a:latin typeface="Times New Roman" panose="02020603050405020304" pitchFamily="18" charset="0"/>
                <a:ea typeface="宋体" panose="02010600030101010101" pitchFamily="2" charset="-122"/>
              </a:rPr>
              <a:t>和</a:t>
            </a:r>
            <a:r>
              <a:rPr lang="en-US" altLang="zh-CN" sz="2500" kern="100">
                <a:latin typeface="Times New Roman" panose="02020603050405020304" pitchFamily="18" charset="0"/>
                <a:ea typeface="宋体" panose="02010600030101010101" pitchFamily="2" charset="-122"/>
              </a:rPr>
              <a:t>Q-A(Question-Answer)</a:t>
            </a:r>
            <a:r>
              <a:rPr lang="zh-CN" altLang="zh-CN" sz="2500" kern="100">
                <a:latin typeface="Times New Roman" panose="02020603050405020304" pitchFamily="18" charset="0"/>
                <a:ea typeface="宋体" panose="02010600030101010101" pitchFamily="2" charset="-122"/>
              </a:rPr>
              <a:t>策略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做好起承转合</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创造新的情节。</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Paragraph 1: As the twins looked around them in disappointment, their father appeared.</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Q1: What was Father’s first instinct when faced with the mess?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Q2: How did the twins explain their plan to their father?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Q3: What did Father do to help the twins to make delicious French toast and chicken porridge?</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Paragraph 2:The twins carried the breakfast upstairs and woke their mother up.</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Q1: What was Mother’s first instinct when the twins woke her up?</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Q2: Would the twins give Mother a big surprise? How did they express their best wishes to Mother?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Q3: How did Mother feel? How can you design the ending more appealing and meaningful?</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534762" y="4355516"/>
          <a:ext cx="10972800" cy="2176780"/>
        </p:xfrm>
        <a:graphic>
          <a:graphicData uri="http://schemas.openxmlformats.org/drawingml/2006/table">
            <a:tbl>
              <a:tblPr firstRow="1" firstCol="1" bandRow="1"/>
              <a:tblGrid>
                <a:gridCol w="1339850"/>
                <a:gridCol w="9632950"/>
              </a:tblGrid>
              <a:tr h="108839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续写第一段梗概</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Their father helped them adjust the fire and they prepared breakfast successfully.How happy they were!</a:t>
                      </a:r>
                      <a:endParaRPr lang="en-US"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8839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续写第二段梗概</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The twins’ mother was surprised to see the delicious and perfect breakfast in front of her.She was deeply moved by her children.</a:t>
                      </a:r>
                      <a:endParaRPr lang="en-US"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4</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吃透语言，风格一致</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a:t>
            </a:r>
            <a:r>
              <a:rPr lang="zh-CN" altLang="zh-CN" sz="2500" kern="100" smtClean="0">
                <a:latin typeface="Times New Roman" panose="02020603050405020304" pitchFamily="18" charset="0"/>
                <a:ea typeface="宋体" panose="02010600030101010101" pitchFamily="2" charset="-122"/>
              </a:rPr>
              <a:t>为</a:t>
            </a:r>
            <a:r>
              <a:rPr lang="zh-CN" altLang="zh-CN" sz="2500" kern="100">
                <a:latin typeface="Times New Roman" panose="02020603050405020304" pitchFamily="18" charset="0"/>
                <a:ea typeface="宋体" panose="02010600030101010101" pitchFamily="2" charset="-122"/>
              </a:rPr>
              <a:t>了使所写的内容和语言和原文保持连贯性和一致性</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读后续写需要通过在理解原文的基础上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巧妙利用</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拉平效应</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创造性地模仿和使用语言</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即继承原文语言表达方面的显著特征</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包括写作手法及语言表达技巧</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从而一方面保证写作的效率和流畅度</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另一方面保证写作在各个语言层次和表达风格上和原文保持一致。</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2687300" y="10998200"/>
            <a:ext cx="0" cy="0"/>
          </a:xfrm>
          <a:prstGeom prst="rect">
            <a:avLst/>
          </a:prstGeom>
          <a:ln>
            <a:noFill/>
          </a:ln>
        </p:spPr>
      </p:pic>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862320"/>
          </a:xfrm>
          <a:prstGeom prst="rect">
            <a:avLst/>
          </a:prstGeom>
          <a:noFill/>
        </p:spPr>
        <p:txBody>
          <a:bodyPr wrap="square" rtlCol="0">
            <a:spAutoFit/>
          </a:bodyPr>
          <a:lstStyle/>
          <a:p>
            <a:pPr indent="355600" algn="just">
              <a:lnSpc>
                <a:spcPct val="150000"/>
              </a:lnSpc>
              <a:spcAft>
                <a:spcPct val="0"/>
              </a:spcAft>
            </a:pPr>
            <a:r>
              <a:rPr lang="zh-CN" altLang="zh-CN" sz="2500" kern="100">
                <a:latin typeface="Times New Roman" panose="02020603050405020304" pitchFamily="18" charset="0"/>
                <a:ea typeface="宋体" panose="02010600030101010101" pitchFamily="2" charset="-122"/>
              </a:rPr>
              <a:t>通过分析语篇</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可以从五个方面理解原文的语言应用技巧</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场景描写</a:t>
            </a:r>
            <a:r>
              <a:rPr lang="en-US" altLang="zh-CN" sz="2500" kern="100">
                <a:latin typeface="Times New Roman" panose="02020603050405020304" pitchFamily="18" charset="0"/>
                <a:ea typeface="宋体" panose="02010600030101010101" pitchFamily="2" charset="-122"/>
              </a:rPr>
              <a:t>(Surroundings)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场景描写指的是描写人、物、事发生的时间、地点、自然环境及社会场景等。场景描写可以充当背景信息</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提供人、物、事发生的具体设定。其次</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场景描写可以表达角色的感情、情绪</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可以随着情节的发展有所变化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甚至可以提示、推动情节的发展</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增强语篇的代入感。</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2.</a:t>
            </a:r>
            <a:r>
              <a:rPr lang="zh-CN" altLang="zh-CN" sz="2500" kern="100">
                <a:latin typeface="Times New Roman" panose="02020603050405020304" pitchFamily="18" charset="0"/>
                <a:ea typeface="宋体" panose="02010600030101010101" pitchFamily="2" charset="-122"/>
              </a:rPr>
              <a:t>动作描写</a:t>
            </a:r>
            <a:r>
              <a:rPr lang="en-US" altLang="zh-CN" sz="2500" kern="100">
                <a:latin typeface="Times New Roman" panose="02020603050405020304" pitchFamily="18" charset="0"/>
                <a:ea typeface="宋体" panose="02010600030101010101" pitchFamily="2" charset="-122"/>
              </a:rPr>
              <a:t>(Actions)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动作描写指的是描写人物在具体情况下的行为举止</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是情节发展的具体体现。恰到好处的动作描写不仅可以塑造生动形象的人物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还可以反映人物的情感态度及心理变化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并最终反映人物的性格特点及思想品质。</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6439535"/>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3.</a:t>
            </a:r>
            <a:r>
              <a:rPr lang="zh-CN" altLang="zh-CN" sz="2500" kern="100">
                <a:latin typeface="Times New Roman" panose="02020603050405020304" pitchFamily="18" charset="0"/>
                <a:ea typeface="宋体" panose="02010600030101010101" pitchFamily="2" charset="-122"/>
              </a:rPr>
              <a:t>心理描写</a:t>
            </a:r>
            <a:r>
              <a:rPr lang="en-US" altLang="zh-CN" sz="2500" kern="100">
                <a:latin typeface="Times New Roman" panose="02020603050405020304" pitchFamily="18" charset="0"/>
                <a:ea typeface="宋体" panose="02010600030101010101" pitchFamily="2" charset="-122"/>
              </a:rPr>
              <a:t>(Feelings)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心理描写指的是描写人物在具体情况下的看法、感受、情感及心理活动</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并由此反映人物的性格特点及思想品质。心理描写除了对心理的直接描写</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还可以结合动作描写及场景描写</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共同构成有意义、紧凑的语篇。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4.</a:t>
            </a:r>
            <a:r>
              <a:rPr lang="zh-CN" altLang="zh-CN" sz="2500" kern="100">
                <a:latin typeface="Times New Roman" panose="02020603050405020304" pitchFamily="18" charset="0"/>
                <a:ea typeface="宋体" panose="02010600030101010101" pitchFamily="2" charset="-122"/>
              </a:rPr>
              <a:t>有效对话</a:t>
            </a:r>
            <a:r>
              <a:rPr lang="en-US" altLang="zh-CN" sz="2500" kern="100">
                <a:latin typeface="Times New Roman" panose="02020603050405020304" pitchFamily="18" charset="0"/>
                <a:ea typeface="宋体" panose="02010600030101010101" pitchFamily="2" charset="-122"/>
              </a:rPr>
              <a:t>(Effective Dialogues)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有效对话是记叙语篇中塑造人物的一个重要手段。对话的有效性首先体现在符合人物设定</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这样不仅能够有效地推动情节的发展</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更能够增加记叙的生动性。此外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对话语言也要符合记叙语篇的语言特点</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即生活化、简化及去书面化</a:t>
            </a:r>
            <a:r>
              <a:rPr lang="zh-CN" altLang="zh-CN" sz="2500" kern="100" smtClean="0">
                <a:latin typeface="Times New Roman" panose="02020603050405020304" pitchFamily="18" charset="0"/>
                <a:ea typeface="宋体" panose="02010600030101010101" pitchFamily="2" charset="-122"/>
              </a:rPr>
              <a:t>。</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5.</a:t>
            </a:r>
            <a:r>
              <a:rPr lang="zh-CN" altLang="zh-CN" sz="2500" kern="100">
                <a:latin typeface="Times New Roman" panose="02020603050405020304" pitchFamily="18" charset="0"/>
                <a:ea typeface="宋体" panose="02010600030101010101" pitchFamily="2" charset="-122"/>
              </a:rPr>
              <a:t>修辞</a:t>
            </a:r>
            <a:r>
              <a:rPr lang="en-US" altLang="zh-CN" sz="2500" kern="100">
                <a:latin typeface="Times New Roman" panose="02020603050405020304" pitchFamily="18" charset="0"/>
                <a:ea typeface="宋体" panose="02010600030101010101" pitchFamily="2" charset="-122"/>
              </a:rPr>
              <a:t>(Figures of speech)</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修辞是增加语言生动性的最佳手段。它可以引起共鸣</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使抽象的情境具体化。常见的可以应用的修辞有比喻、拟人、夸张和排比等</a:t>
            </a:r>
            <a:r>
              <a:rPr lang="zh-CN" altLang="zh-CN" sz="2500" kern="100" smtClean="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考场满分作文</a:t>
            </a: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As </a:t>
            </a:r>
            <a:r>
              <a:rPr lang="en-US" altLang="zh-CN" sz="2500" kern="100">
                <a:latin typeface="Times New Roman" panose="02020603050405020304" pitchFamily="18" charset="0"/>
                <a:ea typeface="宋体" panose="02010600030101010101" pitchFamily="2" charset="-122"/>
              </a:rPr>
              <a:t>the twins looked around them in disappointment, their father appeared.</a:t>
            </a: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Father’s appearing was like a savior to the two children.</a:t>
            </a: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Under the guidance of their father, they took positive action and started all over again.They made the bread and then went on cooking porridge.Father helped them adjust the fire, </a:t>
            </a:r>
            <a:r>
              <a:rPr lang="zh-CN" altLang="zh-CN" sz="2500" kern="100">
                <a:latin typeface="Times New Roman" panose="02020603050405020304" pitchFamily="18" charset="0"/>
                <a:ea typeface="宋体" panose="02010600030101010101" pitchFamily="2" charset="-122"/>
                <a:cs typeface="宋体" panose="02010600030101010101" pitchFamily="2" charset="-122"/>
              </a:rPr>
              <a:t>③</a:t>
            </a:r>
            <a:r>
              <a:rPr lang="en-US" altLang="zh-CN" sz="2500" kern="100">
                <a:latin typeface="Times New Roman" panose="02020603050405020304" pitchFamily="18" charset="0"/>
                <a:ea typeface="宋体" panose="02010600030101010101" pitchFamily="2" charset="-122"/>
              </a:rPr>
              <a:t>which was the key to success.It was all right this time.Delicious breakfast was ready.</a:t>
            </a:r>
            <a:r>
              <a:rPr lang="zh-CN" altLang="zh-CN" sz="2500" kern="100">
                <a:latin typeface="Times New Roman" panose="02020603050405020304" pitchFamily="18" charset="0"/>
                <a:ea typeface="宋体" panose="02010600030101010101" pitchFamily="2" charset="-122"/>
                <a:cs typeface="宋体" panose="02010600030101010101" pitchFamily="2" charset="-122"/>
              </a:rPr>
              <a:t>④</a:t>
            </a:r>
            <a:r>
              <a:rPr lang="en-US" altLang="zh-CN" sz="2500" kern="100">
                <a:latin typeface="Times New Roman" panose="02020603050405020304" pitchFamily="18" charset="0"/>
                <a:ea typeface="宋体" panose="02010600030101010101" pitchFamily="2" charset="-122"/>
              </a:rPr>
              <a:t>How happy they were!</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The </a:t>
            </a:r>
            <a:r>
              <a:rPr lang="en-US" altLang="zh-CN" sz="2500" kern="100">
                <a:latin typeface="Times New Roman" panose="02020603050405020304" pitchFamily="18" charset="0"/>
                <a:ea typeface="宋体" panose="02010600030101010101" pitchFamily="2" charset="-122"/>
              </a:rPr>
              <a:t>twins carried the breakfast upstairs and woke their mother up.</a:t>
            </a:r>
            <a:r>
              <a:rPr lang="zh-CN" altLang="zh-CN" sz="2500" kern="100">
                <a:latin typeface="Times New Roman" panose="02020603050405020304" pitchFamily="18" charset="0"/>
                <a:ea typeface="宋体" panose="02010600030101010101" pitchFamily="2" charset="-122"/>
                <a:cs typeface="宋体" panose="02010600030101010101" pitchFamily="2" charset="-122"/>
              </a:rPr>
              <a:t>⑤</a:t>
            </a:r>
            <a:r>
              <a:rPr lang="en-US" altLang="zh-CN" sz="2500" kern="100">
                <a:latin typeface="Times New Roman" panose="02020603050405020304" pitchFamily="18" charset="0"/>
                <a:ea typeface="宋体" panose="02010600030101010101" pitchFamily="2" charset="-122"/>
              </a:rPr>
              <a:t>When their mother saw the delicious and perfect breakfast in front of her, she was very surprised.</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cs typeface="宋体" panose="02010600030101010101" pitchFamily="2" charset="-122"/>
              </a:rPr>
              <a:t>    </a:t>
            </a:r>
            <a:r>
              <a:rPr lang="zh-CN" altLang="zh-CN" sz="2500" kern="100" smtClean="0">
                <a:latin typeface="Times New Roman" panose="02020603050405020304" pitchFamily="18" charset="0"/>
                <a:ea typeface="宋体" panose="02010600030101010101" pitchFamily="2" charset="-122"/>
                <a:cs typeface="宋体" panose="02010600030101010101" pitchFamily="2" charset="-122"/>
              </a:rPr>
              <a:t>⑥</a:t>
            </a:r>
            <a:r>
              <a:rPr lang="en-US" altLang="zh-CN" sz="2500" kern="100">
                <a:latin typeface="Times New Roman" panose="02020603050405020304" pitchFamily="18" charset="0"/>
                <a:ea typeface="宋体" panose="02010600030101010101" pitchFamily="2" charset="-122"/>
              </a:rPr>
              <a:t>It was not only the gift, but the love of the children for her that moved her very much.The two children could finish cooking a breakfast, which she didn’t expect.The children said loudly, </a:t>
            </a:r>
            <a:r>
              <a:rPr lang="zh-CN" altLang="zh-CN" sz="2500" kern="100">
                <a:latin typeface="Times New Roman" panose="02020603050405020304" pitchFamily="18" charset="0"/>
                <a:ea typeface="宋体" panose="02010600030101010101" pitchFamily="2" charset="-122"/>
                <a:cs typeface="宋体" panose="02010600030101010101" pitchFamily="2" charset="-122"/>
              </a:rPr>
              <a:t>⑦</a:t>
            </a:r>
            <a:r>
              <a:rPr lang="en-US" altLang="zh-CN" sz="2500" kern="100">
                <a:latin typeface="Times New Roman" panose="02020603050405020304" pitchFamily="18" charset="0"/>
                <a:ea typeface="宋体" panose="02010600030101010101" pitchFamily="2" charset="-122"/>
              </a:rPr>
              <a:t>“Happy Mother’s Day! ” </a:t>
            </a:r>
            <a:r>
              <a:rPr lang="zh-CN" altLang="zh-CN" sz="2500" kern="100">
                <a:latin typeface="Times New Roman" panose="02020603050405020304" pitchFamily="18" charset="0"/>
                <a:ea typeface="宋体" panose="02010600030101010101" pitchFamily="2" charset="-122"/>
                <a:cs typeface="宋体" panose="02010600030101010101" pitchFamily="2" charset="-122"/>
              </a:rPr>
              <a:t>⑧</a:t>
            </a:r>
            <a:r>
              <a:rPr lang="en-US" altLang="zh-CN" sz="2500" kern="100">
                <a:latin typeface="Times New Roman" panose="02020603050405020304" pitchFamily="18" charset="0"/>
                <a:ea typeface="宋体" panose="02010600030101010101" pitchFamily="2" charset="-122"/>
              </a:rPr>
              <a:t>Mother hugged them tightly and kissed them again and again.</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评卷老师点评</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zh-CN" altLang="zh-CN" sz="2500" kern="100">
                <a:latin typeface="Times New Roman" panose="02020603050405020304" pitchFamily="18" charset="0"/>
                <a:ea typeface="宋体" panose="02010600030101010101" pitchFamily="2" charset="-122"/>
              </a:rPr>
              <a:t>过渡自然流畅。</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zh-CN" altLang="zh-CN" sz="2500" kern="100">
                <a:latin typeface="Times New Roman" panose="02020603050405020304" pitchFamily="18" charset="0"/>
                <a:ea typeface="宋体" panose="02010600030101010101" pitchFamily="2" charset="-122"/>
              </a:rPr>
              <a:t>时态、语境和前文相互照应。</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③</a:t>
            </a:r>
            <a:r>
              <a:rPr lang="zh-CN" altLang="zh-CN" sz="2500" kern="100">
                <a:latin typeface="Times New Roman" panose="02020603050405020304" pitchFamily="18" charset="0"/>
                <a:ea typeface="宋体" panose="02010600030101010101" pitchFamily="2" charset="-122"/>
              </a:rPr>
              <a:t>使用高分句式。</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④</a:t>
            </a:r>
            <a:r>
              <a:rPr lang="zh-CN" altLang="zh-CN" sz="2500" kern="100">
                <a:latin typeface="Times New Roman" panose="02020603050405020304" pitchFamily="18" charset="0"/>
                <a:ea typeface="宋体" panose="02010600030101010101" pitchFamily="2" charset="-122"/>
              </a:rPr>
              <a:t>使用高分句式。</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⑤</a:t>
            </a:r>
            <a:r>
              <a:rPr lang="zh-CN" altLang="zh-CN" sz="2500" kern="100">
                <a:latin typeface="Times New Roman" panose="02020603050405020304" pitchFamily="18" charset="0"/>
                <a:ea typeface="宋体" panose="02010600030101010101" pitchFamily="2" charset="-122"/>
              </a:rPr>
              <a:t>使用高分句式。</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⑥</a:t>
            </a:r>
            <a:r>
              <a:rPr lang="zh-CN" altLang="zh-CN" sz="2500" kern="100">
                <a:latin typeface="Times New Roman" panose="02020603050405020304" pitchFamily="18" charset="0"/>
                <a:ea typeface="宋体" panose="02010600030101010101" pitchFamily="2" charset="-122"/>
              </a:rPr>
              <a:t>使用并列结构。</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⑦</a:t>
            </a:r>
            <a:r>
              <a:rPr lang="zh-CN" altLang="zh-CN" sz="2500" kern="100">
                <a:latin typeface="Times New Roman" panose="02020603050405020304" pitchFamily="18" charset="0"/>
                <a:ea typeface="宋体" panose="02010600030101010101" pitchFamily="2" charset="-122"/>
              </a:rPr>
              <a:t>使用直接引语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生动真实。</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⑧</a:t>
            </a:r>
            <a:r>
              <a:rPr lang="zh-CN" altLang="zh-CN" sz="2500" kern="100">
                <a:latin typeface="Times New Roman" panose="02020603050405020304" pitchFamily="18" charset="0"/>
                <a:ea typeface="宋体" panose="02010600030101010101" pitchFamily="2" charset="-122"/>
              </a:rPr>
              <a:t>动作及情感表达真实细腻。</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862320"/>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考场满分作文</a:t>
            </a: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As </a:t>
            </a:r>
            <a:r>
              <a:rPr lang="en-US" altLang="zh-CN" sz="2500" kern="100">
                <a:latin typeface="Times New Roman" panose="02020603050405020304" pitchFamily="18" charset="0"/>
                <a:ea typeface="宋体" panose="02010600030101010101" pitchFamily="2" charset="-122"/>
              </a:rPr>
              <a:t>the twins looked around them in disappointment, their father appeared.</a:t>
            </a:r>
            <a:r>
              <a:rPr lang="en-US" altLang="zh-CN" sz="2500" b="1" kern="100" err="1">
                <a:latin typeface="Times New Roman" panose="02020603050405020304" pitchFamily="18" charset="0"/>
                <a:ea typeface="宋体" panose="02010600030101010101" pitchFamily="2" charset="-122"/>
              </a:rPr>
              <a:t>Faced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with</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mess</a:t>
            </a:r>
            <a:r>
              <a:rPr lang="en-US" altLang="zh-CN" sz="2500" kern="100">
                <a:latin typeface="Times New Roman" panose="02020603050405020304" pitchFamily="18" charset="0"/>
                <a:ea typeface="宋体" panose="02010600030101010101" pitchFamily="2" charset="-122"/>
              </a:rPr>
              <a:t> the twins had made of the kitchen, Father felt annoyed but tried to contain himself.Jenna ran up to him, </a:t>
            </a:r>
            <a:r>
              <a:rPr lang="en-US" altLang="zh-CN" sz="2500" b="1" kern="100">
                <a:latin typeface="Times New Roman" panose="02020603050405020304" pitchFamily="18" charset="0"/>
                <a:ea typeface="宋体" panose="02010600030101010101" pitchFamily="2" charset="-122"/>
              </a:rPr>
              <a:t>whispering</a:t>
            </a:r>
            <a:r>
              <a:rPr lang="en-US" altLang="zh-CN" sz="2500" kern="100">
                <a:latin typeface="Times New Roman" panose="02020603050405020304" pitchFamily="18" charset="0"/>
                <a:ea typeface="宋体" panose="02010600030101010101" pitchFamily="2" charset="-122"/>
              </a:rPr>
              <a:t> “We...We just want to make breakfast for Mom as Mother’s Day gift.” After he learned what all was about, his annoyance gave way to relief and delight.Immediately, he joined them and they started all over again.Soon the French toast and chicken porridge were ready.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kitchen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filled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with</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scent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breakfast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sweetness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a:t>
            </a:r>
            <a:r>
              <a:rPr lang="en-US" altLang="zh-CN" sz="2500" kern="100">
                <a:latin typeface="Times New Roman" panose="02020603050405020304" pitchFamily="18" charset="0"/>
                <a:ea typeface="宋体" panose="02010600030101010101" pitchFamily="2" charset="-122"/>
              </a:rPr>
              <a:t> </a:t>
            </a:r>
            <a:r>
              <a:rPr lang="en-US" altLang="zh-CN" sz="2500" b="1" kern="100" err="1">
                <a:latin typeface="Times New Roman" panose="02020603050405020304" pitchFamily="18" charset="0"/>
                <a:ea typeface="宋体" panose="02010600030101010101" pitchFamily="2" charset="-122"/>
              </a:rPr>
              <a:t>family</a:t>
            </a:r>
            <a:r>
              <a:rPr lang="en-US" altLang="zh-CN" sz="2500" kern="100" err="1">
                <a:latin typeface="Times New Roman" panose="02020603050405020304" pitchFamily="18" charset="0"/>
                <a:ea typeface="宋体" panose="02010600030101010101" pitchFamily="2" charset="-122"/>
              </a:rPr>
              <a:t>.</a:t>
            </a:r>
            <a:r>
              <a:rPr lang="en-US" altLang="zh-CN" sz="2500" b="1" kern="100" err="1">
                <a:latin typeface="Times New Roman" panose="02020603050405020304" pitchFamily="18" charset="0"/>
                <a:ea typeface="宋体" panose="02010600030101010101" pitchFamily="2" charset="-122"/>
              </a:rPr>
              <a:t>Looking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work</a:t>
            </a:r>
            <a:r>
              <a:rPr lang="en-US" altLang="zh-CN" sz="2500" kern="100">
                <a:latin typeface="Times New Roman" panose="02020603050405020304" pitchFamily="18" charset="0"/>
                <a:ea typeface="宋体" panose="02010600030101010101" pitchFamily="2" charset="-122"/>
              </a:rPr>
              <a:t>, the three exchanged an </a:t>
            </a:r>
            <a:r>
              <a:rPr lang="en-US" altLang="zh-CN" sz="2500" b="1" kern="100">
                <a:latin typeface="Times New Roman" panose="02020603050405020304" pitchFamily="18" charset="0"/>
                <a:ea typeface="宋体" panose="02010600030101010101" pitchFamily="2" charset="-122"/>
              </a:rPr>
              <a:t>understanding</a:t>
            </a:r>
            <a:r>
              <a:rPr lang="en-US" altLang="zh-CN" sz="2500" kern="100">
                <a:latin typeface="Times New Roman" panose="02020603050405020304" pitchFamily="18" charset="0"/>
                <a:ea typeface="宋体" panose="02010600030101010101" pitchFamily="2" charset="-122"/>
              </a:rPr>
              <a:t> smile.</a:t>
            </a:r>
            <a:r>
              <a:rPr lang="en-US" altLang="zh-CN" sz="2500" b="1" kern="100" err="1">
                <a:latin typeface="Times New Roman" panose="02020603050405020304" pitchFamily="18" charset="0"/>
                <a:ea typeface="宋体" panose="02010600030101010101" pitchFamily="2" charset="-122"/>
              </a:rPr>
              <a:t>After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signaling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them</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keep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secret</a:t>
            </a:r>
            <a:r>
              <a:rPr lang="en-US" altLang="zh-CN" sz="2500" kern="100">
                <a:latin typeface="Times New Roman" panose="02020603050405020304" pitchFamily="18" charset="0"/>
                <a:ea typeface="宋体" panose="02010600030101010101" pitchFamily="2" charset="-122"/>
              </a:rPr>
              <a:t>, Father slipped into the bedroom, </a:t>
            </a:r>
            <a:r>
              <a:rPr lang="en-US" altLang="zh-CN" sz="2500" b="1" kern="100">
                <a:latin typeface="Times New Roman" panose="02020603050405020304" pitchFamily="18" charset="0"/>
                <a:ea typeface="宋体" panose="02010600030101010101" pitchFamily="2" charset="-122"/>
              </a:rPr>
              <a:t>pretending</a:t>
            </a:r>
            <a:r>
              <a:rPr lang="en-US" altLang="zh-CN" sz="2500" kern="100">
                <a:latin typeface="Times New Roman" panose="02020603050405020304" pitchFamily="18" charset="0"/>
                <a:ea typeface="宋体" panose="02010600030101010101" pitchFamily="2" charset="-122"/>
              </a:rPr>
              <a:t> to know nothing about it.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 twins carried the breakfast upstairs and woke their mother up.Still a little sleepy, Mother failed to figure out what they were up to.“Happy Mother’s Day!” The twins congratulated.“We made breakfast for you as you do that for us.Mom, we love you!” Though still in her pajamas, Mother took a bite of the toast and sipped the hot porridge.</a:t>
            </a:r>
            <a:r>
              <a:rPr lang="en-US" altLang="zh-CN" sz="2500" b="1" kern="100" err="1">
                <a:latin typeface="Times New Roman" panose="02020603050405020304" pitchFamily="18" charset="0"/>
                <a:ea typeface="宋体" panose="02010600030101010101" pitchFamily="2" charset="-122"/>
              </a:rPr>
              <a:t>Lost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in</a:t>
            </a:r>
            <a:r>
              <a:rPr lang="en-US" altLang="zh-CN" sz="2500" kern="100">
                <a:latin typeface="Times New Roman" panose="02020603050405020304" pitchFamily="18" charset="0"/>
                <a:ea typeface="宋体" panose="02010600030101010101" pitchFamily="2" charset="-122"/>
              </a:rPr>
              <a:t> the delicious breakfast and pure love from her twins, she sobbed, </a:t>
            </a:r>
            <a:r>
              <a:rPr lang="en-US" altLang="zh-CN" sz="2500" b="1" kern="100">
                <a:latin typeface="Times New Roman" panose="02020603050405020304" pitchFamily="18" charset="0"/>
                <a:ea typeface="宋体" panose="02010600030101010101" pitchFamily="2" charset="-122"/>
              </a:rPr>
              <a:t>with</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delightful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tears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streaming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down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her</a:t>
            </a:r>
            <a:r>
              <a:rPr lang="en-US" altLang="zh-CN" sz="2500" kern="100">
                <a:latin typeface="Times New Roman" panose="02020603050405020304" pitchFamily="18" charset="0"/>
                <a:ea typeface="宋体" panose="02010600030101010101" pitchFamily="2" charset="-122"/>
              </a:rPr>
              <a:t> </a:t>
            </a:r>
            <a:r>
              <a:rPr lang="en-US" altLang="zh-CN" sz="2500" b="1" kern="100" err="1">
                <a:latin typeface="Times New Roman" panose="02020603050405020304" pitchFamily="18" charset="0"/>
                <a:ea typeface="宋体" panose="02010600030101010101" pitchFamily="2" charset="-122"/>
              </a:rPr>
              <a:t>face</a:t>
            </a:r>
            <a:r>
              <a:rPr lang="en-US" altLang="zh-CN" sz="2500" kern="100" err="1">
                <a:latin typeface="Times New Roman" panose="02020603050405020304" pitchFamily="18" charset="0"/>
                <a:ea typeface="宋体" panose="02010600030101010101" pitchFamily="2" charset="-122"/>
              </a:rPr>
              <a:t>.Lovingly, she pressed two gentle kisses on their foreheads, </a:t>
            </a:r>
            <a:r>
              <a:rPr lang="en-US" altLang="zh-CN" sz="2500" b="1" kern="100">
                <a:latin typeface="Times New Roman" panose="02020603050405020304" pitchFamily="18" charset="0"/>
                <a:ea typeface="宋体" panose="02010600030101010101" pitchFamily="2" charset="-122"/>
              </a:rPr>
              <a:t>proudly</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enjoying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their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best</a:t>
            </a:r>
            <a:r>
              <a:rPr lang="en-US" altLang="zh-CN" sz="2500" kern="100">
                <a:latin typeface="Times New Roman" panose="02020603050405020304" pitchFamily="18" charset="0"/>
                <a:ea typeface="宋体" panose="02010600030101010101" pitchFamily="2" charset="-122"/>
              </a:rPr>
              <a:t> </a:t>
            </a:r>
            <a:r>
              <a:rPr lang="en-US" altLang="zh-CN" sz="2500" b="1" kern="100" err="1">
                <a:latin typeface="Times New Roman" panose="02020603050405020304" pitchFamily="18" charset="0"/>
                <a:ea typeface="宋体" panose="02010600030101010101" pitchFamily="2" charset="-122"/>
              </a:rPr>
              <a:t>wishes</a:t>
            </a:r>
            <a:r>
              <a:rPr lang="en-US" altLang="zh-CN" sz="2500" kern="100" err="1">
                <a:latin typeface="Times New Roman" panose="02020603050405020304" pitchFamily="18" charset="0"/>
                <a:ea typeface="宋体" panose="02010600030101010101" pitchFamily="2" charset="-122"/>
              </a:rPr>
              <a:t>.Their father was standing in the doorway, </a:t>
            </a:r>
            <a:r>
              <a:rPr lang="en-US" altLang="zh-CN" sz="2500" b="1" kern="100">
                <a:latin typeface="Times New Roman" panose="02020603050405020304" pitchFamily="18" charset="0"/>
                <a:ea typeface="宋体" panose="02010600030101010101" pitchFamily="2" charset="-122"/>
              </a:rPr>
              <a:t>recording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this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touching</a:t>
            </a:r>
            <a:r>
              <a:rPr lang="en-US" altLang="zh-CN" sz="2500" kern="100">
                <a:latin typeface="Times New Roman" panose="02020603050405020304" pitchFamily="18" charset="0"/>
                <a:ea typeface="宋体" panose="02010600030101010101" pitchFamily="2" charset="-122"/>
              </a:rPr>
              <a:t> </a:t>
            </a:r>
            <a:r>
              <a:rPr lang="en-US" altLang="zh-CN" sz="2500" b="1" kern="100" err="1">
                <a:latin typeface="Times New Roman" panose="02020603050405020304" pitchFamily="18" charset="0"/>
                <a:ea typeface="宋体" panose="02010600030101010101" pitchFamily="2" charset="-122"/>
              </a:rPr>
              <a:t>scene</a:t>
            </a:r>
            <a:r>
              <a:rPr lang="en-US" altLang="zh-CN" sz="2500" kern="100" err="1">
                <a:latin typeface="Times New Roman" panose="02020603050405020304" pitchFamily="18" charset="0"/>
                <a:ea typeface="宋体" panose="02010600030101010101" pitchFamily="2" charset="-122"/>
              </a:rPr>
              <a:t>.The whole room was bathed in a happy Mother’s Day atmosphere.</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评卷老师点评</a:t>
            </a:r>
            <a:r>
              <a:rPr lang="en-US" altLang="zh-CN" sz="2500" kern="100">
                <a:latin typeface="Times New Roman" panose="02020603050405020304" pitchFamily="18" charset="0"/>
                <a:ea typeface="宋体" panose="02010600030101010101" pitchFamily="2" charset="-122"/>
              </a:rPr>
              <a:t>:</a:t>
            </a:r>
            <a:endParaRPr lang="en-US"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文章用词精准</a:t>
            </a:r>
            <a:r>
              <a:rPr lang="en-US" altLang="zh-CN" sz="2500" kern="100">
                <a:latin typeface="Times New Roman" panose="02020603050405020304" pitchFamily="18" charset="0"/>
                <a:ea typeface="宋体" panose="02010600030101010101" pitchFamily="2" charset="-122"/>
              </a:rPr>
              <a:t>(whisper, understanding, signal, pretend, lost in, stream down, proudly</a:t>
            </a:r>
            <a:r>
              <a:rPr lang="zh-CN" altLang="zh-CN" sz="2500" kern="100">
                <a:latin typeface="Times New Roman" panose="02020603050405020304" pitchFamily="18" charset="0"/>
                <a:ea typeface="宋体" panose="02010600030101010101" pitchFamily="2" charset="-122"/>
              </a:rPr>
              <a:t>等</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句式高级</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非谓语动词、独立主格和介词</a:t>
            </a:r>
            <a:r>
              <a:rPr lang="en-US" altLang="zh-CN" sz="2500" kern="100">
                <a:latin typeface="Times New Roman" panose="02020603050405020304" pitchFamily="18" charset="0"/>
                <a:ea typeface="宋体" panose="02010600030101010101" pitchFamily="2" charset="-122"/>
              </a:rPr>
              <a:t>with</a:t>
            </a:r>
            <a:r>
              <a:rPr lang="zh-CN" altLang="zh-CN" sz="2500" kern="100">
                <a:latin typeface="Times New Roman" panose="02020603050405020304" pitchFamily="18" charset="0"/>
                <a:ea typeface="宋体" panose="02010600030101010101" pitchFamily="2" charset="-122"/>
              </a:rPr>
              <a:t>的复合结构等</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通过动作、对话和心理活动等描写</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生动、形象地呈现了双胞胎孩子在母亲节为妈妈做早餐</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献上一份特别的节日礼物和惊喜。</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701611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考场满分作文</a:t>
            </a: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As </a:t>
            </a:r>
            <a:r>
              <a:rPr lang="en-US" altLang="zh-CN" sz="2500" kern="100">
                <a:latin typeface="Times New Roman" panose="02020603050405020304" pitchFamily="18" charset="0"/>
                <a:ea typeface="宋体" panose="02010600030101010101" pitchFamily="2" charset="-122"/>
              </a:rPr>
              <a:t>the twins looked around them in disappointment, their father appeared.Seeing the mess,</a:t>
            </a:r>
            <a:r>
              <a:rPr lang="en-US" altLang="zh-CN" sz="2500" b="1" kern="100" err="1">
                <a:latin typeface="Times New Roman" panose="02020603050405020304" pitchFamily="18" charset="0"/>
                <a:ea typeface="宋体" panose="02010600030101010101" pitchFamily="2" charset="-122"/>
              </a:rPr>
              <a:t>Father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froze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with</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shock</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rooted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ground.</a:t>
            </a:r>
            <a:r>
              <a:rPr lang="en-US" altLang="zh-CN" sz="2500" kern="100">
                <a:latin typeface="Times New Roman" panose="02020603050405020304" pitchFamily="18" charset="0"/>
                <a:ea typeface="宋体" panose="02010600030101010101" pitchFamily="2" charset="-122"/>
              </a:rPr>
              <a:t> From the black bread and the spilled porridge, he suddenly figured out their secret.</a:t>
            </a:r>
            <a:r>
              <a:rPr lang="en-US" altLang="zh-CN" sz="2500" b="1" kern="100" err="1">
                <a:latin typeface="Times New Roman" panose="02020603050405020304" pitchFamily="18" charset="0"/>
                <a:ea typeface="宋体" panose="02010600030101010101" pitchFamily="2" charset="-122"/>
              </a:rPr>
              <a:t>A</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smile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understanding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flashed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across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his</a:t>
            </a:r>
            <a:r>
              <a:rPr lang="en-US" altLang="zh-CN" sz="2500" kern="100">
                <a:latin typeface="Times New Roman" panose="02020603050405020304" pitchFamily="18" charset="0"/>
                <a:ea typeface="宋体" panose="02010600030101010101" pitchFamily="2" charset="-122"/>
              </a:rPr>
              <a:t> </a:t>
            </a:r>
            <a:r>
              <a:rPr lang="en-US" altLang="zh-CN" sz="2500" b="1" kern="100" err="1">
                <a:latin typeface="Times New Roman" panose="02020603050405020304" pitchFamily="18" charset="0"/>
                <a:ea typeface="宋体" panose="02010600030101010101" pitchFamily="2" charset="-122"/>
              </a:rPr>
              <a:t>face</a:t>
            </a:r>
            <a:r>
              <a:rPr lang="en-US" altLang="zh-CN" sz="2500" kern="100" err="1">
                <a:latin typeface="Times New Roman" panose="02020603050405020304" pitchFamily="18" charset="0"/>
                <a:ea typeface="宋体" panose="02010600030101010101" pitchFamily="2" charset="-122"/>
              </a:rPr>
              <a:t>.He realized their intention.He joined them in preparing the Mother’s Day surprise immediately.They started all over again.Everything went smoothly.</a:t>
            </a:r>
            <a:r>
              <a:rPr lang="en-US" altLang="zh-CN" sz="2500" b="1" kern="100" err="1">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chicken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rice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were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dancing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harmoniously</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boiling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water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pot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bread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slices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were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showing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off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its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most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tremendous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golden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color.</a:t>
            </a:r>
            <a:r>
              <a:rPr lang="en-US" altLang="zh-CN" sz="2500" kern="100">
                <a:latin typeface="Times New Roman" panose="02020603050405020304" pitchFamily="18" charset="0"/>
                <a:ea typeface="宋体" panose="02010600030101010101" pitchFamily="2" charset="-122"/>
              </a:rPr>
              <a:t> Soon the French toast and chicken porridge were ready. The kitchen filled with the scent of breakfast and sweetness of a family.Despite the oil stains on the twins’ aprons, nothing seemed imperfect, and all was in place except the most important one.</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The </a:t>
            </a:r>
            <a:r>
              <a:rPr lang="en-US" altLang="zh-CN" sz="2500" kern="100">
                <a:latin typeface="Times New Roman" panose="02020603050405020304" pitchFamily="18" charset="0"/>
                <a:ea typeface="宋体" panose="02010600030101010101" pitchFamily="2" charset="-122"/>
              </a:rPr>
              <a:t>twins carried the breakfast upstairs and woke their mother up.Still a little sleepy, Mother failed to figure out what they were up to, but the cheerful “Happy Mother’s Day” from the two sweeties brought her back to reality.The breakfast with love made by her twins really struck her heartstrings.Mother kissed them and gave them each a bear hug, saying “Oh dear, thank you my sweeties.What a big surprise!” The next moment, she woke up Father, eager to share the blessing and the inviting breakfast seasoned with love.</a:t>
            </a:r>
            <a:r>
              <a:rPr lang="en-US" altLang="zh-CN" sz="2500" b="1" kern="100" err="1">
                <a:latin typeface="Times New Roman" panose="02020603050405020304" pitchFamily="18" charset="0"/>
                <a:ea typeface="宋体" panose="02010600030101010101" pitchFamily="2" charset="-122"/>
              </a:rPr>
              <a:t>Father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who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had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been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awake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cooperatively</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rubbed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his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eyes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took</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big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bite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winking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twins</a:t>
            </a:r>
            <a:r>
              <a:rPr lang="en-US" altLang="zh-CN" sz="2500" kern="100">
                <a:latin typeface="Times New Roman" panose="02020603050405020304" pitchFamily="18" charset="0"/>
                <a:ea typeface="宋体" panose="02010600030101010101" pitchFamily="2" charset="-122"/>
              </a:rPr>
              <a:t> </a:t>
            </a:r>
            <a:r>
              <a:rPr lang="en-US" altLang="zh-CN" sz="2500" b="1" kern="100" err="1">
                <a:latin typeface="Times New Roman" panose="02020603050405020304" pitchFamily="18" charset="0"/>
                <a:ea typeface="宋体" panose="02010600030101010101" pitchFamily="2" charset="-122"/>
              </a:rPr>
              <a:t>secretly.</a:t>
            </a:r>
            <a:r>
              <a:rPr lang="en-US" altLang="zh-CN" sz="2500" kern="100" err="1">
                <a:latin typeface="Times New Roman" panose="02020603050405020304" pitchFamily="18" charset="0"/>
                <a:ea typeface="宋体" panose="02010600030101010101" pitchFamily="2" charset="-122"/>
              </a:rPr>
              <a:t>After all, the surprise did make a sweet surprise!</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评卷老师点评</a:t>
            </a:r>
            <a:r>
              <a:rPr lang="en-US" altLang="zh-CN" sz="2500" kern="100">
                <a:latin typeface="Times New Roman" panose="02020603050405020304" pitchFamily="18" charset="0"/>
                <a:ea typeface="宋体" panose="02010600030101010101" pitchFamily="2" charset="-122"/>
              </a:rPr>
              <a:t>:</a:t>
            </a:r>
            <a:endParaRPr lang="en-US"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文章通过动作、对话和心理活动等描写</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生动、形象地呈现了双胞胎孩子在母亲节为妈妈做早餐</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献上一份特别的节日礼物和惊喜。在故事情节推进的过程中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运用语篇分析的主位推进理论、呼应和修辞等手法来揭示语篇的感恩、互爱的主题</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让人豁然明白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我们平时认为妈妈无条件的爱和支持是理所当然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没什么大不了的。等到自己回报母爱时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却发现并不轻松</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反映内心触动和成长历程。</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61</Paragraphs>
  <Slides>21</Slides>
  <Notes>20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21</vt:i4>
      </vt:variant>
    </vt:vector>
  </HeadingPairs>
  <TitlesOfParts>
    <vt:vector baseType="lpstr" size="29">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2024-05-30T10:35:33.448</cp:lastPrinted>
  <dcterms:created xsi:type="dcterms:W3CDTF">2024-05-30T10:35:33Z</dcterms:created>
  <dcterms:modified xsi:type="dcterms:W3CDTF">2024-05-30T02:35:33Z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