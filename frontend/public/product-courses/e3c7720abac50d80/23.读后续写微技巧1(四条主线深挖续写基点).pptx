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857" r:id="rId3"/>
    <p:sldId id="813" r:id="rId4"/>
    <p:sldId id="820" r:id="rId5"/>
    <p:sldId id="821" r:id="rId6"/>
    <p:sldId id="822" r:id="rId7"/>
    <p:sldId id="823" r:id="rId8"/>
    <p:sldId id="824" r:id="rId9"/>
    <p:sldId id="817" r:id="rId10"/>
    <p:sldId id="825" r:id="rId11"/>
    <p:sldId id="826" r:id="rId12"/>
    <p:sldId id="827" r:id="rId13"/>
    <p:sldId id="828" r:id="rId14"/>
    <p:sldId id="829" r:id="rId15"/>
  </p:sldIdLst>
  <p:sldSz cx="13319125" cy="7491095"/>
  <p:notesSz cx="6858000" cy="9144000"/>
  <p:custDataLst>
    <p:tags r:id="rId16"/>
  </p:custDataLst>
  <p:defaultTextStyle>
    <a:defPPr>
      <a:defRPr lang="zh-CN"/>
    </a:defPPr>
    <a:lvl1pPr marL="0" algn="l" defTabSz="998220" rtl="0" eaLnBrk="1" latinLnBrk="0" hangingPunct="1">
      <a:defRPr sz="2000" kern="1200">
        <a:solidFill>
          <a:schemeClr val="tx1"/>
        </a:solidFill>
        <a:latin typeface="+mn-lt"/>
        <a:ea typeface="+mn-ea"/>
        <a:cs typeface="+mn-cs"/>
      </a:defRPr>
    </a:lvl1pPr>
    <a:lvl2pPr marL="499110" algn="l" defTabSz="998220" rtl="0" eaLnBrk="1" latinLnBrk="0" hangingPunct="1">
      <a:defRPr sz="2000" kern="1200">
        <a:solidFill>
          <a:schemeClr val="tx1"/>
        </a:solidFill>
        <a:latin typeface="+mn-lt"/>
        <a:ea typeface="+mn-ea"/>
        <a:cs typeface="+mn-cs"/>
      </a:defRPr>
    </a:lvl2pPr>
    <a:lvl3pPr marL="998220" algn="l" defTabSz="998220" rtl="0" eaLnBrk="1" latinLnBrk="0" hangingPunct="1">
      <a:defRPr sz="2000" kern="1200">
        <a:solidFill>
          <a:schemeClr val="tx1"/>
        </a:solidFill>
        <a:latin typeface="+mn-lt"/>
        <a:ea typeface="+mn-ea"/>
        <a:cs typeface="+mn-cs"/>
      </a:defRPr>
    </a:lvl3pPr>
    <a:lvl4pPr marL="1497330" algn="l" defTabSz="998220" rtl="0" eaLnBrk="1" latinLnBrk="0" hangingPunct="1">
      <a:defRPr sz="2000" kern="1200">
        <a:solidFill>
          <a:schemeClr val="tx1"/>
        </a:solidFill>
        <a:latin typeface="+mn-lt"/>
        <a:ea typeface="+mn-ea"/>
        <a:cs typeface="+mn-cs"/>
      </a:defRPr>
    </a:lvl4pPr>
    <a:lvl5pPr marL="1996440" algn="l" defTabSz="998220" rtl="0" eaLnBrk="1" latinLnBrk="0" hangingPunct="1">
      <a:defRPr sz="2000" kern="1200">
        <a:solidFill>
          <a:schemeClr val="tx1"/>
        </a:solidFill>
        <a:latin typeface="+mn-lt"/>
        <a:ea typeface="+mn-ea"/>
        <a:cs typeface="+mn-cs"/>
      </a:defRPr>
    </a:lvl5pPr>
    <a:lvl6pPr marL="2495550" algn="l" defTabSz="998220" rtl="0" eaLnBrk="1" latinLnBrk="0" hangingPunct="1">
      <a:defRPr sz="2000" kern="1200">
        <a:solidFill>
          <a:schemeClr val="tx1"/>
        </a:solidFill>
        <a:latin typeface="+mn-lt"/>
        <a:ea typeface="+mn-ea"/>
        <a:cs typeface="+mn-cs"/>
      </a:defRPr>
    </a:lvl6pPr>
    <a:lvl7pPr marL="2994025" algn="l" defTabSz="998220" rtl="0" eaLnBrk="1" latinLnBrk="0" hangingPunct="1">
      <a:defRPr sz="2000" kern="1200">
        <a:solidFill>
          <a:schemeClr val="tx1"/>
        </a:solidFill>
        <a:latin typeface="+mn-lt"/>
        <a:ea typeface="+mn-ea"/>
        <a:cs typeface="+mn-cs"/>
      </a:defRPr>
    </a:lvl7pPr>
    <a:lvl8pPr marL="3493135" algn="l" defTabSz="998220" rtl="0" eaLnBrk="1" latinLnBrk="0" hangingPunct="1">
      <a:defRPr sz="2000" kern="1200">
        <a:solidFill>
          <a:schemeClr val="tx1"/>
        </a:solidFill>
        <a:latin typeface="+mn-lt"/>
        <a:ea typeface="+mn-ea"/>
        <a:cs typeface="+mn-cs"/>
      </a:defRPr>
    </a:lvl8pPr>
    <a:lvl9pPr marL="3992245" algn="l" defTabSz="998220"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94" userDrawn="1">
          <p15:clr>
            <a:srgbClr val="A4A3A4"/>
          </p15:clr>
        </p15:guide>
        <p15:guide id="2" pos="4174"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4" autoAdjust="0"/>
    <p:restoredTop sz="99846" autoAdjust="0"/>
  </p:normalViewPr>
  <p:slideViewPr>
    <p:cSldViewPr snapToGrid="0">
      <p:cViewPr>
        <p:scale>
          <a:sx n="66" d="100"/>
          <a:sy n="66" d="100"/>
        </p:scale>
        <p:origin x="-1086" y="-474"/>
      </p:cViewPr>
      <p:guideLst>
        <p:guide orient="horz" pos="2394"/>
        <p:guide pos="417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tags" Target="tags/tag65.xml" /><Relationship Id="rId17" Type="http://schemas.openxmlformats.org/officeDocument/2006/relationships/presProps" Target="presProps.xml" /><Relationship Id="rId18" Type="http://schemas.openxmlformats.org/officeDocument/2006/relationships/viewProps" Target="viewProps.xml" /><Relationship Id="rId19" Type="http://schemas.openxmlformats.org/officeDocument/2006/relationships/theme" Target="theme/theme1.xml" /><Relationship Id="rId2" Type="http://schemas.openxmlformats.org/officeDocument/2006/relationships/notesMaster" Target="notesMasters/notesMaster1.xml" /><Relationship Id="rId20"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470" y="1143000"/>
            <a:ext cx="5487059"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309627" y="998813"/>
            <a:ext cx="10705116" cy="2807686"/>
          </a:xfrm>
        </p:spPr>
        <p:txBody>
          <a:bodyPr lIns="90000" tIns="46800" rIns="90000" bIns="46800" anchor="b" anchorCtr="0">
            <a:normAutofit/>
          </a:bodyPr>
          <a:lstStyle>
            <a:lvl1pPr algn="ctr">
              <a:defRPr sz="6555"/>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309627" y="3889078"/>
            <a:ext cx="10705116" cy="1608324"/>
          </a:xfrm>
        </p:spPr>
        <p:txBody>
          <a:bodyPr lIns="90000" tIns="46800" rIns="90000" bIns="46800">
            <a:normAutofit/>
          </a:bodyPr>
          <a:lstStyle>
            <a:lvl1pPr marL="0" indent="0" algn="ctr">
              <a:lnSpc>
                <a:spcPct val="110000"/>
              </a:lnSpc>
              <a:buNone/>
              <a:defRPr sz="2620" spc="200"/>
            </a:lvl1pPr>
            <a:lvl2pPr marL="499110" indent="0" algn="ctr">
              <a:buNone/>
              <a:defRPr sz="2185"/>
            </a:lvl2pPr>
            <a:lvl3pPr marL="998855" indent="0" algn="ctr">
              <a:buNone/>
              <a:defRPr sz="1965"/>
            </a:lvl3pPr>
            <a:lvl4pPr marL="1497965" indent="0" algn="ctr">
              <a:buNone/>
              <a:defRPr sz="1750"/>
            </a:lvl4pPr>
            <a:lvl5pPr marL="1997710" indent="0" algn="ctr">
              <a:buNone/>
              <a:defRPr sz="1750"/>
            </a:lvl5pPr>
            <a:lvl6pPr marL="2496820" indent="0" algn="ctr">
              <a:buNone/>
              <a:defRPr sz="1750"/>
            </a:lvl6pPr>
            <a:lvl7pPr marL="2996565" indent="0" algn="ctr">
              <a:buNone/>
              <a:defRPr sz="1750"/>
            </a:lvl7pPr>
            <a:lvl8pPr marL="3495675" indent="0" algn="ctr">
              <a:buNone/>
              <a:defRPr sz="1750"/>
            </a:lvl8pPr>
            <a:lvl9pPr marL="3995420" indent="0" algn="ctr">
              <a:buNone/>
              <a:defRPr sz="175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64645" y="1627986"/>
            <a:ext cx="11983280" cy="5198545"/>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2174845" y="4203664"/>
            <a:ext cx="8487009" cy="837587"/>
          </a:xfrm>
        </p:spPr>
        <p:txBody>
          <a:bodyPr lIns="90000" tIns="46800" rIns="90000" bIns="46800" anchor="b" anchorCtr="0">
            <a:normAutofit/>
          </a:bodyPr>
          <a:lstStyle>
            <a:lvl1pPr>
              <a:defRPr sz="4805"/>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2174845" y="5041251"/>
            <a:ext cx="8487009" cy="947692"/>
          </a:xfrm>
        </p:spPr>
        <p:txBody>
          <a:bodyPr lIns="90000" tIns="46800" rIns="90000" bIns="46800">
            <a:normAutofit/>
          </a:bodyPr>
          <a:lstStyle>
            <a:lvl1pPr marL="0" indent="0">
              <a:buNone/>
              <a:defRPr sz="1965">
                <a:solidFill>
                  <a:schemeClr val="tx1">
                    <a:lumMod val="65000"/>
                    <a:lumOff val="35000"/>
                  </a:schemeClr>
                </a:solidFill>
              </a:defRPr>
            </a:lvl1pPr>
            <a:lvl2pPr marL="499110" indent="0">
              <a:buNone/>
              <a:defRPr sz="1750">
                <a:solidFill>
                  <a:schemeClr val="tx1">
                    <a:tint val="75000"/>
                  </a:schemeClr>
                </a:solidFill>
              </a:defRPr>
            </a:lvl2pPr>
            <a:lvl3pPr marL="998855" indent="0">
              <a:buNone/>
              <a:defRPr sz="1750">
                <a:solidFill>
                  <a:schemeClr val="tx1">
                    <a:tint val="75000"/>
                  </a:schemeClr>
                </a:solidFill>
              </a:defRPr>
            </a:lvl3pPr>
            <a:lvl4pPr marL="1497965" indent="0">
              <a:buNone/>
              <a:defRPr sz="1750">
                <a:solidFill>
                  <a:schemeClr val="tx1">
                    <a:tint val="75000"/>
                  </a:schemeClr>
                </a:solidFill>
              </a:defRPr>
            </a:lvl4pPr>
            <a:lvl5pPr marL="1997710" indent="0">
              <a:buNone/>
              <a:defRPr sz="1750">
                <a:solidFill>
                  <a:schemeClr val="tx1">
                    <a:tint val="75000"/>
                  </a:schemeClr>
                </a:solidFill>
              </a:defRPr>
            </a:lvl5pPr>
            <a:lvl6pPr marL="2496820" indent="0">
              <a:buNone/>
              <a:defRPr sz="1750">
                <a:solidFill>
                  <a:schemeClr val="tx1">
                    <a:tint val="75000"/>
                  </a:schemeClr>
                </a:solidFill>
              </a:defRPr>
            </a:lvl6pPr>
            <a:lvl7pPr marL="2996565" indent="0">
              <a:buNone/>
              <a:defRPr sz="1750">
                <a:solidFill>
                  <a:schemeClr val="tx1">
                    <a:tint val="75000"/>
                  </a:schemeClr>
                </a:solidFill>
              </a:defRPr>
            </a:lvl7pPr>
            <a:lvl8pPr marL="3495675" indent="0">
              <a:buNone/>
              <a:defRPr sz="1750">
                <a:solidFill>
                  <a:schemeClr val="tx1">
                    <a:tint val="75000"/>
                  </a:schemeClr>
                </a:solidFill>
              </a:defRPr>
            </a:lvl8pPr>
            <a:lvl9pPr marL="3995420" indent="0">
              <a:buNone/>
              <a:defRPr sz="175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64645" y="1639783"/>
            <a:ext cx="5655384" cy="5186748"/>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7004339" y="1639783"/>
            <a:ext cx="5655384" cy="5186748"/>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64645" y="1561136"/>
            <a:ext cx="5836294" cy="416827"/>
          </a:xfrm>
        </p:spPr>
        <p:txBody>
          <a:bodyPr lIns="101600" tIns="38100" rIns="76200" bIns="38100" anchor="t" anchorCtr="0">
            <a:normAutofit/>
          </a:bodyPr>
          <a:lstStyle>
            <a:lvl1pPr marL="0" indent="0">
              <a:lnSpc>
                <a:spcPct val="100000"/>
              </a:lnSpc>
              <a:buNone/>
              <a:defRPr sz="2185" b="1" spc="200">
                <a:solidFill>
                  <a:schemeClr val="tx1">
                    <a:lumMod val="75000"/>
                    <a:lumOff val="25000"/>
                  </a:schemeClr>
                </a:solidFill>
              </a:defRPr>
            </a:lvl1pPr>
            <a:lvl2pPr marL="499110" indent="0">
              <a:buNone/>
              <a:defRPr sz="2185" b="1"/>
            </a:lvl2pPr>
            <a:lvl3pPr marL="998855" indent="0">
              <a:buNone/>
              <a:defRPr sz="1965" b="1"/>
            </a:lvl3pPr>
            <a:lvl4pPr marL="1497965" indent="0">
              <a:buNone/>
              <a:defRPr sz="1750" b="1"/>
            </a:lvl4pPr>
            <a:lvl5pPr marL="1997710" indent="0">
              <a:buNone/>
              <a:defRPr sz="1750" b="1"/>
            </a:lvl5pPr>
            <a:lvl6pPr marL="2496820" indent="0">
              <a:buNone/>
              <a:defRPr sz="1750" b="1"/>
            </a:lvl6pPr>
            <a:lvl7pPr marL="2996565" indent="0">
              <a:buNone/>
              <a:defRPr sz="1750" b="1"/>
            </a:lvl7pPr>
            <a:lvl8pPr marL="3495675" indent="0">
              <a:buNone/>
              <a:defRPr sz="1750" b="1"/>
            </a:lvl8pPr>
            <a:lvl9pPr marL="3995420" indent="0">
              <a:buNone/>
              <a:defRPr sz="175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64645" y="2025152"/>
            <a:ext cx="5836294" cy="4801379"/>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812232" y="1552976"/>
            <a:ext cx="5836294" cy="416827"/>
          </a:xfrm>
        </p:spPr>
        <p:txBody>
          <a:bodyPr vert="horz" lIns="101600" tIns="38100" rIns="76200" bIns="38100" rtlCol="0" anchor="t" anchorCtr="0">
            <a:normAutofit/>
          </a:bodyPr>
          <a:lstStyle>
            <a:lvl1pPr marL="0" indent="0">
              <a:lnSpc>
                <a:spcPct val="100000"/>
              </a:lnSpc>
              <a:buNone/>
              <a:defRPr sz="2185" b="1" spc="200">
                <a:solidFill>
                  <a:schemeClr val="tx1">
                    <a:lumMod val="75000"/>
                    <a:lumOff val="25000"/>
                  </a:schemeClr>
                </a:solidFill>
              </a:defRPr>
            </a:lvl1pPr>
            <a:lvl2pPr marL="499110" indent="0">
              <a:buNone/>
              <a:defRPr sz="2185" b="1"/>
            </a:lvl2pPr>
            <a:lvl3pPr marL="998855" indent="0">
              <a:buNone/>
              <a:defRPr sz="1965" b="1"/>
            </a:lvl3pPr>
            <a:lvl4pPr marL="1497965" indent="0">
              <a:buNone/>
              <a:defRPr sz="1750" b="1"/>
            </a:lvl4pPr>
            <a:lvl5pPr marL="1997710" indent="0">
              <a:buNone/>
              <a:defRPr sz="1750" b="1"/>
            </a:lvl5pPr>
            <a:lvl6pPr marL="2496820" indent="0">
              <a:buNone/>
              <a:defRPr sz="1750" b="1"/>
            </a:lvl6pPr>
            <a:lvl7pPr marL="2996565" indent="0">
              <a:buNone/>
              <a:defRPr sz="1750" b="1"/>
            </a:lvl7pPr>
            <a:lvl8pPr marL="3495675" indent="0">
              <a:buNone/>
              <a:defRPr sz="1750" b="1"/>
            </a:lvl8pPr>
            <a:lvl9pPr marL="3995420" indent="0">
              <a:buNone/>
              <a:defRPr sz="175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812232" y="2025152"/>
            <a:ext cx="5836294" cy="4801379"/>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64645" y="664564"/>
            <a:ext cx="11983280" cy="770737"/>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64645" y="1698768"/>
            <a:ext cx="5716864" cy="5033387"/>
          </a:xfrm>
        </p:spPr>
        <p:txBody>
          <a:bodyPr vert="horz" lIns="90000" tIns="46800" rIns="90000" bIns="46800" rtlCol="0">
            <a:normAutofit/>
          </a:bodyPr>
          <a:lstStyle>
            <a:lvl1pPr>
              <a:buNone/>
              <a:defRPr sz="1750"/>
            </a:lvl1pPr>
          </a:lstStyle>
          <a:p>
            <a:pPr lvl="0"/>
            <a:endParaRPr lang="zh-CN" altLang="en-US"/>
          </a:p>
        </p:txBody>
      </p:sp>
      <p:sp>
        <p:nvSpPr>
          <p:cNvPr id="4" name="文本占位符 3"/>
          <p:cNvSpPr>
            <a:spLocks noGrp="1"/>
          </p:cNvSpPr>
          <p:nvPr>
            <p:ph type="body" sz="half" idx="2"/>
            <p:custDataLst>
              <p:tags r:id="rId2"/>
            </p:custDataLst>
          </p:nvPr>
        </p:nvSpPr>
        <p:spPr>
          <a:xfrm>
            <a:off x="6937481" y="1698768"/>
            <a:ext cx="5710444" cy="5033387"/>
          </a:xfrm>
        </p:spPr>
        <p:txBody>
          <a:bodyPr vert="horz" lIns="90000" tIns="46800" rIns="90000" bIns="46800" rtlCol="0">
            <a:normAutofit/>
          </a:bodyPr>
          <a:lstStyle>
            <a:lvl1pPr>
              <a:buNone/>
              <a:defRPr sz="175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1180986" y="998813"/>
            <a:ext cx="1140516" cy="5493470"/>
          </a:xfrm>
        </p:spPr>
        <p:txBody>
          <a:bodyPr vert="eaVert" lIns="90000" tIns="46800" rIns="90000" bIns="46800" rtlCol="0" anchor="ctr" anchorCtr="0">
            <a:normAutofit/>
          </a:bodyPr>
          <a:lstStyle>
            <a:lvl1pPr>
              <a:buNone/>
              <a:defRPr sz="306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98934" y="998813"/>
            <a:ext cx="10016873" cy="5493470"/>
          </a:xfrm>
        </p:spPr>
        <p:txBody>
          <a:bodyPr vert="eaVert" lIns="46800" tIns="46800" rIns="46800" bIns="46800"/>
          <a:lstStyle>
            <a:lvl1pPr marL="249555" indent="-249555">
              <a:spcAft>
                <a:spcPts val="1000"/>
              </a:spcAft>
              <a:defRPr spc="300"/>
            </a:lvl1pPr>
            <a:lvl2pPr marL="749300" indent="-249555">
              <a:defRPr spc="300"/>
            </a:lvl2pPr>
            <a:lvl3pPr marL="1248410" indent="-249555">
              <a:defRPr spc="300"/>
            </a:lvl3pPr>
            <a:lvl4pPr marL="1748155" indent="-249555">
              <a:defRPr spc="300"/>
            </a:lvl4pPr>
            <a:lvl5pPr marL="2247265" indent="-249555">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64645" y="845452"/>
            <a:ext cx="11987213" cy="598894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309627" y="2713310"/>
            <a:ext cx="10705116" cy="1112850"/>
          </a:xfrm>
        </p:spPr>
        <p:txBody>
          <a:bodyPr vert="horz" lIns="90000" tIns="46800" rIns="90000" bIns="46800" rtlCol="0" anchor="t" anchorCtr="0">
            <a:normAutofit/>
          </a:bodyPr>
          <a:lstStyle>
            <a:lvl1pPr algn="ctr">
              <a:defRPr sz="6555"/>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309627" y="3889078"/>
            <a:ext cx="10705116" cy="515136"/>
          </a:xfrm>
        </p:spPr>
        <p:txBody>
          <a:bodyPr lIns="90000" tIns="46800" rIns="90000" bIns="46800">
            <a:normAutofit/>
          </a:bodyPr>
          <a:lstStyle>
            <a:lvl1pPr algn="ctr">
              <a:lnSpc>
                <a:spcPct val="110000"/>
              </a:lnSpc>
              <a:buNone/>
              <a:defRPr sz="262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64645" y="664564"/>
            <a:ext cx="11983280" cy="770737"/>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64645" y="1627986"/>
            <a:ext cx="11983280" cy="5198545"/>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68578" y="6897313"/>
            <a:ext cx="2949609" cy="346045"/>
          </a:xfrm>
          <a:prstGeom prst="rect">
            <a:avLst/>
          </a:prstGeom>
        </p:spPr>
        <p:txBody>
          <a:bodyPr vert="horz" lIns="91440" tIns="45720" rIns="91440" bIns="45720" rtlCol="0" anchor="ctr">
            <a:normAutofit/>
          </a:bodyPr>
          <a:lstStyle>
            <a:lvl1pPr algn="l">
              <a:defRPr sz="109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496516" y="6897313"/>
            <a:ext cx="4326094" cy="346045"/>
          </a:xfrm>
          <a:prstGeom prst="rect">
            <a:avLst/>
          </a:prstGeom>
        </p:spPr>
        <p:txBody>
          <a:bodyPr vert="horz" lIns="91440" tIns="45720" rIns="91440" bIns="45720" rtlCol="0" anchor="ctr">
            <a:normAutofit/>
          </a:bodyPr>
          <a:lstStyle>
            <a:lvl1pPr algn="ctr">
              <a:defRPr sz="109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9698316" y="6897313"/>
            <a:ext cx="2949609" cy="346045"/>
          </a:xfrm>
          <a:prstGeom prst="rect">
            <a:avLst/>
          </a:prstGeom>
        </p:spPr>
        <p:txBody>
          <a:bodyPr vert="horz" lIns="91440" tIns="45720" rIns="91440" bIns="45720" rtlCol="0" anchor="ctr">
            <a:normAutofit/>
          </a:bodyPr>
          <a:lstStyle>
            <a:lvl1pPr algn="r">
              <a:defRPr sz="109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98855" rtl="0" eaLnBrk="1" fontAlgn="auto" latinLnBrk="0" hangingPunct="1">
        <a:lnSpc>
          <a:spcPct val="100000"/>
        </a:lnSpc>
        <a:spcBef>
          <a:spcPct val="0"/>
        </a:spcBef>
        <a:buNone/>
        <a:defRPr sz="3930" b="0" u="none" strike="noStrike" kern="1200" cap="none" spc="300" normalizeH="0" baseline="0">
          <a:solidFill>
            <a:schemeClr val="tx1">
              <a:lumMod val="85000"/>
              <a:lumOff val="15000"/>
            </a:schemeClr>
          </a:solidFill>
          <a:uFillTx/>
          <a:latin typeface="+mj-lt"/>
          <a:ea typeface="+mj-ea"/>
          <a:cs typeface="+mj-cs"/>
        </a:defRPr>
      </a:lvl1pPr>
    </p:titleStyle>
    <p:bodyStyle>
      <a:lvl1pPr marL="249555" indent="-249555" algn="l" defTabSz="998855" rtl="0" eaLnBrk="1" fontAlgn="auto" latinLnBrk="0" hangingPunct="1">
        <a:lnSpc>
          <a:spcPct val="130000"/>
        </a:lnSpc>
        <a:spcBef>
          <a:spcPct val="0"/>
        </a:spcBef>
        <a:spcAft>
          <a:spcPts val="1000"/>
        </a:spcAft>
        <a:buFont typeface="Arial" panose="020b0604020202020204" pitchFamily="34" charset="0"/>
        <a:buChar char="●"/>
        <a:defRPr sz="1965" u="none" strike="noStrike" kern="1200" cap="none" spc="150" normalizeH="0" baseline="0">
          <a:solidFill>
            <a:schemeClr val="tx1">
              <a:lumMod val="65000"/>
              <a:lumOff val="35000"/>
            </a:schemeClr>
          </a:solidFill>
          <a:uFillTx/>
          <a:latin typeface="+mn-lt"/>
          <a:ea typeface="+mn-ea"/>
          <a:cs typeface="+mn-cs"/>
        </a:defRPr>
      </a:lvl1pPr>
      <a:lvl2pPr marL="749300" indent="-249555" algn="l" defTabSz="998855" rtl="0" eaLnBrk="1" fontAlgn="auto" latinLnBrk="0" hangingPunct="1">
        <a:lnSpc>
          <a:spcPct val="120000"/>
        </a:lnSpc>
        <a:spcBef>
          <a:spcPct val="0"/>
        </a:spcBef>
        <a:spcAft>
          <a:spcPts val="600"/>
        </a:spcAft>
        <a:buFont typeface="Arial" panose="020b0604020202020204" pitchFamily="34" charset="0"/>
        <a:buChar char="●"/>
        <a:tabLst>
          <a:tab pos="1758315"/>
        </a:tabLst>
        <a:defRPr sz="1750" u="none" strike="noStrike" kern="1200" cap="none" spc="150" normalizeH="0" baseline="0">
          <a:solidFill>
            <a:schemeClr val="tx1">
              <a:lumMod val="65000"/>
              <a:lumOff val="35000"/>
            </a:schemeClr>
          </a:solidFill>
          <a:uFillTx/>
          <a:latin typeface="+mn-lt"/>
          <a:ea typeface="+mn-ea"/>
          <a:cs typeface="+mn-cs"/>
        </a:defRPr>
      </a:lvl2pPr>
      <a:lvl3pPr marL="1248410" indent="-249555" algn="l" defTabSz="998855" rtl="0" eaLnBrk="1" fontAlgn="auto" latinLnBrk="0" hangingPunct="1">
        <a:lnSpc>
          <a:spcPct val="120000"/>
        </a:lnSpc>
        <a:spcBef>
          <a:spcPct val="0"/>
        </a:spcBef>
        <a:spcAft>
          <a:spcPts val="600"/>
        </a:spcAft>
        <a:buFont typeface="Arial" panose="020b0604020202020204" pitchFamily="34" charset="0"/>
        <a:buChar char="●"/>
        <a:defRPr sz="1750" u="none" strike="noStrike" kern="1200" cap="none" spc="150" normalizeH="0" baseline="0">
          <a:solidFill>
            <a:schemeClr val="tx1">
              <a:lumMod val="65000"/>
              <a:lumOff val="35000"/>
            </a:schemeClr>
          </a:solidFill>
          <a:uFillTx/>
          <a:latin typeface="+mn-lt"/>
          <a:ea typeface="+mn-ea"/>
          <a:cs typeface="+mn-cs"/>
        </a:defRPr>
      </a:lvl3pPr>
      <a:lvl4pPr marL="1748155" indent="-249555" algn="l" defTabSz="998855" rtl="0" eaLnBrk="1" fontAlgn="auto" latinLnBrk="0" hangingPunct="1">
        <a:lnSpc>
          <a:spcPct val="120000"/>
        </a:lnSpc>
        <a:spcBef>
          <a:spcPct val="0"/>
        </a:spcBef>
        <a:spcAft>
          <a:spcPts val="300"/>
        </a:spcAft>
        <a:buFont typeface="Wingdings" panose="05000000000000000000" charset="0"/>
        <a:buChar char=""/>
        <a:defRPr sz="1530" u="none" strike="noStrike" kern="1200" cap="none" spc="150" normalizeH="0" baseline="0">
          <a:solidFill>
            <a:schemeClr val="tx1">
              <a:lumMod val="65000"/>
              <a:lumOff val="35000"/>
            </a:schemeClr>
          </a:solidFill>
          <a:uFillTx/>
          <a:latin typeface="+mn-lt"/>
          <a:ea typeface="+mn-ea"/>
          <a:cs typeface="+mn-cs"/>
        </a:defRPr>
      </a:lvl4pPr>
      <a:lvl5pPr marL="2247265" indent="-249555" algn="l" defTabSz="998855" rtl="0" eaLnBrk="1" fontAlgn="auto" latinLnBrk="0" hangingPunct="1">
        <a:lnSpc>
          <a:spcPct val="120000"/>
        </a:lnSpc>
        <a:spcBef>
          <a:spcPct val="0"/>
        </a:spcBef>
        <a:spcAft>
          <a:spcPts val="300"/>
        </a:spcAft>
        <a:buFont typeface="Arial" panose="020b0604020202020204" pitchFamily="34" charset="0"/>
        <a:buChar char="•"/>
        <a:defRPr sz="1530" u="none" strike="noStrike" kern="1200" cap="none" spc="150" normalizeH="0" baseline="0">
          <a:solidFill>
            <a:schemeClr val="tx1">
              <a:lumMod val="65000"/>
              <a:lumOff val="35000"/>
            </a:schemeClr>
          </a:solidFill>
          <a:uFillTx/>
          <a:latin typeface="+mn-lt"/>
          <a:ea typeface="+mn-ea"/>
          <a:cs typeface="+mn-cs"/>
        </a:defRPr>
      </a:lvl5pPr>
      <a:lvl6pPr marL="2747010"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6pPr>
      <a:lvl7pPr marL="3246120"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7pPr>
      <a:lvl8pPr marL="3745865"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8pPr>
      <a:lvl9pPr marL="4244975" indent="-249555" algn="l" defTabSz="998855" rtl="0" eaLnBrk="1" latinLnBrk="0" hangingPunct="1">
        <a:lnSpc>
          <a:spcPct val="90000"/>
        </a:lnSpc>
        <a:spcBef>
          <a:spcPts val="545"/>
        </a:spcBef>
        <a:buFont typeface="Arial" panose="020b0604020202020204" pitchFamily="34" charset="0"/>
        <a:buChar char="•"/>
        <a:defRPr sz="1965" kern="1200">
          <a:solidFill>
            <a:schemeClr val="tx1"/>
          </a:solidFill>
          <a:latin typeface="+mn-lt"/>
          <a:ea typeface="+mn-ea"/>
          <a:cs typeface="+mn-cs"/>
        </a:defRPr>
      </a:lvl9pPr>
    </p:bodyStyle>
    <p:otherStyle>
      <a:defPPr>
        <a:defRPr lang="zh-CN"/>
      </a:defPPr>
      <a:lvl1pPr marL="0" algn="l" defTabSz="998855" rtl="0" eaLnBrk="1" latinLnBrk="0" hangingPunct="1">
        <a:defRPr sz="1965" kern="1200">
          <a:solidFill>
            <a:schemeClr val="tx1"/>
          </a:solidFill>
          <a:latin typeface="+mn-lt"/>
          <a:ea typeface="+mn-ea"/>
          <a:cs typeface="+mn-cs"/>
        </a:defRPr>
      </a:lvl1pPr>
      <a:lvl2pPr marL="499110" algn="l" defTabSz="998855" rtl="0" eaLnBrk="1" latinLnBrk="0" hangingPunct="1">
        <a:defRPr sz="1965" kern="1200">
          <a:solidFill>
            <a:schemeClr val="tx1"/>
          </a:solidFill>
          <a:latin typeface="+mn-lt"/>
          <a:ea typeface="+mn-ea"/>
          <a:cs typeface="+mn-cs"/>
        </a:defRPr>
      </a:lvl2pPr>
      <a:lvl3pPr marL="998855" algn="l" defTabSz="998855" rtl="0" eaLnBrk="1" latinLnBrk="0" hangingPunct="1">
        <a:defRPr sz="1965" kern="1200">
          <a:solidFill>
            <a:schemeClr val="tx1"/>
          </a:solidFill>
          <a:latin typeface="+mn-lt"/>
          <a:ea typeface="+mn-ea"/>
          <a:cs typeface="+mn-cs"/>
        </a:defRPr>
      </a:lvl3pPr>
      <a:lvl4pPr marL="1497965" algn="l" defTabSz="998855" rtl="0" eaLnBrk="1" latinLnBrk="0" hangingPunct="1">
        <a:defRPr sz="1965" kern="1200">
          <a:solidFill>
            <a:schemeClr val="tx1"/>
          </a:solidFill>
          <a:latin typeface="+mn-lt"/>
          <a:ea typeface="+mn-ea"/>
          <a:cs typeface="+mn-cs"/>
        </a:defRPr>
      </a:lvl4pPr>
      <a:lvl5pPr marL="1997710" algn="l" defTabSz="998855" rtl="0" eaLnBrk="1" latinLnBrk="0" hangingPunct="1">
        <a:defRPr sz="1965" kern="1200">
          <a:solidFill>
            <a:schemeClr val="tx1"/>
          </a:solidFill>
          <a:latin typeface="+mn-lt"/>
          <a:ea typeface="+mn-ea"/>
          <a:cs typeface="+mn-cs"/>
        </a:defRPr>
      </a:lvl5pPr>
      <a:lvl6pPr marL="2496820" algn="l" defTabSz="998855" rtl="0" eaLnBrk="1" latinLnBrk="0" hangingPunct="1">
        <a:defRPr sz="1965" kern="1200">
          <a:solidFill>
            <a:schemeClr val="tx1"/>
          </a:solidFill>
          <a:latin typeface="+mn-lt"/>
          <a:ea typeface="+mn-ea"/>
          <a:cs typeface="+mn-cs"/>
        </a:defRPr>
      </a:lvl6pPr>
      <a:lvl7pPr marL="2996565" algn="l" defTabSz="998855" rtl="0" eaLnBrk="1" latinLnBrk="0" hangingPunct="1">
        <a:defRPr sz="1965" kern="1200">
          <a:solidFill>
            <a:schemeClr val="tx1"/>
          </a:solidFill>
          <a:latin typeface="+mn-lt"/>
          <a:ea typeface="+mn-ea"/>
          <a:cs typeface="+mn-cs"/>
        </a:defRPr>
      </a:lvl7pPr>
      <a:lvl8pPr marL="3495675" algn="l" defTabSz="998855" rtl="0" eaLnBrk="1" latinLnBrk="0" hangingPunct="1">
        <a:defRPr sz="1965" kern="1200">
          <a:solidFill>
            <a:schemeClr val="tx1"/>
          </a:solidFill>
          <a:latin typeface="+mn-lt"/>
          <a:ea typeface="+mn-ea"/>
          <a:cs typeface="+mn-cs"/>
        </a:defRPr>
      </a:lvl8pPr>
      <a:lvl9pPr marL="3995420" algn="l" defTabSz="998855" rtl="0" eaLnBrk="1" latinLnBrk="0" hangingPunct="1">
        <a:defRPr sz="1965"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130557" y="2280623"/>
            <a:ext cx="10705116" cy="1608324"/>
          </a:xfrm>
        </p:spPr>
        <p:txBody>
          <a:bodyPr/>
          <a:lstStyle/>
          <a:p>
            <a:r>
              <a:rPr lang="zh-CN" altLang="en-US" sz="4400">
                <a:latin typeface="Times New Roman" panose="02020603050405020304" pitchFamily="18" charset="0"/>
                <a:ea typeface="宋体" panose="02010600030101010101" pitchFamily="2" charset="-122"/>
              </a:rPr>
              <a:t>四条主线深挖续写基点</a:t>
            </a:r>
            <a:endParaRPr lang="zh-CN" altLang="en-US" sz="44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431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gn="ctr">
              <a:lnSpc>
                <a:spcPct val="150000"/>
              </a:lnSpc>
              <a:spcAft>
                <a:spcPct val="0"/>
              </a:spcAft>
            </a:pPr>
            <a:r>
              <a:rPr lang="zh-CN" altLang="zh-CN" kern="100">
                <a:solidFill>
                  <a:srgbClr val="0000FF"/>
                </a:solidFill>
                <a:ea typeface="宋体" panose="02010600030101010101" pitchFamily="2" charset="-122"/>
              </a:rPr>
              <a:t>【真题再现】</a:t>
            </a:r>
            <a:endParaRPr lang="zh-CN" altLang="zh-CN" kern="100">
              <a:ea typeface="宋体" panose="02010600030101010101" pitchFamily="2" charset="-122"/>
            </a:endParaRPr>
          </a:p>
          <a:p>
            <a:pPr algn="r">
              <a:lnSpc>
                <a:spcPct val="150000"/>
              </a:lnSpc>
            </a:pPr>
            <a:r>
              <a:rPr lang="en-US" altLang="zh-CN" kern="100">
                <a:ea typeface="宋体" panose="02010600030101010101" pitchFamily="2" charset="-122"/>
              </a:rPr>
              <a:t>  	</a:t>
            </a:r>
            <a:r>
              <a:rPr lang="en-US" altLang="zh-CN" kern="100" smtClean="0">
                <a:ea typeface="宋体" panose="02010600030101010101" pitchFamily="2" charset="-122"/>
              </a:rPr>
              <a:t>                                                                            (</a:t>
            </a:r>
            <a:r>
              <a:rPr lang="en-US" altLang="zh-CN" kern="100">
                <a:ea typeface="宋体" panose="02010600030101010101" pitchFamily="2" charset="-122"/>
              </a:rPr>
              <a:t>2023·</a:t>
            </a:r>
            <a:r>
              <a:rPr lang="zh-CN" altLang="zh-CN" kern="100">
                <a:ea typeface="宋体" panose="02010600030101010101" pitchFamily="2" charset="-122"/>
              </a:rPr>
              <a:t>新高考</a:t>
            </a:r>
            <a:r>
              <a:rPr lang="zh-CN" altLang="zh-CN" kern="100">
                <a:ea typeface="宋体" panose="02010600030101010101" pitchFamily="2" charset="-122"/>
                <a:cs typeface="宋体" panose="02010600030101010101" pitchFamily="2" charset="-122"/>
              </a:rPr>
              <a:t>Ⅰ</a:t>
            </a:r>
            <a:r>
              <a:rPr lang="zh-CN" altLang="zh-CN" kern="100">
                <a:ea typeface="宋体" panose="02010600030101010101" pitchFamily="2" charset="-122"/>
              </a:rPr>
              <a:t>卷</a:t>
            </a:r>
            <a:r>
              <a:rPr lang="en-US" altLang="zh-CN" kern="100">
                <a:ea typeface="宋体" panose="02010600030101010101" pitchFamily="2" charset="-122"/>
              </a:rPr>
              <a:t>)</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　　</a:t>
            </a:r>
            <a:r>
              <a:rPr lang="en-US" altLang="zh-CN" kern="100">
                <a:ea typeface="宋体" panose="02010600030101010101" pitchFamily="2" charset="-122"/>
              </a:rPr>
              <a:t>When I was in middle school, my social studies teacher asked me to enter a writing contest.I said no without thinking.I did not love writing.My family came from Brazil, so English was only my second language.Writing was so difficult and painful for me that my teacher had allowed me to present my paper on the sinking of the Titanic by acting out a play where I played all the parts.No one laughed harder than he did.</a:t>
            </a:r>
            <a:endParaRPr lang="zh-CN" altLang="zh-CN" kern="100">
              <a:effectLst/>
              <a:ea typeface="宋体" panose="02010600030101010101" pitchFamily="2" charset="-122"/>
            </a:endParaRPr>
          </a:p>
        </p:txBody>
      </p:sp>
      <p:pic>
        <p:nvPicPr>
          <p:cNvPr id="3" name="Picture 3"/>
          <p:cNvPicPr>
            <a:picLocks noChangeAspect="1"/>
          </p:cNvPicPr>
          <p:nvPr/>
        </p:nvPicPr>
        <p:blipFill>
          <a:blip r:embed="rId2"/>
          <a:stretch>
            <a:fillRect/>
          </a:stretch>
        </p:blipFill>
        <p:spPr>
          <a:xfrm flipH="1">
            <a:off x="10680700" y="12446000"/>
            <a:ext cx="0" cy="0"/>
          </a:xfrm>
          <a:prstGeom prst="rect">
            <a:avLst/>
          </a:prstGeom>
          <a:ln>
            <a:noFill/>
          </a:ln>
        </p:spPr>
      </p:pic>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431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indent="355600">
              <a:lnSpc>
                <a:spcPct val="150000"/>
              </a:lnSpc>
            </a:pPr>
            <a:r>
              <a:rPr lang="en-US" altLang="zh-CN" kern="100" smtClean="0">
                <a:ea typeface="宋体" panose="02010600030101010101" pitchFamily="2" charset="-122"/>
              </a:rPr>
              <a:t>    So</a:t>
            </a:r>
            <a:r>
              <a:rPr lang="en-US" altLang="zh-CN" kern="100">
                <a:ea typeface="宋体" panose="02010600030101010101" pitchFamily="2" charset="-122"/>
              </a:rPr>
              <a:t>, why did he suddenly force me to do something at which I was sure to fail? His reply:“Because I love your stories.If you’re willing to apply yourself,I think you have a good shot at this.” Encouraged by his words, I agreed to give it a try.</a:t>
            </a:r>
            <a:endParaRPr lang="zh-CN" altLang="zh-CN" kern="100">
              <a:ea typeface="宋体" panose="02010600030101010101" pitchFamily="2" charset="-122"/>
            </a:endParaRPr>
          </a:p>
          <a:p>
            <a:pPr indent="355600">
              <a:lnSpc>
                <a:spcPct val="150000"/>
              </a:lnSpc>
            </a:pPr>
            <a:r>
              <a:rPr lang="en-US" altLang="zh-CN" kern="100" smtClean="0">
                <a:ea typeface="宋体" panose="02010600030101010101" pitchFamily="2" charset="-122"/>
              </a:rPr>
              <a:t>    I </a:t>
            </a:r>
            <a:r>
              <a:rPr lang="en-US" altLang="zh-CN" kern="100">
                <a:ea typeface="宋体" panose="02010600030101010101" pitchFamily="2" charset="-122"/>
              </a:rPr>
              <a:t>chose Paul Revere’s horse as my subject.Paul Revere was a silversmith(</a:t>
            </a:r>
            <a:r>
              <a:rPr lang="zh-CN" altLang="zh-CN" kern="100">
                <a:ea typeface="宋体" panose="02010600030101010101" pitchFamily="2" charset="-122"/>
              </a:rPr>
              <a:t>银匠</a:t>
            </a:r>
            <a:r>
              <a:rPr lang="en-US" altLang="zh-CN" kern="100">
                <a:ea typeface="宋体" panose="02010600030101010101" pitchFamily="2" charset="-122"/>
              </a:rPr>
              <a:t>)in Boston who rode a horse at night on April 18, 1775 to Lexington to warn people that British soldiers were coming.My story would come straight from the horse’s mouth.Not a brilliant idea, but funny; and unlikely to be anyone else’s choice</a:t>
            </a:r>
            <a:r>
              <a:rPr lang="en-US" altLang="zh-CN" kern="100" smtClean="0">
                <a:ea typeface="宋体" panose="02010600030101010101" pitchFamily="2" charset="-122"/>
              </a:rPr>
              <a:t>.</a:t>
            </a:r>
            <a:endParaRPr lang="zh-CN" altLang="zh-CN" kern="10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551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indent="355600">
              <a:lnSpc>
                <a:spcPct val="150000"/>
              </a:lnSpc>
            </a:pPr>
            <a:r>
              <a:rPr lang="en-US" altLang="zh-CN" kern="100" smtClean="0">
                <a:ea typeface="宋体" panose="02010600030101010101" pitchFamily="2" charset="-122"/>
              </a:rPr>
              <a:t>    What </a:t>
            </a:r>
            <a:r>
              <a:rPr lang="en-US" altLang="zh-CN" kern="100">
                <a:ea typeface="宋体" panose="02010600030101010101" pitchFamily="2" charset="-122"/>
              </a:rPr>
              <a:t>did the horse think, as he sped through the night? Did he get tired? Have doubts? Did he want to quit? I sympathized immediately.I got tired.I had doubts.I wanted to quit.But, like Revere’s horse, I kept going.I worked hard.I checked my spelling.I asked my older sister to correct my grammar.I checked out a half-dozen books on Paul Revere from the library.I even read a few of them</a:t>
            </a:r>
            <a:r>
              <a:rPr lang="en-US" altLang="zh-CN" kern="100" smtClean="0">
                <a:ea typeface="宋体" panose="02010600030101010101" pitchFamily="2" charset="-122"/>
              </a:rPr>
              <a:t>.</a:t>
            </a:r>
            <a:endParaRPr lang="en-US" altLang="zh-CN" kern="100" smtClean="0">
              <a:ea typeface="宋体" panose="02010600030101010101" pitchFamily="2" charset="-122"/>
            </a:endParaRPr>
          </a:p>
          <a:p>
            <a:pPr indent="355600">
              <a:lnSpc>
                <a:spcPct val="150000"/>
              </a:lnSpc>
            </a:pPr>
            <a:r>
              <a:rPr lang="en-US" altLang="zh-CN" kern="100" smtClean="0">
                <a:ea typeface="宋体" panose="02010600030101010101" pitchFamily="2" charset="-122"/>
              </a:rPr>
              <a:t>    When </a:t>
            </a:r>
            <a:r>
              <a:rPr lang="en-US" altLang="zh-CN" kern="100">
                <a:ea typeface="宋体" panose="02010600030101010101" pitchFamily="2" charset="-122"/>
              </a:rPr>
              <a:t>I handed in the essay to my teacher, he read it, laughed out loud, and said, “Great. Now, write it again.” I wrote it again, and again and again.When I finally finished it, the thought of winning had given way to the enjoyment of writing.If I didn’t win, I wouldn’t care</a:t>
            </a:r>
            <a:r>
              <a:rPr lang="en-US" altLang="zh-CN" kern="100" smtClean="0">
                <a:ea typeface="宋体" panose="02010600030101010101" pitchFamily="2" charset="-122"/>
              </a:rPr>
              <a:t>.</a:t>
            </a:r>
            <a:endParaRPr lang="zh-CN" altLang="zh-CN" kern="100">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721041" y="730420"/>
            <a:ext cx="12420411" cy="551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kern="100">
                <a:ea typeface="宋体" panose="02010600030101010101" pitchFamily="2" charset="-122"/>
              </a:rPr>
              <a:t>注意</a:t>
            </a:r>
            <a:r>
              <a:rPr lang="en-US" altLang="zh-CN" kern="100">
                <a:ea typeface="宋体" panose="02010600030101010101" pitchFamily="2" charset="-122"/>
              </a:rPr>
              <a:t>:</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1.</a:t>
            </a:r>
            <a:r>
              <a:rPr lang="zh-CN" altLang="zh-CN" kern="100">
                <a:ea typeface="宋体" panose="02010600030101010101" pitchFamily="2" charset="-122"/>
              </a:rPr>
              <a:t>续写词数应为</a:t>
            </a:r>
            <a:r>
              <a:rPr lang="en-US" altLang="zh-CN" kern="100">
                <a:ea typeface="宋体" panose="02010600030101010101" pitchFamily="2" charset="-122"/>
              </a:rPr>
              <a:t>150</a:t>
            </a:r>
            <a:r>
              <a:rPr lang="zh-CN" altLang="zh-CN" kern="100">
                <a:ea typeface="宋体" panose="02010600030101010101" pitchFamily="2" charset="-122"/>
              </a:rPr>
              <a:t>个左右</a:t>
            </a:r>
            <a:r>
              <a:rPr lang="en-US" altLang="zh-CN" kern="100">
                <a:ea typeface="宋体" panose="02010600030101010101" pitchFamily="2" charset="-122"/>
              </a:rPr>
              <a:t>;</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2.</a:t>
            </a:r>
            <a:r>
              <a:rPr lang="zh-CN" altLang="zh-CN" kern="100">
                <a:ea typeface="宋体" panose="02010600030101010101" pitchFamily="2" charset="-122"/>
              </a:rPr>
              <a:t>请按如下格式在相应位置作答。</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　　</a:t>
            </a:r>
            <a:r>
              <a:rPr lang="en-US" altLang="zh-CN" kern="100">
                <a:ea typeface="宋体" panose="02010600030101010101" pitchFamily="2" charset="-122"/>
              </a:rPr>
              <a:t>A few weeks later, when I almost forgot the contest, there came the news. ____</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____________________________________________________________________</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____________________________________________________________________</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　　</a:t>
            </a:r>
            <a:r>
              <a:rPr lang="en-US" altLang="zh-CN" kern="100">
                <a:ea typeface="宋体" panose="02010600030101010101" pitchFamily="2" charset="-122"/>
              </a:rPr>
              <a:t>I went to my teacher’s office after the award presentation. _________________</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____________________________________________________________________</a:t>
            </a:r>
            <a:endParaRPr lang="zh-CN" altLang="zh-CN" kern="100">
              <a:ea typeface="宋体" panose="02010600030101010101" pitchFamily="2" charset="-122"/>
            </a:endParaRPr>
          </a:p>
          <a:p>
            <a:pPr>
              <a:lnSpc>
                <a:spcPct val="150000"/>
              </a:lnSpc>
            </a:pPr>
            <a:r>
              <a:rPr lang="en-US" altLang="zh-CN" kern="100">
                <a:ea typeface="宋体" panose="02010600030101010101" pitchFamily="2" charset="-122"/>
              </a:rPr>
              <a:t>____________________________________________________________________</a:t>
            </a:r>
            <a:endParaRPr lang="zh-CN" altLang="zh-CN" kern="100">
              <a:effectLst/>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1316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gn="l">
              <a:lnSpc>
                <a:spcPct val="150000"/>
              </a:lnSpc>
              <a:spcAft>
                <a:spcPct val="0"/>
              </a:spcAft>
            </a:pPr>
            <a:r>
              <a:rPr lang="zh-CN" altLang="zh-CN" kern="100">
                <a:solidFill>
                  <a:srgbClr val="0000FF"/>
                </a:solidFill>
                <a:ea typeface="宋体" panose="02010600030101010101" pitchFamily="2" charset="-122"/>
              </a:rPr>
              <a:t>【解题策略】</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第一步　浏览前文</a:t>
            </a:r>
            <a:r>
              <a:rPr lang="en-US" altLang="zh-CN" kern="100">
                <a:ea typeface="宋体" panose="02010600030101010101" pitchFamily="2" charset="-122"/>
              </a:rPr>
              <a:t>,</a:t>
            </a:r>
            <a:r>
              <a:rPr lang="zh-CN" altLang="zh-CN" kern="100">
                <a:ea typeface="宋体" panose="02010600030101010101" pitchFamily="2" charset="-122"/>
              </a:rPr>
              <a:t>弄清关键要素并归纳主旨</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612906" y="2107222"/>
          <a:ext cx="11756895" cy="3894707"/>
        </p:xfrm>
        <a:graphic>
          <a:graphicData uri="http://schemas.openxmlformats.org/drawingml/2006/table">
            <a:tbl>
              <a:tblPr firstRow="1" firstCol="1" bandRow="1"/>
              <a:tblGrid>
                <a:gridCol w="1076194"/>
                <a:gridCol w="4864100"/>
                <a:gridCol w="5816601"/>
              </a:tblGrid>
              <a:tr h="470807">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要素</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描述</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主旨</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6458">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when</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When I was in middle school</a:t>
                      </a:r>
                      <a:endParaRPr lang="en-US" sz="2600" kern="100">
                        <a:effectLst/>
                        <a:latin typeface="Times New Roman" panose="02020603050405020304" pitchFamily="18" charset="0"/>
                        <a:ea typeface="宋体" panose="02010600030101010101" pitchFamily="2" charset="-122"/>
                      </a:endParaRPr>
                    </a:p>
                  </a:txBody>
                  <a:tcPr marL="49042" marR="490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5">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我作为一个来自巴西、英语为第二语言的孩子</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英语写作特别困难</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但在老师的鼓励下</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通过自己的努力获得了写作的乐趣</a:t>
                      </a:r>
                      <a:endParaRPr lang="zh-CN" sz="2600" kern="100">
                        <a:effectLst/>
                        <a:latin typeface="Times New Roman" panose="02020603050405020304" pitchFamily="18" charset="0"/>
                        <a:ea typeface="宋体" panose="02010600030101010101" pitchFamily="2" charset="-122"/>
                      </a:endParaRPr>
                    </a:p>
                  </a:txBody>
                  <a:tcPr marL="49042" marR="490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2300">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where</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in middle school</a:t>
                      </a:r>
                      <a:endParaRPr lang="en-US" sz="2600" kern="100">
                        <a:effectLst/>
                        <a:latin typeface="Times New Roman" panose="02020603050405020304" pitchFamily="18" charset="0"/>
                        <a:ea typeface="宋体" panose="02010600030101010101" pitchFamily="2" charset="-122"/>
                      </a:endParaRPr>
                    </a:p>
                  </a:txBody>
                  <a:tcPr marL="49042" marR="490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r h="533400">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who</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 my teacher</a:t>
                      </a:r>
                      <a:endParaRPr lang="en-US" sz="2600" kern="100">
                        <a:effectLst/>
                        <a:latin typeface="Times New Roman" panose="02020603050405020304" pitchFamily="18" charset="0"/>
                        <a:ea typeface="宋体" panose="02010600030101010101" pitchFamily="2" charset="-122"/>
                      </a:endParaRPr>
                    </a:p>
                  </a:txBody>
                  <a:tcPr marL="49042" marR="490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r h="563789">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what</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enter a writing contest</a:t>
                      </a:r>
                      <a:endParaRPr lang="en-US" sz="2600" kern="100">
                        <a:effectLst/>
                        <a:latin typeface="Times New Roman" panose="02020603050405020304" pitchFamily="18" charset="0"/>
                        <a:ea typeface="宋体" panose="02010600030101010101" pitchFamily="2" charset="-122"/>
                      </a:endParaRPr>
                    </a:p>
                  </a:txBody>
                  <a:tcPr marL="49042" marR="490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r h="706211">
                <a:tc>
                  <a:txBody>
                    <a:bodyPr vert="horz" wrap="square"/>
                    <a:lstStyle/>
                    <a:p>
                      <a:pPr algn="ctr">
                        <a:lnSpc>
                          <a:spcPct val="150000"/>
                        </a:lnSpc>
                        <a:spcAft>
                          <a:spcPct val="0"/>
                        </a:spcAft>
                      </a:pPr>
                      <a:r>
                        <a:rPr lang="en-US" sz="2600" kern="100">
                          <a:effectLst/>
                          <a:latin typeface="Times New Roman" panose="02020603050405020304" pitchFamily="18" charset="0"/>
                          <a:ea typeface="宋体" panose="02010600030101010101" pitchFamily="2" charset="-122"/>
                        </a:rPr>
                        <a:t>why</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my social studies teacher asked me to enter a writing contest</a:t>
                      </a:r>
                      <a:endParaRPr lang="en-US" sz="2600" kern="100">
                        <a:effectLst/>
                        <a:latin typeface="Times New Roman" panose="02020603050405020304" pitchFamily="18" charset="0"/>
                        <a:ea typeface="宋体" panose="02010600030101010101" pitchFamily="2" charset="-122"/>
                      </a:endParaRPr>
                    </a:p>
                  </a:txBody>
                  <a:tcPr marL="49042" marR="4904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vert="horz" wrap="square"/>
                    <a:lstStyle/>
                    <a:p/>
                  </a:txBody>
                  <a:tcPr/>
                </a:tc>
              </a:tr>
            </a:tbl>
          </a:graphicData>
        </a:graphic>
      </p:graphicFrame>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108755"/>
            <a:ext cx="12420411" cy="71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kern="100">
                <a:ea typeface="宋体" panose="02010600030101010101" pitchFamily="2" charset="-122"/>
              </a:rPr>
              <a:t>第二步　梳理四条线索</a:t>
            </a:r>
            <a:r>
              <a:rPr lang="en-US" altLang="zh-CN" kern="100">
                <a:ea typeface="宋体" panose="02010600030101010101" pitchFamily="2" charset="-122"/>
              </a:rPr>
              <a:t>,</a:t>
            </a:r>
            <a:r>
              <a:rPr lang="zh-CN" altLang="zh-CN" kern="100">
                <a:ea typeface="宋体" panose="02010600030101010101" pitchFamily="2" charset="-122"/>
              </a:rPr>
              <a:t>预测续写内容</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577850" y="953135"/>
          <a:ext cx="12475845" cy="5349240"/>
        </p:xfrm>
        <a:graphic>
          <a:graphicData uri="http://schemas.openxmlformats.org/drawingml/2006/table">
            <a:tbl>
              <a:tblPr firstRow="1" firstCol="1" bandRow="1"/>
              <a:tblGrid>
                <a:gridCol w="1073150"/>
                <a:gridCol w="1968500"/>
                <a:gridCol w="9434195"/>
              </a:tblGrid>
              <a:tr h="59436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文段</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线索</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文脉走向</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rowSpan="4">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前文</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时间线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When I was in middle school</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vert="horz" wrap="square"/>
                    <a:lstStyle/>
                    <a:p/>
                  </a:txBody>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空间线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in middle school</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vert="horz" wrap="square"/>
                    <a:lstStyle/>
                    <a:p/>
                  </a:txBody>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情感线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puzzled→encouraged→tired; doubts→the enjoyment of writing</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vert="horz" wrap="square"/>
                    <a:lstStyle/>
                    <a:p/>
                  </a:txBody>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情节线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My teacher asked me to enter a writing contest.→At first,I refused. →I was encouraged by my teacher. →I prepared the writing. →I got tired and had doubts. →I insisted on writing. →I handed in the essay.</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续写</a:t>
                      </a:r>
                      <a:endParaRPr lang="zh-CN" sz="2600" kern="100">
                        <a:effectLst/>
                        <a:latin typeface="Times New Roman" panose="02020603050405020304" pitchFamily="18" charset="0"/>
                        <a:ea typeface="宋体" panose="02010600030101010101" pitchFamily="2" charset="-122"/>
                      </a:endParaRPr>
                    </a:p>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预测</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1.I won the first place. I was thankful for my teacher’s encouragement.</a:t>
                      </a:r>
                      <a:endParaRPr lang="zh-CN" sz="26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2.I showed my thanks to my teacher again. And he inspired me to continue writing.</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vert="horz" wrap="square"/>
                    <a:lstStyle/>
                    <a:p/>
                  </a:txBody>
                  <a:tcPr/>
                </a:tc>
              </a:tr>
            </a:tbl>
          </a:graphicData>
        </a:graphic>
      </p:graphicFrame>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730420"/>
            <a:ext cx="12420411" cy="71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kern="100">
                <a:ea typeface="宋体" panose="02010600030101010101" pitchFamily="2" charset="-122"/>
              </a:rPr>
              <a:t>第三步　借助开头</a:t>
            </a:r>
            <a:r>
              <a:rPr lang="en-US" altLang="zh-CN" kern="100">
                <a:ea typeface="宋体" panose="02010600030101010101" pitchFamily="2" charset="-122"/>
              </a:rPr>
              <a:t>,</a:t>
            </a:r>
            <a:r>
              <a:rPr lang="zh-CN" altLang="zh-CN" kern="100">
                <a:ea typeface="宋体" panose="02010600030101010101" pitchFamily="2" charset="-122"/>
              </a:rPr>
              <a:t>确定续写段落梗概。</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558800" y="1646555"/>
          <a:ext cx="12044363" cy="2377440"/>
        </p:xfrm>
        <a:graphic>
          <a:graphicData uri="http://schemas.openxmlformats.org/drawingml/2006/table">
            <a:tbl>
              <a:tblPr firstRow="1" firstCol="1" bandRow="1"/>
              <a:tblGrid>
                <a:gridCol w="1346200"/>
                <a:gridCol w="10698163"/>
              </a:tblGrid>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段落</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第一段</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开头</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A few weeks later, when I almost forgot the contest, there came the news.</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梗概</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 won the first place. My classmates congratulated me on my success. My teacher handed me an award cup. I thanked him for his encouragement.</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表格 4" title=""/>
          <p:cNvGraphicFramePr>
            <a:graphicFrameLocks noGrp="1"/>
          </p:cNvGraphicFramePr>
          <p:nvPr/>
        </p:nvGraphicFramePr>
        <p:xfrm>
          <a:off x="568641" y="4300855"/>
          <a:ext cx="12044363" cy="2377440"/>
        </p:xfrm>
        <a:graphic>
          <a:graphicData uri="http://schemas.openxmlformats.org/drawingml/2006/table">
            <a:tbl>
              <a:tblPr firstRow="1" firstCol="1" bandRow="1"/>
              <a:tblGrid>
                <a:gridCol w="1346200"/>
                <a:gridCol w="10698163"/>
              </a:tblGrid>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段落</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第二段</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开头</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 went to my teacher’s office after the award presentation.</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梗概</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en-US" sz="2600" kern="100">
                          <a:effectLst/>
                          <a:latin typeface="Times New Roman" panose="02020603050405020304" pitchFamily="18" charset="0"/>
                          <a:ea typeface="宋体" panose="02010600030101010101" pitchFamily="2" charset="-122"/>
                        </a:rPr>
                        <a:t>I thanked my teacher again. He inspired me to continue writing in English. I promised to live up to his expectation.</a:t>
                      </a:r>
                      <a:endParaRPr lang="en-US"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263841" y="730420"/>
            <a:ext cx="12420411" cy="71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kern="100">
                <a:ea typeface="宋体" panose="02010600030101010101" pitchFamily="2" charset="-122"/>
              </a:rPr>
              <a:t>第四步　丰富语言</a:t>
            </a:r>
            <a:r>
              <a:rPr lang="en-US" altLang="zh-CN" kern="100">
                <a:ea typeface="宋体" panose="02010600030101010101" pitchFamily="2" charset="-122"/>
              </a:rPr>
              <a:t>,</a:t>
            </a:r>
            <a:r>
              <a:rPr lang="zh-CN" altLang="zh-CN" kern="100">
                <a:ea typeface="宋体" panose="02010600030101010101" pitchFamily="2" charset="-122"/>
              </a:rPr>
              <a:t>前呼后应</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366140" y="1547495"/>
          <a:ext cx="12664060" cy="5547360"/>
        </p:xfrm>
        <a:graphic>
          <a:graphicData uri="http://schemas.openxmlformats.org/drawingml/2006/table">
            <a:tbl>
              <a:tblPr firstRow="1" firstCol="1" bandRow="1"/>
              <a:tblGrid>
                <a:gridCol w="8688960"/>
                <a:gridCol w="3975100"/>
              </a:tblGrid>
              <a:tr h="320040">
                <a:tc>
                  <a:txBody>
                    <a:bodyPr vert="horz" wrap="square"/>
                    <a:lstStyle/>
                    <a:p>
                      <a:pPr algn="ctr">
                        <a:lnSpc>
                          <a:spcPct val="130000"/>
                        </a:lnSpc>
                        <a:spcAft>
                          <a:spcPct val="0"/>
                        </a:spcAft>
                      </a:pPr>
                      <a:r>
                        <a:rPr lang="zh-CN" sz="2000" kern="100">
                          <a:effectLst/>
                          <a:latin typeface="Times New Roman" panose="02020603050405020304" pitchFamily="18" charset="0"/>
                          <a:ea typeface="宋体" panose="02010600030101010101" pitchFamily="2" charset="-122"/>
                        </a:rPr>
                        <a:t>考场高分续写</a:t>
                      </a:r>
                      <a:endParaRPr lang="zh-CN" sz="20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30000"/>
                        </a:lnSpc>
                        <a:spcAft>
                          <a:spcPct val="0"/>
                        </a:spcAft>
                      </a:pPr>
                      <a:r>
                        <a:rPr lang="zh-CN" sz="2000" kern="100">
                          <a:effectLst/>
                          <a:latin typeface="Times New Roman" panose="02020603050405020304" pitchFamily="18" charset="0"/>
                          <a:ea typeface="宋体" panose="02010600030101010101" pitchFamily="2" charset="-122"/>
                        </a:rPr>
                        <a:t>评卷老师点评</a:t>
                      </a:r>
                      <a:endParaRPr lang="zh-CN" sz="20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60520">
                <a:tc>
                  <a:txBody>
                    <a:bodyPr vert="horz" wrap="square"/>
                    <a:lstStyle/>
                    <a:p>
                      <a:pPr algn="just">
                        <a:lnSpc>
                          <a:spcPct val="130000"/>
                        </a:lnSpc>
                        <a:spcAft>
                          <a:spcPct val="0"/>
                        </a:spcAft>
                      </a:pPr>
                      <a:r>
                        <a:rPr lang="zh-CN" sz="2000" kern="100">
                          <a:effectLst/>
                          <a:latin typeface="Times New Roman" panose="02020603050405020304" pitchFamily="18" charset="0"/>
                          <a:ea typeface="宋体" panose="02010600030101010101" pitchFamily="2" charset="-122"/>
                        </a:rPr>
                        <a:t>　　</a:t>
                      </a:r>
                      <a:r>
                        <a:rPr lang="en-US" sz="2000" kern="100">
                          <a:effectLst/>
                          <a:latin typeface="Times New Roman" panose="02020603050405020304" pitchFamily="18" charset="0"/>
                          <a:ea typeface="宋体" panose="02010600030101010101" pitchFamily="2" charset="-122"/>
                        </a:rPr>
                        <a:t>A few weeks later, when I almost forgot the contest, there came the news. </a:t>
                      </a:r>
                      <a:r>
                        <a:rPr lang="zh-CN" sz="2000" kern="100">
                          <a:effectLst/>
                          <a:latin typeface="Times New Roman" panose="02020603050405020304" pitchFamily="18" charset="0"/>
                          <a:ea typeface="宋体" panose="02010600030101010101" pitchFamily="2" charset="-122"/>
                          <a:cs typeface="宋体" panose="02010600030101010101" pitchFamily="2" charset="-122"/>
                        </a:rPr>
                        <a:t>①</a:t>
                      </a:r>
                      <a:r>
                        <a:rPr lang="en-US" sz="2000" kern="100">
                          <a:effectLst/>
                          <a:latin typeface="Times New Roman" panose="02020603050405020304" pitchFamily="18" charset="0"/>
                          <a:ea typeface="宋体" panose="02010600030101010101" pitchFamily="2" charset="-122"/>
                        </a:rPr>
                        <a:t> I won the first place. When my teacher announced the good news with delight in the classroom, I was so surprised that I felt it hard to believe. </a:t>
                      </a:r>
                      <a:r>
                        <a:rPr lang="zh-CN" sz="2000" kern="100">
                          <a:effectLst/>
                          <a:latin typeface="Times New Roman" panose="02020603050405020304" pitchFamily="18" charset="0"/>
                          <a:ea typeface="宋体" panose="02010600030101010101" pitchFamily="2" charset="-122"/>
                          <a:cs typeface="宋体" panose="02010600030101010101" pitchFamily="2" charset="-122"/>
                        </a:rPr>
                        <a:t>②</a:t>
                      </a:r>
                      <a:r>
                        <a:rPr lang="en-US" sz="2000" kern="100">
                          <a:effectLst/>
                          <a:latin typeface="Times New Roman" panose="02020603050405020304" pitchFamily="18" charset="0"/>
                          <a:ea typeface="宋体" panose="02010600030101010101" pitchFamily="2" charset="-122"/>
                        </a:rPr>
                        <a:t> Some of my classmates stared at me in disbelief while </a:t>
                      </a:r>
                      <a:r>
                        <a:rPr lang="zh-CN" sz="2000" kern="100">
                          <a:effectLst/>
                          <a:latin typeface="Times New Roman" panose="02020603050405020304" pitchFamily="18" charset="0"/>
                          <a:ea typeface="宋体" panose="02010600030101010101" pitchFamily="2" charset="-122"/>
                          <a:cs typeface="宋体" panose="02010600030101010101" pitchFamily="2" charset="-122"/>
                        </a:rPr>
                        <a:t>③</a:t>
                      </a:r>
                      <a:r>
                        <a:rPr lang="en-US" sz="2000" kern="100">
                          <a:effectLst/>
                          <a:latin typeface="Times New Roman" panose="02020603050405020304" pitchFamily="18" charset="0"/>
                          <a:ea typeface="宋体" panose="02010600030101010101" pitchFamily="2" charset="-122"/>
                        </a:rPr>
                        <a:t> others clapped and congratulated me on my success. Then my teacher handed me an award cup. Holding the cup, </a:t>
                      </a:r>
                      <a:r>
                        <a:rPr lang="zh-CN" sz="2000" kern="100">
                          <a:effectLst/>
                          <a:latin typeface="Times New Roman" panose="02020603050405020304" pitchFamily="18" charset="0"/>
                          <a:ea typeface="宋体" panose="02010600030101010101" pitchFamily="2" charset="-122"/>
                          <a:cs typeface="宋体" panose="02010600030101010101" pitchFamily="2" charset="-122"/>
                        </a:rPr>
                        <a:t>④</a:t>
                      </a:r>
                      <a:r>
                        <a:rPr lang="en-US" sz="2000" kern="100">
                          <a:effectLst/>
                          <a:latin typeface="Times New Roman" panose="02020603050405020304" pitchFamily="18" charset="0"/>
                          <a:ea typeface="宋体" panose="02010600030101010101" pitchFamily="2" charset="-122"/>
                        </a:rPr>
                        <a:t> I bent to my teacher and thanked him for his encouragement which allowed me to improve my English and enjoy writing. </a:t>
                      </a:r>
                      <a:r>
                        <a:rPr lang="zh-CN" sz="2000" kern="100">
                          <a:effectLst/>
                          <a:latin typeface="Times New Roman" panose="02020603050405020304" pitchFamily="18" charset="0"/>
                          <a:ea typeface="宋体" panose="02010600030101010101" pitchFamily="2" charset="-122"/>
                          <a:cs typeface="宋体" panose="02010600030101010101" pitchFamily="2" charset="-122"/>
                        </a:rPr>
                        <a:t>⑤</a:t>
                      </a:r>
                      <a:endParaRPr lang="zh-CN" sz="2000" kern="100">
                        <a:effectLst/>
                        <a:latin typeface="Times New Roman" panose="02020603050405020304" pitchFamily="18" charset="0"/>
                        <a:ea typeface="宋体" panose="02010600030101010101" pitchFamily="2" charset="-122"/>
                      </a:endParaRPr>
                    </a:p>
                    <a:p>
                      <a:pPr algn="just">
                        <a:lnSpc>
                          <a:spcPct val="130000"/>
                        </a:lnSpc>
                        <a:spcAft>
                          <a:spcPct val="0"/>
                        </a:spcAft>
                      </a:pPr>
                      <a:r>
                        <a:rPr lang="en-US" sz="2000" kern="100" smtClean="0">
                          <a:effectLst/>
                          <a:latin typeface="Times New Roman" panose="02020603050405020304" pitchFamily="18" charset="0"/>
                          <a:ea typeface="宋体" panose="02010600030101010101" pitchFamily="2" charset="-122"/>
                        </a:rPr>
                        <a:t>        I </a:t>
                      </a:r>
                      <a:r>
                        <a:rPr lang="en-US" sz="2000" kern="100">
                          <a:effectLst/>
                          <a:latin typeface="Times New Roman" panose="02020603050405020304" pitchFamily="18" charset="0"/>
                          <a:ea typeface="宋体" panose="02010600030101010101" pitchFamily="2" charset="-122"/>
                        </a:rPr>
                        <a:t>went to my teacher’s office after the award presentation. With excited tears in my eyes, </a:t>
                      </a:r>
                      <a:r>
                        <a:rPr lang="zh-CN" sz="2000" kern="100">
                          <a:effectLst/>
                          <a:latin typeface="Times New Roman" panose="02020603050405020304" pitchFamily="18" charset="0"/>
                          <a:ea typeface="宋体" panose="02010600030101010101" pitchFamily="2" charset="-122"/>
                          <a:cs typeface="宋体" panose="02010600030101010101" pitchFamily="2" charset="-122"/>
                        </a:rPr>
                        <a:t>⑥</a:t>
                      </a:r>
                      <a:r>
                        <a:rPr lang="en-US" sz="2000" kern="100">
                          <a:effectLst/>
                          <a:latin typeface="Times New Roman" panose="02020603050405020304" pitchFamily="18" charset="0"/>
                          <a:ea typeface="宋体" panose="02010600030101010101" pitchFamily="2" charset="-122"/>
                        </a:rPr>
                        <a:t> I thanked him again, adding that it was he who let me get a taste for writing. </a:t>
                      </a:r>
                      <a:r>
                        <a:rPr lang="zh-CN" sz="2000" kern="100">
                          <a:effectLst/>
                          <a:latin typeface="Times New Roman" panose="02020603050405020304" pitchFamily="18" charset="0"/>
                          <a:ea typeface="宋体" panose="02010600030101010101" pitchFamily="2" charset="-122"/>
                          <a:cs typeface="宋体" panose="02010600030101010101" pitchFamily="2" charset="-122"/>
                        </a:rPr>
                        <a:t>⑦</a:t>
                      </a:r>
                      <a:r>
                        <a:rPr lang="en-US" sz="2000" kern="100">
                          <a:effectLst/>
                          <a:latin typeface="Times New Roman" panose="02020603050405020304" pitchFamily="18" charset="0"/>
                          <a:ea typeface="宋体" panose="02010600030101010101" pitchFamily="2" charset="-122"/>
                        </a:rPr>
                        <a:t> Patting me on the shoulder, he inspired me to continue writing in English and believed that I would make great achievements in writing. We talked a lot about writing. I promised that I would live up to his expectation and never stop writing in English though</a:t>
                      </a:r>
                      <a:r>
                        <a:rPr lang="zh-CN" sz="2000" kern="100">
                          <a:effectLst/>
                          <a:latin typeface="Times New Roman" panose="02020603050405020304" pitchFamily="18" charset="0"/>
                          <a:ea typeface="宋体" panose="02010600030101010101" pitchFamily="2" charset="-122"/>
                          <a:cs typeface="宋体" panose="02010600030101010101" pitchFamily="2" charset="-122"/>
                        </a:rPr>
                        <a:t>⑧</a:t>
                      </a:r>
                      <a:r>
                        <a:rPr lang="en-US" sz="2000" kern="100">
                          <a:effectLst/>
                          <a:latin typeface="Times New Roman" panose="02020603050405020304" pitchFamily="18" charset="0"/>
                          <a:ea typeface="宋体" panose="02010600030101010101" pitchFamily="2" charset="-122"/>
                        </a:rPr>
                        <a:t> it was my second language. </a:t>
                      </a:r>
                      <a:endParaRPr lang="zh-CN" sz="20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3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①</a:t>
                      </a:r>
                      <a:r>
                        <a:rPr lang="zh-CN" sz="2000" kern="100">
                          <a:effectLst/>
                          <a:latin typeface="Times New Roman" panose="02020603050405020304" pitchFamily="18" charset="0"/>
                          <a:ea typeface="宋体" panose="02010600030101010101" pitchFamily="2" charset="-122"/>
                        </a:rPr>
                        <a:t>使用了高级句型</a:t>
                      </a:r>
                      <a:r>
                        <a:rPr lang="en-US" sz="2000" kern="100">
                          <a:effectLst/>
                          <a:latin typeface="Times New Roman" panose="02020603050405020304" pitchFamily="18" charset="0"/>
                          <a:ea typeface="宋体" panose="02010600030101010101" pitchFamily="2" charset="-122"/>
                        </a:rPr>
                        <a:t>——</a:t>
                      </a:r>
                      <a:r>
                        <a:rPr lang="zh-CN" sz="2000" kern="100">
                          <a:effectLst/>
                          <a:latin typeface="Times New Roman" panose="02020603050405020304" pitchFamily="18" charset="0"/>
                          <a:ea typeface="宋体" panose="02010600030101010101" pitchFamily="2" charset="-122"/>
                        </a:rPr>
                        <a:t>倒装句。</a:t>
                      </a:r>
                      <a:endParaRPr lang="zh-CN" sz="2000" kern="100">
                        <a:effectLst/>
                        <a:latin typeface="Times New Roman" panose="02020603050405020304" pitchFamily="18" charset="0"/>
                        <a:ea typeface="宋体" panose="02010600030101010101" pitchFamily="2" charset="-122"/>
                      </a:endParaRPr>
                    </a:p>
                    <a:p>
                      <a:pPr algn="just">
                        <a:lnSpc>
                          <a:spcPct val="13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②</a:t>
                      </a:r>
                      <a:r>
                        <a:rPr lang="zh-CN" sz="2000" kern="100">
                          <a:effectLst/>
                          <a:latin typeface="Times New Roman" panose="02020603050405020304" pitchFamily="18" charset="0"/>
                          <a:ea typeface="宋体" panose="02010600030101010101" pitchFamily="2" charset="-122"/>
                        </a:rPr>
                        <a:t>使用了复合句</a:t>
                      </a:r>
                      <a:r>
                        <a:rPr lang="en-US" sz="2000" kern="100">
                          <a:effectLst/>
                          <a:latin typeface="Times New Roman" panose="02020603050405020304" pitchFamily="18" charset="0"/>
                          <a:ea typeface="宋体" panose="02010600030101010101" pitchFamily="2" charset="-122"/>
                        </a:rPr>
                        <a:t>,</a:t>
                      </a:r>
                      <a:r>
                        <a:rPr lang="zh-CN" sz="2000" kern="100">
                          <a:effectLst/>
                          <a:latin typeface="Times New Roman" panose="02020603050405020304" pitchFamily="18" charset="0"/>
                          <a:ea typeface="宋体" panose="02010600030101010101" pitchFamily="2" charset="-122"/>
                        </a:rPr>
                        <a:t>句中含有</a:t>
                      </a:r>
                      <a:r>
                        <a:rPr lang="en-US" sz="2000" kern="100">
                          <a:effectLst/>
                          <a:latin typeface="Times New Roman" panose="02020603050405020304" pitchFamily="18" charset="0"/>
                          <a:ea typeface="宋体" panose="02010600030101010101" pitchFamily="2" charset="-122"/>
                        </a:rPr>
                        <a:t>so...that...</a:t>
                      </a:r>
                      <a:r>
                        <a:rPr lang="zh-CN" sz="2000" kern="100" smtClean="0">
                          <a:effectLst/>
                          <a:latin typeface="Times New Roman" panose="02020603050405020304" pitchFamily="18" charset="0"/>
                          <a:ea typeface="宋体" panose="02010600030101010101" pitchFamily="2" charset="-122"/>
                        </a:rPr>
                        <a:t>。</a:t>
                      </a:r>
                      <a:endParaRPr lang="zh-CN" sz="2000" kern="100">
                        <a:effectLst/>
                        <a:latin typeface="Times New Roman" panose="02020603050405020304" pitchFamily="18" charset="0"/>
                        <a:ea typeface="宋体" panose="02010600030101010101" pitchFamily="2" charset="-122"/>
                      </a:endParaRPr>
                    </a:p>
                    <a:p>
                      <a:pPr algn="just">
                        <a:lnSpc>
                          <a:spcPct val="13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③</a:t>
                      </a:r>
                      <a:r>
                        <a:rPr lang="en-US" sz="2000" kern="100">
                          <a:effectLst/>
                          <a:latin typeface="Times New Roman" panose="02020603050405020304" pitchFamily="18" charset="0"/>
                          <a:ea typeface="宋体" panose="02010600030101010101" pitchFamily="2" charset="-122"/>
                        </a:rPr>
                        <a:t>while</a:t>
                      </a:r>
                      <a:r>
                        <a:rPr lang="zh-CN" sz="2000" kern="100">
                          <a:effectLst/>
                          <a:latin typeface="Times New Roman" panose="02020603050405020304" pitchFamily="18" charset="0"/>
                          <a:ea typeface="宋体" panose="02010600030101010101" pitchFamily="2" charset="-122"/>
                        </a:rPr>
                        <a:t>是并列连词</a:t>
                      </a:r>
                      <a:r>
                        <a:rPr lang="en-US" sz="2000" kern="100">
                          <a:effectLst/>
                          <a:latin typeface="Times New Roman" panose="02020603050405020304" pitchFamily="18" charset="0"/>
                          <a:ea typeface="宋体" panose="02010600030101010101" pitchFamily="2" charset="-122"/>
                        </a:rPr>
                        <a:t>,</a:t>
                      </a:r>
                      <a:r>
                        <a:rPr lang="zh-CN" sz="2000" kern="100">
                          <a:effectLst/>
                          <a:latin typeface="Times New Roman" panose="02020603050405020304" pitchFamily="18" charset="0"/>
                          <a:ea typeface="宋体" panose="02010600030101010101" pitchFamily="2" charset="-122"/>
                        </a:rPr>
                        <a:t>连接并列句。</a:t>
                      </a:r>
                      <a:endParaRPr lang="zh-CN" sz="2000" kern="100">
                        <a:effectLst/>
                        <a:latin typeface="Times New Roman" panose="02020603050405020304" pitchFamily="18" charset="0"/>
                        <a:ea typeface="宋体" panose="02010600030101010101" pitchFamily="2" charset="-122"/>
                      </a:endParaRPr>
                    </a:p>
                    <a:p>
                      <a:pPr algn="just">
                        <a:lnSpc>
                          <a:spcPct val="13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④</a:t>
                      </a:r>
                      <a:r>
                        <a:rPr lang="zh-CN" sz="2000" kern="100">
                          <a:effectLst/>
                          <a:latin typeface="Times New Roman" panose="02020603050405020304" pitchFamily="18" charset="0"/>
                          <a:ea typeface="宋体" panose="02010600030101010101" pitchFamily="2" charset="-122"/>
                        </a:rPr>
                        <a:t>使用了动词</a:t>
                      </a:r>
                      <a:r>
                        <a:rPr lang="en-US" sz="2000" kern="100">
                          <a:effectLst/>
                          <a:latin typeface="Times New Roman" panose="02020603050405020304" pitchFamily="18" charset="0"/>
                          <a:ea typeface="宋体" panose="02010600030101010101" pitchFamily="2" charset="-122"/>
                        </a:rPr>
                        <a:t>-ing</a:t>
                      </a:r>
                      <a:r>
                        <a:rPr lang="zh-CN" sz="2000" kern="100">
                          <a:effectLst/>
                          <a:latin typeface="Times New Roman" panose="02020603050405020304" pitchFamily="18" charset="0"/>
                          <a:ea typeface="宋体" panose="02010600030101010101" pitchFamily="2" charset="-122"/>
                        </a:rPr>
                        <a:t>短语。</a:t>
                      </a:r>
                      <a:endParaRPr lang="zh-CN" sz="2000" kern="100">
                        <a:effectLst/>
                        <a:latin typeface="Times New Roman" panose="02020603050405020304" pitchFamily="18" charset="0"/>
                        <a:ea typeface="宋体" panose="02010600030101010101" pitchFamily="2" charset="-122"/>
                      </a:endParaRPr>
                    </a:p>
                    <a:p>
                      <a:pPr algn="just">
                        <a:lnSpc>
                          <a:spcPct val="13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⑤</a:t>
                      </a:r>
                      <a:r>
                        <a:rPr lang="zh-CN" sz="2000" kern="100">
                          <a:effectLst/>
                          <a:latin typeface="Times New Roman" panose="02020603050405020304" pitchFamily="18" charset="0"/>
                          <a:ea typeface="宋体" panose="02010600030101010101" pitchFamily="2" charset="-122"/>
                        </a:rPr>
                        <a:t>使用动词不定式作宾语补足语。</a:t>
                      </a:r>
                      <a:endParaRPr lang="zh-CN" sz="2000" kern="100">
                        <a:effectLst/>
                        <a:latin typeface="Times New Roman" panose="02020603050405020304" pitchFamily="18" charset="0"/>
                        <a:ea typeface="宋体" panose="02010600030101010101" pitchFamily="2" charset="-122"/>
                      </a:endParaRPr>
                    </a:p>
                    <a:p>
                      <a:pPr algn="just">
                        <a:lnSpc>
                          <a:spcPct val="13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⑥</a:t>
                      </a:r>
                      <a:r>
                        <a:rPr lang="zh-CN" sz="2000" kern="100">
                          <a:effectLst/>
                          <a:latin typeface="Times New Roman" panose="02020603050405020304" pitchFamily="18" charset="0"/>
                          <a:ea typeface="宋体" panose="02010600030101010101" pitchFamily="2" charset="-122"/>
                        </a:rPr>
                        <a:t>使用了独立主格结构。</a:t>
                      </a:r>
                      <a:endParaRPr lang="zh-CN" sz="2000" kern="100">
                        <a:effectLst/>
                        <a:latin typeface="Times New Roman" panose="02020603050405020304" pitchFamily="18" charset="0"/>
                        <a:ea typeface="宋体" panose="02010600030101010101" pitchFamily="2" charset="-122"/>
                      </a:endParaRPr>
                    </a:p>
                    <a:p>
                      <a:pPr algn="just">
                        <a:lnSpc>
                          <a:spcPct val="13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⑦</a:t>
                      </a:r>
                      <a:r>
                        <a:rPr lang="zh-CN" sz="2000" kern="100">
                          <a:effectLst/>
                          <a:latin typeface="Times New Roman" panose="02020603050405020304" pitchFamily="18" charset="0"/>
                          <a:ea typeface="宋体" panose="02010600030101010101" pitchFamily="2" charset="-122"/>
                        </a:rPr>
                        <a:t>使用了复杂句式</a:t>
                      </a:r>
                      <a:r>
                        <a:rPr lang="en-US" sz="2000" kern="100">
                          <a:effectLst/>
                          <a:latin typeface="Times New Roman" panose="02020603050405020304" pitchFamily="18" charset="0"/>
                          <a:ea typeface="宋体" panose="02010600030101010101" pitchFamily="2" charset="-122"/>
                        </a:rPr>
                        <a:t>,</a:t>
                      </a:r>
                      <a:r>
                        <a:rPr lang="zh-CN" sz="2000" kern="100">
                          <a:effectLst/>
                          <a:latin typeface="Times New Roman" panose="02020603050405020304" pitchFamily="18" charset="0"/>
                          <a:ea typeface="宋体" panose="02010600030101010101" pitchFamily="2" charset="-122"/>
                        </a:rPr>
                        <a:t>其中包括动</a:t>
                      </a:r>
                      <a:r>
                        <a:rPr lang="zh-CN" sz="2000" kern="100" smtClean="0">
                          <a:effectLst/>
                          <a:latin typeface="Times New Roman" panose="02020603050405020304" pitchFamily="18" charset="0"/>
                          <a:ea typeface="宋体" panose="02010600030101010101" pitchFamily="2" charset="-122"/>
                        </a:rPr>
                        <a:t>词</a:t>
                      </a:r>
                      <a:endParaRPr lang="en-US" altLang="zh-CN" sz="2000" kern="100" smtClean="0">
                        <a:effectLst/>
                        <a:latin typeface="Times New Roman" panose="02020603050405020304" pitchFamily="18" charset="0"/>
                        <a:ea typeface="宋体" panose="02010600030101010101" pitchFamily="2" charset="-122"/>
                      </a:endParaRPr>
                    </a:p>
                    <a:p>
                      <a:pPr algn="just">
                        <a:lnSpc>
                          <a:spcPct val="130000"/>
                        </a:lnSpc>
                        <a:spcAft>
                          <a:spcPct val="0"/>
                        </a:spcAft>
                      </a:pPr>
                      <a:r>
                        <a:rPr lang="en-US" sz="2000" kern="100" smtClean="0">
                          <a:effectLst/>
                          <a:latin typeface="Times New Roman" panose="02020603050405020304" pitchFamily="18" charset="0"/>
                          <a:ea typeface="宋体" panose="02010600030101010101" pitchFamily="2" charset="-122"/>
                        </a:rPr>
                        <a:t>-</a:t>
                      </a:r>
                      <a:r>
                        <a:rPr lang="en-US" sz="2000" kern="100" err="1">
                          <a:effectLst/>
                          <a:latin typeface="Times New Roman" panose="02020603050405020304" pitchFamily="18" charset="0"/>
                          <a:ea typeface="宋体" panose="02010600030101010101" pitchFamily="2" charset="-122"/>
                        </a:rPr>
                        <a:t>ing</a:t>
                      </a:r>
                      <a:r>
                        <a:rPr lang="zh-CN" sz="2000" kern="100">
                          <a:effectLst/>
                          <a:latin typeface="Times New Roman" panose="02020603050405020304" pitchFamily="18" charset="0"/>
                          <a:ea typeface="宋体" panose="02010600030101010101" pitchFamily="2" charset="-122"/>
                        </a:rPr>
                        <a:t>短语作状语</a:t>
                      </a:r>
                      <a:r>
                        <a:rPr lang="en-US" sz="2000" kern="100">
                          <a:effectLst/>
                          <a:latin typeface="Times New Roman" panose="02020603050405020304" pitchFamily="18" charset="0"/>
                          <a:ea typeface="宋体" panose="02010600030101010101" pitchFamily="2" charset="-122"/>
                        </a:rPr>
                        <a:t>;</a:t>
                      </a:r>
                      <a:r>
                        <a:rPr lang="zh-CN" sz="2000" kern="100">
                          <a:effectLst/>
                          <a:latin typeface="Times New Roman" panose="02020603050405020304" pitchFamily="18" charset="0"/>
                          <a:ea typeface="宋体" panose="02010600030101010101" pitchFamily="2" charset="-122"/>
                        </a:rPr>
                        <a:t>强调句型。</a:t>
                      </a:r>
                      <a:endParaRPr lang="zh-CN" sz="2000" kern="100">
                        <a:effectLst/>
                        <a:latin typeface="Times New Roman" panose="02020603050405020304" pitchFamily="18" charset="0"/>
                        <a:ea typeface="宋体" panose="02010600030101010101" pitchFamily="2" charset="-122"/>
                      </a:endParaRPr>
                    </a:p>
                    <a:p>
                      <a:pPr algn="just">
                        <a:lnSpc>
                          <a:spcPct val="130000"/>
                        </a:lnSpc>
                        <a:spcAft>
                          <a:spcPct val="0"/>
                        </a:spcAft>
                      </a:pPr>
                      <a:r>
                        <a:rPr lang="zh-CN" sz="2000" kern="100">
                          <a:effectLst/>
                          <a:latin typeface="Times New Roman" panose="02020603050405020304" pitchFamily="18" charset="0"/>
                          <a:ea typeface="宋体" panose="02010600030101010101" pitchFamily="2" charset="-122"/>
                          <a:cs typeface="宋体" panose="02010600030101010101" pitchFamily="2" charset="-122"/>
                        </a:rPr>
                        <a:t>⑧</a:t>
                      </a:r>
                      <a:r>
                        <a:rPr lang="zh-CN" sz="2000" kern="100">
                          <a:effectLst/>
                          <a:latin typeface="Times New Roman" panose="02020603050405020304" pitchFamily="18" charset="0"/>
                          <a:ea typeface="宋体" panose="02010600030101010101" pitchFamily="2" charset="-122"/>
                        </a:rPr>
                        <a:t>使用了</a:t>
                      </a:r>
                      <a:r>
                        <a:rPr lang="en-US" sz="2000" kern="100">
                          <a:effectLst/>
                          <a:latin typeface="Times New Roman" panose="02020603050405020304" pitchFamily="18" charset="0"/>
                          <a:ea typeface="宋体" panose="02010600030101010101" pitchFamily="2" charset="-122"/>
                        </a:rPr>
                        <a:t>though</a:t>
                      </a:r>
                      <a:r>
                        <a:rPr lang="zh-CN" sz="2000" kern="100">
                          <a:effectLst/>
                          <a:latin typeface="Times New Roman" panose="02020603050405020304" pitchFamily="18" charset="0"/>
                          <a:ea typeface="宋体" panose="02010600030101010101" pitchFamily="2" charset="-122"/>
                        </a:rPr>
                        <a:t>引导的让步状语从句。</a:t>
                      </a:r>
                      <a:endParaRPr lang="zh-CN" sz="20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241470"/>
            <a:ext cx="12420411" cy="2517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gn="ctr">
              <a:lnSpc>
                <a:spcPct val="150000"/>
              </a:lnSpc>
              <a:spcAft>
                <a:spcPct val="0"/>
              </a:spcAft>
            </a:pPr>
            <a:r>
              <a:rPr lang="zh-CN" altLang="zh-CN" kern="100">
                <a:solidFill>
                  <a:srgbClr val="0000FF"/>
                </a:solidFill>
                <a:ea typeface="宋体" panose="02010600030101010101" pitchFamily="2" charset="-122"/>
              </a:rPr>
              <a:t>【技巧分析】</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一、</a:t>
            </a:r>
            <a:r>
              <a:rPr lang="en-US" altLang="zh-CN" b="1" kern="100">
                <a:ea typeface="宋体" panose="02010600030101010101" pitchFamily="2" charset="-122"/>
              </a:rPr>
              <a:t>5W</a:t>
            </a:r>
            <a:r>
              <a:rPr lang="zh-CN" altLang="zh-CN" kern="100">
                <a:ea typeface="宋体" panose="02010600030101010101" pitchFamily="2" charset="-122"/>
              </a:rPr>
              <a:t>和</a:t>
            </a:r>
            <a:r>
              <a:rPr lang="en-US" altLang="zh-CN" b="1" kern="100">
                <a:ea typeface="宋体" panose="02010600030101010101" pitchFamily="2" charset="-122"/>
              </a:rPr>
              <a:t>1H</a:t>
            </a:r>
            <a:r>
              <a:rPr lang="zh-CN" altLang="zh-CN" kern="100">
                <a:ea typeface="宋体" panose="02010600030101010101" pitchFamily="2" charset="-122"/>
              </a:rPr>
              <a:t>把握记叙文基本要素。</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　　读后续写中所提供的前文通常是一篇记叙文的一部分</a:t>
            </a:r>
            <a:r>
              <a:rPr lang="en-US" altLang="zh-CN" kern="100">
                <a:ea typeface="宋体" panose="02010600030101010101" pitchFamily="2" charset="-122"/>
              </a:rPr>
              <a:t>, </a:t>
            </a:r>
            <a:r>
              <a:rPr lang="zh-CN" altLang="zh-CN" kern="100">
                <a:ea typeface="宋体" panose="02010600030101010101" pitchFamily="2" charset="-122"/>
              </a:rPr>
              <a:t>阅读时为了获取对续写有用的关键信息</a:t>
            </a:r>
            <a:r>
              <a:rPr lang="en-US" altLang="zh-CN" kern="100">
                <a:ea typeface="宋体" panose="02010600030101010101" pitchFamily="2" charset="-122"/>
              </a:rPr>
              <a:t>,</a:t>
            </a:r>
            <a:r>
              <a:rPr lang="zh-CN" altLang="zh-CN" kern="100">
                <a:ea typeface="宋体" panose="02010600030101010101" pitchFamily="2" charset="-122"/>
              </a:rPr>
              <a:t>要特别关注</a:t>
            </a:r>
            <a:r>
              <a:rPr lang="en-US" altLang="zh-CN" kern="100">
                <a:ea typeface="宋体" panose="02010600030101010101" pitchFamily="2" charset="-122"/>
              </a:rPr>
              <a:t>5W</a:t>
            </a:r>
            <a:r>
              <a:rPr lang="zh-CN" altLang="zh-CN" kern="100">
                <a:ea typeface="宋体" panose="02010600030101010101" pitchFamily="2" charset="-122"/>
              </a:rPr>
              <a:t>和</a:t>
            </a:r>
            <a:r>
              <a:rPr lang="en-US" altLang="zh-CN" kern="100">
                <a:ea typeface="宋体" panose="02010600030101010101" pitchFamily="2" charset="-122"/>
              </a:rPr>
              <a:t>1H,</a:t>
            </a:r>
            <a:r>
              <a:rPr lang="zh-CN" altLang="zh-CN" kern="100">
                <a:ea typeface="宋体" panose="02010600030101010101" pitchFamily="2" charset="-122"/>
              </a:rPr>
              <a:t>其具体情况见下表。</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596900" y="2758440"/>
          <a:ext cx="12061190" cy="4134485"/>
        </p:xfrm>
        <a:graphic>
          <a:graphicData uri="http://schemas.openxmlformats.org/drawingml/2006/table">
            <a:tbl>
              <a:tblPr firstRow="1" firstCol="1" bandRow="1"/>
              <a:tblGrid>
                <a:gridCol w="1104900"/>
                <a:gridCol w="2798189"/>
                <a:gridCol w="8158163"/>
              </a:tblGrid>
              <a:tr h="529590">
                <a:tc gridSpan="2">
                  <a:txBody>
                    <a:bodyPr vert="horz" wrap="square"/>
                    <a:lstStyle/>
                    <a:p>
                      <a:pPr algn="ctr">
                        <a:lnSpc>
                          <a:spcPct val="130000"/>
                        </a:lnSpc>
                        <a:spcAft>
                          <a:spcPct val="0"/>
                        </a:spcAft>
                      </a:pPr>
                      <a:r>
                        <a:rPr lang="zh-CN" sz="2600" kern="100">
                          <a:effectLst/>
                          <a:latin typeface="Times New Roman" panose="02020603050405020304" pitchFamily="18" charset="0"/>
                          <a:ea typeface="宋体" panose="02010600030101010101" pitchFamily="2" charset="-122"/>
                        </a:rPr>
                        <a:t>要素</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vert="horz" wrap="square"/>
                    <a:lstStyle/>
                    <a:p/>
                  </a:txBody>
                  <a:tcPr/>
                </a:tc>
                <a:tc>
                  <a:txBody>
                    <a:bodyPr vert="horz" wrap="square"/>
                    <a:lstStyle/>
                    <a:p>
                      <a:pPr algn="ctr">
                        <a:lnSpc>
                          <a:spcPct val="130000"/>
                        </a:lnSpc>
                        <a:spcAft>
                          <a:spcPct val="0"/>
                        </a:spcAft>
                      </a:pPr>
                      <a:r>
                        <a:rPr lang="zh-CN" sz="2600" kern="100">
                          <a:effectLst/>
                          <a:latin typeface="Times New Roman" panose="02020603050405020304" pitchFamily="18" charset="0"/>
                          <a:ea typeface="宋体" panose="02010600030101010101" pitchFamily="2" charset="-122"/>
                        </a:rPr>
                        <a:t>解读</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rowSpan="5">
                  <a:txBody>
                    <a:bodyPr vert="horz" wrap="square"/>
                    <a:lstStyle/>
                    <a:p>
                      <a:pPr algn="ctr">
                        <a:lnSpc>
                          <a:spcPct val="130000"/>
                        </a:lnSpc>
                        <a:spcAft>
                          <a:spcPct val="0"/>
                        </a:spcAft>
                      </a:pPr>
                      <a:r>
                        <a:rPr lang="en-US" sz="2600" kern="100">
                          <a:effectLst/>
                          <a:latin typeface="Times New Roman" panose="02020603050405020304" pitchFamily="18" charset="0"/>
                          <a:ea typeface="宋体" panose="02010600030101010101" pitchFamily="2" charset="-122"/>
                        </a:rPr>
                        <a:t>5W</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30000"/>
                        </a:lnSpc>
                        <a:spcAft>
                          <a:spcPct val="0"/>
                        </a:spcAft>
                      </a:pPr>
                      <a:r>
                        <a:rPr lang="en-US" sz="2600" kern="100">
                          <a:effectLst/>
                          <a:latin typeface="Times New Roman" panose="02020603050405020304" pitchFamily="18" charset="0"/>
                          <a:ea typeface="宋体" panose="02010600030101010101" pitchFamily="2" charset="-122"/>
                        </a:rPr>
                        <a:t>when</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30000"/>
                        </a:lnSpc>
                        <a:spcAft>
                          <a:spcPct val="0"/>
                        </a:spcAft>
                      </a:pPr>
                      <a:r>
                        <a:rPr lang="zh-CN" sz="2600" kern="100">
                          <a:effectLst/>
                          <a:latin typeface="Times New Roman" panose="02020603050405020304" pitchFamily="18" charset="0"/>
                          <a:ea typeface="宋体" panose="02010600030101010101" pitchFamily="2" charset="-122"/>
                        </a:rPr>
                        <a:t>指故事发生的时间</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比如在母亲节等</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vert="horz" wrap="square"/>
                    <a:lstStyle/>
                    <a:p/>
                  </a:txBody>
                  <a:tcPr/>
                </a:tc>
                <a:tc>
                  <a:txBody>
                    <a:bodyPr vert="horz" wrap="square"/>
                    <a:lstStyle/>
                    <a:p>
                      <a:pPr algn="ctr">
                        <a:lnSpc>
                          <a:spcPct val="130000"/>
                        </a:lnSpc>
                        <a:spcAft>
                          <a:spcPct val="0"/>
                        </a:spcAft>
                      </a:pPr>
                      <a:r>
                        <a:rPr lang="en-US" sz="2600" kern="100">
                          <a:effectLst/>
                          <a:latin typeface="Times New Roman" panose="02020603050405020304" pitchFamily="18" charset="0"/>
                          <a:ea typeface="宋体" panose="02010600030101010101" pitchFamily="2" charset="-122"/>
                        </a:rPr>
                        <a:t>where</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30000"/>
                        </a:lnSpc>
                        <a:spcAft>
                          <a:spcPct val="0"/>
                        </a:spcAft>
                      </a:pPr>
                      <a:r>
                        <a:rPr lang="zh-CN" sz="2600" kern="100">
                          <a:effectLst/>
                          <a:latin typeface="Times New Roman" panose="02020603050405020304" pitchFamily="18" charset="0"/>
                          <a:ea typeface="宋体" panose="02010600030101010101" pitchFamily="2" charset="-122"/>
                        </a:rPr>
                        <a:t>指故事发生的地点</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比如在家里的厨房等</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vert="horz" wrap="square"/>
                    <a:lstStyle/>
                    <a:p/>
                  </a:txBody>
                  <a:tcPr/>
                </a:tc>
                <a:tc>
                  <a:txBody>
                    <a:bodyPr vert="horz" wrap="square"/>
                    <a:lstStyle/>
                    <a:p>
                      <a:pPr algn="ctr">
                        <a:lnSpc>
                          <a:spcPct val="130000"/>
                        </a:lnSpc>
                        <a:spcAft>
                          <a:spcPct val="0"/>
                        </a:spcAft>
                      </a:pPr>
                      <a:r>
                        <a:rPr lang="en-US" sz="2600" kern="100">
                          <a:effectLst/>
                          <a:latin typeface="Times New Roman" panose="02020603050405020304" pitchFamily="18" charset="0"/>
                          <a:ea typeface="宋体" panose="02010600030101010101" pitchFamily="2" charset="-122"/>
                        </a:rPr>
                        <a:t>who</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30000"/>
                        </a:lnSpc>
                        <a:spcAft>
                          <a:spcPct val="0"/>
                        </a:spcAft>
                      </a:pPr>
                      <a:r>
                        <a:rPr lang="zh-CN" sz="2600" kern="100">
                          <a:effectLst/>
                          <a:latin typeface="Times New Roman" panose="02020603050405020304" pitchFamily="18" charset="0"/>
                          <a:ea typeface="宋体" panose="02010600030101010101" pitchFamily="2" charset="-122"/>
                        </a:rPr>
                        <a:t>指故事中的主人公、相关的人物</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比如双胞胎、父亲、母亲等</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vert="horz" wrap="square"/>
                    <a:lstStyle/>
                    <a:p/>
                  </a:txBody>
                  <a:tcPr/>
                </a:tc>
                <a:tc>
                  <a:txBody>
                    <a:bodyPr vert="horz" wrap="square"/>
                    <a:lstStyle/>
                    <a:p>
                      <a:pPr algn="ctr">
                        <a:lnSpc>
                          <a:spcPct val="130000"/>
                        </a:lnSpc>
                        <a:spcAft>
                          <a:spcPct val="0"/>
                        </a:spcAft>
                      </a:pPr>
                      <a:r>
                        <a:rPr lang="en-US" sz="2600" kern="100">
                          <a:effectLst/>
                          <a:latin typeface="Times New Roman" panose="02020603050405020304" pitchFamily="18" charset="0"/>
                          <a:ea typeface="宋体" panose="02010600030101010101" pitchFamily="2" charset="-122"/>
                        </a:rPr>
                        <a:t>what</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30000"/>
                        </a:lnSpc>
                        <a:spcAft>
                          <a:spcPct val="0"/>
                        </a:spcAft>
                      </a:pPr>
                      <a:r>
                        <a:rPr lang="zh-CN" sz="2600" kern="100">
                          <a:effectLst/>
                          <a:latin typeface="Times New Roman" panose="02020603050405020304" pitchFamily="18" charset="0"/>
                          <a:ea typeface="宋体" panose="02010600030101010101" pitchFamily="2" charset="-122"/>
                        </a:rPr>
                        <a:t>从文章中提取出所发生的事件</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xBody>
                    <a:bodyPr vert="horz" wrap="square"/>
                    <a:lstStyle/>
                    <a:p/>
                  </a:txBody>
                  <a:tcPr/>
                </a:tc>
                <a:tc>
                  <a:txBody>
                    <a:bodyPr vert="horz" wrap="square"/>
                    <a:lstStyle/>
                    <a:p>
                      <a:pPr algn="ctr">
                        <a:lnSpc>
                          <a:spcPct val="130000"/>
                        </a:lnSpc>
                        <a:spcAft>
                          <a:spcPct val="0"/>
                        </a:spcAft>
                      </a:pPr>
                      <a:r>
                        <a:rPr lang="en-US" sz="2600" kern="100">
                          <a:effectLst/>
                          <a:latin typeface="Times New Roman" panose="02020603050405020304" pitchFamily="18" charset="0"/>
                          <a:ea typeface="宋体" panose="02010600030101010101" pitchFamily="2" charset="-122"/>
                        </a:rPr>
                        <a:t>why</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30000"/>
                        </a:lnSpc>
                        <a:spcAft>
                          <a:spcPct val="0"/>
                        </a:spcAft>
                      </a:pPr>
                      <a:r>
                        <a:rPr lang="zh-CN" sz="2600" kern="100">
                          <a:effectLst/>
                          <a:latin typeface="Times New Roman" panose="02020603050405020304" pitchFamily="18" charset="0"/>
                          <a:ea typeface="宋体" panose="02010600030101010101" pitchFamily="2" charset="-122"/>
                        </a:rPr>
                        <a:t>指事件发生的起因。比如为母亲做早餐等</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30000"/>
                        </a:lnSpc>
                        <a:spcAft>
                          <a:spcPct val="0"/>
                        </a:spcAft>
                      </a:pPr>
                      <a:r>
                        <a:rPr lang="en-US" sz="2600" kern="100">
                          <a:effectLst/>
                          <a:latin typeface="Times New Roman" panose="02020603050405020304" pitchFamily="18" charset="0"/>
                          <a:ea typeface="宋体" panose="02010600030101010101" pitchFamily="2" charset="-122"/>
                        </a:rPr>
                        <a:t>1H</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30000"/>
                        </a:lnSpc>
                        <a:spcAft>
                          <a:spcPct val="0"/>
                        </a:spcAft>
                      </a:pPr>
                      <a:r>
                        <a:rPr lang="en-US" sz="2600" kern="100">
                          <a:effectLst/>
                          <a:latin typeface="Times New Roman" panose="02020603050405020304" pitchFamily="18" charset="0"/>
                          <a:ea typeface="宋体" panose="02010600030101010101" pitchFamily="2" charset="-122"/>
                        </a:rPr>
                        <a:t>how</a:t>
                      </a:r>
                      <a:endParaRPr lang="en-US"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30000"/>
                        </a:lnSpc>
                        <a:spcAft>
                          <a:spcPct val="0"/>
                        </a:spcAft>
                      </a:pPr>
                      <a:r>
                        <a:rPr lang="zh-CN" sz="2600" kern="100">
                          <a:effectLst/>
                          <a:latin typeface="Times New Roman" panose="02020603050405020304" pitchFamily="18" charset="0"/>
                          <a:ea typeface="宋体" panose="02010600030101010101" pitchFamily="2" charset="-122"/>
                        </a:rPr>
                        <a:t>指事件发生的过程、方式等</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523410"/>
            <a:ext cx="12420411" cy="2517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kern="100">
                <a:ea typeface="宋体" panose="02010600030101010101" pitchFamily="2" charset="-122"/>
              </a:rPr>
              <a:t>二、厘清框架探索故事模式</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　　记叙文通常采用顺叙、倒叙和插叙等手段组织故事情节的发展</a:t>
            </a:r>
            <a:r>
              <a:rPr lang="en-US" altLang="zh-CN" kern="100">
                <a:ea typeface="宋体" panose="02010600030101010101" pitchFamily="2" charset="-122"/>
              </a:rPr>
              <a:t>,</a:t>
            </a:r>
            <a:r>
              <a:rPr lang="zh-CN" altLang="zh-CN" kern="100">
                <a:ea typeface="宋体" panose="02010600030101010101" pitchFamily="2" charset="-122"/>
              </a:rPr>
              <a:t>无论采用哪种形式都会体现其发展的框架</a:t>
            </a:r>
            <a:r>
              <a:rPr lang="en-US" altLang="zh-CN" kern="100">
                <a:ea typeface="宋体" panose="02010600030101010101" pitchFamily="2" charset="-122"/>
              </a:rPr>
              <a:t>,</a:t>
            </a:r>
            <a:r>
              <a:rPr lang="zh-CN" altLang="zh-CN" kern="100">
                <a:ea typeface="宋体" panose="02010600030101010101" pitchFamily="2" charset="-122"/>
              </a:rPr>
              <a:t>这个框架有助于预测续写的走向</a:t>
            </a:r>
            <a:r>
              <a:rPr lang="en-US" altLang="zh-CN" kern="100">
                <a:ea typeface="宋体" panose="02010600030101010101" pitchFamily="2" charset="-122"/>
              </a:rPr>
              <a:t>,</a:t>
            </a:r>
            <a:r>
              <a:rPr lang="zh-CN" altLang="zh-CN" kern="100">
                <a:ea typeface="宋体" panose="02010600030101010101" pitchFamily="2" charset="-122"/>
              </a:rPr>
              <a:t>因此十分重要。其具体模式如下表</a:t>
            </a:r>
            <a:r>
              <a:rPr lang="en-US" altLang="zh-CN" kern="100">
                <a:ea typeface="宋体" panose="02010600030101010101" pitchFamily="2" charset="-122"/>
              </a:rPr>
              <a:t>:</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609600" y="3146425"/>
          <a:ext cx="11550618" cy="3017520"/>
        </p:xfrm>
        <a:graphic>
          <a:graphicData uri="http://schemas.openxmlformats.org/drawingml/2006/table">
            <a:tbl>
              <a:tblPr firstRow="1" firstCol="1" bandRow="1"/>
              <a:tblGrid>
                <a:gridCol w="1324383"/>
                <a:gridCol w="10226235"/>
              </a:tblGrid>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模式</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解读</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开端</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通常交代时间、地点和人物等信息</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发展</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通常叙述事件的起因和细节及经过</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高潮</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通常叙述事件中的矛盾和冲突。比如</a:t>
                      </a:r>
                      <a:r>
                        <a:rPr lang="en-US" sz="2600" kern="100">
                          <a:effectLst/>
                          <a:latin typeface="Times New Roman" panose="02020603050405020304" pitchFamily="18" charset="0"/>
                          <a:ea typeface="宋体" panose="02010600030101010101" pitchFamily="2" charset="-122"/>
                        </a:rPr>
                        <a:t>2021</a:t>
                      </a:r>
                      <a:r>
                        <a:rPr lang="zh-CN" sz="2600" kern="100">
                          <a:effectLst/>
                          <a:latin typeface="Times New Roman" panose="02020603050405020304" pitchFamily="18" charset="0"/>
                          <a:ea typeface="宋体" panose="02010600030101010101" pitchFamily="2" charset="-122"/>
                        </a:rPr>
                        <a:t>年全国新高考</a:t>
                      </a:r>
                      <a:r>
                        <a:rPr lang="zh-CN" sz="2600" kern="100">
                          <a:effectLst/>
                          <a:latin typeface="Times New Roman" panose="02020603050405020304" pitchFamily="18" charset="0"/>
                          <a:ea typeface="宋体" panose="02010600030101010101" pitchFamily="2" charset="-122"/>
                          <a:cs typeface="宋体" panose="02010600030101010101" pitchFamily="2" charset="-122"/>
                        </a:rPr>
                        <a:t>Ⅰ</a:t>
                      </a:r>
                      <a:r>
                        <a:rPr lang="zh-CN" sz="2600" kern="100">
                          <a:effectLst/>
                          <a:latin typeface="Times New Roman" panose="02020603050405020304" pitchFamily="18" charset="0"/>
                          <a:ea typeface="宋体" panose="02010600030101010101" pitchFamily="2" charset="-122"/>
                        </a:rPr>
                        <a:t>卷前文中</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粥沸外流、面包烤糊等</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结局</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事件的最终结果</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3529735" title=""/>
          <p:cNvSpPr txBox="1">
            <a:spLocks noChangeArrowheads="1"/>
          </p:cNvSpPr>
          <p:nvPr/>
        </p:nvSpPr>
        <p:spPr bwMode="auto">
          <a:xfrm>
            <a:off x="454341" y="286555"/>
            <a:ext cx="12420411" cy="2517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7227" tIns="58614" rIns="117227" bIns="58614">
            <a:spAutoFit/>
          </a:bodyPr>
          <a:lstStyle>
            <a:lvl1pPr algn="just" defTabSz="1171575">
              <a:defRPr sz="2600">
                <a:solidFill>
                  <a:srgbClr val="000000"/>
                </a:solidFill>
                <a:latin typeface="Times New Roman" panose="02020603050405020304" pitchFamily="18" charset="0"/>
                <a:ea typeface="微软雅黑" panose="020b0503020204020204" pitchFamily="34" charset="-122"/>
              </a:defRPr>
            </a:lvl1pPr>
            <a:lvl2pPr algn="just" defTabSz="1171575">
              <a:defRPr sz="2600">
                <a:solidFill>
                  <a:srgbClr val="000000"/>
                </a:solidFill>
                <a:latin typeface="Times New Roman" panose="02020603050405020304" pitchFamily="18" charset="0"/>
                <a:ea typeface="微软雅黑" panose="020b0503020204020204" pitchFamily="34" charset="-122"/>
              </a:defRPr>
            </a:lvl2pPr>
            <a:lvl3pPr algn="just" defTabSz="1171575">
              <a:defRPr sz="2600">
                <a:solidFill>
                  <a:srgbClr val="000000"/>
                </a:solidFill>
                <a:latin typeface="Times New Roman" panose="02020603050405020304" pitchFamily="18" charset="0"/>
                <a:ea typeface="微软雅黑" panose="020b0503020204020204" pitchFamily="34" charset="-122"/>
              </a:defRPr>
            </a:lvl3pPr>
            <a:lvl4pPr algn="just" defTabSz="1171575">
              <a:defRPr sz="2600">
                <a:solidFill>
                  <a:srgbClr val="000000"/>
                </a:solidFill>
                <a:latin typeface="Times New Roman" panose="02020603050405020304" pitchFamily="18" charset="0"/>
                <a:ea typeface="微软雅黑" panose="020b0503020204020204" pitchFamily="34" charset="-122"/>
              </a:defRPr>
            </a:lvl4pPr>
            <a:lvl5pPr algn="just" defTabSz="1171575">
              <a:defRPr sz="2600">
                <a:solidFill>
                  <a:srgbClr val="000000"/>
                </a:solidFill>
                <a:latin typeface="Times New Roman" panose="02020603050405020304" pitchFamily="18" charset="0"/>
                <a:ea typeface="微软雅黑" panose="020b0503020204020204" pitchFamily="34" charset="-122"/>
              </a:defRPr>
            </a:lvl5pPr>
            <a:lvl6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6pPr>
            <a:lvl7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7pPr>
            <a:lvl8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8pPr>
            <a:lvl9pPr algn="just" defTabSz="1171575" fontAlgn="base">
              <a:lnSpc>
                <a:spcPct val="150000"/>
              </a:lnSpc>
              <a:spcBef>
                <a:spcPct val="0"/>
              </a:spcBef>
              <a:spcAft>
                <a:spcPct val="0"/>
              </a:spcAft>
              <a:defRPr sz="2600">
                <a:solidFill>
                  <a:srgbClr val="000000"/>
                </a:solidFill>
                <a:latin typeface="Times New Roman" panose="02020603050405020304" pitchFamily="18" charset="0"/>
                <a:ea typeface="微软雅黑" panose="020b0503020204020204" pitchFamily="34" charset="-122"/>
              </a:defRPr>
            </a:lvl9pPr>
          </a:lstStyle>
          <a:p>
            <a:pPr>
              <a:lnSpc>
                <a:spcPct val="150000"/>
              </a:lnSpc>
            </a:pPr>
            <a:r>
              <a:rPr lang="zh-CN" altLang="zh-CN" kern="100">
                <a:ea typeface="宋体" panose="02010600030101010101" pitchFamily="2" charset="-122"/>
              </a:rPr>
              <a:t>三、探寻</a:t>
            </a:r>
            <a:r>
              <a:rPr lang="en-US" altLang="zh-CN" kern="100">
                <a:ea typeface="宋体" panose="02010600030101010101" pitchFamily="2" charset="-122"/>
              </a:rPr>
              <a:t>“</a:t>
            </a:r>
            <a:r>
              <a:rPr lang="zh-CN" altLang="zh-CN" kern="100">
                <a:ea typeface="宋体" panose="02010600030101010101" pitchFamily="2" charset="-122"/>
              </a:rPr>
              <a:t>四条主线</a:t>
            </a:r>
            <a:r>
              <a:rPr lang="en-US" altLang="zh-CN" kern="100">
                <a:ea typeface="宋体" panose="02010600030101010101" pitchFamily="2" charset="-122"/>
              </a:rPr>
              <a:t>”,</a:t>
            </a:r>
            <a:r>
              <a:rPr lang="zh-CN" altLang="zh-CN" kern="100">
                <a:ea typeface="宋体" panose="02010600030101010101" pitchFamily="2" charset="-122"/>
              </a:rPr>
              <a:t>深挖关键信息</a:t>
            </a:r>
            <a:endParaRPr lang="zh-CN" altLang="zh-CN" kern="100">
              <a:ea typeface="宋体" panose="02010600030101010101" pitchFamily="2" charset="-122"/>
            </a:endParaRPr>
          </a:p>
          <a:p>
            <a:pPr>
              <a:lnSpc>
                <a:spcPct val="150000"/>
              </a:lnSpc>
            </a:pPr>
            <a:r>
              <a:rPr lang="zh-CN" altLang="zh-CN" kern="100">
                <a:ea typeface="宋体" panose="02010600030101010101" pitchFamily="2" charset="-122"/>
              </a:rPr>
              <a:t>　　记叙文通常遵循时间、空间、情感和情节变化来组织语言和行文</a:t>
            </a:r>
            <a:r>
              <a:rPr lang="en-US" altLang="zh-CN" kern="100">
                <a:ea typeface="宋体" panose="02010600030101010101" pitchFamily="2" charset="-122"/>
              </a:rPr>
              <a:t>,</a:t>
            </a:r>
            <a:r>
              <a:rPr lang="zh-CN" altLang="zh-CN" kern="100">
                <a:ea typeface="宋体" panose="02010600030101010101" pitchFamily="2" charset="-122"/>
              </a:rPr>
              <a:t>所以这些前文信息和要求续写的部分存在着密切的联系</a:t>
            </a:r>
            <a:r>
              <a:rPr lang="en-US" altLang="zh-CN" kern="100">
                <a:ea typeface="宋体" panose="02010600030101010101" pitchFamily="2" charset="-122"/>
              </a:rPr>
              <a:t>,</a:t>
            </a:r>
            <a:r>
              <a:rPr lang="zh-CN" altLang="zh-CN" kern="100">
                <a:ea typeface="宋体" panose="02010600030101010101" pitchFamily="2" charset="-122"/>
              </a:rPr>
              <a:t>因此在解题时必须关注前文中的这些关键线索。其详情如下表</a:t>
            </a:r>
            <a:r>
              <a:rPr lang="en-US" altLang="zh-CN" kern="100">
                <a:ea typeface="宋体" panose="02010600030101010101" pitchFamily="2" charset="-122"/>
              </a:rPr>
              <a:t>:</a:t>
            </a:r>
            <a:endParaRPr lang="zh-CN" altLang="zh-CN" kern="100">
              <a:effectLst/>
              <a:ea typeface="宋体" panose="02010600030101010101" pitchFamily="2" charset="-122"/>
            </a:endParaRPr>
          </a:p>
        </p:txBody>
      </p:sp>
      <p:graphicFrame>
        <p:nvGraphicFramePr>
          <p:cNvPr id="4" name="表格 3" title=""/>
          <p:cNvGraphicFramePr>
            <a:graphicFrameLocks noGrp="1"/>
          </p:cNvGraphicFramePr>
          <p:nvPr/>
        </p:nvGraphicFramePr>
        <p:xfrm>
          <a:off x="603250" y="2803525"/>
          <a:ext cx="11987213" cy="3520440"/>
        </p:xfrm>
        <a:graphic>
          <a:graphicData uri="http://schemas.openxmlformats.org/drawingml/2006/table">
            <a:tbl>
              <a:tblPr firstRow="1" firstCol="1" bandRow="1"/>
              <a:tblGrid>
                <a:gridCol w="1162050"/>
                <a:gridCol w="10825163"/>
              </a:tblGrid>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主线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解读</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时间线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指故事中以时间先后顺序叙述情节的发展。比如</a:t>
                      </a:r>
                      <a:r>
                        <a:rPr lang="en-US" sz="2600" kern="100">
                          <a:effectLst/>
                          <a:latin typeface="Times New Roman" panose="02020603050405020304" pitchFamily="18" charset="0"/>
                          <a:ea typeface="宋体" panose="02010600030101010101" pitchFamily="2" charset="-122"/>
                        </a:rPr>
                        <a:t>2021</a:t>
                      </a:r>
                      <a:r>
                        <a:rPr lang="zh-CN" sz="2600" kern="100">
                          <a:effectLst/>
                          <a:latin typeface="Times New Roman" panose="02020603050405020304" pitchFamily="18" charset="0"/>
                          <a:ea typeface="宋体" panose="02010600030101010101" pitchFamily="2" charset="-122"/>
                        </a:rPr>
                        <a:t>年全国新高考</a:t>
                      </a:r>
                      <a:r>
                        <a:rPr lang="zh-CN" sz="2600" kern="100">
                          <a:effectLst/>
                          <a:latin typeface="Times New Roman" panose="02020603050405020304" pitchFamily="18" charset="0"/>
                          <a:ea typeface="宋体" panose="02010600030101010101" pitchFamily="2" charset="-122"/>
                          <a:cs typeface="宋体" panose="02010600030101010101" pitchFamily="2" charset="-122"/>
                        </a:rPr>
                        <a:t>Ⅰ</a:t>
                      </a:r>
                      <a:r>
                        <a:rPr lang="zh-CN" sz="2600" kern="100">
                          <a:effectLst/>
                          <a:latin typeface="Times New Roman" panose="02020603050405020304" pitchFamily="18" charset="0"/>
                          <a:ea typeface="宋体" panose="02010600030101010101" pitchFamily="2" charset="-122"/>
                        </a:rPr>
                        <a:t>卷前文中的时间线是</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母亲节前夕</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母亲节当天</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在早晨六点</a:t>
                      </a:r>
                      <a:r>
                        <a:rPr lang="en-US" sz="2600" kern="100">
                          <a:effectLst/>
                          <a:latin typeface="Times New Roman" panose="02020603050405020304" pitchFamily="18" charset="0"/>
                          <a:ea typeface="宋体" panose="02010600030101010101" pitchFamily="2" charset="-122"/>
                        </a:rPr>
                        <a:t>……</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空间线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指事件发生、发展的位置不断变化。比如</a:t>
                      </a:r>
                      <a:r>
                        <a:rPr lang="en-US" sz="2600" kern="100">
                          <a:effectLst/>
                          <a:latin typeface="Times New Roman" panose="02020603050405020304" pitchFamily="18" charset="0"/>
                          <a:ea typeface="宋体" panose="02010600030101010101" pitchFamily="2" charset="-122"/>
                        </a:rPr>
                        <a:t>2021</a:t>
                      </a:r>
                      <a:r>
                        <a:rPr lang="zh-CN" sz="2600" kern="100">
                          <a:effectLst/>
                          <a:latin typeface="Times New Roman" panose="02020603050405020304" pitchFamily="18" charset="0"/>
                          <a:ea typeface="宋体" panose="02010600030101010101" pitchFamily="2" charset="-122"/>
                        </a:rPr>
                        <a:t>年全国新高考</a:t>
                      </a:r>
                      <a:r>
                        <a:rPr lang="zh-CN" sz="2600" kern="100">
                          <a:effectLst/>
                          <a:latin typeface="Times New Roman" panose="02020603050405020304" pitchFamily="18" charset="0"/>
                          <a:ea typeface="宋体" panose="02010600030101010101" pitchFamily="2" charset="-122"/>
                          <a:cs typeface="宋体" panose="02010600030101010101" pitchFamily="2" charset="-122"/>
                        </a:rPr>
                        <a:t>Ⅰ</a:t>
                      </a:r>
                      <a:r>
                        <a:rPr lang="zh-CN" sz="2600" kern="100">
                          <a:effectLst/>
                          <a:latin typeface="Times New Roman" panose="02020603050405020304" pitchFamily="18" charset="0"/>
                          <a:ea typeface="宋体" panose="02010600030101010101" pitchFamily="2" charset="-122"/>
                        </a:rPr>
                        <a:t>卷前文中的空间线是在双胞胎的家里</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双胞胎的楼上卧室</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楼下厨房</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妈妈的卧室</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情感线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指故事主人公随着不同场景的变化而出现的情绪波动。比如</a:t>
                      </a:r>
                      <a:r>
                        <a:rPr lang="en-US" sz="2600" kern="100">
                          <a:effectLst/>
                          <a:latin typeface="Times New Roman" panose="02020603050405020304" pitchFamily="18" charset="0"/>
                          <a:ea typeface="宋体" panose="02010600030101010101" pitchFamily="2" charset="-122"/>
                        </a:rPr>
                        <a:t>2021</a:t>
                      </a:r>
                      <a:r>
                        <a:rPr lang="zh-CN" sz="2600" kern="100">
                          <a:effectLst/>
                          <a:latin typeface="Times New Roman" panose="02020603050405020304" pitchFamily="18" charset="0"/>
                          <a:ea typeface="宋体" panose="02010600030101010101" pitchFamily="2" charset="-122"/>
                        </a:rPr>
                        <a:t>年全国新高考</a:t>
                      </a:r>
                      <a:r>
                        <a:rPr lang="zh-CN" sz="2600" kern="100">
                          <a:effectLst/>
                          <a:latin typeface="Times New Roman" panose="02020603050405020304" pitchFamily="18" charset="0"/>
                          <a:ea typeface="宋体" panose="02010600030101010101" pitchFamily="2" charset="-122"/>
                          <a:cs typeface="宋体" panose="02010600030101010101" pitchFamily="2" charset="-122"/>
                        </a:rPr>
                        <a:t>Ⅰ</a:t>
                      </a:r>
                      <a:r>
                        <a:rPr lang="zh-CN" sz="2600" kern="100">
                          <a:effectLst/>
                          <a:latin typeface="Times New Roman" panose="02020603050405020304" pitchFamily="18" charset="0"/>
                          <a:ea typeface="宋体" panose="02010600030101010101" pitchFamily="2" charset="-122"/>
                        </a:rPr>
                        <a:t>卷前文中的情感线是</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紧张</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疼痛</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吃惊</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自豪</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3" name="表格 2" title=""/>
          <p:cNvGraphicFramePr>
            <a:graphicFrameLocks noGrp="1"/>
          </p:cNvGraphicFramePr>
          <p:nvPr/>
        </p:nvGraphicFramePr>
        <p:xfrm>
          <a:off x="499745" y="2033905"/>
          <a:ext cx="11987213" cy="2011680"/>
        </p:xfrm>
        <a:graphic>
          <a:graphicData uri="http://schemas.openxmlformats.org/drawingml/2006/table">
            <a:tbl>
              <a:tblPr firstRow="1" firstCol="1" bandRow="1"/>
              <a:tblGrid>
                <a:gridCol w="1162050"/>
                <a:gridCol w="10825163"/>
              </a:tblGrid>
              <a:tr h="59436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主线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解读</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vert="horz" wrap="square"/>
                    <a:lstStyle/>
                    <a:p>
                      <a:pPr algn="ctr">
                        <a:lnSpc>
                          <a:spcPct val="150000"/>
                        </a:lnSpc>
                        <a:spcAft>
                          <a:spcPct val="0"/>
                        </a:spcAft>
                      </a:pPr>
                      <a:r>
                        <a:rPr lang="zh-CN" sz="2600" kern="100">
                          <a:effectLst/>
                          <a:latin typeface="Times New Roman" panose="02020603050405020304" pitchFamily="18" charset="0"/>
                          <a:ea typeface="宋体" panose="02010600030101010101" pitchFamily="2" charset="-122"/>
                        </a:rPr>
                        <a:t>情节线</a:t>
                      </a:r>
                      <a:endParaRPr lang="zh-CN" sz="26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vert="horz" wrap="square"/>
                    <a:lstStyle/>
                    <a:p>
                      <a:pPr algn="just">
                        <a:lnSpc>
                          <a:spcPct val="150000"/>
                        </a:lnSpc>
                        <a:spcAft>
                          <a:spcPct val="0"/>
                        </a:spcAft>
                      </a:pPr>
                      <a:r>
                        <a:rPr lang="zh-CN" sz="2600" kern="100">
                          <a:effectLst/>
                          <a:latin typeface="Times New Roman" panose="02020603050405020304" pitchFamily="18" charset="0"/>
                          <a:ea typeface="宋体" panose="02010600030101010101" pitchFamily="2" charset="-122"/>
                        </a:rPr>
                        <a:t>指按照一定顺序叙述事件发生的经过。比如</a:t>
                      </a:r>
                      <a:r>
                        <a:rPr lang="en-US" sz="2600" kern="100">
                          <a:effectLst/>
                          <a:latin typeface="Times New Roman" panose="02020603050405020304" pitchFamily="18" charset="0"/>
                          <a:ea typeface="宋体" panose="02010600030101010101" pitchFamily="2" charset="-122"/>
                        </a:rPr>
                        <a:t>2021</a:t>
                      </a:r>
                      <a:r>
                        <a:rPr lang="zh-CN" sz="2600" kern="100">
                          <a:effectLst/>
                          <a:latin typeface="Times New Roman" panose="02020603050405020304" pitchFamily="18" charset="0"/>
                          <a:ea typeface="宋体" panose="02010600030101010101" pitchFamily="2" charset="-122"/>
                        </a:rPr>
                        <a:t>年全国新高考</a:t>
                      </a:r>
                      <a:r>
                        <a:rPr lang="zh-CN" sz="2600" kern="100">
                          <a:effectLst/>
                          <a:latin typeface="Times New Roman" panose="02020603050405020304" pitchFamily="18" charset="0"/>
                          <a:ea typeface="宋体" panose="02010600030101010101" pitchFamily="2" charset="-122"/>
                          <a:cs typeface="宋体" panose="02010600030101010101" pitchFamily="2" charset="-122"/>
                        </a:rPr>
                        <a:t>Ⅰ</a:t>
                      </a:r>
                      <a:r>
                        <a:rPr lang="zh-CN" sz="2600" kern="100">
                          <a:effectLst/>
                          <a:latin typeface="Times New Roman" panose="02020603050405020304" pitchFamily="18" charset="0"/>
                          <a:ea typeface="宋体" panose="02010600030101010101" pitchFamily="2" charset="-122"/>
                        </a:rPr>
                        <a:t>卷前文中的情节线是</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母亲节前夕的计划</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母亲节早晨六点下楼去厨房为母亲做早餐</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粥沸外流、熄灭炉火</a:t>
                      </a:r>
                      <a:r>
                        <a:rPr lang="en-US" sz="2600" kern="100">
                          <a:effectLst/>
                          <a:latin typeface="Times New Roman" panose="02020603050405020304" pitchFamily="18" charset="0"/>
                          <a:ea typeface="宋体" panose="02010600030101010101" pitchFamily="2" charset="-122"/>
                        </a:rPr>
                        <a:t>→</a:t>
                      </a:r>
                      <a:r>
                        <a:rPr lang="zh-CN" sz="2600" kern="100">
                          <a:effectLst/>
                          <a:latin typeface="Times New Roman" panose="02020603050405020304" pitchFamily="18" charset="0"/>
                          <a:ea typeface="宋体" panose="02010600030101010101" pitchFamily="2" charset="-122"/>
                        </a:rPr>
                        <a:t>两片面包烤糊</a:t>
                      </a:r>
                      <a:r>
                        <a:rPr lang="en-US" sz="2600" kern="100">
                          <a:effectLst/>
                          <a:latin typeface="Times New Roman" panose="02020603050405020304" pitchFamily="18" charset="0"/>
                          <a:ea typeface="宋体" panose="02010600030101010101" pitchFamily="2" charset="-122"/>
                        </a:rPr>
                        <a:t>……</a:t>
                      </a:r>
                      <a:endParaRPr lang="zh-CN" sz="2600" kern="100">
                        <a:effectLst/>
                        <a:latin typeface="Times New Roman" panose="02020603050405020304" pitchFamily="18" charset="0"/>
                        <a:ea typeface="宋体" panose="02010600030101010101" pitchFamily="2" charset="-122"/>
                      </a:endParaRPr>
                    </a:p>
                  </a:txBody>
                  <a:tcPr marL="66675" marR="666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 name="KSO_WPP_MARK_KEY" val="fd6d4fc7-3877-46e0-a3e4-f9546e5763fb"/>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29</Paragraphs>
  <Slides>13</Slides>
  <Notes>0</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13</vt:i4>
      </vt:variant>
    </vt:vector>
  </HeadingPairs>
  <TitlesOfParts>
    <vt:vector baseType="lpstr" size="21">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2024-05-30T10:35:33.128</cp:lastPrinted>
  <dcterms:created xsi:type="dcterms:W3CDTF">2024-05-30T10:35:33Z</dcterms:created>
  <dcterms:modified xsi:type="dcterms:W3CDTF">2024-05-30T02:35:33Z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