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94"/>
  </p:notesMasterIdLst>
  <p:sldIdLst>
    <p:sldId id="280" r:id="rId3"/>
    <p:sldId id="380" r:id="rId4"/>
    <p:sldId id="381" r:id="rId5"/>
    <p:sldId id="324" r:id="rId6"/>
    <p:sldId id="287" r:id="rId7"/>
    <p:sldId id="323" r:id="rId8"/>
    <p:sldId id="281" r:id="rId9"/>
    <p:sldId id="430" r:id="rId10"/>
    <p:sldId id="429" r:id="rId11"/>
    <p:sldId id="282" r:id="rId12"/>
    <p:sldId id="431" r:id="rId13"/>
    <p:sldId id="438" r:id="rId14"/>
    <p:sldId id="433" r:id="rId15"/>
    <p:sldId id="436" r:id="rId16"/>
    <p:sldId id="439" r:id="rId17"/>
    <p:sldId id="437" r:id="rId18"/>
    <p:sldId id="440" r:id="rId19"/>
    <p:sldId id="321" r:id="rId20"/>
    <p:sldId id="286" r:id="rId21"/>
    <p:sldId id="441" r:id="rId22"/>
    <p:sldId id="322" r:id="rId23"/>
    <p:sldId id="444" r:id="rId24"/>
    <p:sldId id="445" r:id="rId25"/>
    <p:sldId id="259" r:id="rId26"/>
    <p:sldId id="448" r:id="rId27"/>
    <p:sldId id="447" r:id="rId28"/>
    <p:sldId id="388" r:id="rId29"/>
    <p:sldId id="450" r:id="rId30"/>
    <p:sldId id="367" r:id="rId31"/>
    <p:sldId id="397" r:id="rId32"/>
    <p:sldId id="398" r:id="rId33"/>
    <p:sldId id="458" r:id="rId34"/>
    <p:sldId id="459" r:id="rId35"/>
    <p:sldId id="457" r:id="rId36"/>
    <p:sldId id="451" r:id="rId37"/>
    <p:sldId id="500" r:id="rId38"/>
    <p:sldId id="462" r:id="rId39"/>
    <p:sldId id="464" r:id="rId40"/>
    <p:sldId id="468" r:id="rId41"/>
    <p:sldId id="463" r:id="rId42"/>
    <p:sldId id="320" r:id="rId43"/>
    <p:sldId id="405" r:id="rId44"/>
    <p:sldId id="315" r:id="rId45"/>
    <p:sldId id="470" r:id="rId46"/>
    <p:sldId id="471" r:id="rId47"/>
    <p:sldId id="472" r:id="rId48"/>
    <p:sldId id="473" r:id="rId49"/>
    <p:sldId id="480" r:id="rId50"/>
    <p:sldId id="478" r:id="rId51"/>
    <p:sldId id="481" r:id="rId52"/>
    <p:sldId id="474" r:id="rId53"/>
    <p:sldId id="475" r:id="rId54"/>
    <p:sldId id="476" r:id="rId55"/>
    <p:sldId id="482" r:id="rId56"/>
    <p:sldId id="483" r:id="rId57"/>
    <p:sldId id="477" r:id="rId58"/>
    <p:sldId id="484" r:id="rId59"/>
    <p:sldId id="277" r:id="rId60"/>
    <p:sldId id="407" r:id="rId61"/>
    <p:sldId id="485" r:id="rId62"/>
    <p:sldId id="486" r:id="rId63"/>
    <p:sldId id="408" r:id="rId64"/>
    <p:sldId id="489" r:id="rId65"/>
    <p:sldId id="490" r:id="rId66"/>
    <p:sldId id="491" r:id="rId67"/>
    <p:sldId id="494" r:id="rId68"/>
    <p:sldId id="495" r:id="rId69"/>
    <p:sldId id="496" r:id="rId70"/>
    <p:sldId id="316" r:id="rId71"/>
    <p:sldId id="412" r:id="rId72"/>
    <p:sldId id="413" r:id="rId73"/>
    <p:sldId id="499" r:id="rId74"/>
    <p:sldId id="452" r:id="rId75"/>
    <p:sldId id="453" r:id="rId76"/>
    <p:sldId id="455" r:id="rId77"/>
    <p:sldId id="460" r:id="rId78"/>
    <p:sldId id="465" r:id="rId79"/>
    <p:sldId id="466" r:id="rId80"/>
    <p:sldId id="467" r:id="rId81"/>
    <p:sldId id="469" r:id="rId82"/>
    <p:sldId id="317" r:id="rId83"/>
    <p:sldId id="285" r:id="rId84"/>
    <p:sldId id="497" r:id="rId85"/>
    <p:sldId id="498" r:id="rId86"/>
    <p:sldId id="318" r:id="rId87"/>
    <p:sldId id="423" r:id="rId88"/>
    <p:sldId id="424" r:id="rId89"/>
    <p:sldId id="425" r:id="rId90"/>
    <p:sldId id="488" r:id="rId91"/>
    <p:sldId id="319" r:id="rId92"/>
    <p:sldId id="487" r:id="rId93"/>
  </p:sldIdLst>
  <p:sldSz cx="12192000" cy="6858000"/>
  <p:notesSz cx="6858000" cy="9144000"/>
  <p:custDataLst>
    <p:tags r:id="rId9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优优学姐物理学科分享" id="{889DCCC6-9B3A-4A89-A5ED-0DE8BB60518E}">
          <p14:sldIdLst>
            <p14:sldId id="280"/>
            <p14:sldId id="380"/>
            <p14:sldId id="381"/>
          </p14:sldIdLst>
        </p14:section>
        <p14:section name="个人介绍" id="{690AC3DB-B94A-9348-8614-96E2E012C06E}">
          <p14:sldIdLst>
            <p14:sldId id="324"/>
            <p14:sldId id="287"/>
          </p14:sldIdLst>
        </p14:section>
        <p14:section name="初高中物理知识板块梳理" id="{DE82F6A1-7AD9-BA4B-A65B-A9028622FA3D}">
          <p14:sldIdLst>
            <p14:sldId id="323"/>
            <p14:sldId id="281"/>
            <p14:sldId id="430"/>
            <p14:sldId id="429"/>
            <p14:sldId id="282"/>
            <p14:sldId id="431"/>
            <p14:sldId id="438"/>
            <p14:sldId id="433"/>
            <p14:sldId id="436"/>
            <p14:sldId id="439"/>
            <p14:sldId id="437"/>
            <p14:sldId id="440"/>
          </p14:sldIdLst>
        </p14:section>
        <p14:section name="物理思维的核心" id="{417724FA-F574-4674-B888-AE0D5D91146F}">
          <p14:sldIdLst>
            <p14:sldId id="321"/>
            <p14:sldId id="286"/>
            <p14:sldId id="441"/>
          </p14:sldIdLst>
        </p14:section>
        <p14:section name="题型分布" id="{3E6FC1AD-C380-4330-A8FF-4A46BC075D83}">
          <p14:sldIdLst>
            <p14:sldId id="322"/>
            <p14:sldId id="444"/>
            <p14:sldId id="445"/>
            <p14:sldId id="259"/>
            <p14:sldId id="448"/>
            <p14:sldId id="447"/>
            <p14:sldId id="388"/>
            <p14:sldId id="450"/>
          </p14:sldIdLst>
        </p14:section>
        <p14:section name="高中物理-最重要的板块：力学与运动类/电场与磁场类题目" id="{3B3F165B-6EDB-4428-92E5-8E8C9317E625}">
          <p14:sldIdLst>
            <p14:sldId id="367"/>
            <p14:sldId id="397"/>
            <p14:sldId id="398"/>
            <p14:sldId id="458"/>
            <p14:sldId id="459"/>
            <p14:sldId id="457"/>
            <p14:sldId id="451"/>
            <p14:sldId id="500"/>
            <p14:sldId id="462"/>
            <p14:sldId id="464"/>
            <p14:sldId id="468"/>
            <p14:sldId id="463"/>
          </p14:sldIdLst>
        </p14:section>
        <p14:section name="初中物理-最重要的板块：力学/电学类题目" id="{A7E51EDC-8683-4639-BC3C-90E0501D1A01}">
          <p14:sldIdLst>
            <p14:sldId id="320"/>
            <p14:sldId id="405"/>
            <p14:sldId id="315"/>
            <p14:sldId id="470"/>
            <p14:sldId id="471"/>
            <p14:sldId id="472"/>
            <p14:sldId id="473"/>
            <p14:sldId id="480"/>
            <p14:sldId id="478"/>
            <p14:sldId id="481"/>
            <p14:sldId id="474"/>
            <p14:sldId id="475"/>
            <p14:sldId id="476"/>
            <p14:sldId id="482"/>
            <p14:sldId id="483"/>
            <p14:sldId id="477"/>
            <p14:sldId id="484"/>
          </p14:sldIdLst>
        </p14:section>
        <p14:section name="真题" id="{68619436-E17A-4A95-B6F7-BB92DFC132BD}">
          <p14:sldIdLst>
            <p14:sldId id="277"/>
            <p14:sldId id="407"/>
            <p14:sldId id="485"/>
            <p14:sldId id="486"/>
            <p14:sldId id="408"/>
            <p14:sldId id="489"/>
            <p14:sldId id="490"/>
            <p14:sldId id="491"/>
            <p14:sldId id="494"/>
            <p14:sldId id="495"/>
            <p14:sldId id="496"/>
          </p14:sldIdLst>
        </p14:section>
        <p14:section name="模型化思维「最重要！！」" id="{8AFE43BF-1887-4A52-9484-48A601D61BE5}">
          <p14:sldIdLst>
            <p14:sldId id="316"/>
            <p14:sldId id="412"/>
            <p14:sldId id="413"/>
            <p14:sldId id="499"/>
            <p14:sldId id="452"/>
            <p14:sldId id="453"/>
            <p14:sldId id="455"/>
            <p14:sldId id="460"/>
            <p14:sldId id="465"/>
            <p14:sldId id="466"/>
            <p14:sldId id="467"/>
            <p14:sldId id="469"/>
          </p14:sldIdLst>
        </p14:section>
        <p14:section name="不同分数段的提分策略" id="{C75DA1AF-60E7-4BE7-A1CB-CB079AE0A22F}">
          <p14:sldIdLst>
            <p14:sldId id="317"/>
            <p14:sldId id="285"/>
            <p14:sldId id="497"/>
            <p14:sldId id="498"/>
          </p14:sldIdLst>
        </p14:section>
        <p14:section name="错题本" id="{446DAA72-6DC4-4F98-8750-383F251C792E}">
          <p14:sldIdLst>
            <p14:sldId id="318"/>
            <p14:sldId id="423"/>
            <p14:sldId id="424"/>
            <p14:sldId id="425"/>
            <p14:sldId id="488"/>
          </p14:sldIdLst>
        </p14:section>
        <p14:section name="总结" id="{67F1B555-D565-42A5-9D35-727ED07D9EE7}">
          <p14:sldIdLst>
            <p14:sldId id="319"/>
            <p14:sldId id="4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23AAC"/>
    <a:srgbClr val="A41AD4"/>
    <a:srgbClr val="FDF5D6"/>
    <a:srgbClr val="FCEDEB"/>
    <a:srgbClr val="F9CDCC"/>
    <a:srgbClr val="E8F0FE"/>
    <a:srgbClr val="E9F1FF"/>
    <a:srgbClr val="FDF4D5"/>
    <a:srgbClr val="EBFFE2"/>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深色样式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437" autoAdjust="0"/>
    <p:restoredTop sz="94145"/>
  </p:normalViewPr>
  <p:slideViewPr>
    <p:cSldViewPr snapToGrid="0">
      <p:cViewPr>
        <p:scale>
          <a:sx n="89" d="100"/>
          <a:sy n="89" d="100"/>
        </p:scale>
        <p:origin x="248" y="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tags" Target="tags/tag1.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notesMaster" Target="notesMasters/notesMaster1.xml"/><Relationship Id="rId9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8" Type="http://schemas.openxmlformats.org/officeDocument/2006/relationships/image" Target="../media/image80.emf"/><Relationship Id="rId13" Type="http://schemas.openxmlformats.org/officeDocument/2006/relationships/image" Target="../media/image85.emf"/><Relationship Id="rId3" Type="http://schemas.openxmlformats.org/officeDocument/2006/relationships/image" Target="../media/image75.emf"/><Relationship Id="rId7" Type="http://schemas.openxmlformats.org/officeDocument/2006/relationships/image" Target="../media/image79.emf"/><Relationship Id="rId12" Type="http://schemas.openxmlformats.org/officeDocument/2006/relationships/image" Target="../media/image84.emf"/><Relationship Id="rId17" Type="http://schemas.openxmlformats.org/officeDocument/2006/relationships/image" Target="../media/image89.emf"/><Relationship Id="rId2" Type="http://schemas.openxmlformats.org/officeDocument/2006/relationships/image" Target="../media/image74.emf"/><Relationship Id="rId16" Type="http://schemas.openxmlformats.org/officeDocument/2006/relationships/image" Target="../media/image88.emf"/><Relationship Id="rId1" Type="http://schemas.openxmlformats.org/officeDocument/2006/relationships/image" Target="../media/image73.emf"/><Relationship Id="rId6" Type="http://schemas.openxmlformats.org/officeDocument/2006/relationships/image" Target="../media/image78.emf"/><Relationship Id="rId11" Type="http://schemas.openxmlformats.org/officeDocument/2006/relationships/image" Target="../media/image83.emf"/><Relationship Id="rId5" Type="http://schemas.openxmlformats.org/officeDocument/2006/relationships/image" Target="../media/image77.emf"/><Relationship Id="rId15" Type="http://schemas.openxmlformats.org/officeDocument/2006/relationships/image" Target="../media/image87.emf"/><Relationship Id="rId10" Type="http://schemas.openxmlformats.org/officeDocument/2006/relationships/image" Target="../media/image82.emf"/><Relationship Id="rId4" Type="http://schemas.openxmlformats.org/officeDocument/2006/relationships/image" Target="../media/image76.emf"/><Relationship Id="rId9" Type="http://schemas.openxmlformats.org/officeDocument/2006/relationships/image" Target="../media/image81.emf"/><Relationship Id="rId14" Type="http://schemas.openxmlformats.org/officeDocument/2006/relationships/image" Target="../media/image86.emf"/></Relationships>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01-07T07:50:22"/>
    </inkml:context>
    <inkml:brush xml:id="br0">
      <inkml:brushProperty name="width" value="0.05292" units="cm"/>
      <inkml:brushProperty name="height" value="0.05292" units="cm"/>
      <inkml:brushProperty name="color" value="#FF0000"/>
    </inkml:brush>
  </inkml:definitions>
  <inkml:trace contextRef="#ctx0" brushRef="#br0">299 1352,'2'0</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01-07T07:50:22"/>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280 543,'13'0,"1"0,-1 0,0 0,0 0,1 0,-1 0,14 0,-14 0,0 0,0 0,1 0,-1 0,0 0,14 0,-14 0,0 0,1 0,-1 0,0 0,27 0,-27 0,1 0,-1 0,0 0,0 0,1 0,26 0,-27 0,13 0,1 0,-14 0,1 0,-1 0,0 0,0 0,27 0,-27 0,14 0,39 0,-52 0,12 0,-12 0,-1 0,0 0,14 0,-14 0,14 0,-14 0,0 0,14 0,-14 0,13 0,14 0,-13 0,-14 0,14 0</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01-07T07:50:22"/>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286 564,'13'0,"1"0,-1 0,0 0,0 0,1 0,26 0,-14 0,-13 0,27 0,-26 0,12 0,-13 0,80 0,-53 0,13 0,27 0,-40 0,-14 0,1 0,0 0,-14 0,13 0,14 0,-26 0,-1 0,0 0,0 0,1 0,12 0,-12 0,-1 0,13 0,-12 0,12-9,-13 9,14 0,13 0,-27 0,0 0,14 0,-14 0,14 0,-14 0,0-10,1 10</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01-07T07:50:22"/>
    </inkml:context>
    <inkml:brush xml:id="br0">
      <inkml:brushProperty name="width" value="0.05292" units="cm"/>
      <inkml:brushProperty name="height" value="0.05292" units="cm"/>
      <inkml:brushProperty name="color" value="#FF0000"/>
    </inkml:brush>
  </inkml:definitions>
  <inkml:trace contextRef="#ctx0" brushRef="#br0">299 1352,'2'0</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01-07T07:50:22"/>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280 543,'13'0,"1"0,-1 0,0 0,0 0,1 0,-1 0,14 0,-14 0,0 0,0 0,1 0,-1 0,0 0,14 0,-14 0,0 0,1 0,-1 0,0 0,27 0,-27 0,1 0,-1 0,0 0,0 0,1 0,26 0,-27 0,13 0,1 0,-14 0,1 0,-1 0,0 0,0 0,27 0,-27 0,14 0,39 0,-52 0,12 0,-12 0,-1 0,0 0,14 0,-14 0,14 0,-14 0,0 0,14 0,-14 0,13 0,14 0,-13 0,-14 0,14 0</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01-07T07:50:22"/>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286 564,'13'0,"1"0,-1 0,0 0,0 0,1 0,26 0,-14 0,-13 0,27 0,-26 0,12 0,-13 0,80 0,-53 0,13 0,27 0,-40 0,-14 0,1 0,0 0,-14 0,13 0,14 0,-26 0,-1 0,0 0,0 0,1 0,12 0,-12 0,-1 0,13 0,-12 0,12-9,-13 9,14 0,13 0,-27 0,0 0,14 0,-14 0,14 0,-14 0,0-10,1 10</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01-07T07:50:22"/>
    </inkml:context>
    <inkml:brush xml:id="br0">
      <inkml:brushProperty name="width" value="0.05292" units="cm"/>
      <inkml:brushProperty name="height" value="0.05292" units="cm"/>
      <inkml:brushProperty name="color" value="#FF0000"/>
    </inkml:brush>
  </inkml:definitions>
  <inkml:trace contextRef="#ctx0" brushRef="#br0">299 1352,'2'0</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01-07T07:50:22"/>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280 543,'13'0,"1"0,-1 0,0 0,0 0,1 0,-1 0,14 0,-14 0,0 0,0 0,1 0,-1 0,0 0,14 0,-14 0,0 0,1 0,-1 0,0 0,27 0,-27 0,1 0,-1 0,0 0,0 0,1 0,26 0,-27 0,13 0,1 0,-14 0,1 0,-1 0,0 0,0 0,27 0,-27 0,14 0,39 0,-52 0,12 0,-12 0,-1 0,0 0,14 0,-14 0,14 0,-14 0,0 0,14 0,-14 0,13 0,14 0,-13 0,-14 0,14 0</inkml:trace>
</inkml:ink>
</file>

<file path=ppt/ink/ink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01-07T07:50:22"/>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286 564,'13'0,"1"0,-1 0,0 0,0 0,1 0,26 0,-14 0,-13 0,27 0,-26 0,12 0,-13 0,80 0,-53 0,13 0,27 0,-40 0,-14 0,1 0,0 0,-14 0,13 0,14 0,-26 0,-1 0,0 0,0 0,1 0,12 0,-12 0,-1 0,13 0,-12 0,12-9,-13 9,14 0,13 0,-27 0,0 0,14 0,-14 0,14 0,-14 0,0-10,1 10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E41FF1-9F3F-0E40-9843-E28C0A016924}" type="datetimeFigureOut">
              <a:rPr kumimoji="1" lang="zh-CN" altLang="en-US" smtClean="0"/>
              <a:t>2025/3/19</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D2DE8C-B653-9D41-B4D4-760D8F8C7F92}" type="slidenum">
              <a:rPr kumimoji="1" lang="zh-CN" altLang="en-US" smtClean="0"/>
              <a:t>‹#›</a:t>
            </a:fld>
            <a:endParaRPr kumimoji="1" lang="zh-CN" altLang="en-US"/>
          </a:p>
        </p:txBody>
      </p:sp>
    </p:spTree>
    <p:extLst>
      <p:ext uri="{BB962C8B-B14F-4D97-AF65-F5344CB8AC3E}">
        <p14:creationId xmlns:p14="http://schemas.microsoft.com/office/powerpoint/2010/main" val="30785533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9D2DE8C-B653-9D41-B4D4-760D8F8C7F92}" type="slidenum">
              <a:rPr kumimoji="1" lang="zh-CN" altLang="en-US" smtClean="0"/>
              <a:t>1</a:t>
            </a:fld>
            <a:endParaRPr kumimoji="1" lang="zh-CN" altLang="en-US"/>
          </a:p>
        </p:txBody>
      </p:sp>
    </p:spTree>
    <p:extLst>
      <p:ext uri="{BB962C8B-B14F-4D97-AF65-F5344CB8AC3E}">
        <p14:creationId xmlns:p14="http://schemas.microsoft.com/office/powerpoint/2010/main" val="30997323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9D2DE8C-B653-9D41-B4D4-760D8F8C7F92}" type="slidenum">
              <a:rPr kumimoji="1" lang="zh-CN" altLang="en-US" smtClean="0"/>
              <a:t>5</a:t>
            </a:fld>
            <a:endParaRPr kumimoji="1" lang="zh-CN" altLang="en-US"/>
          </a:p>
        </p:txBody>
      </p:sp>
    </p:spTree>
    <p:extLst>
      <p:ext uri="{BB962C8B-B14F-4D97-AF65-F5344CB8AC3E}">
        <p14:creationId xmlns:p14="http://schemas.microsoft.com/office/powerpoint/2010/main" val="17457044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9D2DE8C-B653-9D41-B4D4-760D8F8C7F92}" type="slidenum">
              <a:rPr kumimoji="1" lang="zh-CN" altLang="en-US" smtClean="0"/>
              <a:t>9</a:t>
            </a:fld>
            <a:endParaRPr kumimoji="1" lang="zh-CN" altLang="en-US"/>
          </a:p>
        </p:txBody>
      </p:sp>
    </p:spTree>
    <p:extLst>
      <p:ext uri="{BB962C8B-B14F-4D97-AF65-F5344CB8AC3E}">
        <p14:creationId xmlns:p14="http://schemas.microsoft.com/office/powerpoint/2010/main" val="39006336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9D2DE8C-B653-9D41-B4D4-760D8F8C7F92}" type="slidenum">
              <a:rPr kumimoji="1" lang="zh-CN" altLang="en-US" smtClean="0"/>
              <a:t>14</a:t>
            </a:fld>
            <a:endParaRPr kumimoji="1" lang="zh-CN" altLang="en-US"/>
          </a:p>
        </p:txBody>
      </p:sp>
    </p:spTree>
    <p:extLst>
      <p:ext uri="{BB962C8B-B14F-4D97-AF65-F5344CB8AC3E}">
        <p14:creationId xmlns:p14="http://schemas.microsoft.com/office/powerpoint/2010/main" val="32791053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9D2DE8C-B653-9D41-B4D4-760D8F8C7F92}" type="slidenum">
              <a:rPr kumimoji="1" lang="zh-CN" altLang="en-US" smtClean="0"/>
              <a:t>15</a:t>
            </a:fld>
            <a:endParaRPr kumimoji="1" lang="zh-CN" altLang="en-US"/>
          </a:p>
        </p:txBody>
      </p:sp>
    </p:spTree>
    <p:extLst>
      <p:ext uri="{BB962C8B-B14F-4D97-AF65-F5344CB8AC3E}">
        <p14:creationId xmlns:p14="http://schemas.microsoft.com/office/powerpoint/2010/main" val="25981591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9D2DE8C-B653-9D41-B4D4-760D8F8C7F92}" type="slidenum">
              <a:rPr kumimoji="1" lang="zh-CN" altLang="en-US" smtClean="0"/>
              <a:t>16</a:t>
            </a:fld>
            <a:endParaRPr kumimoji="1" lang="zh-CN" altLang="en-US"/>
          </a:p>
        </p:txBody>
      </p:sp>
    </p:spTree>
    <p:extLst>
      <p:ext uri="{BB962C8B-B14F-4D97-AF65-F5344CB8AC3E}">
        <p14:creationId xmlns:p14="http://schemas.microsoft.com/office/powerpoint/2010/main" val="11612210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9D2DE8C-B653-9D41-B4D4-760D8F8C7F92}" type="slidenum">
              <a:rPr kumimoji="1" lang="zh-CN" altLang="en-US" smtClean="0"/>
              <a:t>17</a:t>
            </a:fld>
            <a:endParaRPr kumimoji="1" lang="zh-CN" altLang="en-US"/>
          </a:p>
        </p:txBody>
      </p:sp>
    </p:spTree>
    <p:extLst>
      <p:ext uri="{BB962C8B-B14F-4D97-AF65-F5344CB8AC3E}">
        <p14:creationId xmlns:p14="http://schemas.microsoft.com/office/powerpoint/2010/main" val="14483364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9D2DE8C-B653-9D41-B4D4-760D8F8C7F92}" type="slidenum">
              <a:rPr kumimoji="1" lang="zh-CN" altLang="en-US" smtClean="0"/>
              <a:t>23</a:t>
            </a:fld>
            <a:endParaRPr kumimoji="1" lang="zh-CN" altLang="en-US"/>
          </a:p>
        </p:txBody>
      </p:sp>
    </p:spTree>
    <p:extLst>
      <p:ext uri="{BB962C8B-B14F-4D97-AF65-F5344CB8AC3E}">
        <p14:creationId xmlns:p14="http://schemas.microsoft.com/office/powerpoint/2010/main" val="1690599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9D2DE8C-B653-9D41-B4D4-760D8F8C7F92}" type="slidenum">
              <a:rPr kumimoji="1" lang="zh-CN" altLang="en-US" smtClean="0"/>
              <a:t>28</a:t>
            </a:fld>
            <a:endParaRPr kumimoji="1" lang="zh-CN" altLang="en-US"/>
          </a:p>
        </p:txBody>
      </p:sp>
    </p:spTree>
    <p:extLst>
      <p:ext uri="{BB962C8B-B14F-4D97-AF65-F5344CB8AC3E}">
        <p14:creationId xmlns:p14="http://schemas.microsoft.com/office/powerpoint/2010/main" val="16301588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9D2DE8C-B653-9D41-B4D4-760D8F8C7F92}" type="slidenum">
              <a:rPr kumimoji="1" lang="zh-CN" altLang="en-US" smtClean="0"/>
              <a:t>37</a:t>
            </a:fld>
            <a:endParaRPr kumimoji="1" lang="zh-CN" altLang="en-US"/>
          </a:p>
        </p:txBody>
      </p:sp>
    </p:spTree>
    <p:extLst>
      <p:ext uri="{BB962C8B-B14F-4D97-AF65-F5344CB8AC3E}">
        <p14:creationId xmlns:p14="http://schemas.microsoft.com/office/powerpoint/2010/main" val="30911629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9D2DE8C-B653-9D41-B4D4-760D8F8C7F92}" type="slidenum">
              <a:rPr kumimoji="1" lang="zh-CN" altLang="en-US" smtClean="0"/>
              <a:t>38</a:t>
            </a:fld>
            <a:endParaRPr kumimoji="1" lang="zh-CN" altLang="en-US"/>
          </a:p>
        </p:txBody>
      </p:sp>
    </p:spTree>
    <p:extLst>
      <p:ext uri="{BB962C8B-B14F-4D97-AF65-F5344CB8AC3E}">
        <p14:creationId xmlns:p14="http://schemas.microsoft.com/office/powerpoint/2010/main" val="14688245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9D2DE8C-B653-9D41-B4D4-760D8F8C7F92}" type="slidenum">
              <a:rPr kumimoji="1" lang="zh-CN" altLang="en-US" smtClean="0"/>
              <a:t>39</a:t>
            </a:fld>
            <a:endParaRPr kumimoji="1" lang="zh-CN" altLang="en-US"/>
          </a:p>
        </p:txBody>
      </p:sp>
    </p:spTree>
    <p:extLst>
      <p:ext uri="{BB962C8B-B14F-4D97-AF65-F5344CB8AC3E}">
        <p14:creationId xmlns:p14="http://schemas.microsoft.com/office/powerpoint/2010/main" val="22418973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9D2DE8C-B653-9D41-B4D4-760D8F8C7F92}" type="slidenum">
              <a:rPr kumimoji="1" lang="zh-CN" altLang="en-US" smtClean="0"/>
              <a:t>45</a:t>
            </a:fld>
            <a:endParaRPr kumimoji="1" lang="zh-CN" altLang="en-US"/>
          </a:p>
        </p:txBody>
      </p:sp>
    </p:spTree>
    <p:extLst>
      <p:ext uri="{BB962C8B-B14F-4D97-AF65-F5344CB8AC3E}">
        <p14:creationId xmlns:p14="http://schemas.microsoft.com/office/powerpoint/2010/main" val="40034451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9D2DE8C-B653-9D41-B4D4-760D8F8C7F92}" type="slidenum">
              <a:rPr kumimoji="1" lang="zh-CN" altLang="en-US" smtClean="0"/>
              <a:t>47</a:t>
            </a:fld>
            <a:endParaRPr kumimoji="1" lang="zh-CN" altLang="en-US"/>
          </a:p>
        </p:txBody>
      </p:sp>
    </p:spTree>
    <p:extLst>
      <p:ext uri="{BB962C8B-B14F-4D97-AF65-F5344CB8AC3E}">
        <p14:creationId xmlns:p14="http://schemas.microsoft.com/office/powerpoint/2010/main" val="38981058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9D2DE8C-B653-9D41-B4D4-760D8F8C7F92}" type="slidenum">
              <a:rPr kumimoji="1" lang="zh-CN" altLang="en-US" smtClean="0"/>
              <a:t>48</a:t>
            </a:fld>
            <a:endParaRPr kumimoji="1" lang="zh-CN" altLang="en-US"/>
          </a:p>
        </p:txBody>
      </p:sp>
    </p:spTree>
    <p:extLst>
      <p:ext uri="{BB962C8B-B14F-4D97-AF65-F5344CB8AC3E}">
        <p14:creationId xmlns:p14="http://schemas.microsoft.com/office/powerpoint/2010/main" val="34600191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9D2DE8C-B653-9D41-B4D4-760D8F8C7F92}" type="slidenum">
              <a:rPr kumimoji="1" lang="zh-CN" altLang="en-US" smtClean="0"/>
              <a:t>49</a:t>
            </a:fld>
            <a:endParaRPr kumimoji="1" lang="zh-CN" altLang="en-US"/>
          </a:p>
        </p:txBody>
      </p:sp>
    </p:spTree>
    <p:extLst>
      <p:ext uri="{BB962C8B-B14F-4D97-AF65-F5344CB8AC3E}">
        <p14:creationId xmlns:p14="http://schemas.microsoft.com/office/powerpoint/2010/main" val="40667323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9D2DE8C-B653-9D41-B4D4-760D8F8C7F92}" type="slidenum">
              <a:rPr kumimoji="1" lang="zh-CN" altLang="en-US" smtClean="0"/>
              <a:t>50</a:t>
            </a:fld>
            <a:endParaRPr kumimoji="1" lang="zh-CN" altLang="en-US"/>
          </a:p>
        </p:txBody>
      </p:sp>
    </p:spTree>
    <p:extLst>
      <p:ext uri="{BB962C8B-B14F-4D97-AF65-F5344CB8AC3E}">
        <p14:creationId xmlns:p14="http://schemas.microsoft.com/office/powerpoint/2010/main" val="5744435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9D2DE8C-B653-9D41-B4D4-760D8F8C7F92}" type="slidenum">
              <a:rPr kumimoji="1" lang="zh-CN" altLang="en-US" smtClean="0"/>
              <a:t>51</a:t>
            </a:fld>
            <a:endParaRPr kumimoji="1" lang="zh-CN" altLang="en-US"/>
          </a:p>
        </p:txBody>
      </p:sp>
    </p:spTree>
    <p:extLst>
      <p:ext uri="{BB962C8B-B14F-4D97-AF65-F5344CB8AC3E}">
        <p14:creationId xmlns:p14="http://schemas.microsoft.com/office/powerpoint/2010/main" val="2846928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9D2DE8C-B653-9D41-B4D4-760D8F8C7F92}" type="slidenum">
              <a:rPr kumimoji="1" lang="zh-CN" altLang="en-US" smtClean="0"/>
              <a:t>52</a:t>
            </a:fld>
            <a:endParaRPr kumimoji="1" lang="zh-CN" altLang="en-US"/>
          </a:p>
        </p:txBody>
      </p:sp>
    </p:spTree>
    <p:extLst>
      <p:ext uri="{BB962C8B-B14F-4D97-AF65-F5344CB8AC3E}">
        <p14:creationId xmlns:p14="http://schemas.microsoft.com/office/powerpoint/2010/main" val="13021670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9D2DE8C-B653-9D41-B4D4-760D8F8C7F92}" type="slidenum">
              <a:rPr kumimoji="1" lang="zh-CN" altLang="en-US" smtClean="0"/>
              <a:t>53</a:t>
            </a:fld>
            <a:endParaRPr kumimoji="1" lang="zh-CN" altLang="en-US"/>
          </a:p>
        </p:txBody>
      </p:sp>
    </p:spTree>
    <p:extLst>
      <p:ext uri="{BB962C8B-B14F-4D97-AF65-F5344CB8AC3E}">
        <p14:creationId xmlns:p14="http://schemas.microsoft.com/office/powerpoint/2010/main" val="17212098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9D2DE8C-B653-9D41-B4D4-760D8F8C7F92}" type="slidenum">
              <a:rPr kumimoji="1" lang="zh-CN" altLang="en-US" smtClean="0"/>
              <a:t>54</a:t>
            </a:fld>
            <a:endParaRPr kumimoji="1" lang="zh-CN" altLang="en-US"/>
          </a:p>
        </p:txBody>
      </p:sp>
    </p:spTree>
    <p:extLst>
      <p:ext uri="{BB962C8B-B14F-4D97-AF65-F5344CB8AC3E}">
        <p14:creationId xmlns:p14="http://schemas.microsoft.com/office/powerpoint/2010/main" val="42499796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9D2DE8C-B653-9D41-B4D4-760D8F8C7F92}" type="slidenum">
              <a:rPr kumimoji="1" lang="zh-CN" altLang="en-US" smtClean="0"/>
              <a:t>55</a:t>
            </a:fld>
            <a:endParaRPr kumimoji="1" lang="zh-CN" altLang="en-US"/>
          </a:p>
        </p:txBody>
      </p:sp>
    </p:spTree>
    <p:extLst>
      <p:ext uri="{BB962C8B-B14F-4D97-AF65-F5344CB8AC3E}">
        <p14:creationId xmlns:p14="http://schemas.microsoft.com/office/powerpoint/2010/main" val="24980092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9D2DE8C-B653-9D41-B4D4-760D8F8C7F92}" type="slidenum">
              <a:rPr kumimoji="1" lang="zh-CN" altLang="en-US" smtClean="0"/>
              <a:t>62</a:t>
            </a:fld>
            <a:endParaRPr kumimoji="1" lang="zh-CN" altLang="en-US"/>
          </a:p>
        </p:txBody>
      </p:sp>
    </p:spTree>
    <p:extLst>
      <p:ext uri="{BB962C8B-B14F-4D97-AF65-F5344CB8AC3E}">
        <p14:creationId xmlns:p14="http://schemas.microsoft.com/office/powerpoint/2010/main" val="19202049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9D2DE8C-B653-9D41-B4D4-760D8F8C7F92}" type="slidenum">
              <a:rPr kumimoji="1" lang="zh-CN" altLang="en-US" smtClean="0"/>
              <a:t>63</a:t>
            </a:fld>
            <a:endParaRPr kumimoji="1" lang="zh-CN" altLang="en-US"/>
          </a:p>
        </p:txBody>
      </p:sp>
    </p:spTree>
    <p:extLst>
      <p:ext uri="{BB962C8B-B14F-4D97-AF65-F5344CB8AC3E}">
        <p14:creationId xmlns:p14="http://schemas.microsoft.com/office/powerpoint/2010/main" val="15202339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9D2DE8C-B653-9D41-B4D4-760D8F8C7F92}" type="slidenum">
              <a:rPr kumimoji="1" lang="zh-CN" altLang="en-US" smtClean="0"/>
              <a:t>64</a:t>
            </a:fld>
            <a:endParaRPr kumimoji="1" lang="zh-CN" altLang="en-US"/>
          </a:p>
        </p:txBody>
      </p:sp>
    </p:spTree>
    <p:extLst>
      <p:ext uri="{BB962C8B-B14F-4D97-AF65-F5344CB8AC3E}">
        <p14:creationId xmlns:p14="http://schemas.microsoft.com/office/powerpoint/2010/main" val="15564813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9D2DE8C-B653-9D41-B4D4-760D8F8C7F92}" type="slidenum">
              <a:rPr kumimoji="1" lang="zh-CN" altLang="en-US" smtClean="0"/>
              <a:t>65</a:t>
            </a:fld>
            <a:endParaRPr kumimoji="1" lang="zh-CN" altLang="en-US"/>
          </a:p>
        </p:txBody>
      </p:sp>
    </p:spTree>
    <p:extLst>
      <p:ext uri="{BB962C8B-B14F-4D97-AF65-F5344CB8AC3E}">
        <p14:creationId xmlns:p14="http://schemas.microsoft.com/office/powerpoint/2010/main" val="12398359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9D2DE8C-B653-9D41-B4D4-760D8F8C7F92}" type="slidenum">
              <a:rPr kumimoji="1" lang="zh-CN" altLang="en-US" smtClean="0"/>
              <a:t>66</a:t>
            </a:fld>
            <a:endParaRPr kumimoji="1" lang="zh-CN" altLang="en-US"/>
          </a:p>
        </p:txBody>
      </p:sp>
    </p:spTree>
    <p:extLst>
      <p:ext uri="{BB962C8B-B14F-4D97-AF65-F5344CB8AC3E}">
        <p14:creationId xmlns:p14="http://schemas.microsoft.com/office/powerpoint/2010/main" val="20559449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9D2DE8C-B653-9D41-B4D4-760D8F8C7F92}" type="slidenum">
              <a:rPr kumimoji="1" lang="zh-CN" altLang="en-US" smtClean="0"/>
              <a:t>67</a:t>
            </a:fld>
            <a:endParaRPr kumimoji="1" lang="zh-CN" altLang="en-US"/>
          </a:p>
        </p:txBody>
      </p:sp>
    </p:spTree>
    <p:extLst>
      <p:ext uri="{BB962C8B-B14F-4D97-AF65-F5344CB8AC3E}">
        <p14:creationId xmlns:p14="http://schemas.microsoft.com/office/powerpoint/2010/main" val="1277631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9D2DE8C-B653-9D41-B4D4-760D8F8C7F92}" type="slidenum">
              <a:rPr kumimoji="1" lang="zh-CN" altLang="en-US" smtClean="0"/>
              <a:t>68</a:t>
            </a:fld>
            <a:endParaRPr kumimoji="1" lang="zh-CN" altLang="en-US"/>
          </a:p>
        </p:txBody>
      </p:sp>
    </p:spTree>
    <p:extLst>
      <p:ext uri="{BB962C8B-B14F-4D97-AF65-F5344CB8AC3E}">
        <p14:creationId xmlns:p14="http://schemas.microsoft.com/office/powerpoint/2010/main" val="12098728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9D2DE8C-B653-9D41-B4D4-760D8F8C7F92}" type="slidenum">
              <a:rPr kumimoji="1" lang="zh-CN" altLang="en-US" smtClean="0"/>
              <a:t>87</a:t>
            </a:fld>
            <a:endParaRPr kumimoji="1" lang="zh-CN" altLang="en-US"/>
          </a:p>
        </p:txBody>
      </p:sp>
    </p:spTree>
    <p:extLst>
      <p:ext uri="{BB962C8B-B14F-4D97-AF65-F5344CB8AC3E}">
        <p14:creationId xmlns:p14="http://schemas.microsoft.com/office/powerpoint/2010/main" val="42327537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9D2DE8C-B653-9D41-B4D4-760D8F8C7F92}" type="slidenum">
              <a:rPr kumimoji="1" lang="zh-CN" altLang="en-US" smtClean="0"/>
              <a:t>91</a:t>
            </a:fld>
            <a:endParaRPr kumimoji="1" lang="zh-CN" altLang="en-US"/>
          </a:p>
        </p:txBody>
      </p:sp>
    </p:spTree>
    <p:extLst>
      <p:ext uri="{BB962C8B-B14F-4D97-AF65-F5344CB8AC3E}">
        <p14:creationId xmlns:p14="http://schemas.microsoft.com/office/powerpoint/2010/main" val="8011827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F17D1E6-9662-4091-9FAD-318FA6A43B9A}" type="datetimeFigureOut">
              <a:rPr lang="zh-CN" altLang="en-US" smtClean="0"/>
              <a:t>2025/3/19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9B6242B-6AD1-4151-A227-C04B0AF019A9}"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F17D1E6-9662-4091-9FAD-318FA6A43B9A}" type="datetimeFigureOut">
              <a:rPr lang="zh-CN" altLang="en-US" smtClean="0"/>
              <a:t>2025/3/19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9B6242B-6AD1-4151-A227-C04B0AF019A9}"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F17D1E6-9662-4091-9FAD-318FA6A43B9A}" type="datetimeFigureOut">
              <a:rPr lang="zh-CN" altLang="en-US" smtClean="0"/>
              <a:t>2025/3/19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9B6242B-6AD1-4151-A227-C04B0AF019A9}"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DF17D1E6-9662-4091-9FAD-318FA6A43B9A}" type="datetimeFigureOut">
              <a:rPr lang="zh-CN" altLang="en-US" smtClean="0"/>
              <a:t>2025/3/19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9B6242B-6AD1-4151-A227-C04B0AF019A9}"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DF17D1E6-9662-4091-9FAD-318FA6A43B9A}" type="datetimeFigureOut">
              <a:rPr lang="zh-CN" altLang="en-US" smtClean="0"/>
              <a:t>2025/3/19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9B6242B-6AD1-4151-A227-C04B0AF019A9}"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F17D1E6-9662-4091-9FAD-318FA6A43B9A}" type="datetimeFigureOut">
              <a:rPr lang="zh-CN" altLang="en-US" smtClean="0"/>
              <a:t>2025/3/19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9B6242B-6AD1-4151-A227-C04B0AF019A9}"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F17D1E6-9662-4091-9FAD-318FA6A43B9A}" type="datetimeFigureOut">
              <a:rPr lang="zh-CN" altLang="en-US" smtClean="0"/>
              <a:t>2025/3/19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9B6242B-6AD1-4151-A227-C04B0AF019A9}"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F17D1E6-9662-4091-9FAD-318FA6A43B9A}" type="datetimeFigureOut">
              <a:rPr lang="zh-CN" altLang="en-US" smtClean="0"/>
              <a:t>2025/3/19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9B6242B-6AD1-4151-A227-C04B0AF019A9}"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F17D1E6-9662-4091-9FAD-318FA6A43B9A}" type="datetimeFigureOut">
              <a:rPr lang="zh-CN" altLang="en-US" smtClean="0"/>
              <a:t>2025/3/19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9B6242B-6AD1-4151-A227-C04B0AF019A9}"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F17D1E6-9662-4091-9FAD-318FA6A43B9A}" type="datetimeFigureOut">
              <a:rPr lang="zh-CN" altLang="en-US" smtClean="0"/>
              <a:t>2025/3/19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9B6242B-6AD1-4151-A227-C04B0AF019A9}"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F17D1E6-9662-4091-9FAD-318FA6A43B9A}" type="datetimeFigureOut">
              <a:rPr lang="zh-CN" altLang="en-US" smtClean="0"/>
              <a:t>2025/3/19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9B6242B-6AD1-4151-A227-C04B0AF019A9}"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F17D1E6-9662-4091-9FAD-318FA6A43B9A}" type="datetimeFigureOut">
              <a:rPr lang="zh-CN" altLang="en-US" smtClean="0"/>
              <a:t>2025/3/19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9B6242B-6AD1-4151-A227-C04B0AF019A9}"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F17D1E6-9662-4091-9FAD-318FA6A43B9A}" type="datetimeFigureOut">
              <a:rPr lang="zh-CN" altLang="en-US" smtClean="0"/>
              <a:t>2025/3/19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9B6242B-6AD1-4151-A227-C04B0AF019A9}"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F17D1E6-9662-4091-9FAD-318FA6A43B9A}" type="datetimeFigureOut">
              <a:rPr lang="zh-CN" altLang="en-US" smtClean="0"/>
              <a:t>2025/3/19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9B6242B-6AD1-4151-A227-C04B0AF019A9}"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DF17D1E6-9662-4091-9FAD-318FA6A43B9A}" type="datetimeFigureOut">
              <a:rPr lang="zh-CN" altLang="en-US" smtClean="0"/>
              <a:t>2025/3/19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9B6242B-6AD1-4151-A227-C04B0AF019A9}"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DF17D1E6-9662-4091-9FAD-318FA6A43B9A}" type="datetimeFigureOut">
              <a:rPr lang="zh-CN" altLang="en-US" smtClean="0"/>
              <a:t>2025/3/19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9B6242B-6AD1-4151-A227-C04B0AF019A9}"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F17D1E6-9662-4091-9FAD-318FA6A43B9A}" type="datetimeFigureOut">
              <a:rPr lang="zh-CN" altLang="en-US" smtClean="0"/>
              <a:t>2025/3/19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9B6242B-6AD1-4151-A227-C04B0AF019A9}"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F17D1E6-9662-4091-9FAD-318FA6A43B9A}" type="datetimeFigureOut">
              <a:rPr lang="zh-CN" altLang="en-US" smtClean="0"/>
              <a:t>2025/3/19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9B6242B-6AD1-4151-A227-C04B0AF019A9}"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F17D1E6-9662-4091-9FAD-318FA6A43B9A}" type="datetimeFigureOut">
              <a:rPr lang="zh-CN" altLang="en-US" smtClean="0"/>
              <a:t>2025/3/19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9B6242B-6AD1-4151-A227-C04B0AF019A9}"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F17D1E6-9662-4091-9FAD-318FA6A43B9A}" type="datetimeFigureOut">
              <a:rPr lang="zh-CN" altLang="en-US" smtClean="0"/>
              <a:t>2025/3/19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9B6242B-6AD1-4151-A227-C04B0AF019A9}"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F17D1E6-9662-4091-9FAD-318FA6A43B9A}" type="datetimeFigureOut">
              <a:rPr lang="zh-CN" altLang="en-US" smtClean="0"/>
              <a:t>2025/3/19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9B6242B-6AD1-4151-A227-C04B0AF019A9}"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F17D1E6-9662-4091-9FAD-318FA6A43B9A}" type="datetimeFigureOut">
              <a:rPr lang="zh-CN" altLang="en-US" smtClean="0"/>
              <a:t>2025/3/19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9B6242B-6AD1-4151-A227-C04B0AF019A9}"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17D1E6-9662-4091-9FAD-318FA6A43B9A}" type="datetimeFigureOut">
              <a:rPr lang="zh-CN" altLang="en-US" smtClean="0"/>
              <a:t>2025/3/19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B6242B-6AD1-4151-A227-C04B0AF019A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17D1E6-9662-4091-9FAD-318FA6A43B9A}" type="datetimeFigureOut">
              <a:rPr lang="zh-CN" altLang="en-US" smtClean="0"/>
              <a:t>2025/3/19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B6242B-6AD1-4151-A227-C04B0AF019A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customXml" Target="../ink/ink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customXml" Target="../ink/ink4.xml"/><Relationship Id="rId1" Type="http://schemas.openxmlformats.org/officeDocument/2006/relationships/slideLayout" Target="../slideLayouts/slideLayout7.xml"/><Relationship Id="rId6" Type="http://schemas.openxmlformats.org/officeDocument/2006/relationships/customXml" Target="../ink/ink6.xml"/><Relationship Id="rId5" Type="http://schemas.openxmlformats.org/officeDocument/2006/relationships/image" Target="../media/image3.png"/><Relationship Id="rId4" Type="http://schemas.openxmlformats.org/officeDocument/2006/relationships/customXml" Target="../ink/ink5.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customXml" Target="../ink/ink7.xml"/><Relationship Id="rId1" Type="http://schemas.openxmlformats.org/officeDocument/2006/relationships/slideLayout" Target="../slideLayouts/slideLayout7.xml"/><Relationship Id="rId6" Type="http://schemas.openxmlformats.org/officeDocument/2006/relationships/customXml" Target="../ink/ink9.xml"/><Relationship Id="rId5" Type="http://schemas.openxmlformats.org/officeDocument/2006/relationships/image" Target="../media/image3.png"/><Relationship Id="rId4" Type="http://schemas.openxmlformats.org/officeDocument/2006/relationships/customXml" Target="../ink/ink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8.xml"/><Relationship Id="rId5" Type="http://schemas.openxmlformats.org/officeDocument/2006/relationships/image" Target="../media/image21.pn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44.png"/><Relationship Id="rId11" Type="http://schemas.openxmlformats.org/officeDocument/2006/relationships/image" Target="../media/image49.png"/><Relationship Id="rId5" Type="http://schemas.openxmlformats.org/officeDocument/2006/relationships/image" Target="../media/image43.png"/><Relationship Id="rId10" Type="http://schemas.openxmlformats.org/officeDocument/2006/relationships/image" Target="../media/image48.png"/><Relationship Id="rId4" Type="http://schemas.openxmlformats.org/officeDocument/2006/relationships/image" Target="../media/image42.png"/><Relationship Id="rId9" Type="http://schemas.openxmlformats.org/officeDocument/2006/relationships/image" Target="../media/image47.png"/></Relationships>
</file>

<file path=ppt/slides/_rels/slide4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7.xml"/><Relationship Id="rId1" Type="http://schemas.openxmlformats.org/officeDocument/2006/relationships/slideLayout" Target="../slideLayouts/slideLayout18.xml"/><Relationship Id="rId4" Type="http://schemas.openxmlformats.org/officeDocument/2006/relationships/image" Target="../media/image58.png"/></Relationships>
</file>

<file path=ppt/slides/_rels/slide5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8.xml"/><Relationship Id="rId1" Type="http://schemas.openxmlformats.org/officeDocument/2006/relationships/slideLayout" Target="../slideLayouts/slideLayout18.xml"/><Relationship Id="rId4" Type="http://schemas.openxmlformats.org/officeDocument/2006/relationships/image" Target="../media/image60.png"/></Relationships>
</file>

<file path=ppt/slides/_rels/slide5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0.xml"/><Relationship Id="rId1" Type="http://schemas.openxmlformats.org/officeDocument/2006/relationships/slideLayout" Target="../slideLayouts/slideLayout18.xml"/><Relationship Id="rId4" Type="http://schemas.openxmlformats.org/officeDocument/2006/relationships/image" Target="../media/image63.png"/></Relationships>
</file>

<file path=ppt/slides/_rels/slide5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1.xml"/><Relationship Id="rId1" Type="http://schemas.openxmlformats.org/officeDocument/2006/relationships/slideLayout" Target="../slideLayouts/slideLayout18.xml"/><Relationship Id="rId4" Type="http://schemas.openxmlformats.org/officeDocument/2006/relationships/image" Target="../media/image65.png"/></Relationships>
</file>

<file path=ppt/slides/_rels/slide5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2.xml"/><Relationship Id="rId1" Type="http://schemas.openxmlformats.org/officeDocument/2006/relationships/slideLayout" Target="../slideLayouts/slideLayout18.xml"/><Relationship Id="rId4" Type="http://schemas.openxmlformats.org/officeDocument/2006/relationships/image" Target="../media/image67.png"/></Relationships>
</file>

<file path=ppt/slides/_rels/slide5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3" Type="http://schemas.openxmlformats.org/officeDocument/2006/relationships/image" Target="../media/image77.emf"/><Relationship Id="rId18" Type="http://schemas.openxmlformats.org/officeDocument/2006/relationships/oleObject" Target="../embeddings/oleObject8.bin"/><Relationship Id="rId26" Type="http://schemas.openxmlformats.org/officeDocument/2006/relationships/oleObject" Target="../embeddings/oleObject12.bin"/><Relationship Id="rId21" Type="http://schemas.openxmlformats.org/officeDocument/2006/relationships/image" Target="../media/image81.emf"/><Relationship Id="rId34" Type="http://schemas.openxmlformats.org/officeDocument/2006/relationships/oleObject" Target="../embeddings/oleObject16.bin"/><Relationship Id="rId7" Type="http://schemas.openxmlformats.org/officeDocument/2006/relationships/image" Target="../media/image74.emf"/><Relationship Id="rId12" Type="http://schemas.openxmlformats.org/officeDocument/2006/relationships/oleObject" Target="../embeddings/oleObject5.bin"/><Relationship Id="rId17" Type="http://schemas.openxmlformats.org/officeDocument/2006/relationships/image" Target="../media/image79.emf"/><Relationship Id="rId25" Type="http://schemas.openxmlformats.org/officeDocument/2006/relationships/image" Target="../media/image83.emf"/><Relationship Id="rId33" Type="http://schemas.openxmlformats.org/officeDocument/2006/relationships/image" Target="../media/image87.emf"/><Relationship Id="rId2" Type="http://schemas.openxmlformats.org/officeDocument/2006/relationships/slideLayout" Target="../slideLayouts/slideLayout7.xml"/><Relationship Id="rId16" Type="http://schemas.openxmlformats.org/officeDocument/2006/relationships/oleObject" Target="../embeddings/oleObject7.bin"/><Relationship Id="rId20" Type="http://schemas.openxmlformats.org/officeDocument/2006/relationships/oleObject" Target="../embeddings/oleObject9.bin"/><Relationship Id="rId29" Type="http://schemas.openxmlformats.org/officeDocument/2006/relationships/image" Target="../media/image85.emf"/><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76.emf"/><Relationship Id="rId24" Type="http://schemas.openxmlformats.org/officeDocument/2006/relationships/oleObject" Target="../embeddings/oleObject11.bin"/><Relationship Id="rId32" Type="http://schemas.openxmlformats.org/officeDocument/2006/relationships/oleObject" Target="../embeddings/oleObject15.bin"/><Relationship Id="rId37" Type="http://schemas.openxmlformats.org/officeDocument/2006/relationships/image" Target="../media/image89.emf"/><Relationship Id="rId5" Type="http://schemas.openxmlformats.org/officeDocument/2006/relationships/image" Target="../media/image73.emf"/><Relationship Id="rId15" Type="http://schemas.openxmlformats.org/officeDocument/2006/relationships/image" Target="../media/image78.emf"/><Relationship Id="rId23" Type="http://schemas.openxmlformats.org/officeDocument/2006/relationships/image" Target="../media/image82.emf"/><Relationship Id="rId28" Type="http://schemas.openxmlformats.org/officeDocument/2006/relationships/oleObject" Target="../embeddings/oleObject13.bin"/><Relationship Id="rId36" Type="http://schemas.openxmlformats.org/officeDocument/2006/relationships/oleObject" Target="../embeddings/oleObject17.bin"/><Relationship Id="rId10" Type="http://schemas.openxmlformats.org/officeDocument/2006/relationships/oleObject" Target="../embeddings/oleObject4.bin"/><Relationship Id="rId19" Type="http://schemas.openxmlformats.org/officeDocument/2006/relationships/image" Target="../media/image80.emf"/><Relationship Id="rId31" Type="http://schemas.openxmlformats.org/officeDocument/2006/relationships/image" Target="../media/image86.emf"/><Relationship Id="rId4" Type="http://schemas.openxmlformats.org/officeDocument/2006/relationships/oleObject" Target="../embeddings/oleObject1.bin"/><Relationship Id="rId9" Type="http://schemas.openxmlformats.org/officeDocument/2006/relationships/image" Target="../media/image75.emf"/><Relationship Id="rId14" Type="http://schemas.openxmlformats.org/officeDocument/2006/relationships/oleObject" Target="../embeddings/oleObject6.bin"/><Relationship Id="rId22" Type="http://schemas.openxmlformats.org/officeDocument/2006/relationships/oleObject" Target="../embeddings/oleObject10.bin"/><Relationship Id="rId27" Type="http://schemas.openxmlformats.org/officeDocument/2006/relationships/image" Target="../media/image84.emf"/><Relationship Id="rId30" Type="http://schemas.openxmlformats.org/officeDocument/2006/relationships/oleObject" Target="../embeddings/oleObject14.bin"/><Relationship Id="rId35" Type="http://schemas.openxmlformats.org/officeDocument/2006/relationships/image" Target="../media/image88.emf"/><Relationship Id="rId8" Type="http://schemas.openxmlformats.org/officeDocument/2006/relationships/oleObject" Target="../embeddings/oleObject3.bin"/><Relationship Id="rId3" Type="http://schemas.openxmlformats.org/officeDocument/2006/relationships/image" Target="../media/image72.png"/></Relationships>
</file>

<file path=ppt/slides/_rels/slide62.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91.png"/><Relationship Id="rId4" Type="http://schemas.microsoft.com/office/2007/relationships/hdphoto" Target="../media/hdphoto1.wdp"/></Relationships>
</file>

<file path=ppt/slides/_rels/slide63.xml.rels><?xml version="1.0" encoding="UTF-8" standalone="yes"?>
<Relationships xmlns="http://schemas.openxmlformats.org/package/2006/relationships"><Relationship Id="rId8" Type="http://schemas.openxmlformats.org/officeDocument/2006/relationships/image" Target="../media/image96.png"/><Relationship Id="rId3" Type="http://schemas.openxmlformats.org/officeDocument/2006/relationships/image" Target="../media/image92.png"/><Relationship Id="rId7" Type="http://schemas.openxmlformats.org/officeDocument/2006/relationships/image" Target="../media/image95.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94.png"/><Relationship Id="rId5" Type="http://schemas.openxmlformats.org/officeDocument/2006/relationships/image" Target="../media/image93.png"/><Relationship Id="rId4" Type="http://schemas.microsoft.com/office/2007/relationships/hdphoto" Target="../media/hdphoto2.wdp"/></Relationships>
</file>

<file path=ppt/slides/_rels/slide64.xml.rels><?xml version="1.0" encoding="UTF-8" standalone="yes"?>
<Relationships xmlns="http://schemas.openxmlformats.org/package/2006/relationships"><Relationship Id="rId8" Type="http://schemas.openxmlformats.org/officeDocument/2006/relationships/image" Target="../media/image101.png"/><Relationship Id="rId3" Type="http://schemas.openxmlformats.org/officeDocument/2006/relationships/image" Target="../media/image97.png"/><Relationship Id="rId7" Type="http://schemas.openxmlformats.org/officeDocument/2006/relationships/image" Target="../media/image100.pn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99.png"/><Relationship Id="rId5" Type="http://schemas.openxmlformats.org/officeDocument/2006/relationships/image" Target="../media/image98.png"/><Relationship Id="rId4" Type="http://schemas.microsoft.com/office/2007/relationships/hdphoto" Target="../media/hdphoto3.wdp"/></Relationships>
</file>

<file path=ppt/slides/_rels/slide65.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104.png"/><Relationship Id="rId5" Type="http://schemas.openxmlformats.org/officeDocument/2006/relationships/image" Target="../media/image103.png"/><Relationship Id="rId4" Type="http://schemas.microsoft.com/office/2007/relationships/hdphoto" Target="../media/hdphoto4.wdp"/></Relationships>
</file>

<file path=ppt/slides/_rels/slide66.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107.png"/><Relationship Id="rId4" Type="http://schemas.openxmlformats.org/officeDocument/2006/relationships/image" Target="../media/image106.png"/></Relationships>
</file>

<file path=ppt/slides/_rels/slide67.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5.png"/></Relationships>
</file>

<file path=ppt/slides/_rels/slide68.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110.png"/><Relationship Id="rId5" Type="http://schemas.openxmlformats.org/officeDocument/2006/relationships/image" Target="../media/image108.png"/><Relationship Id="rId4" Type="http://schemas.openxmlformats.org/officeDocument/2006/relationships/image" Target="../media/image10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0.xml.rels><?xml version="1.0" encoding="UTF-8" standalone="yes"?>
<Relationships xmlns="http://schemas.openxmlformats.org/package/2006/relationships"><Relationship Id="rId2" Type="http://schemas.openxmlformats.org/officeDocument/2006/relationships/image" Target="../media/image111.jpg"/><Relationship Id="rId1" Type="http://schemas.openxmlformats.org/officeDocument/2006/relationships/slideLayout" Target="../slideLayouts/slideLayout18.xml"/></Relationships>
</file>

<file path=ppt/slides/_rels/slide71.xml.rels><?xml version="1.0" encoding="UTF-8" standalone="yes"?>
<Relationships xmlns="http://schemas.openxmlformats.org/package/2006/relationships"><Relationship Id="rId2" Type="http://schemas.openxmlformats.org/officeDocument/2006/relationships/image" Target="../media/image112.jpg"/><Relationship Id="rId1" Type="http://schemas.openxmlformats.org/officeDocument/2006/relationships/slideLayout" Target="../slideLayouts/slideLayout1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3.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7.xml"/><Relationship Id="rId5" Type="http://schemas.openxmlformats.org/officeDocument/2006/relationships/image" Target="../media/image119.png"/><Relationship Id="rId4" Type="http://schemas.openxmlformats.org/officeDocument/2006/relationships/image" Target="../media/image118.png"/></Relationships>
</file>

<file path=ppt/slides/_rels/slide78.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20.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123.emf"/><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6.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18.xml"/></Relationships>
</file>

<file path=ppt/slides/_rels/slide87.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30.xml"/><Relationship Id="rId1" Type="http://schemas.openxmlformats.org/officeDocument/2006/relationships/slideLayout" Target="../slideLayouts/slideLayout18.xml"/><Relationship Id="rId4" Type="http://schemas.openxmlformats.org/officeDocument/2006/relationships/image" Target="../media/image126.png"/></Relationships>
</file>

<file path=ppt/slides/_rels/slide88.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18.xml"/></Relationships>
</file>

<file path=ppt/slides/_rels/slide89.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1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1.xml"/><Relationship Id="rId1" Type="http://schemas.openxmlformats.org/officeDocument/2006/relationships/slideLayout" Target="../slideLayouts/slideLayout18.xml"/><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F2729EBD-3BFC-6940-B1FB-F9A3C532AC84}"/>
              </a:ext>
            </a:extLst>
          </p:cNvPr>
          <p:cNvSpPr/>
          <p:nvPr/>
        </p:nvSpPr>
        <p:spPr>
          <a:xfrm>
            <a:off x="654908" y="2075935"/>
            <a:ext cx="11034584" cy="3966519"/>
          </a:xfrm>
          <a:prstGeom prst="rect">
            <a:avLst/>
          </a:prstGeom>
          <a:solidFill>
            <a:srgbClr val="FDF4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mc:AlternateContent xmlns:mc="http://schemas.openxmlformats.org/markup-compatibility/2006" xmlns:p14="http://schemas.microsoft.com/office/powerpoint/2010/main">
        <mc:Choice Requires="p14">
          <p:contentPart p14:bwMode="auto" r:id="rId3">
            <p14:nvContentPartPr>
              <p14:cNvPr id="2" name="墨迹 1"/>
              <p14:cNvContentPartPr/>
              <p14:nvPr/>
            </p14:nvContentPartPr>
            <p14:xfrm>
              <a:off x="1446530" y="6547485"/>
              <a:ext cx="9525" cy="360"/>
            </p14:xfrm>
          </p:contentPart>
        </mc:Choice>
        <mc:Fallback xmlns="">
          <p:pic>
            <p:nvPicPr>
              <p:cNvPr id="2" name="墨迹 1"/>
            </p:nvPicPr>
            <p:blipFill>
              <a:blip r:embed="rId4"/>
            </p:blipFill>
            <p:spPr>
              <a:xfrm>
                <a:off x="1446530" y="6547485"/>
                <a:ext cx="9525" cy="360"/>
              </a:xfrm>
              <a:prstGeom prst="rect"/>
            </p:spPr>
          </p:pic>
        </mc:Fallback>
      </mc:AlternateContent>
      <mc:AlternateContent xmlns:mc="http://schemas.openxmlformats.org/markup-compatibility/2006" xmlns:p14="http://schemas.microsoft.com/office/powerpoint/2010/main">
        <mc:Choice Requires="p14">
          <p:contentPart p14:bwMode="auto" r:id="rId5">
            <p14:nvContentPartPr>
              <p14:cNvPr id="4" name="墨迹 3"/>
              <p14:cNvContentPartPr/>
              <p14:nvPr/>
            </p14:nvContentPartPr>
            <p14:xfrm>
              <a:off x="1354455" y="2629535"/>
              <a:ext cx="391795" cy="360"/>
            </p14:xfrm>
          </p:contentPart>
        </mc:Choice>
        <mc:Fallback xmlns="">
          <p:pic>
            <p:nvPicPr>
              <p:cNvPr id="4" name="墨迹 3"/>
            </p:nvPicPr>
            <p:blipFill>
              <a:blip r:embed="rId6"/>
            </p:blipFill>
            <p:spPr>
              <a:xfrm>
                <a:off x="1354455" y="2629535"/>
                <a:ext cx="391795" cy="360"/>
              </a:xfrm>
              <a:prstGeom prst="rect"/>
            </p:spPr>
          </p:pic>
        </mc:Fallback>
      </mc:AlternateContent>
      <mc:AlternateContent xmlns:mc="http://schemas.openxmlformats.org/markup-compatibility/2006" xmlns:p14="http://schemas.microsoft.com/office/powerpoint/2010/main">
        <mc:Choice Requires="p14">
          <p:contentPart p14:bwMode="auto" r:id="rId7">
            <p14:nvContentPartPr>
              <p14:cNvPr id="5" name="墨迹 4"/>
              <p14:cNvContentPartPr/>
              <p14:nvPr/>
            </p14:nvContentPartPr>
            <p14:xfrm>
              <a:off x="1383665" y="2639060"/>
              <a:ext cx="406400" cy="10160"/>
            </p14:xfrm>
          </p:contentPart>
        </mc:Choice>
        <mc:Fallback xmlns="">
          <p:pic>
            <p:nvPicPr>
              <p:cNvPr id="5" name="墨迹 4"/>
            </p:nvPicPr>
            <p:blipFill>
              <a:blip r:embed="rId8"/>
            </p:blipFill>
            <p:spPr>
              <a:xfrm>
                <a:off x="1383665" y="2639060"/>
                <a:ext cx="406400" cy="10160"/>
              </a:xfrm>
              <a:prstGeom prst="rect"/>
            </p:spPr>
          </p:pic>
        </mc:Fallback>
      </mc:AlternateContent>
      <p:sp>
        <p:nvSpPr>
          <p:cNvPr id="6" name="文本框 5">
            <a:extLst>
              <a:ext uri="{FF2B5EF4-FFF2-40B4-BE49-F238E27FC236}">
                <a16:creationId xmlns:a16="http://schemas.microsoft.com/office/drawing/2014/main" id="{F65B7D58-6AD6-3A4C-AF11-19B24B0CB86B}"/>
              </a:ext>
            </a:extLst>
          </p:cNvPr>
          <p:cNvSpPr txBox="1"/>
          <p:nvPr/>
        </p:nvSpPr>
        <p:spPr>
          <a:xfrm>
            <a:off x="548562" y="687582"/>
            <a:ext cx="4942702" cy="369332"/>
          </a:xfrm>
          <a:prstGeom prst="rect">
            <a:avLst/>
          </a:prstGeom>
          <a:noFill/>
        </p:spPr>
        <p:txBody>
          <a:bodyPr wrap="square" rtlCol="0">
            <a:spAutoFit/>
          </a:bodyPr>
          <a:lstStyle/>
          <a:p>
            <a:r>
              <a:rPr kumimoji="1" lang="zh-CN" altLang="en-US" u="sng" dirty="0">
                <a:solidFill>
                  <a:srgbClr val="C00000"/>
                </a:solidFill>
                <a:highlight>
                  <a:srgbClr val="FDF4D5"/>
                </a:highlight>
                <a:latin typeface="KaiTi" panose="02010609060101010101" pitchFamily="49" charset="-122"/>
                <a:ea typeface="KaiTi" panose="02010609060101010101" pitchFamily="49" charset="-122"/>
              </a:rPr>
              <a:t>课程内容介绍</a:t>
            </a:r>
            <a:r>
              <a:rPr kumimoji="1" lang="en-US" altLang="zh-CN" b="1" u="sng" dirty="0">
                <a:solidFill>
                  <a:srgbClr val="C00000"/>
                </a:solidFill>
                <a:highlight>
                  <a:srgbClr val="FDF4D5"/>
                </a:highlight>
                <a:latin typeface="Times New Roman" panose="02020603050405020304" pitchFamily="18" charset="0"/>
                <a:ea typeface="KaiTi" panose="02010609060101010101" pitchFamily="49" charset="-122"/>
                <a:cs typeface="Times New Roman" panose="02020603050405020304" pitchFamily="18" charset="0"/>
              </a:rPr>
              <a:t>Introduction</a:t>
            </a:r>
            <a:endParaRPr kumimoji="1" lang="zh-CN" altLang="en-US" b="1" u="sng" dirty="0">
              <a:solidFill>
                <a:srgbClr val="C00000"/>
              </a:solidFill>
              <a:highlight>
                <a:srgbClr val="FDF4D5"/>
              </a:highlight>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文本框 6">
            <a:extLst>
              <a:ext uri="{FF2B5EF4-FFF2-40B4-BE49-F238E27FC236}">
                <a16:creationId xmlns:a16="http://schemas.microsoft.com/office/drawing/2014/main" id="{F0960286-31E5-6340-BE94-2321392F7153}"/>
              </a:ext>
            </a:extLst>
          </p:cNvPr>
          <p:cNvSpPr txBox="1"/>
          <p:nvPr/>
        </p:nvSpPr>
        <p:spPr>
          <a:xfrm>
            <a:off x="548562" y="1066845"/>
            <a:ext cx="4942702" cy="307777"/>
          </a:xfrm>
          <a:prstGeom prst="rect">
            <a:avLst/>
          </a:prstGeom>
          <a:noFill/>
        </p:spPr>
        <p:txBody>
          <a:bodyPr wrap="square" rtlCol="0">
            <a:spAutoFit/>
          </a:bodyPr>
          <a:lstStyle/>
          <a:p>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努力也是一种天赋</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a:t>
            </a:r>
            <a:endPar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8" name="文本框 7">
            <a:extLst>
              <a:ext uri="{FF2B5EF4-FFF2-40B4-BE49-F238E27FC236}">
                <a16:creationId xmlns:a16="http://schemas.microsoft.com/office/drawing/2014/main" id="{9DE5AA5B-A8DA-E248-81EF-5B17443DBB89}"/>
              </a:ext>
            </a:extLst>
          </p:cNvPr>
          <p:cNvSpPr txBox="1"/>
          <p:nvPr/>
        </p:nvSpPr>
        <p:spPr>
          <a:xfrm>
            <a:off x="548562" y="1461727"/>
            <a:ext cx="6660291" cy="276999"/>
          </a:xfrm>
          <a:prstGeom prst="rect">
            <a:avLst/>
          </a:prstGeom>
          <a:noFill/>
        </p:spPr>
        <p:txBody>
          <a:bodyPr wrap="square" rtlCol="0">
            <a:spAutoFit/>
          </a:bodyPr>
          <a:lstStyle/>
          <a:p>
            <a:r>
              <a:rPr kumimoji="1" lang="zh-CN" altLang="en-US" sz="1200" dirty="0">
                <a:latin typeface="Times New Roman" panose="02020603050405020304" pitchFamily="18" charset="0"/>
                <a:ea typeface="KaiTi" panose="02010609060101010101" pitchFamily="49" charset="-122"/>
                <a:cs typeface="Times New Roman" panose="02020603050405020304" pitchFamily="18" charset="0"/>
              </a:rPr>
              <a:t>高考还远没有到拼天赋的程度，只有足够努力，才能不给自己找借口</a:t>
            </a:r>
          </a:p>
        </p:txBody>
      </p:sp>
      <p:sp>
        <p:nvSpPr>
          <p:cNvPr id="10" name="文本框 9">
            <a:extLst>
              <a:ext uri="{FF2B5EF4-FFF2-40B4-BE49-F238E27FC236}">
                <a16:creationId xmlns:a16="http://schemas.microsoft.com/office/drawing/2014/main" id="{3361100D-6883-DF45-A9BF-EF04AF407EB1}"/>
              </a:ext>
            </a:extLst>
          </p:cNvPr>
          <p:cNvSpPr txBox="1"/>
          <p:nvPr/>
        </p:nvSpPr>
        <p:spPr>
          <a:xfrm>
            <a:off x="1056821" y="2167992"/>
            <a:ext cx="4942702" cy="276999"/>
          </a:xfrm>
          <a:prstGeom prst="rect">
            <a:avLst/>
          </a:prstGeom>
          <a:noFill/>
        </p:spPr>
        <p:txBody>
          <a:bodyPr wrap="square" rtlCol="0">
            <a:spAutoFit/>
          </a:bodyPr>
          <a:lstStyle/>
          <a:p>
            <a:r>
              <a:rPr kumimoji="1" lang="en-US" altLang="zh-CN" sz="1200" dirty="0">
                <a:solidFill>
                  <a:srgbClr val="FF0000"/>
                </a:solidFill>
                <a:latin typeface="KaiTi" panose="02010609060101010101" pitchFamily="49" charset="-122"/>
                <a:ea typeface="KaiTi" panose="02010609060101010101" pitchFamily="49" charset="-122"/>
              </a:rPr>
              <a:t>1.</a:t>
            </a:r>
            <a:r>
              <a:rPr kumimoji="1" lang="zh-CN" altLang="en-US" sz="1200" dirty="0">
                <a:solidFill>
                  <a:srgbClr val="FF0000"/>
                </a:solidFill>
                <a:latin typeface="KaiTi" panose="02010609060101010101" pitchFamily="49" charset="-122"/>
                <a:ea typeface="KaiTi" panose="02010609060101010101" pitchFamily="49" charset="-122"/>
              </a:rPr>
              <a:t>优优学姐个人介绍</a:t>
            </a:r>
            <a:endParaRPr kumimoji="1" lang="zh-CN" altLang="en-US" sz="1200" b="1" dirty="0">
              <a:solidFill>
                <a:srgbClr val="FF0000"/>
              </a:solidFill>
              <a:latin typeface="KaiTi" panose="02010609060101010101" pitchFamily="49" charset="-122"/>
              <a:ea typeface="KaiTi" panose="02010609060101010101" pitchFamily="49" charset="-122"/>
              <a:cs typeface="Times New Roman" panose="02020603050405020304" pitchFamily="18" charset="0"/>
            </a:endParaRPr>
          </a:p>
        </p:txBody>
      </p:sp>
      <p:sp>
        <p:nvSpPr>
          <p:cNvPr id="11" name="矩形 10">
            <a:extLst>
              <a:ext uri="{FF2B5EF4-FFF2-40B4-BE49-F238E27FC236}">
                <a16:creationId xmlns:a16="http://schemas.microsoft.com/office/drawing/2014/main" id="{67B1EEB8-EF34-B943-ACC6-C1C45823AA16}"/>
              </a:ext>
            </a:extLst>
          </p:cNvPr>
          <p:cNvSpPr/>
          <p:nvPr/>
        </p:nvSpPr>
        <p:spPr>
          <a:xfrm>
            <a:off x="721660" y="2192967"/>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12" name="文本框 11">
            <a:extLst>
              <a:ext uri="{FF2B5EF4-FFF2-40B4-BE49-F238E27FC236}">
                <a16:creationId xmlns:a16="http://schemas.microsoft.com/office/drawing/2014/main" id="{7E5151AE-C029-9A4B-94B6-B9F8A583EED9}"/>
              </a:ext>
            </a:extLst>
          </p:cNvPr>
          <p:cNvSpPr txBox="1"/>
          <p:nvPr/>
        </p:nvSpPr>
        <p:spPr>
          <a:xfrm>
            <a:off x="1137158" y="2451015"/>
            <a:ext cx="4942702" cy="603050"/>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kumimoji="1" lang="zh-CN" altLang="en-US" sz="1200" dirty="0">
                <a:solidFill>
                  <a:schemeClr val="tx1">
                    <a:lumMod val="50000"/>
                    <a:lumOff val="50000"/>
                  </a:schemeClr>
                </a:solidFill>
                <a:highlight>
                  <a:srgbClr val="FFFF00"/>
                </a:highlight>
                <a:latin typeface="KaiTi" panose="02010609060101010101" pitchFamily="49" charset="-122"/>
                <a:ea typeface="KaiTi" panose="02010609060101010101" pitchFamily="49" charset="-122"/>
              </a:rPr>
              <a:t>高考裸分</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rPr>
              <a:t>689——{</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rPr>
              <a:t>分数与分数背后的故事</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rPr>
              <a:t>}</a:t>
            </a:r>
          </a:p>
          <a:p>
            <a:pPr marL="171450" indent="-171450">
              <a:lnSpc>
                <a:spcPct val="150000"/>
              </a:lnSpc>
              <a:buFont typeface="Arial" panose="020B0604020202020204" pitchFamily="34" charset="0"/>
              <a:buChar char="•"/>
            </a:pP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rPr>
              <a:t>物理分数</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rPr>
              <a:t>——{110</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rPr>
              <a:t>，满分</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rPr>
              <a:t>}</a:t>
            </a:r>
          </a:p>
        </p:txBody>
      </p:sp>
      <p:cxnSp>
        <p:nvCxnSpPr>
          <p:cNvPr id="14" name="直线连接符 13">
            <a:extLst>
              <a:ext uri="{FF2B5EF4-FFF2-40B4-BE49-F238E27FC236}">
                <a16:creationId xmlns:a16="http://schemas.microsoft.com/office/drawing/2014/main" id="{A1420F53-7472-B44C-B926-7DAD850C5A03}"/>
              </a:ext>
            </a:extLst>
          </p:cNvPr>
          <p:cNvCxnSpPr>
            <a:cxnSpLocks/>
          </p:cNvCxnSpPr>
          <p:nvPr/>
        </p:nvCxnSpPr>
        <p:spPr>
          <a:xfrm>
            <a:off x="1137158" y="3173350"/>
            <a:ext cx="10379339"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6" name="直线连接符 15">
            <a:extLst>
              <a:ext uri="{FF2B5EF4-FFF2-40B4-BE49-F238E27FC236}">
                <a16:creationId xmlns:a16="http://schemas.microsoft.com/office/drawing/2014/main" id="{55C9EC5C-6C88-2D4F-ADC0-6AB13E703F0A}"/>
              </a:ext>
            </a:extLst>
          </p:cNvPr>
          <p:cNvCxnSpPr>
            <a:cxnSpLocks/>
          </p:cNvCxnSpPr>
          <p:nvPr/>
        </p:nvCxnSpPr>
        <p:spPr>
          <a:xfrm>
            <a:off x="1137158" y="4654307"/>
            <a:ext cx="10379339"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E92FD49A-C081-834E-9656-AA93177FAF46}"/>
              </a:ext>
            </a:extLst>
          </p:cNvPr>
          <p:cNvSpPr txBox="1"/>
          <p:nvPr/>
        </p:nvSpPr>
        <p:spPr>
          <a:xfrm>
            <a:off x="1056821" y="4830266"/>
            <a:ext cx="4942702" cy="276999"/>
          </a:xfrm>
          <a:prstGeom prst="rect">
            <a:avLst/>
          </a:prstGeom>
          <a:noFill/>
        </p:spPr>
        <p:txBody>
          <a:bodyPr wrap="square" rtlCol="0">
            <a:spAutoFit/>
          </a:bodyPr>
          <a:lstStyle/>
          <a:p>
            <a:r>
              <a:rPr kumimoji="1" lang="en-US" altLang="zh-CN" sz="1200" dirty="0">
                <a:solidFill>
                  <a:srgbClr val="FF0000"/>
                </a:solidFill>
                <a:latin typeface="KaiTi" panose="02010609060101010101" pitchFamily="49" charset="-122"/>
                <a:ea typeface="KaiTi" panose="02010609060101010101" pitchFamily="49" charset="-122"/>
              </a:rPr>
              <a:t>3.</a:t>
            </a:r>
            <a:r>
              <a:rPr kumimoji="1" lang="zh-CN" altLang="en-US" sz="1200" dirty="0">
                <a:solidFill>
                  <a:srgbClr val="FF0000"/>
                </a:solidFill>
                <a:latin typeface="KaiTi" panose="02010609060101010101" pitchFamily="49" charset="-122"/>
                <a:ea typeface="KaiTi" panose="02010609060101010101" pitchFamily="49" charset="-122"/>
              </a:rPr>
              <a:t>物理思维的核心</a:t>
            </a:r>
            <a:endParaRPr kumimoji="1" lang="zh-CN" altLang="en-US" sz="1200" b="1" dirty="0">
              <a:solidFill>
                <a:srgbClr val="FF0000"/>
              </a:solidFill>
              <a:latin typeface="KaiTi" panose="02010609060101010101" pitchFamily="49" charset="-122"/>
              <a:ea typeface="KaiTi" panose="02010609060101010101" pitchFamily="49" charset="-122"/>
              <a:cs typeface="Times New Roman" panose="02020603050405020304" pitchFamily="18" charset="0"/>
            </a:endParaRPr>
          </a:p>
        </p:txBody>
      </p:sp>
      <p:sp>
        <p:nvSpPr>
          <p:cNvPr id="20" name="文本框 19">
            <a:extLst>
              <a:ext uri="{FF2B5EF4-FFF2-40B4-BE49-F238E27FC236}">
                <a16:creationId xmlns:a16="http://schemas.microsoft.com/office/drawing/2014/main" id="{9D309476-125C-0C42-8C73-AA44EDB741CA}"/>
              </a:ext>
            </a:extLst>
          </p:cNvPr>
          <p:cNvSpPr txBox="1"/>
          <p:nvPr/>
        </p:nvSpPr>
        <p:spPr>
          <a:xfrm>
            <a:off x="1137158" y="5098983"/>
            <a:ext cx="4942702" cy="326051"/>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rPr>
              <a:t>物理的解题核心</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rPr>
              <a:t>——</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rPr>
              <a:t>三「化」</a:t>
            </a:r>
          </a:p>
        </p:txBody>
      </p:sp>
      <p:sp>
        <p:nvSpPr>
          <p:cNvPr id="21" name="文本框 20">
            <a:extLst>
              <a:ext uri="{FF2B5EF4-FFF2-40B4-BE49-F238E27FC236}">
                <a16:creationId xmlns:a16="http://schemas.microsoft.com/office/drawing/2014/main" id="{D3E97267-87E9-1A4D-99C1-E744BAF9E7CC}"/>
              </a:ext>
            </a:extLst>
          </p:cNvPr>
          <p:cNvSpPr txBox="1"/>
          <p:nvPr/>
        </p:nvSpPr>
        <p:spPr>
          <a:xfrm>
            <a:off x="1056821" y="3341790"/>
            <a:ext cx="4942702" cy="276999"/>
          </a:xfrm>
          <a:prstGeom prst="rect">
            <a:avLst/>
          </a:prstGeom>
          <a:noFill/>
        </p:spPr>
        <p:txBody>
          <a:bodyPr wrap="square" rtlCol="0">
            <a:spAutoFit/>
          </a:bodyPr>
          <a:lstStyle/>
          <a:p>
            <a:r>
              <a:rPr kumimoji="1" lang="en-US" altLang="zh-CN" sz="1200" dirty="0">
                <a:solidFill>
                  <a:srgbClr val="FF0000"/>
                </a:solidFill>
                <a:latin typeface="KaiTi" panose="02010609060101010101" pitchFamily="49" charset="-122"/>
                <a:ea typeface="KaiTi" panose="02010609060101010101" pitchFamily="49" charset="-122"/>
              </a:rPr>
              <a:t>2.</a:t>
            </a:r>
            <a:r>
              <a:rPr kumimoji="1" lang="zh-CN" altLang="en-US" sz="1200" dirty="0">
                <a:solidFill>
                  <a:srgbClr val="FF0000"/>
                </a:solidFill>
                <a:latin typeface="KaiTi" panose="02010609060101010101" pitchFamily="49" charset="-122"/>
                <a:ea typeface="KaiTi" panose="02010609060101010101" pitchFamily="49" charset="-122"/>
              </a:rPr>
              <a:t>初高中物理知识板块梳理</a:t>
            </a:r>
            <a:endParaRPr kumimoji="1" lang="zh-CN" altLang="en-US" sz="1200" b="1" dirty="0">
              <a:solidFill>
                <a:srgbClr val="FF0000"/>
              </a:solidFill>
              <a:latin typeface="KaiTi" panose="02010609060101010101" pitchFamily="49" charset="-122"/>
              <a:ea typeface="KaiTi" panose="02010609060101010101" pitchFamily="49" charset="-122"/>
              <a:cs typeface="Times New Roman" panose="02020603050405020304" pitchFamily="18" charset="0"/>
            </a:endParaRPr>
          </a:p>
        </p:txBody>
      </p:sp>
      <p:sp>
        <p:nvSpPr>
          <p:cNvPr id="22" name="文本框 21">
            <a:extLst>
              <a:ext uri="{FF2B5EF4-FFF2-40B4-BE49-F238E27FC236}">
                <a16:creationId xmlns:a16="http://schemas.microsoft.com/office/drawing/2014/main" id="{C8817AB8-4FF7-A74C-AD60-DD12D44C8FDB}"/>
              </a:ext>
            </a:extLst>
          </p:cNvPr>
          <p:cNvSpPr txBox="1"/>
          <p:nvPr/>
        </p:nvSpPr>
        <p:spPr>
          <a:xfrm>
            <a:off x="1137157" y="3624813"/>
            <a:ext cx="6071695" cy="880049"/>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rPr>
              <a:t>初高中物理思维导图</a:t>
            </a:r>
            <a:endParaRPr kumimoji="1" lang="en-US" altLang="zh-CN" sz="1200" dirty="0">
              <a:solidFill>
                <a:schemeClr val="tx1">
                  <a:lumMod val="50000"/>
                  <a:lumOff val="50000"/>
                </a:schemeClr>
              </a:solidFill>
              <a:latin typeface="KaiTi" panose="02010609060101010101" pitchFamily="49" charset="-122"/>
              <a:ea typeface="KaiTi" panose="02010609060101010101" pitchFamily="49" charset="-122"/>
            </a:endParaRPr>
          </a:p>
          <a:p>
            <a:pPr marL="171450" indent="-171450">
              <a:lnSpc>
                <a:spcPct val="150000"/>
              </a:lnSpc>
              <a:buFont typeface="Arial" panose="020B0604020202020204" pitchFamily="34" charset="0"/>
              <a:buChar char="•"/>
            </a:pP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初高中中物理特点与区别</a:t>
            </a:r>
            <a:endParaRPr kumimoji="1" lang="en-US" altLang="zh-CN"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171450" indent="-171450">
              <a:lnSpc>
                <a:spcPct val="150000"/>
              </a:lnSpc>
              <a:buFont typeface="Arial" panose="020B0604020202020204" pitchFamily="34" charset="0"/>
              <a:buChar char="•"/>
            </a:pP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学好物理的「</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3</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1.2.3.4</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全</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细</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勤</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1</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中心、</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2</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手段、</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3</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4</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特点」</a:t>
            </a:r>
            <a:endParaRPr kumimoji="1" lang="en-US" altLang="zh-CN"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F2729EBD-3BFC-6940-B1FB-F9A3C532AC84}"/>
              </a:ext>
            </a:extLst>
          </p:cNvPr>
          <p:cNvSpPr/>
          <p:nvPr/>
        </p:nvSpPr>
        <p:spPr>
          <a:xfrm>
            <a:off x="654908" y="2075935"/>
            <a:ext cx="11034584" cy="4093043"/>
          </a:xfrm>
          <a:prstGeom prst="rect">
            <a:avLst/>
          </a:prstGeom>
          <a:solidFill>
            <a:srgbClr val="FDF4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mc:AlternateContent xmlns:mc="http://schemas.openxmlformats.org/markup-compatibility/2006" xmlns:p14="http://schemas.microsoft.com/office/powerpoint/2010/main">
        <mc:Choice Requires="p14">
          <p:contentPart p14:bwMode="auto" r:id="rId2">
            <p14:nvContentPartPr>
              <p14:cNvPr id="2" name="墨迹 1"/>
              <p14:cNvContentPartPr/>
              <p14:nvPr/>
            </p14:nvContentPartPr>
            <p14:xfrm>
              <a:off x="1446530" y="6547485"/>
              <a:ext cx="9525" cy="360"/>
            </p14:xfrm>
          </p:contentPart>
        </mc:Choice>
        <mc:Fallback xmlns="">
          <p:pic>
            <p:nvPicPr>
              <p:cNvPr id="2" name="墨迹 1"/>
            </p:nvPicPr>
            <p:blipFill>
              <a:blip r:embed="rId3"/>
            </p:blipFill>
            <p:spPr>
              <a:xfrm>
                <a:off x="1446530" y="6547485"/>
                <a:ext cx="9525" cy="360"/>
              </a:xfrm>
              <a:prstGeom prst="rect"/>
            </p:spPr>
          </p:pic>
        </mc:Fallback>
      </mc:AlternateContent>
      <mc:AlternateContent xmlns:mc="http://schemas.openxmlformats.org/markup-compatibility/2006" xmlns:p14="http://schemas.microsoft.com/office/powerpoint/2010/main">
        <mc:Choice Requires="p14">
          <p:contentPart p14:bwMode="auto" r:id="rId4">
            <p14:nvContentPartPr>
              <p14:cNvPr id="4" name="墨迹 3"/>
              <p14:cNvContentPartPr/>
              <p14:nvPr/>
            </p14:nvContentPartPr>
            <p14:xfrm>
              <a:off x="1354455" y="2629535"/>
              <a:ext cx="391795" cy="360"/>
            </p14:xfrm>
          </p:contentPart>
        </mc:Choice>
        <mc:Fallback xmlns="">
          <p:pic>
            <p:nvPicPr>
              <p:cNvPr id="4" name="墨迹 3"/>
            </p:nvPicPr>
            <p:blipFill>
              <a:blip r:embed="rId5"/>
            </p:blipFill>
            <p:spPr>
              <a:xfrm>
                <a:off x="1354455" y="2629535"/>
                <a:ext cx="391795" cy="360"/>
              </a:xfrm>
              <a:prstGeom prst="rect"/>
            </p:spPr>
          </p:pic>
        </mc:Fallback>
      </mc:AlternateContent>
      <mc:AlternateContent xmlns:mc="http://schemas.openxmlformats.org/markup-compatibility/2006" xmlns:p14="http://schemas.microsoft.com/office/powerpoint/2010/main">
        <mc:Choice Requires="p14">
          <p:contentPart p14:bwMode="auto" r:id="rId6">
            <p14:nvContentPartPr>
              <p14:cNvPr id="5" name="墨迹 4"/>
              <p14:cNvContentPartPr/>
              <p14:nvPr/>
            </p14:nvContentPartPr>
            <p14:xfrm>
              <a:off x="1383665" y="2639060"/>
              <a:ext cx="406400" cy="10160"/>
            </p14:xfrm>
          </p:contentPart>
        </mc:Choice>
        <mc:Fallback xmlns="">
          <p:pic>
            <p:nvPicPr>
              <p:cNvPr id="5" name="墨迹 4"/>
            </p:nvPicPr>
            <p:blipFill>
              <a:blip r:embed="rId7"/>
            </p:blipFill>
            <p:spPr>
              <a:xfrm>
                <a:off x="1383665" y="2639060"/>
                <a:ext cx="406400" cy="10160"/>
              </a:xfrm>
              <a:prstGeom prst="rect"/>
            </p:spPr>
          </p:pic>
        </mc:Fallback>
      </mc:AlternateContent>
      <p:sp>
        <p:nvSpPr>
          <p:cNvPr id="6" name="文本框 5">
            <a:extLst>
              <a:ext uri="{FF2B5EF4-FFF2-40B4-BE49-F238E27FC236}">
                <a16:creationId xmlns:a16="http://schemas.microsoft.com/office/drawing/2014/main" id="{F65B7D58-6AD6-3A4C-AF11-19B24B0CB86B}"/>
              </a:ext>
            </a:extLst>
          </p:cNvPr>
          <p:cNvSpPr txBox="1"/>
          <p:nvPr/>
        </p:nvSpPr>
        <p:spPr>
          <a:xfrm>
            <a:off x="548562" y="687582"/>
            <a:ext cx="4942702" cy="369332"/>
          </a:xfrm>
          <a:prstGeom prst="rect">
            <a:avLst/>
          </a:prstGeom>
          <a:noFill/>
        </p:spPr>
        <p:txBody>
          <a:bodyPr wrap="square" rtlCol="0">
            <a:spAutoFit/>
          </a:bodyPr>
          <a:lstStyle/>
          <a:p>
            <a:r>
              <a:rPr kumimoji="1" lang="zh-CN" altLang="en-US" u="sng" dirty="0">
                <a:solidFill>
                  <a:srgbClr val="C00000"/>
                </a:solidFill>
                <a:highlight>
                  <a:srgbClr val="FDF4D5"/>
                </a:highlight>
                <a:latin typeface="KaiTi" panose="02010609060101010101" pitchFamily="49" charset="-122"/>
                <a:ea typeface="KaiTi" panose="02010609060101010101" pitchFamily="49" charset="-122"/>
              </a:rPr>
              <a:t>课程内容介绍</a:t>
            </a:r>
            <a:r>
              <a:rPr kumimoji="1" lang="en-US" altLang="zh-CN" b="1" u="sng" dirty="0">
                <a:solidFill>
                  <a:srgbClr val="C00000"/>
                </a:solidFill>
                <a:highlight>
                  <a:srgbClr val="FDF4D5"/>
                </a:highlight>
                <a:latin typeface="Times New Roman" panose="02020603050405020304" pitchFamily="18" charset="0"/>
                <a:ea typeface="KaiTi" panose="02010609060101010101" pitchFamily="49" charset="-122"/>
                <a:cs typeface="Times New Roman" panose="02020603050405020304" pitchFamily="18" charset="0"/>
              </a:rPr>
              <a:t>Introduction</a:t>
            </a:r>
            <a:endParaRPr kumimoji="1" lang="zh-CN" altLang="en-US" b="1" u="sng" dirty="0">
              <a:solidFill>
                <a:srgbClr val="C00000"/>
              </a:solidFill>
              <a:highlight>
                <a:srgbClr val="FDF4D5"/>
              </a:highlight>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文本框 6">
            <a:extLst>
              <a:ext uri="{FF2B5EF4-FFF2-40B4-BE49-F238E27FC236}">
                <a16:creationId xmlns:a16="http://schemas.microsoft.com/office/drawing/2014/main" id="{F0960286-31E5-6340-BE94-2321392F7153}"/>
              </a:ext>
            </a:extLst>
          </p:cNvPr>
          <p:cNvSpPr txBox="1"/>
          <p:nvPr/>
        </p:nvSpPr>
        <p:spPr>
          <a:xfrm>
            <a:off x="548562" y="1066845"/>
            <a:ext cx="4942702" cy="307777"/>
          </a:xfrm>
          <a:prstGeom prst="rect">
            <a:avLst/>
          </a:prstGeom>
          <a:noFill/>
        </p:spPr>
        <p:txBody>
          <a:bodyPr wrap="square" rtlCol="0">
            <a:spAutoFit/>
          </a:bodyPr>
          <a:lstStyle/>
          <a:p>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努力也是一种天赋</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a:t>
            </a:r>
            <a:endPar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8" name="文本框 7">
            <a:extLst>
              <a:ext uri="{FF2B5EF4-FFF2-40B4-BE49-F238E27FC236}">
                <a16:creationId xmlns:a16="http://schemas.microsoft.com/office/drawing/2014/main" id="{9DE5AA5B-A8DA-E248-81EF-5B17443DBB89}"/>
              </a:ext>
            </a:extLst>
          </p:cNvPr>
          <p:cNvSpPr txBox="1"/>
          <p:nvPr/>
        </p:nvSpPr>
        <p:spPr>
          <a:xfrm>
            <a:off x="548562" y="1461727"/>
            <a:ext cx="6660291" cy="276999"/>
          </a:xfrm>
          <a:prstGeom prst="rect">
            <a:avLst/>
          </a:prstGeom>
          <a:noFill/>
        </p:spPr>
        <p:txBody>
          <a:bodyPr wrap="square" rtlCol="0">
            <a:spAutoFit/>
          </a:bodyPr>
          <a:lstStyle/>
          <a:p>
            <a:r>
              <a:rPr kumimoji="1" lang="zh-CN" altLang="en-US" sz="1200" dirty="0">
                <a:latin typeface="Times New Roman" panose="02020603050405020304" pitchFamily="18" charset="0"/>
                <a:ea typeface="KaiTi" panose="02010609060101010101" pitchFamily="49" charset="-122"/>
                <a:cs typeface="Times New Roman" panose="02020603050405020304" pitchFamily="18" charset="0"/>
              </a:rPr>
              <a:t>高考还远没有到拼天赋的程度，只有足够努力，才能不给自己找借口</a:t>
            </a:r>
          </a:p>
        </p:txBody>
      </p:sp>
      <p:sp>
        <p:nvSpPr>
          <p:cNvPr id="10" name="文本框 9">
            <a:extLst>
              <a:ext uri="{FF2B5EF4-FFF2-40B4-BE49-F238E27FC236}">
                <a16:creationId xmlns:a16="http://schemas.microsoft.com/office/drawing/2014/main" id="{3361100D-6883-DF45-A9BF-EF04AF407EB1}"/>
              </a:ext>
            </a:extLst>
          </p:cNvPr>
          <p:cNvSpPr txBox="1"/>
          <p:nvPr/>
        </p:nvSpPr>
        <p:spPr>
          <a:xfrm>
            <a:off x="1056821" y="2167992"/>
            <a:ext cx="4942702" cy="276999"/>
          </a:xfrm>
          <a:prstGeom prst="rect">
            <a:avLst/>
          </a:prstGeom>
          <a:noFill/>
        </p:spPr>
        <p:txBody>
          <a:bodyPr wrap="square" rtlCol="0">
            <a:spAutoFit/>
          </a:bodyPr>
          <a:lstStyle/>
          <a:p>
            <a:r>
              <a:rPr kumimoji="1" lang="en-US" altLang="zh-CN" sz="1200" dirty="0">
                <a:solidFill>
                  <a:srgbClr val="FF0000"/>
                </a:solidFill>
                <a:latin typeface="KaiTi" panose="02010609060101010101" pitchFamily="49" charset="-122"/>
                <a:ea typeface="KaiTi" panose="02010609060101010101" pitchFamily="49" charset="-122"/>
              </a:rPr>
              <a:t>4.</a:t>
            </a:r>
            <a:r>
              <a:rPr kumimoji="1" lang="zh-CN" altLang="en-US" sz="1200" dirty="0">
                <a:solidFill>
                  <a:srgbClr val="FF0000"/>
                </a:solidFill>
                <a:latin typeface="KaiTi" panose="02010609060101010101" pitchFamily="49" charset="-122"/>
                <a:ea typeface="KaiTi" panose="02010609060101010101" pitchFamily="49" charset="-122"/>
              </a:rPr>
              <a:t>题型分布</a:t>
            </a:r>
            <a:endParaRPr kumimoji="1" lang="zh-CN" altLang="en-US" sz="1200" b="1" dirty="0">
              <a:solidFill>
                <a:srgbClr val="FF0000"/>
              </a:solidFill>
              <a:latin typeface="KaiTi" panose="02010609060101010101" pitchFamily="49" charset="-122"/>
              <a:ea typeface="KaiTi" panose="02010609060101010101" pitchFamily="49" charset="-122"/>
              <a:cs typeface="Times New Roman" panose="02020603050405020304" pitchFamily="18" charset="0"/>
            </a:endParaRPr>
          </a:p>
        </p:txBody>
      </p:sp>
      <p:sp>
        <p:nvSpPr>
          <p:cNvPr id="11" name="矩形 10">
            <a:extLst>
              <a:ext uri="{FF2B5EF4-FFF2-40B4-BE49-F238E27FC236}">
                <a16:creationId xmlns:a16="http://schemas.microsoft.com/office/drawing/2014/main" id="{67B1EEB8-EF34-B943-ACC6-C1C45823AA16}"/>
              </a:ext>
            </a:extLst>
          </p:cNvPr>
          <p:cNvSpPr/>
          <p:nvPr/>
        </p:nvSpPr>
        <p:spPr>
          <a:xfrm>
            <a:off x="721660" y="2192967"/>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12" name="文本框 11">
            <a:extLst>
              <a:ext uri="{FF2B5EF4-FFF2-40B4-BE49-F238E27FC236}">
                <a16:creationId xmlns:a16="http://schemas.microsoft.com/office/drawing/2014/main" id="{7E5151AE-C029-9A4B-94B6-B9F8A583EED9}"/>
              </a:ext>
            </a:extLst>
          </p:cNvPr>
          <p:cNvSpPr txBox="1"/>
          <p:nvPr/>
        </p:nvSpPr>
        <p:spPr>
          <a:xfrm>
            <a:off x="1137158" y="2451015"/>
            <a:ext cx="4942702" cy="603050"/>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kumimoji="1" lang="zh-CN" altLang="en-US" sz="1200" dirty="0">
                <a:solidFill>
                  <a:schemeClr val="tx1">
                    <a:lumMod val="50000"/>
                    <a:lumOff val="50000"/>
                  </a:schemeClr>
                </a:solidFill>
                <a:highlight>
                  <a:srgbClr val="FFFF00"/>
                </a:highlight>
                <a:latin typeface="KaiTi" panose="02010609060101010101" pitchFamily="49" charset="-122"/>
                <a:ea typeface="KaiTi" panose="02010609060101010101" pitchFamily="49" charset="-122"/>
              </a:rPr>
              <a:t>中考物理题型分布</a:t>
            </a:r>
            <a:r>
              <a:rPr kumimoji="1" lang="en-US" altLang="zh-CN" sz="1200" dirty="0">
                <a:solidFill>
                  <a:schemeClr val="tx1">
                    <a:lumMod val="50000"/>
                    <a:lumOff val="50000"/>
                  </a:schemeClr>
                </a:solidFill>
                <a:highlight>
                  <a:srgbClr val="FFFF00"/>
                </a:highlight>
                <a:latin typeface="KaiTi" panose="02010609060101010101" pitchFamily="49" charset="-122"/>
                <a:ea typeface="KaiTi" panose="02010609060101010101" pitchFamily="49" charset="-122"/>
              </a:rPr>
              <a:t>/</a:t>
            </a:r>
            <a:r>
              <a:rPr kumimoji="1" lang="zh-CN" altLang="en-US" sz="1200" dirty="0">
                <a:solidFill>
                  <a:schemeClr val="tx1">
                    <a:lumMod val="50000"/>
                    <a:lumOff val="50000"/>
                  </a:schemeClr>
                </a:solidFill>
                <a:highlight>
                  <a:srgbClr val="FFFF00"/>
                </a:highlight>
                <a:latin typeface="KaiTi" panose="02010609060101010101" pitchFamily="49" charset="-122"/>
                <a:ea typeface="KaiTi" panose="02010609060101010101" pitchFamily="49" charset="-122"/>
              </a:rPr>
              <a:t>高考物理题型分布</a:t>
            </a:r>
            <a:endParaRPr kumimoji="1" lang="en-US" altLang="zh-CN" sz="1200" dirty="0">
              <a:solidFill>
                <a:schemeClr val="tx1">
                  <a:lumMod val="50000"/>
                  <a:lumOff val="50000"/>
                </a:schemeClr>
              </a:solidFill>
              <a:highlight>
                <a:srgbClr val="FFFF00"/>
              </a:highlight>
              <a:latin typeface="KaiTi" panose="02010609060101010101" pitchFamily="49" charset="-122"/>
              <a:ea typeface="KaiTi" panose="02010609060101010101" pitchFamily="49" charset="-122"/>
            </a:endParaRPr>
          </a:p>
          <a:p>
            <a:pPr marL="171450" indent="-171450">
              <a:lnSpc>
                <a:spcPct val="150000"/>
              </a:lnSpc>
              <a:buFont typeface="Arial" panose="020B0604020202020204" pitchFamily="34" charset="0"/>
              <a:buChar char="•"/>
            </a:pP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rPr>
              <a:t>题型拆解</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rPr>
              <a:t>——</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rPr>
              <a:t>必拿分部分</a:t>
            </a:r>
            <a:endParaRPr kumimoji="1" lang="en-US" altLang="zh-CN" sz="1200" dirty="0">
              <a:solidFill>
                <a:schemeClr val="tx1">
                  <a:lumMod val="50000"/>
                  <a:lumOff val="50000"/>
                </a:schemeClr>
              </a:solidFill>
              <a:latin typeface="KaiTi" panose="02010609060101010101" pitchFamily="49" charset="-122"/>
              <a:ea typeface="KaiTi" panose="02010609060101010101" pitchFamily="49" charset="-122"/>
            </a:endParaRPr>
          </a:p>
        </p:txBody>
      </p:sp>
      <p:cxnSp>
        <p:nvCxnSpPr>
          <p:cNvPr id="14" name="直线连接符 13">
            <a:extLst>
              <a:ext uri="{FF2B5EF4-FFF2-40B4-BE49-F238E27FC236}">
                <a16:creationId xmlns:a16="http://schemas.microsoft.com/office/drawing/2014/main" id="{A1420F53-7472-B44C-B926-7DAD850C5A03}"/>
              </a:ext>
            </a:extLst>
          </p:cNvPr>
          <p:cNvCxnSpPr>
            <a:cxnSpLocks/>
          </p:cNvCxnSpPr>
          <p:nvPr/>
        </p:nvCxnSpPr>
        <p:spPr>
          <a:xfrm>
            <a:off x="1137158" y="3429000"/>
            <a:ext cx="10379339"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6" name="直线连接符 15">
            <a:extLst>
              <a:ext uri="{FF2B5EF4-FFF2-40B4-BE49-F238E27FC236}">
                <a16:creationId xmlns:a16="http://schemas.microsoft.com/office/drawing/2014/main" id="{55C9EC5C-6C88-2D4F-ADC0-6AB13E703F0A}"/>
              </a:ext>
            </a:extLst>
          </p:cNvPr>
          <p:cNvCxnSpPr>
            <a:cxnSpLocks/>
          </p:cNvCxnSpPr>
          <p:nvPr/>
        </p:nvCxnSpPr>
        <p:spPr>
          <a:xfrm>
            <a:off x="1137158" y="4847569"/>
            <a:ext cx="10379339"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DE075B38-9C69-1F44-B536-F91DB69FE9A1}"/>
              </a:ext>
            </a:extLst>
          </p:cNvPr>
          <p:cNvSpPr txBox="1"/>
          <p:nvPr/>
        </p:nvSpPr>
        <p:spPr>
          <a:xfrm>
            <a:off x="1056821" y="3559096"/>
            <a:ext cx="4942702" cy="276999"/>
          </a:xfrm>
          <a:prstGeom prst="rect">
            <a:avLst/>
          </a:prstGeom>
          <a:noFill/>
        </p:spPr>
        <p:txBody>
          <a:bodyPr wrap="square" rtlCol="0">
            <a:spAutoFit/>
          </a:bodyPr>
          <a:lstStyle/>
          <a:p>
            <a:r>
              <a:rPr kumimoji="1" lang="en-US" altLang="zh-CN" sz="1200" dirty="0">
                <a:solidFill>
                  <a:srgbClr val="FF0000"/>
                </a:solidFill>
                <a:latin typeface="KaiTi" panose="02010609060101010101" pitchFamily="49" charset="-122"/>
                <a:ea typeface="KaiTi" panose="02010609060101010101" pitchFamily="49" charset="-122"/>
              </a:rPr>
              <a:t>5.</a:t>
            </a:r>
            <a:r>
              <a:rPr kumimoji="1" lang="zh-CN" altLang="en-US" sz="1200" dirty="0">
                <a:solidFill>
                  <a:srgbClr val="FF0000"/>
                </a:solidFill>
                <a:latin typeface="KaiTi" panose="02010609060101010101" pitchFamily="49" charset="-122"/>
                <a:ea typeface="KaiTi" panose="02010609060101010101" pitchFamily="49" charset="-122"/>
              </a:rPr>
              <a:t>高中物理</a:t>
            </a:r>
            <a:r>
              <a:rPr kumimoji="1" lang="en-US" altLang="zh-CN" sz="1200" dirty="0">
                <a:solidFill>
                  <a:srgbClr val="FF0000"/>
                </a:solidFill>
                <a:latin typeface="KaiTi" panose="02010609060101010101" pitchFamily="49" charset="-122"/>
                <a:ea typeface="KaiTi" panose="02010609060101010101" pitchFamily="49" charset="-122"/>
              </a:rPr>
              <a:t>-</a:t>
            </a:r>
            <a:r>
              <a:rPr kumimoji="1" lang="zh-CN" altLang="en-US" sz="1200" dirty="0">
                <a:solidFill>
                  <a:srgbClr val="FF0000"/>
                </a:solidFill>
                <a:latin typeface="KaiTi" panose="02010609060101010101" pitchFamily="49" charset="-122"/>
                <a:ea typeface="KaiTi" panose="02010609060101010101" pitchFamily="49" charset="-122"/>
              </a:rPr>
              <a:t>最重要的板块：力学与运动类</a:t>
            </a:r>
            <a:r>
              <a:rPr kumimoji="1" lang="en-US" altLang="zh-CN" sz="1200" dirty="0">
                <a:solidFill>
                  <a:srgbClr val="FF0000"/>
                </a:solidFill>
                <a:latin typeface="KaiTi" panose="02010609060101010101" pitchFamily="49" charset="-122"/>
                <a:ea typeface="KaiTi" panose="02010609060101010101" pitchFamily="49" charset="-122"/>
              </a:rPr>
              <a:t>/</a:t>
            </a:r>
            <a:r>
              <a:rPr kumimoji="1" lang="zh-CN" altLang="en-US" sz="1200" dirty="0">
                <a:solidFill>
                  <a:srgbClr val="FF0000"/>
                </a:solidFill>
                <a:latin typeface="KaiTi" panose="02010609060101010101" pitchFamily="49" charset="-122"/>
                <a:ea typeface="KaiTi" panose="02010609060101010101" pitchFamily="49" charset="-122"/>
              </a:rPr>
              <a:t>电场与磁场类题目</a:t>
            </a:r>
            <a:endParaRPr kumimoji="1" lang="zh-CN" altLang="en-US" sz="1200" b="1" dirty="0">
              <a:solidFill>
                <a:srgbClr val="FF0000"/>
              </a:solidFill>
              <a:latin typeface="KaiTi" panose="02010609060101010101" pitchFamily="49" charset="-122"/>
              <a:ea typeface="KaiTi" panose="02010609060101010101" pitchFamily="49" charset="-122"/>
              <a:cs typeface="Times New Roman" panose="02020603050405020304" pitchFamily="18" charset="0"/>
            </a:endParaRPr>
          </a:p>
        </p:txBody>
      </p:sp>
      <p:sp>
        <p:nvSpPr>
          <p:cNvPr id="18" name="文本框 17">
            <a:extLst>
              <a:ext uri="{FF2B5EF4-FFF2-40B4-BE49-F238E27FC236}">
                <a16:creationId xmlns:a16="http://schemas.microsoft.com/office/drawing/2014/main" id="{CC9D546B-98D0-7545-AE97-3A212842BB3F}"/>
              </a:ext>
            </a:extLst>
          </p:cNvPr>
          <p:cNvSpPr txBox="1"/>
          <p:nvPr/>
        </p:nvSpPr>
        <p:spPr>
          <a:xfrm>
            <a:off x="1137158" y="3842119"/>
            <a:ext cx="4942702" cy="1157048"/>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rPr>
              <a:t>解题步骤</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rPr>
              <a:t>——</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rPr>
              <a:t>学会画图</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rPr>
              <a:t>{</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rPr>
              <a:t>读题</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rPr>
              <a:t>/</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rPr>
              <a:t>受力分析</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rPr>
              <a:t>/</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rPr>
              <a:t>运动分析</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rPr>
              <a:t>/</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rPr>
              <a:t>计算</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rPr>
              <a:t>}</a:t>
            </a:r>
          </a:p>
          <a:p>
            <a:pPr marL="171450" indent="-171450">
              <a:lnSpc>
                <a:spcPct val="150000"/>
              </a:lnSpc>
              <a:buFont typeface="Arial" panose="020B0604020202020204" pitchFamily="34" charset="0"/>
              <a:buChar char="•"/>
            </a:pP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rPr>
              <a:t>力学与运动类</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rPr>
              <a:t>——{</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rPr>
              <a:t>拆解答题过程</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rPr>
              <a:t>}</a:t>
            </a:r>
          </a:p>
          <a:p>
            <a:pPr marL="171450" indent="-171450">
              <a:lnSpc>
                <a:spcPct val="150000"/>
              </a:lnSpc>
              <a:buFont typeface="Arial" panose="020B0604020202020204" pitchFamily="34" charset="0"/>
              <a:buChar char="•"/>
            </a:pP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电场与磁场类</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rPr>
              <a:t>——{</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rPr>
              <a:t>拆解答题过程</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rPr>
              <a:t>}</a:t>
            </a:r>
          </a:p>
          <a:p>
            <a:pPr marL="171450" indent="-171450">
              <a:lnSpc>
                <a:spcPct val="150000"/>
              </a:lnSpc>
              <a:buFont typeface="Arial" panose="020B0604020202020204" pitchFamily="34" charset="0"/>
              <a:buChar char="•"/>
            </a:pPr>
            <a:endParaRPr kumimoji="1" lang="en-US" altLang="zh-CN"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p:txBody>
      </p:sp>
      <p:sp>
        <p:nvSpPr>
          <p:cNvPr id="19" name="文本框 18">
            <a:extLst>
              <a:ext uri="{FF2B5EF4-FFF2-40B4-BE49-F238E27FC236}">
                <a16:creationId xmlns:a16="http://schemas.microsoft.com/office/drawing/2014/main" id="{E92FD49A-C081-834E-9656-AA93177FAF46}"/>
              </a:ext>
            </a:extLst>
          </p:cNvPr>
          <p:cNvSpPr txBox="1"/>
          <p:nvPr/>
        </p:nvSpPr>
        <p:spPr>
          <a:xfrm>
            <a:off x="1056821" y="4943464"/>
            <a:ext cx="4942702" cy="276999"/>
          </a:xfrm>
          <a:prstGeom prst="rect">
            <a:avLst/>
          </a:prstGeom>
          <a:noFill/>
        </p:spPr>
        <p:txBody>
          <a:bodyPr wrap="square" rtlCol="0">
            <a:spAutoFit/>
          </a:bodyPr>
          <a:lstStyle/>
          <a:p>
            <a:r>
              <a:rPr kumimoji="1" lang="en-US" altLang="zh-CN" sz="1200" dirty="0">
                <a:solidFill>
                  <a:srgbClr val="FF0000"/>
                </a:solidFill>
                <a:latin typeface="KaiTi" panose="02010609060101010101" pitchFamily="49" charset="-122"/>
                <a:ea typeface="KaiTi" panose="02010609060101010101" pitchFamily="49" charset="-122"/>
              </a:rPr>
              <a:t>6.</a:t>
            </a:r>
            <a:r>
              <a:rPr kumimoji="1" lang="zh-CN" altLang="en-US" sz="1200" dirty="0">
                <a:solidFill>
                  <a:srgbClr val="FF0000"/>
                </a:solidFill>
                <a:latin typeface="KaiTi" panose="02010609060101010101" pitchFamily="49" charset="-122"/>
                <a:ea typeface="KaiTi" panose="02010609060101010101" pitchFamily="49" charset="-122"/>
              </a:rPr>
              <a:t> 初中物理</a:t>
            </a:r>
            <a:r>
              <a:rPr kumimoji="1" lang="en-US" altLang="zh-CN" sz="1200" dirty="0">
                <a:solidFill>
                  <a:srgbClr val="FF0000"/>
                </a:solidFill>
                <a:latin typeface="KaiTi" panose="02010609060101010101" pitchFamily="49" charset="-122"/>
                <a:ea typeface="KaiTi" panose="02010609060101010101" pitchFamily="49" charset="-122"/>
              </a:rPr>
              <a:t>-</a:t>
            </a:r>
            <a:r>
              <a:rPr kumimoji="1" lang="zh-CN" altLang="en-US" sz="1200" dirty="0">
                <a:solidFill>
                  <a:srgbClr val="FF0000"/>
                </a:solidFill>
                <a:latin typeface="KaiTi" panose="02010609060101010101" pitchFamily="49" charset="-122"/>
                <a:ea typeface="KaiTi" panose="02010609060101010101" pitchFamily="49" charset="-122"/>
              </a:rPr>
              <a:t>最重要的板块：力学</a:t>
            </a:r>
            <a:r>
              <a:rPr kumimoji="1" lang="en-US" altLang="zh-CN" sz="1200" dirty="0">
                <a:solidFill>
                  <a:srgbClr val="FF0000"/>
                </a:solidFill>
                <a:latin typeface="KaiTi" panose="02010609060101010101" pitchFamily="49" charset="-122"/>
                <a:ea typeface="KaiTi" panose="02010609060101010101" pitchFamily="49" charset="-122"/>
              </a:rPr>
              <a:t>/</a:t>
            </a:r>
            <a:r>
              <a:rPr kumimoji="1" lang="zh-CN" altLang="en-US" sz="1200" dirty="0">
                <a:solidFill>
                  <a:srgbClr val="FF0000"/>
                </a:solidFill>
                <a:latin typeface="KaiTi" panose="02010609060101010101" pitchFamily="49" charset="-122"/>
                <a:ea typeface="KaiTi" panose="02010609060101010101" pitchFamily="49" charset="-122"/>
              </a:rPr>
              <a:t>电学类题目</a:t>
            </a:r>
            <a:endParaRPr kumimoji="1" lang="zh-CN" altLang="en-US" sz="1200" b="1" dirty="0">
              <a:solidFill>
                <a:srgbClr val="FF0000"/>
              </a:solidFill>
              <a:latin typeface="KaiTi" panose="02010609060101010101" pitchFamily="49" charset="-122"/>
              <a:ea typeface="KaiTi" panose="02010609060101010101" pitchFamily="49" charset="-122"/>
              <a:cs typeface="Times New Roman" panose="02020603050405020304" pitchFamily="18" charset="0"/>
            </a:endParaRPr>
          </a:p>
        </p:txBody>
      </p:sp>
      <p:sp>
        <p:nvSpPr>
          <p:cNvPr id="20" name="文本框 19">
            <a:extLst>
              <a:ext uri="{FF2B5EF4-FFF2-40B4-BE49-F238E27FC236}">
                <a16:creationId xmlns:a16="http://schemas.microsoft.com/office/drawing/2014/main" id="{9D309476-125C-0C42-8C73-AA44EDB741CA}"/>
              </a:ext>
            </a:extLst>
          </p:cNvPr>
          <p:cNvSpPr txBox="1"/>
          <p:nvPr/>
        </p:nvSpPr>
        <p:spPr>
          <a:xfrm>
            <a:off x="1137158" y="5226487"/>
            <a:ext cx="4942702" cy="880049"/>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rPr>
              <a:t>中考题型</a:t>
            </a:r>
            <a:endParaRPr kumimoji="1" lang="en-US" altLang="zh-CN" sz="1200" dirty="0">
              <a:solidFill>
                <a:schemeClr val="tx1">
                  <a:lumMod val="50000"/>
                  <a:lumOff val="50000"/>
                </a:schemeClr>
              </a:solidFill>
              <a:latin typeface="KaiTi" panose="02010609060101010101" pitchFamily="49" charset="-122"/>
              <a:ea typeface="KaiTi" panose="02010609060101010101" pitchFamily="49" charset="-122"/>
            </a:endParaRPr>
          </a:p>
          <a:p>
            <a:pPr marL="171450" indent="-171450">
              <a:lnSpc>
                <a:spcPct val="150000"/>
              </a:lnSpc>
              <a:buFont typeface="Arial" panose="020B0604020202020204" pitchFamily="34" charset="0"/>
              <a:buChar char="•"/>
            </a:pP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rPr>
              <a:t>9</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rPr>
              <a:t>个模块</a:t>
            </a:r>
            <a:endParaRPr kumimoji="1" lang="en-US" altLang="zh-CN" sz="1200" dirty="0">
              <a:solidFill>
                <a:schemeClr val="tx1">
                  <a:lumMod val="50000"/>
                  <a:lumOff val="50000"/>
                </a:schemeClr>
              </a:solidFill>
              <a:latin typeface="KaiTi" panose="02010609060101010101" pitchFamily="49" charset="-122"/>
              <a:ea typeface="KaiTi" panose="02010609060101010101" pitchFamily="49" charset="-122"/>
            </a:endParaRPr>
          </a:p>
          <a:p>
            <a:pPr marL="171450" indent="-171450">
              <a:lnSpc>
                <a:spcPct val="150000"/>
              </a:lnSpc>
              <a:buFont typeface="Arial" panose="020B0604020202020204" pitchFamily="34" charset="0"/>
              <a:buChar char="•"/>
            </a:pP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rPr>
              <a:t>聚焦：作图与实验题型</a:t>
            </a:r>
            <a:endParaRPr kumimoji="1" lang="en-US" altLang="zh-CN" sz="1200" dirty="0">
              <a:solidFill>
                <a:schemeClr val="tx1">
                  <a:lumMod val="50000"/>
                  <a:lumOff val="50000"/>
                </a:schemeClr>
              </a:solidFill>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4228142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F2729EBD-3BFC-6940-B1FB-F9A3C532AC84}"/>
              </a:ext>
            </a:extLst>
          </p:cNvPr>
          <p:cNvSpPr/>
          <p:nvPr/>
        </p:nvSpPr>
        <p:spPr>
          <a:xfrm>
            <a:off x="654908" y="2075935"/>
            <a:ext cx="11034584" cy="4169175"/>
          </a:xfrm>
          <a:prstGeom prst="rect">
            <a:avLst/>
          </a:prstGeom>
          <a:solidFill>
            <a:srgbClr val="FDF4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mc:AlternateContent xmlns:mc="http://schemas.openxmlformats.org/markup-compatibility/2006" xmlns:p14="http://schemas.microsoft.com/office/powerpoint/2010/main">
        <mc:Choice Requires="p14">
          <p:contentPart p14:bwMode="auto" r:id="rId2">
            <p14:nvContentPartPr>
              <p14:cNvPr id="2" name="墨迹 1"/>
              <p14:cNvContentPartPr/>
              <p14:nvPr/>
            </p14:nvContentPartPr>
            <p14:xfrm>
              <a:off x="1446530" y="6547485"/>
              <a:ext cx="9525" cy="360"/>
            </p14:xfrm>
          </p:contentPart>
        </mc:Choice>
        <mc:Fallback xmlns="">
          <p:pic>
            <p:nvPicPr>
              <p:cNvPr id="2" name="墨迹 1"/>
            </p:nvPicPr>
            <p:blipFill>
              <a:blip r:embed="rId3"/>
            </p:blipFill>
            <p:spPr>
              <a:xfrm>
                <a:off x="1446530" y="6547485"/>
                <a:ext cx="9525" cy="360"/>
              </a:xfrm>
              <a:prstGeom prst="rect"/>
            </p:spPr>
          </p:pic>
        </mc:Fallback>
      </mc:AlternateContent>
      <mc:AlternateContent xmlns:mc="http://schemas.openxmlformats.org/markup-compatibility/2006" xmlns:p14="http://schemas.microsoft.com/office/powerpoint/2010/main">
        <mc:Choice Requires="p14">
          <p:contentPart p14:bwMode="auto" r:id="rId4">
            <p14:nvContentPartPr>
              <p14:cNvPr id="4" name="墨迹 3"/>
              <p14:cNvContentPartPr/>
              <p14:nvPr/>
            </p14:nvContentPartPr>
            <p14:xfrm>
              <a:off x="1354455" y="2629535"/>
              <a:ext cx="391795" cy="360"/>
            </p14:xfrm>
          </p:contentPart>
        </mc:Choice>
        <mc:Fallback xmlns="">
          <p:pic>
            <p:nvPicPr>
              <p:cNvPr id="4" name="墨迹 3"/>
            </p:nvPicPr>
            <p:blipFill>
              <a:blip r:embed="rId5"/>
            </p:blipFill>
            <p:spPr>
              <a:xfrm>
                <a:off x="1354455" y="2629535"/>
                <a:ext cx="391795" cy="360"/>
              </a:xfrm>
              <a:prstGeom prst="rect"/>
            </p:spPr>
          </p:pic>
        </mc:Fallback>
      </mc:AlternateContent>
      <mc:AlternateContent xmlns:mc="http://schemas.openxmlformats.org/markup-compatibility/2006" xmlns:p14="http://schemas.microsoft.com/office/powerpoint/2010/main">
        <mc:Choice Requires="p14">
          <p:contentPart p14:bwMode="auto" r:id="rId6">
            <p14:nvContentPartPr>
              <p14:cNvPr id="5" name="墨迹 4"/>
              <p14:cNvContentPartPr/>
              <p14:nvPr/>
            </p14:nvContentPartPr>
            <p14:xfrm>
              <a:off x="1383665" y="2639060"/>
              <a:ext cx="406400" cy="10160"/>
            </p14:xfrm>
          </p:contentPart>
        </mc:Choice>
        <mc:Fallback xmlns="">
          <p:pic>
            <p:nvPicPr>
              <p:cNvPr id="5" name="墨迹 4"/>
            </p:nvPicPr>
            <p:blipFill>
              <a:blip r:embed="rId7"/>
            </p:blipFill>
            <p:spPr>
              <a:xfrm>
                <a:off x="1383665" y="2639060"/>
                <a:ext cx="406400" cy="10160"/>
              </a:xfrm>
              <a:prstGeom prst="rect"/>
            </p:spPr>
          </p:pic>
        </mc:Fallback>
      </mc:AlternateContent>
      <p:sp>
        <p:nvSpPr>
          <p:cNvPr id="6" name="文本框 5">
            <a:extLst>
              <a:ext uri="{FF2B5EF4-FFF2-40B4-BE49-F238E27FC236}">
                <a16:creationId xmlns:a16="http://schemas.microsoft.com/office/drawing/2014/main" id="{F65B7D58-6AD6-3A4C-AF11-19B24B0CB86B}"/>
              </a:ext>
            </a:extLst>
          </p:cNvPr>
          <p:cNvSpPr txBox="1"/>
          <p:nvPr/>
        </p:nvSpPr>
        <p:spPr>
          <a:xfrm>
            <a:off x="548562" y="687582"/>
            <a:ext cx="4942702" cy="369332"/>
          </a:xfrm>
          <a:prstGeom prst="rect">
            <a:avLst/>
          </a:prstGeom>
          <a:noFill/>
        </p:spPr>
        <p:txBody>
          <a:bodyPr wrap="square" rtlCol="0">
            <a:spAutoFit/>
          </a:bodyPr>
          <a:lstStyle/>
          <a:p>
            <a:r>
              <a:rPr kumimoji="1" lang="zh-CN" altLang="en-US" u="sng" dirty="0">
                <a:solidFill>
                  <a:srgbClr val="C00000"/>
                </a:solidFill>
                <a:highlight>
                  <a:srgbClr val="FDF4D5"/>
                </a:highlight>
                <a:latin typeface="KaiTi" panose="02010609060101010101" pitchFamily="49" charset="-122"/>
                <a:ea typeface="KaiTi" panose="02010609060101010101" pitchFamily="49" charset="-122"/>
              </a:rPr>
              <a:t>课程内容介绍</a:t>
            </a:r>
            <a:r>
              <a:rPr kumimoji="1" lang="en-US" altLang="zh-CN" b="1" u="sng" dirty="0">
                <a:solidFill>
                  <a:srgbClr val="C00000"/>
                </a:solidFill>
                <a:highlight>
                  <a:srgbClr val="FDF4D5"/>
                </a:highlight>
                <a:latin typeface="Times New Roman" panose="02020603050405020304" pitchFamily="18" charset="0"/>
                <a:ea typeface="KaiTi" panose="02010609060101010101" pitchFamily="49" charset="-122"/>
                <a:cs typeface="Times New Roman" panose="02020603050405020304" pitchFamily="18" charset="0"/>
              </a:rPr>
              <a:t>Introduction</a:t>
            </a:r>
            <a:endParaRPr kumimoji="1" lang="zh-CN" altLang="en-US" b="1" u="sng" dirty="0">
              <a:solidFill>
                <a:srgbClr val="C00000"/>
              </a:solidFill>
              <a:highlight>
                <a:srgbClr val="FDF4D5"/>
              </a:highlight>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文本框 6">
            <a:extLst>
              <a:ext uri="{FF2B5EF4-FFF2-40B4-BE49-F238E27FC236}">
                <a16:creationId xmlns:a16="http://schemas.microsoft.com/office/drawing/2014/main" id="{F0960286-31E5-6340-BE94-2321392F7153}"/>
              </a:ext>
            </a:extLst>
          </p:cNvPr>
          <p:cNvSpPr txBox="1"/>
          <p:nvPr/>
        </p:nvSpPr>
        <p:spPr>
          <a:xfrm>
            <a:off x="548562" y="1066845"/>
            <a:ext cx="4942702" cy="307777"/>
          </a:xfrm>
          <a:prstGeom prst="rect">
            <a:avLst/>
          </a:prstGeom>
          <a:noFill/>
        </p:spPr>
        <p:txBody>
          <a:bodyPr wrap="square" rtlCol="0">
            <a:spAutoFit/>
          </a:bodyPr>
          <a:lstStyle/>
          <a:p>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努力也是一种天赋</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a:t>
            </a:r>
            <a:endPar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8" name="文本框 7">
            <a:extLst>
              <a:ext uri="{FF2B5EF4-FFF2-40B4-BE49-F238E27FC236}">
                <a16:creationId xmlns:a16="http://schemas.microsoft.com/office/drawing/2014/main" id="{9DE5AA5B-A8DA-E248-81EF-5B17443DBB89}"/>
              </a:ext>
            </a:extLst>
          </p:cNvPr>
          <p:cNvSpPr txBox="1"/>
          <p:nvPr/>
        </p:nvSpPr>
        <p:spPr>
          <a:xfrm>
            <a:off x="548562" y="1461727"/>
            <a:ext cx="6660291" cy="276999"/>
          </a:xfrm>
          <a:prstGeom prst="rect">
            <a:avLst/>
          </a:prstGeom>
          <a:noFill/>
        </p:spPr>
        <p:txBody>
          <a:bodyPr wrap="square" rtlCol="0">
            <a:spAutoFit/>
          </a:bodyPr>
          <a:lstStyle/>
          <a:p>
            <a:r>
              <a:rPr kumimoji="1" lang="zh-CN" altLang="en-US" sz="1200" dirty="0">
                <a:latin typeface="Times New Roman" panose="02020603050405020304" pitchFamily="18" charset="0"/>
                <a:ea typeface="KaiTi" panose="02010609060101010101" pitchFamily="49" charset="-122"/>
                <a:cs typeface="Times New Roman" panose="02020603050405020304" pitchFamily="18" charset="0"/>
              </a:rPr>
              <a:t>高考还远没有到拼天赋的程度，只有足够努力，才能不给自己找借口</a:t>
            </a:r>
          </a:p>
        </p:txBody>
      </p:sp>
      <p:sp>
        <p:nvSpPr>
          <p:cNvPr id="10" name="文本框 9">
            <a:extLst>
              <a:ext uri="{FF2B5EF4-FFF2-40B4-BE49-F238E27FC236}">
                <a16:creationId xmlns:a16="http://schemas.microsoft.com/office/drawing/2014/main" id="{3361100D-6883-DF45-A9BF-EF04AF407EB1}"/>
              </a:ext>
            </a:extLst>
          </p:cNvPr>
          <p:cNvSpPr txBox="1"/>
          <p:nvPr/>
        </p:nvSpPr>
        <p:spPr>
          <a:xfrm>
            <a:off x="1056821" y="2167992"/>
            <a:ext cx="4942702" cy="276999"/>
          </a:xfrm>
          <a:prstGeom prst="rect">
            <a:avLst/>
          </a:prstGeom>
          <a:noFill/>
        </p:spPr>
        <p:txBody>
          <a:bodyPr wrap="square" rtlCol="0">
            <a:spAutoFit/>
          </a:bodyPr>
          <a:lstStyle/>
          <a:p>
            <a:r>
              <a:rPr kumimoji="1" lang="en-US" altLang="zh-CN" sz="1200" dirty="0">
                <a:solidFill>
                  <a:srgbClr val="FF0000"/>
                </a:solidFill>
                <a:latin typeface="KaiTi" panose="02010609060101010101" pitchFamily="49" charset="-122"/>
                <a:ea typeface="KaiTi" panose="02010609060101010101" pitchFamily="49" charset="-122"/>
              </a:rPr>
              <a:t>7.</a:t>
            </a:r>
            <a:r>
              <a:rPr kumimoji="1" lang="zh-CN" altLang="en-US" sz="1200" dirty="0">
                <a:solidFill>
                  <a:srgbClr val="FF0000"/>
                </a:solidFill>
                <a:latin typeface="KaiTi" panose="02010609060101010101" pitchFamily="49" charset="-122"/>
                <a:ea typeface="KaiTi" panose="02010609060101010101" pitchFamily="49" charset="-122"/>
              </a:rPr>
              <a:t>真题</a:t>
            </a:r>
            <a:endParaRPr kumimoji="1" lang="zh-CN" altLang="en-US" sz="1200" b="1" dirty="0">
              <a:solidFill>
                <a:srgbClr val="FF0000"/>
              </a:solidFill>
              <a:latin typeface="KaiTi" panose="02010609060101010101" pitchFamily="49" charset="-122"/>
              <a:ea typeface="KaiTi" panose="02010609060101010101" pitchFamily="49" charset="-122"/>
              <a:cs typeface="Times New Roman" panose="02020603050405020304" pitchFamily="18" charset="0"/>
            </a:endParaRPr>
          </a:p>
        </p:txBody>
      </p:sp>
      <p:sp>
        <p:nvSpPr>
          <p:cNvPr id="11" name="矩形 10">
            <a:extLst>
              <a:ext uri="{FF2B5EF4-FFF2-40B4-BE49-F238E27FC236}">
                <a16:creationId xmlns:a16="http://schemas.microsoft.com/office/drawing/2014/main" id="{67B1EEB8-EF34-B943-ACC6-C1C45823AA16}"/>
              </a:ext>
            </a:extLst>
          </p:cNvPr>
          <p:cNvSpPr/>
          <p:nvPr/>
        </p:nvSpPr>
        <p:spPr>
          <a:xfrm>
            <a:off x="721660" y="2192967"/>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12" name="文本框 11">
            <a:extLst>
              <a:ext uri="{FF2B5EF4-FFF2-40B4-BE49-F238E27FC236}">
                <a16:creationId xmlns:a16="http://schemas.microsoft.com/office/drawing/2014/main" id="{7E5151AE-C029-9A4B-94B6-B9F8A583EED9}"/>
              </a:ext>
            </a:extLst>
          </p:cNvPr>
          <p:cNvSpPr txBox="1"/>
          <p:nvPr/>
        </p:nvSpPr>
        <p:spPr>
          <a:xfrm>
            <a:off x="1137158" y="2451015"/>
            <a:ext cx="4942702" cy="603050"/>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kumimoji="1" lang="zh-CN" altLang="en-US" sz="1200" dirty="0">
                <a:solidFill>
                  <a:schemeClr val="tx1">
                    <a:lumMod val="50000"/>
                    <a:lumOff val="50000"/>
                  </a:schemeClr>
                </a:solidFill>
                <a:highlight>
                  <a:srgbClr val="FFFF00"/>
                </a:highlight>
                <a:latin typeface="KaiTi" panose="02010609060101010101" pitchFamily="49" charset="-122"/>
                <a:ea typeface="KaiTi" panose="02010609060101010101" pitchFamily="49" charset="-122"/>
              </a:rPr>
              <a:t>高考真题实战</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rPr>
              <a:t>——{</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rPr>
              <a:t>单选</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rPr>
              <a:t>/</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rPr>
              <a:t>多选</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rPr>
              <a:t>/</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rPr>
              <a:t>实验</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rPr>
              <a:t>/</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rPr>
              <a:t>计算</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rPr>
              <a:t>}</a:t>
            </a:r>
          </a:p>
          <a:p>
            <a:pPr marL="171450" indent="-171450">
              <a:lnSpc>
                <a:spcPct val="150000"/>
              </a:lnSpc>
              <a:buFont typeface="Arial" panose="020B0604020202020204" pitchFamily="34" charset="0"/>
              <a:buChar char="•"/>
            </a:pP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rPr>
              <a:t>中考真题实战</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rPr>
              <a:t>——{</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rPr>
              <a:t>基础概念题</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rPr>
              <a:t>/</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rPr>
              <a:t>计算分析题</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rPr>
              <a:t>}</a:t>
            </a:r>
          </a:p>
        </p:txBody>
      </p:sp>
      <p:cxnSp>
        <p:nvCxnSpPr>
          <p:cNvPr id="14" name="直线连接符 13">
            <a:extLst>
              <a:ext uri="{FF2B5EF4-FFF2-40B4-BE49-F238E27FC236}">
                <a16:creationId xmlns:a16="http://schemas.microsoft.com/office/drawing/2014/main" id="{A1420F53-7472-B44C-B926-7DAD850C5A03}"/>
              </a:ext>
            </a:extLst>
          </p:cNvPr>
          <p:cNvCxnSpPr>
            <a:cxnSpLocks/>
          </p:cNvCxnSpPr>
          <p:nvPr/>
        </p:nvCxnSpPr>
        <p:spPr>
          <a:xfrm>
            <a:off x="1137158" y="3166865"/>
            <a:ext cx="10379339"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6" name="直线连接符 15">
            <a:extLst>
              <a:ext uri="{FF2B5EF4-FFF2-40B4-BE49-F238E27FC236}">
                <a16:creationId xmlns:a16="http://schemas.microsoft.com/office/drawing/2014/main" id="{55C9EC5C-6C88-2D4F-ADC0-6AB13E703F0A}"/>
              </a:ext>
            </a:extLst>
          </p:cNvPr>
          <p:cNvCxnSpPr>
            <a:cxnSpLocks/>
          </p:cNvCxnSpPr>
          <p:nvPr/>
        </p:nvCxnSpPr>
        <p:spPr>
          <a:xfrm>
            <a:off x="1137158" y="4322241"/>
            <a:ext cx="10379339"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DE075B38-9C69-1F44-B536-F91DB69FE9A1}"/>
              </a:ext>
            </a:extLst>
          </p:cNvPr>
          <p:cNvSpPr txBox="1"/>
          <p:nvPr/>
        </p:nvSpPr>
        <p:spPr>
          <a:xfrm>
            <a:off x="1056821" y="3296961"/>
            <a:ext cx="4942702" cy="276999"/>
          </a:xfrm>
          <a:prstGeom prst="rect">
            <a:avLst/>
          </a:prstGeom>
          <a:noFill/>
        </p:spPr>
        <p:txBody>
          <a:bodyPr wrap="square" rtlCol="0">
            <a:spAutoFit/>
          </a:bodyPr>
          <a:lstStyle/>
          <a:p>
            <a:r>
              <a:rPr kumimoji="1" lang="en-US" altLang="zh-CN" sz="1200" dirty="0">
                <a:solidFill>
                  <a:srgbClr val="FF0000"/>
                </a:solidFill>
                <a:latin typeface="KaiTi" panose="02010609060101010101" pitchFamily="49" charset="-122"/>
                <a:ea typeface="KaiTi" panose="02010609060101010101" pitchFamily="49" charset="-122"/>
              </a:rPr>
              <a:t>8.</a:t>
            </a:r>
            <a:r>
              <a:rPr kumimoji="1" lang="zh-CN" altLang="en-US" sz="1200" dirty="0">
                <a:solidFill>
                  <a:srgbClr val="FF0000"/>
                </a:solidFill>
                <a:latin typeface="KaiTi" panose="02010609060101010101" pitchFamily="49" charset="-122"/>
                <a:ea typeface="KaiTi" panose="02010609060101010101" pitchFamily="49" charset="-122"/>
              </a:rPr>
              <a:t>模型化思维「最重要！！」</a:t>
            </a:r>
            <a:endParaRPr kumimoji="1" lang="zh-CN" altLang="en-US" sz="1200" b="1" dirty="0">
              <a:solidFill>
                <a:srgbClr val="FF0000"/>
              </a:solidFill>
              <a:latin typeface="KaiTi" panose="02010609060101010101" pitchFamily="49" charset="-122"/>
              <a:ea typeface="KaiTi" panose="02010609060101010101" pitchFamily="49" charset="-122"/>
              <a:cs typeface="Times New Roman" panose="02020603050405020304" pitchFamily="18" charset="0"/>
            </a:endParaRPr>
          </a:p>
        </p:txBody>
      </p:sp>
      <p:sp>
        <p:nvSpPr>
          <p:cNvPr id="18" name="文本框 17">
            <a:extLst>
              <a:ext uri="{FF2B5EF4-FFF2-40B4-BE49-F238E27FC236}">
                <a16:creationId xmlns:a16="http://schemas.microsoft.com/office/drawing/2014/main" id="{CC9D546B-98D0-7545-AE97-3A212842BB3F}"/>
              </a:ext>
            </a:extLst>
          </p:cNvPr>
          <p:cNvSpPr txBox="1"/>
          <p:nvPr/>
        </p:nvSpPr>
        <p:spPr>
          <a:xfrm>
            <a:off x="1137158" y="3524564"/>
            <a:ext cx="4942702" cy="603050"/>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rPr>
              <a:t>如何模型化思考的方法</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rPr>
              <a:t>——</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rPr>
              <a:t>「力学」「电学」</a:t>
            </a:r>
            <a:endParaRPr kumimoji="1" lang="en-US" altLang="zh-CN" sz="1200" dirty="0">
              <a:solidFill>
                <a:schemeClr val="tx1">
                  <a:lumMod val="50000"/>
                  <a:lumOff val="50000"/>
                </a:schemeClr>
              </a:solidFill>
              <a:latin typeface="KaiTi" panose="02010609060101010101" pitchFamily="49" charset="-122"/>
              <a:ea typeface="KaiTi" panose="02010609060101010101" pitchFamily="49" charset="-122"/>
            </a:endParaRPr>
          </a:p>
          <a:p>
            <a:pPr marL="171450" indent="-171450">
              <a:lnSpc>
                <a:spcPct val="150000"/>
              </a:lnSpc>
              <a:buFont typeface="Arial" panose="020B0604020202020204" pitchFamily="34" charset="0"/>
              <a:buChar char="•"/>
            </a:pP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模型的总结</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「实操方法」</a:t>
            </a:r>
            <a:endParaRPr kumimoji="1" lang="en-US" altLang="zh-CN"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p:txBody>
      </p:sp>
      <p:sp>
        <p:nvSpPr>
          <p:cNvPr id="19" name="文本框 18">
            <a:extLst>
              <a:ext uri="{FF2B5EF4-FFF2-40B4-BE49-F238E27FC236}">
                <a16:creationId xmlns:a16="http://schemas.microsoft.com/office/drawing/2014/main" id="{E92FD49A-C081-834E-9656-AA93177FAF46}"/>
              </a:ext>
            </a:extLst>
          </p:cNvPr>
          <p:cNvSpPr txBox="1"/>
          <p:nvPr/>
        </p:nvSpPr>
        <p:spPr>
          <a:xfrm>
            <a:off x="1056821" y="4476969"/>
            <a:ext cx="4942702" cy="276999"/>
          </a:xfrm>
          <a:prstGeom prst="rect">
            <a:avLst/>
          </a:prstGeom>
          <a:noFill/>
        </p:spPr>
        <p:txBody>
          <a:bodyPr wrap="square" rtlCol="0">
            <a:spAutoFit/>
          </a:bodyPr>
          <a:lstStyle/>
          <a:p>
            <a:r>
              <a:rPr kumimoji="1" lang="en-US" altLang="zh-CN" sz="1200" dirty="0">
                <a:solidFill>
                  <a:srgbClr val="FF0000"/>
                </a:solidFill>
                <a:latin typeface="KaiTi" panose="02010609060101010101" pitchFamily="49" charset="-122"/>
                <a:ea typeface="KaiTi" panose="02010609060101010101" pitchFamily="49" charset="-122"/>
              </a:rPr>
              <a:t>9.</a:t>
            </a:r>
            <a:r>
              <a:rPr kumimoji="1" lang="zh-CN" altLang="en-US" sz="1200" dirty="0">
                <a:solidFill>
                  <a:srgbClr val="FF0000"/>
                </a:solidFill>
                <a:latin typeface="KaiTi" panose="02010609060101010101" pitchFamily="49" charset="-122"/>
                <a:ea typeface="KaiTi" panose="02010609060101010101" pitchFamily="49" charset="-122"/>
              </a:rPr>
              <a:t>不同分数段的提分策略</a:t>
            </a:r>
            <a:endParaRPr kumimoji="1" lang="zh-CN" altLang="en-US" sz="1200" b="1" dirty="0">
              <a:solidFill>
                <a:srgbClr val="FF0000"/>
              </a:solidFill>
              <a:latin typeface="KaiTi" panose="02010609060101010101" pitchFamily="49" charset="-122"/>
              <a:ea typeface="KaiTi" panose="02010609060101010101" pitchFamily="49" charset="-122"/>
              <a:cs typeface="Times New Roman" panose="02020603050405020304" pitchFamily="18" charset="0"/>
            </a:endParaRPr>
          </a:p>
        </p:txBody>
      </p:sp>
      <p:sp>
        <p:nvSpPr>
          <p:cNvPr id="20" name="文本框 19">
            <a:extLst>
              <a:ext uri="{FF2B5EF4-FFF2-40B4-BE49-F238E27FC236}">
                <a16:creationId xmlns:a16="http://schemas.microsoft.com/office/drawing/2014/main" id="{9D309476-125C-0C42-8C73-AA44EDB741CA}"/>
              </a:ext>
            </a:extLst>
          </p:cNvPr>
          <p:cNvSpPr txBox="1"/>
          <p:nvPr/>
        </p:nvSpPr>
        <p:spPr>
          <a:xfrm>
            <a:off x="1137158" y="4704572"/>
            <a:ext cx="4942702" cy="326051"/>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rPr>
              <a:t>不同策略</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rPr>
              <a:t>——</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rPr>
              <a:t>不同分数段如何提分</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rPr>
              <a:t>{&lt;60/60-80/80+}</a:t>
            </a:r>
            <a:endParaRPr kumimoji="1" lang="zh-CN" altLang="en-US" sz="1200" dirty="0">
              <a:solidFill>
                <a:schemeClr val="tx1">
                  <a:lumMod val="50000"/>
                  <a:lumOff val="50000"/>
                </a:schemeClr>
              </a:solidFill>
              <a:latin typeface="KaiTi" panose="02010609060101010101" pitchFamily="49" charset="-122"/>
              <a:ea typeface="KaiTi" panose="02010609060101010101" pitchFamily="49" charset="-122"/>
            </a:endParaRPr>
          </a:p>
        </p:txBody>
      </p:sp>
      <p:sp>
        <p:nvSpPr>
          <p:cNvPr id="21" name="文本框 20">
            <a:extLst>
              <a:ext uri="{FF2B5EF4-FFF2-40B4-BE49-F238E27FC236}">
                <a16:creationId xmlns:a16="http://schemas.microsoft.com/office/drawing/2014/main" id="{04DB2BC6-5038-E042-9F67-06081AA0AEAB}"/>
              </a:ext>
            </a:extLst>
          </p:cNvPr>
          <p:cNvSpPr txBox="1"/>
          <p:nvPr/>
        </p:nvSpPr>
        <p:spPr>
          <a:xfrm>
            <a:off x="1056821" y="5281215"/>
            <a:ext cx="4942702" cy="276999"/>
          </a:xfrm>
          <a:prstGeom prst="rect">
            <a:avLst/>
          </a:prstGeom>
          <a:noFill/>
        </p:spPr>
        <p:txBody>
          <a:bodyPr wrap="square" rtlCol="0">
            <a:spAutoFit/>
          </a:bodyPr>
          <a:lstStyle/>
          <a:p>
            <a:r>
              <a:rPr kumimoji="1" lang="en-US" altLang="zh-CN" sz="1200" dirty="0">
                <a:solidFill>
                  <a:srgbClr val="FF0000"/>
                </a:solidFill>
                <a:latin typeface="KaiTi" panose="02010609060101010101" pitchFamily="49" charset="-122"/>
                <a:ea typeface="KaiTi" panose="02010609060101010101" pitchFamily="49" charset="-122"/>
              </a:rPr>
              <a:t>10.</a:t>
            </a:r>
            <a:r>
              <a:rPr kumimoji="1" lang="zh-CN" altLang="en-US" sz="1200" dirty="0">
                <a:solidFill>
                  <a:srgbClr val="FF0000"/>
                </a:solidFill>
                <a:latin typeface="KaiTi" panose="02010609060101010101" pitchFamily="49" charset="-122"/>
                <a:ea typeface="KaiTi" panose="02010609060101010101" pitchFamily="49" charset="-122"/>
              </a:rPr>
              <a:t>错题本</a:t>
            </a:r>
            <a:endParaRPr kumimoji="1" lang="zh-CN" altLang="en-US" sz="1200" b="1" dirty="0">
              <a:solidFill>
                <a:srgbClr val="FF0000"/>
              </a:solidFill>
              <a:latin typeface="KaiTi" panose="02010609060101010101" pitchFamily="49" charset="-122"/>
              <a:ea typeface="KaiTi" panose="02010609060101010101" pitchFamily="49" charset="-122"/>
              <a:cs typeface="Times New Roman" panose="02020603050405020304" pitchFamily="18" charset="0"/>
            </a:endParaRPr>
          </a:p>
        </p:txBody>
      </p:sp>
      <p:sp>
        <p:nvSpPr>
          <p:cNvPr id="22" name="文本框 21">
            <a:extLst>
              <a:ext uri="{FF2B5EF4-FFF2-40B4-BE49-F238E27FC236}">
                <a16:creationId xmlns:a16="http://schemas.microsoft.com/office/drawing/2014/main" id="{8F8AC1DF-68C5-054E-BD40-390502FAD553}"/>
              </a:ext>
            </a:extLst>
          </p:cNvPr>
          <p:cNvSpPr txBox="1"/>
          <p:nvPr/>
        </p:nvSpPr>
        <p:spPr>
          <a:xfrm>
            <a:off x="1137158" y="5532708"/>
            <a:ext cx="4942702" cy="603050"/>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rPr>
              <a:t>手把手教你整理错题</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rPr>
              <a:t>——{</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rPr>
              <a:t>题型怎么做？</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rPr>
              <a:t>}</a:t>
            </a:r>
          </a:p>
          <a:p>
            <a:pPr marL="171450" indent="-171450">
              <a:lnSpc>
                <a:spcPct val="150000"/>
              </a:lnSpc>
              <a:buFont typeface="Arial" panose="020B0604020202020204" pitchFamily="34" charset="0"/>
              <a:buChar char="•"/>
            </a:pP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rPr>
              <a:t>物理的“易错点”归纳</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rPr>
              <a:t>——{</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rPr>
              <a:t>事实、概念</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rPr>
              <a:t>}</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rPr>
              <a:t>清晰记忆</a:t>
            </a:r>
            <a:endParaRPr kumimoji="1" lang="en-US" altLang="zh-CN" sz="1200" dirty="0">
              <a:solidFill>
                <a:schemeClr val="tx1">
                  <a:lumMod val="50000"/>
                  <a:lumOff val="50000"/>
                </a:schemeClr>
              </a:solidFill>
              <a:latin typeface="KaiTi" panose="02010609060101010101" pitchFamily="49" charset="-122"/>
              <a:ea typeface="KaiTi" panose="02010609060101010101" pitchFamily="49" charset="-122"/>
            </a:endParaRPr>
          </a:p>
        </p:txBody>
      </p:sp>
      <p:cxnSp>
        <p:nvCxnSpPr>
          <p:cNvPr id="23" name="直线连接符 22">
            <a:extLst>
              <a:ext uri="{FF2B5EF4-FFF2-40B4-BE49-F238E27FC236}">
                <a16:creationId xmlns:a16="http://schemas.microsoft.com/office/drawing/2014/main" id="{D2386F2B-85FD-C24C-9EDB-DA2A7A842B49}"/>
              </a:ext>
            </a:extLst>
          </p:cNvPr>
          <p:cNvCxnSpPr>
            <a:cxnSpLocks/>
          </p:cNvCxnSpPr>
          <p:nvPr/>
        </p:nvCxnSpPr>
        <p:spPr>
          <a:xfrm>
            <a:off x="1137158" y="5183352"/>
            <a:ext cx="10379339"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4556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863725" y="1590675"/>
            <a:ext cx="8239125" cy="3416320"/>
          </a:xfrm>
          <a:prstGeom prst="rect">
            <a:avLst/>
          </a:prstGeom>
          <a:noFill/>
          <a:ln>
            <a:noFill/>
          </a:ln>
        </p:spPr>
        <p:txBody>
          <a:bodyPr wrap="square" rtlCol="0" anchor="t">
            <a:spAutoFit/>
          </a:bodyPr>
          <a:lstStyle/>
          <a:p>
            <a:pPr algn="ctr"/>
            <a:r>
              <a:rPr lang="en-US" altLang="zh-CN" sz="7200" b="1" dirty="0">
                <a:solidFill>
                  <a:srgbClr val="7030A0"/>
                </a:solidFill>
                <a:effectLst>
                  <a:reflection blurRad="6350" stA="53000" endA="300" endPos="35500" dir="5400000" sy="-90000" algn="bl" rotWithShape="0"/>
                </a:effectLst>
              </a:rPr>
              <a:t>Chapter-1</a:t>
            </a:r>
          </a:p>
          <a:p>
            <a:pPr algn="ctr"/>
            <a:r>
              <a:rPr lang="en-US" altLang="zh-CN" sz="7200" b="1" dirty="0">
                <a:solidFill>
                  <a:srgbClr val="7030A0"/>
                </a:solidFill>
                <a:effectLst>
                  <a:reflection blurRad="6350" stA="53000" endA="300" endPos="35500" dir="5400000" sy="-90000" algn="bl" rotWithShape="0"/>
                </a:effectLst>
              </a:rPr>
              <a:t> </a:t>
            </a:r>
          </a:p>
          <a:p>
            <a:pPr algn="ctr"/>
            <a:r>
              <a:rPr lang="zh-CN" altLang="en-US" sz="7200" b="1" dirty="0">
                <a:solidFill>
                  <a:srgbClr val="7030A0"/>
                </a:solidFill>
                <a:effectLst>
                  <a:reflection blurRad="6350" stA="53000" endA="300" endPos="35500" dir="5400000" sy="-90000" algn="bl" rotWithShape="0"/>
                </a:effectLst>
              </a:rPr>
              <a:t>优优学姐个人介绍</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5E3D6CC2-8A05-5B47-A742-B4491F95D9E2}"/>
              </a:ext>
            </a:extLst>
          </p:cNvPr>
          <p:cNvSpPr/>
          <p:nvPr/>
        </p:nvSpPr>
        <p:spPr>
          <a:xfrm>
            <a:off x="574342" y="1670305"/>
            <a:ext cx="11043316" cy="4589165"/>
          </a:xfrm>
          <a:prstGeom prst="rect">
            <a:avLst/>
          </a:prstGeom>
          <a:solidFill>
            <a:schemeClr val="bg1">
              <a:lumMod val="95000"/>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 name="文本框 2">
            <a:extLst>
              <a:ext uri="{FF2B5EF4-FFF2-40B4-BE49-F238E27FC236}">
                <a16:creationId xmlns:a16="http://schemas.microsoft.com/office/drawing/2014/main" id="{7DD756EB-006D-E140-B0ED-4D6A4DDBA6A5}"/>
              </a:ext>
            </a:extLst>
          </p:cNvPr>
          <p:cNvSpPr txBox="1"/>
          <p:nvPr/>
        </p:nvSpPr>
        <p:spPr>
          <a:xfrm>
            <a:off x="476209" y="598530"/>
            <a:ext cx="5730318" cy="369332"/>
          </a:xfrm>
          <a:prstGeom prst="rect">
            <a:avLst/>
          </a:prstGeom>
          <a:noFill/>
        </p:spPr>
        <p:txBody>
          <a:bodyPr wrap="square" rtlCol="0">
            <a:spAutoFit/>
          </a:bodyPr>
          <a:lstStyle/>
          <a:p>
            <a:r>
              <a:rPr kumimoji="1" lang="en-US" altLang="zh-CN" u="sng" dirty="0">
                <a:solidFill>
                  <a:srgbClr val="C00000"/>
                </a:solidFill>
                <a:highlight>
                  <a:srgbClr val="FDF4D5"/>
                </a:highlight>
                <a:latin typeface="KaiTi" panose="02010609060101010101" pitchFamily="49" charset="-122"/>
                <a:ea typeface="KaiTi" panose="02010609060101010101" pitchFamily="49" charset="-122"/>
              </a:rPr>
              <a:t>【</a:t>
            </a:r>
            <a:r>
              <a:rPr kumimoji="1" lang="zh-CN" altLang="en-US" u="sng" dirty="0">
                <a:solidFill>
                  <a:srgbClr val="C00000"/>
                </a:solidFill>
                <a:highlight>
                  <a:srgbClr val="FDF4D5"/>
                </a:highlight>
                <a:latin typeface="KaiTi" panose="02010609060101010101" pitchFamily="49" charset="-122"/>
                <a:ea typeface="KaiTi" panose="02010609060101010101" pitchFamily="49" charset="-122"/>
              </a:rPr>
              <a:t>优优学姐个人介绍</a:t>
            </a:r>
            <a:r>
              <a:rPr kumimoji="1" lang="en-US" altLang="zh-CN" u="sng" dirty="0">
                <a:solidFill>
                  <a:srgbClr val="C00000"/>
                </a:solidFill>
                <a:highlight>
                  <a:srgbClr val="FDF4D5"/>
                </a:highlight>
                <a:latin typeface="KaiTi" panose="02010609060101010101" pitchFamily="49" charset="-122"/>
                <a:ea typeface="KaiTi" panose="02010609060101010101" pitchFamily="49" charset="-122"/>
              </a:rPr>
              <a:t>】——</a:t>
            </a:r>
            <a:r>
              <a:rPr kumimoji="1" lang="zh-CN" altLang="en-US" u="sng" dirty="0">
                <a:solidFill>
                  <a:srgbClr val="C00000"/>
                </a:solidFill>
                <a:highlight>
                  <a:srgbClr val="FDF4D5"/>
                </a:highlight>
                <a:latin typeface="KaiTi" panose="02010609060101010101" pitchFamily="49" charset="-122"/>
                <a:ea typeface="KaiTi" panose="02010609060101010101" pitchFamily="49" charset="-122"/>
              </a:rPr>
              <a:t>高考裸分</a:t>
            </a:r>
            <a:r>
              <a:rPr kumimoji="1" lang="en-US" altLang="zh-CN" u="sng" dirty="0">
                <a:solidFill>
                  <a:srgbClr val="C00000"/>
                </a:solidFill>
                <a:highlight>
                  <a:srgbClr val="FDF4D5"/>
                </a:highlight>
                <a:latin typeface="KaiTi" panose="02010609060101010101" pitchFamily="49" charset="-122"/>
                <a:ea typeface="KaiTi" panose="02010609060101010101" pitchFamily="49" charset="-122"/>
              </a:rPr>
              <a:t>689/</a:t>
            </a:r>
            <a:r>
              <a:rPr kumimoji="1" lang="zh-CN" altLang="en-US" u="sng" dirty="0">
                <a:solidFill>
                  <a:srgbClr val="C00000"/>
                </a:solidFill>
                <a:highlight>
                  <a:srgbClr val="FDF4D5"/>
                </a:highlight>
                <a:latin typeface="KaiTi" panose="02010609060101010101" pitchFamily="49" charset="-122"/>
                <a:ea typeface="KaiTi" panose="02010609060101010101" pitchFamily="49" charset="-122"/>
              </a:rPr>
              <a:t>物理满分</a:t>
            </a:r>
            <a:endParaRPr kumimoji="1" lang="zh-CN" altLang="en-US" b="1" u="sng" dirty="0">
              <a:solidFill>
                <a:srgbClr val="C00000"/>
              </a:solidFill>
              <a:highlight>
                <a:srgbClr val="FDF4D5"/>
              </a:highlight>
              <a:latin typeface="Times New Roman" panose="02020603050405020304" pitchFamily="18" charset="0"/>
              <a:ea typeface="KaiTi" panose="02010609060101010101" pitchFamily="49" charset="-122"/>
              <a:cs typeface="Times New Roman" panose="02020603050405020304" pitchFamily="18" charset="0"/>
            </a:endParaRPr>
          </a:p>
        </p:txBody>
      </p:sp>
      <p:sp>
        <p:nvSpPr>
          <p:cNvPr id="5" name="文本框 4">
            <a:extLst>
              <a:ext uri="{FF2B5EF4-FFF2-40B4-BE49-F238E27FC236}">
                <a16:creationId xmlns:a16="http://schemas.microsoft.com/office/drawing/2014/main" id="{AF70449C-7FFA-0B4D-AC26-490DE87A4544}"/>
              </a:ext>
            </a:extLst>
          </p:cNvPr>
          <p:cNvSpPr txBox="1"/>
          <p:nvPr/>
        </p:nvSpPr>
        <p:spPr>
          <a:xfrm>
            <a:off x="476209" y="1004438"/>
            <a:ext cx="6660291" cy="276999"/>
          </a:xfrm>
          <a:prstGeom prst="rect">
            <a:avLst/>
          </a:prstGeom>
          <a:noFill/>
        </p:spPr>
        <p:txBody>
          <a:bodyPr wrap="square" rtlCol="0">
            <a:spAutoFit/>
          </a:bodyPr>
          <a:lstStyle/>
          <a:p>
            <a:r>
              <a:rPr kumimoji="1" lang="zh-CN" altLang="en-US" sz="1200" dirty="0">
                <a:latin typeface="Times New Roman" panose="02020603050405020304" pitchFamily="18" charset="0"/>
                <a:ea typeface="KaiTi" panose="02010609060101010101" pitchFamily="49" charset="-122"/>
                <a:cs typeface="Times New Roman" panose="02020603050405020304" pitchFamily="18" charset="0"/>
              </a:rPr>
              <a:t>物理的分数是「悟」来的，思维决定高度</a:t>
            </a:r>
          </a:p>
        </p:txBody>
      </p:sp>
      <p:sp>
        <p:nvSpPr>
          <p:cNvPr id="7" name="文本框 6">
            <a:extLst>
              <a:ext uri="{FF2B5EF4-FFF2-40B4-BE49-F238E27FC236}">
                <a16:creationId xmlns:a16="http://schemas.microsoft.com/office/drawing/2014/main" id="{427909EC-8147-EC41-BFBC-C213B3862135}"/>
              </a:ext>
            </a:extLst>
          </p:cNvPr>
          <p:cNvSpPr txBox="1"/>
          <p:nvPr/>
        </p:nvSpPr>
        <p:spPr>
          <a:xfrm>
            <a:off x="949657" y="1774830"/>
            <a:ext cx="4942702" cy="307777"/>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高考物理满分</a:t>
            </a:r>
          </a:p>
        </p:txBody>
      </p:sp>
      <p:sp>
        <p:nvSpPr>
          <p:cNvPr id="8" name="矩形 7">
            <a:extLst>
              <a:ext uri="{FF2B5EF4-FFF2-40B4-BE49-F238E27FC236}">
                <a16:creationId xmlns:a16="http://schemas.microsoft.com/office/drawing/2014/main" id="{34A127D9-EE3A-B04F-8FED-54C0EB914063}"/>
              </a:ext>
            </a:extLst>
          </p:cNvPr>
          <p:cNvSpPr/>
          <p:nvPr/>
        </p:nvSpPr>
        <p:spPr>
          <a:xfrm>
            <a:off x="614496" y="1799805"/>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9" name="文本框 8">
            <a:extLst>
              <a:ext uri="{FF2B5EF4-FFF2-40B4-BE49-F238E27FC236}">
                <a16:creationId xmlns:a16="http://schemas.microsoft.com/office/drawing/2014/main" id="{DEB71FF2-C302-6B4B-AF9D-9226A572F805}"/>
              </a:ext>
            </a:extLst>
          </p:cNvPr>
          <p:cNvSpPr txBox="1"/>
          <p:nvPr/>
        </p:nvSpPr>
        <p:spPr>
          <a:xfrm>
            <a:off x="1029994" y="2169137"/>
            <a:ext cx="4942702" cy="461665"/>
          </a:xfrm>
          <a:prstGeom prst="rect">
            <a:avLst/>
          </a:prstGeom>
          <a:noFill/>
        </p:spPr>
        <p:txBody>
          <a:bodyPr wrap="square" rtlCol="0">
            <a:spAutoFit/>
          </a:bodyPr>
          <a:lstStyle/>
          <a:p>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优优 清华学姐</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清华本硕 </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高考四川省前</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50</a:t>
            </a:r>
          </a:p>
          <a:p>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英语</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146 </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数学</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142 </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物理满分</a:t>
            </a:r>
          </a:p>
        </p:txBody>
      </p:sp>
      <p:pic>
        <p:nvPicPr>
          <p:cNvPr id="10" name="图片 9">
            <a:extLst>
              <a:ext uri="{FF2B5EF4-FFF2-40B4-BE49-F238E27FC236}">
                <a16:creationId xmlns:a16="http://schemas.microsoft.com/office/drawing/2014/main" id="{D658F83F-8A07-FE4A-B8B2-A38BA9FDE53D}"/>
              </a:ext>
            </a:extLst>
          </p:cNvPr>
          <p:cNvPicPr>
            <a:picLocks noChangeAspect="1"/>
          </p:cNvPicPr>
          <p:nvPr/>
        </p:nvPicPr>
        <p:blipFill rotWithShape="1">
          <a:blip r:embed="rId3"/>
          <a:srcRect t="16388" b="11438"/>
          <a:stretch/>
        </p:blipFill>
        <p:spPr>
          <a:xfrm>
            <a:off x="8764171" y="1735282"/>
            <a:ext cx="2813333" cy="4399960"/>
          </a:xfrm>
          <a:prstGeom prst="rect">
            <a:avLst/>
          </a:prstGeom>
        </p:spPr>
      </p:pic>
      <p:sp>
        <p:nvSpPr>
          <p:cNvPr id="11" name="矩形 10">
            <a:extLst>
              <a:ext uri="{FF2B5EF4-FFF2-40B4-BE49-F238E27FC236}">
                <a16:creationId xmlns:a16="http://schemas.microsoft.com/office/drawing/2014/main" id="{8A2E667D-F69D-FC4A-B398-F591C4958312}"/>
              </a:ext>
            </a:extLst>
          </p:cNvPr>
          <p:cNvSpPr/>
          <p:nvPr/>
        </p:nvSpPr>
        <p:spPr>
          <a:xfrm>
            <a:off x="9045526" y="5044049"/>
            <a:ext cx="1406769" cy="225083"/>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3" name="矩形 12">
            <a:extLst>
              <a:ext uri="{FF2B5EF4-FFF2-40B4-BE49-F238E27FC236}">
                <a16:creationId xmlns:a16="http://schemas.microsoft.com/office/drawing/2014/main" id="{E9A861DF-0412-1044-9A3A-C08379846D43}"/>
              </a:ext>
            </a:extLst>
          </p:cNvPr>
          <p:cNvSpPr/>
          <p:nvPr/>
        </p:nvSpPr>
        <p:spPr>
          <a:xfrm>
            <a:off x="9045525" y="4012268"/>
            <a:ext cx="1406769" cy="225083"/>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2" name="矩形 11">
            <a:extLst>
              <a:ext uri="{FF2B5EF4-FFF2-40B4-BE49-F238E27FC236}">
                <a16:creationId xmlns:a16="http://schemas.microsoft.com/office/drawing/2014/main" id="{5673179E-710F-2744-AE28-66102F6B7763}"/>
              </a:ext>
            </a:extLst>
          </p:cNvPr>
          <p:cNvSpPr/>
          <p:nvPr/>
        </p:nvSpPr>
        <p:spPr>
          <a:xfrm>
            <a:off x="1029994" y="3060148"/>
            <a:ext cx="4427223" cy="11377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矩形 18">
            <a:extLst>
              <a:ext uri="{FF2B5EF4-FFF2-40B4-BE49-F238E27FC236}">
                <a16:creationId xmlns:a16="http://schemas.microsoft.com/office/drawing/2014/main" id="{2762121B-E71F-164E-AB7F-D2ED96C904AA}"/>
              </a:ext>
            </a:extLst>
          </p:cNvPr>
          <p:cNvSpPr/>
          <p:nvPr/>
        </p:nvSpPr>
        <p:spPr>
          <a:xfrm>
            <a:off x="1029994" y="4746052"/>
            <a:ext cx="4427223" cy="645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文本框 16">
            <a:extLst>
              <a:ext uri="{FF2B5EF4-FFF2-40B4-BE49-F238E27FC236}">
                <a16:creationId xmlns:a16="http://schemas.microsoft.com/office/drawing/2014/main" id="{65215806-7293-0744-A6B0-0E868DAAA474}"/>
              </a:ext>
            </a:extLst>
          </p:cNvPr>
          <p:cNvSpPr txBox="1"/>
          <p:nvPr/>
        </p:nvSpPr>
        <p:spPr>
          <a:xfrm>
            <a:off x="1029994" y="2713079"/>
            <a:ext cx="1553537" cy="276999"/>
          </a:xfrm>
          <a:prstGeom prst="rect">
            <a:avLst/>
          </a:prstGeom>
          <a:solidFill>
            <a:srgbClr val="F9CDCC"/>
          </a:solidFill>
        </p:spPr>
        <p:txBody>
          <a:bodyPr wrap="square" rtlCol="0">
            <a:spAutoFit/>
          </a:bodyPr>
          <a:lstStyle/>
          <a:p>
            <a:r>
              <a:rPr lang="zh-CN" altLang="en-US" sz="1200" b="1" dirty="0"/>
              <a:t>① </a:t>
            </a:r>
            <a:r>
              <a:rPr kumimoji="1" lang="zh-CN" altLang="en-US" sz="1200" b="1" dirty="0">
                <a:latin typeface="KaiTi" panose="02010609060101010101" pitchFamily="49" charset="-122"/>
                <a:ea typeface="KaiTi" panose="02010609060101010101" pitchFamily="49" charset="-122"/>
                <a:cs typeface="Times New Roman" panose="02020603050405020304" pitchFamily="18" charset="0"/>
              </a:rPr>
              <a:t>物理要掌握什么</a:t>
            </a:r>
          </a:p>
        </p:txBody>
      </p:sp>
      <p:sp>
        <p:nvSpPr>
          <p:cNvPr id="18" name="文本框 17">
            <a:extLst>
              <a:ext uri="{FF2B5EF4-FFF2-40B4-BE49-F238E27FC236}">
                <a16:creationId xmlns:a16="http://schemas.microsoft.com/office/drawing/2014/main" id="{B960726E-BBA5-E84D-B945-C137CBD6137E}"/>
              </a:ext>
            </a:extLst>
          </p:cNvPr>
          <p:cNvSpPr txBox="1"/>
          <p:nvPr/>
        </p:nvSpPr>
        <p:spPr>
          <a:xfrm>
            <a:off x="949657" y="5558458"/>
            <a:ext cx="8734670" cy="523220"/>
          </a:xfrm>
          <a:prstGeom prst="rect">
            <a:avLst/>
          </a:prstGeom>
          <a:noFill/>
        </p:spPr>
        <p:txBody>
          <a:bodyPr wrap="square" rtlCol="0">
            <a:spAutoFit/>
          </a:bodyPr>
          <a:lstStyle/>
          <a:p>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可以看出：</a:t>
            </a:r>
            <a:r>
              <a:rPr kumimoji="1" lang="zh-CN" altLang="en-US" sz="1400" b="1" dirty="0">
                <a:solidFill>
                  <a:schemeClr val="tx1">
                    <a:lumMod val="75000"/>
                    <a:lumOff val="25000"/>
                  </a:schemeClr>
                </a:solidFill>
                <a:latin typeface="KaiTi" panose="02010609060101010101" pitchFamily="49" charset="-122"/>
                <a:ea typeface="KaiTi" panose="02010609060101010101" pitchFamily="49" charset="-122"/>
                <a:cs typeface="Times New Roman" panose="02020603050405020304" pitchFamily="18" charset="0"/>
              </a:rPr>
              <a:t>（物理的逻辑性</a:t>
            </a:r>
            <a:r>
              <a:rPr kumimoji="1" lang="en-US" altLang="zh-CN" sz="1400" b="1" dirty="0">
                <a:solidFill>
                  <a:schemeClr val="tx1">
                    <a:lumMod val="75000"/>
                    <a:lumOff val="25000"/>
                  </a:schemeClr>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400" b="1" dirty="0">
                <a:solidFill>
                  <a:schemeClr val="tx1">
                    <a:lumMod val="75000"/>
                    <a:lumOff val="25000"/>
                  </a:schemeClr>
                </a:solidFill>
                <a:latin typeface="KaiTi" panose="02010609060101010101" pitchFamily="49" charset="-122"/>
                <a:ea typeface="KaiTi" panose="02010609060101010101" pitchFamily="49" charset="-122"/>
                <a:cs typeface="Times New Roman" panose="02020603050405020304" pitchFamily="18" charset="0"/>
              </a:rPr>
              <a:t>综合性）</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是我们学习的重点，需要注意物理</a:t>
            </a:r>
            <a:r>
              <a:rPr kumimoji="1" lang="zh-CN" altLang="en-US" sz="14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学什么</a:t>
            </a:r>
            <a:r>
              <a:rPr kumimoji="1" lang="en-US" altLang="zh-CN" sz="14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4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考什么</a:t>
            </a:r>
            <a:endParaRPr kumimoji="1" lang="en-US" altLang="zh-CN" sz="1400" b="1" dirty="0">
              <a:solidFill>
                <a:srgbClr val="A41AD4"/>
              </a:solidFill>
              <a:latin typeface="KaiTi" panose="02010609060101010101" pitchFamily="49" charset="-122"/>
              <a:ea typeface="KaiTi" panose="02010609060101010101" pitchFamily="49" charset="-122"/>
              <a:cs typeface="Times New Roman" panose="02020603050405020304" pitchFamily="18" charset="0"/>
            </a:endParaRPr>
          </a:p>
          <a:p>
            <a:r>
              <a:rPr kumimoji="1" lang="zh-CN" altLang="en-US" sz="14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想像优优学姐一样拥有好成绩</a:t>
            </a:r>
            <a:r>
              <a:rPr kumimoji="1" lang="en-US" altLang="zh-CN" sz="14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4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「抓住分析方法</a:t>
            </a:r>
            <a:r>
              <a:rPr kumimoji="1" lang="en-US" altLang="zh-CN" sz="14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4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练题方法」才能百战百胜</a:t>
            </a:r>
          </a:p>
        </p:txBody>
      </p:sp>
      <p:sp>
        <p:nvSpPr>
          <p:cNvPr id="20" name="文本框 19">
            <a:extLst>
              <a:ext uri="{FF2B5EF4-FFF2-40B4-BE49-F238E27FC236}">
                <a16:creationId xmlns:a16="http://schemas.microsoft.com/office/drawing/2014/main" id="{571A509C-079E-2746-B3B6-0336A5BDFC25}"/>
              </a:ext>
            </a:extLst>
          </p:cNvPr>
          <p:cNvSpPr txBox="1"/>
          <p:nvPr/>
        </p:nvSpPr>
        <p:spPr>
          <a:xfrm>
            <a:off x="1029994" y="4398983"/>
            <a:ext cx="1553537" cy="276999"/>
          </a:xfrm>
          <a:prstGeom prst="rect">
            <a:avLst/>
          </a:prstGeom>
          <a:solidFill>
            <a:srgbClr val="F9CDCC"/>
          </a:solidFill>
        </p:spPr>
        <p:txBody>
          <a:bodyPr wrap="square" rtlCol="0">
            <a:spAutoFit/>
          </a:bodyPr>
          <a:lstStyle/>
          <a:p>
            <a:r>
              <a:rPr kumimoji="1" lang="zh-CN" altLang="en-US" sz="1200" b="1" dirty="0">
                <a:latin typeface="KaiTi" panose="02010609060101010101" pitchFamily="49" charset="-122"/>
                <a:ea typeface="KaiTi" panose="02010609060101010101" pitchFamily="49" charset="-122"/>
                <a:cs typeface="Times New Roman" panose="02020603050405020304" pitchFamily="18" charset="0"/>
              </a:rPr>
              <a:t>② 物理怎么学</a:t>
            </a:r>
          </a:p>
        </p:txBody>
      </p:sp>
      <p:sp>
        <p:nvSpPr>
          <p:cNvPr id="14" name="文本框 13">
            <a:extLst>
              <a:ext uri="{FF2B5EF4-FFF2-40B4-BE49-F238E27FC236}">
                <a16:creationId xmlns:a16="http://schemas.microsoft.com/office/drawing/2014/main" id="{C5EA3C46-DF57-9E45-AAD0-A6DAAD32EC14}"/>
              </a:ext>
            </a:extLst>
          </p:cNvPr>
          <p:cNvSpPr txBox="1"/>
          <p:nvPr/>
        </p:nvSpPr>
        <p:spPr>
          <a:xfrm>
            <a:off x="2583531" y="3115391"/>
            <a:ext cx="1775109" cy="2308324"/>
          </a:xfrm>
          <a:prstGeom prst="rect">
            <a:avLst/>
          </a:prstGeom>
          <a:noFill/>
        </p:spPr>
        <p:txBody>
          <a:bodyPr wrap="square" rtlCol="0">
            <a:spAutoFit/>
          </a:bodyPr>
          <a:lstStyle/>
          <a:p>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注重</a:t>
            </a:r>
            <a:r>
              <a:rPr kumimoji="1" lang="zh-CN" altLang="en-US" sz="1200" b="1" dirty="0">
                <a:solidFill>
                  <a:srgbClr val="223AAC"/>
                </a:solidFill>
                <a:latin typeface="KaiTi" panose="02010609060101010101" pitchFamily="49" charset="-122"/>
                <a:ea typeface="KaiTi" panose="02010609060101010101" pitchFamily="49" charset="-122"/>
                <a:cs typeface="Times New Roman" panose="02020603050405020304" pitchFamily="18" charset="0"/>
              </a:rPr>
              <a:t>基础概念</a:t>
            </a:r>
          </a:p>
          <a:p>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推导公式原理</a:t>
            </a:r>
            <a:endPar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a:p>
            <a:r>
              <a:rPr kumimoji="1" lang="zh-CN" altLang="en-US" sz="1200" b="1" dirty="0">
                <a:solidFill>
                  <a:srgbClr val="223AAC"/>
                </a:solidFill>
                <a:latin typeface="KaiTi" panose="02010609060101010101" pitchFamily="49" charset="-122"/>
                <a:ea typeface="KaiTi" panose="02010609060101010101" pitchFamily="49" charset="-122"/>
                <a:cs typeface="Times New Roman" panose="02020603050405020304" pitchFamily="18" charset="0"/>
              </a:rPr>
              <a:t>画图分析</a:t>
            </a:r>
            <a:endParaRPr kumimoji="1" lang="en-US" altLang="zh-CN" sz="1200" b="1"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a:p>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动态思考</a:t>
            </a:r>
            <a:endPar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a:p>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题型熟练度</a:t>
            </a:r>
            <a:endPar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a:p>
            <a:endPar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a:p>
            <a:endPar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a:p>
            <a:pPr algn="ctr"/>
            <a:r>
              <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p>
          <a:p>
            <a:endPar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a:p>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思维导图</a:t>
            </a:r>
            <a:endPar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a:p>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画图、看图、分析图</a:t>
            </a:r>
            <a:endPar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a:p>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精练题型</a:t>
            </a:r>
          </a:p>
        </p:txBody>
      </p:sp>
      <p:sp>
        <p:nvSpPr>
          <p:cNvPr id="16" name="文本框 15">
            <a:extLst>
              <a:ext uri="{FF2B5EF4-FFF2-40B4-BE49-F238E27FC236}">
                <a16:creationId xmlns:a16="http://schemas.microsoft.com/office/drawing/2014/main" id="{70EE2122-CB11-EF49-A323-DC1EBEE820D5}"/>
              </a:ext>
            </a:extLst>
          </p:cNvPr>
          <p:cNvSpPr txBox="1"/>
          <p:nvPr/>
        </p:nvSpPr>
        <p:spPr>
          <a:xfrm>
            <a:off x="249103" y="-986751"/>
            <a:ext cx="9652001" cy="369332"/>
          </a:xfrm>
          <a:prstGeom prst="rect">
            <a:avLst/>
          </a:prstGeom>
          <a:noFill/>
        </p:spPr>
        <p:txBody>
          <a:bodyPr wrap="none" rtlCol="0">
            <a:spAutoFit/>
          </a:bodyPr>
          <a:lstStyle/>
          <a:p>
            <a:r>
              <a:rPr lang="zh-CN" altLang="en-US" dirty="0"/>
              <a:t>①、②、③、④、⑤、⑥、⑦、⑧、⑨、⑩、⑪、⑫、⑬、⑭、⑮、⑯、⑰、⑱、⑲、⑳</a:t>
            </a:r>
            <a:endParaRPr kumimoji="1" lang="zh-CN" altLang="en-US" dirty="0"/>
          </a:p>
        </p:txBody>
      </p:sp>
      <p:sp>
        <p:nvSpPr>
          <p:cNvPr id="22" name="文本框 21">
            <a:extLst>
              <a:ext uri="{FF2B5EF4-FFF2-40B4-BE49-F238E27FC236}">
                <a16:creationId xmlns:a16="http://schemas.microsoft.com/office/drawing/2014/main" id="{2B42A6F2-992D-284E-8F18-F87EDEA91C75}"/>
              </a:ext>
            </a:extLst>
          </p:cNvPr>
          <p:cNvSpPr txBox="1"/>
          <p:nvPr/>
        </p:nvSpPr>
        <p:spPr>
          <a:xfrm>
            <a:off x="8764171" y="6269985"/>
            <a:ext cx="4942702" cy="461665"/>
          </a:xfrm>
          <a:prstGeom prst="rect">
            <a:avLst/>
          </a:prstGeom>
          <a:noFill/>
        </p:spPr>
        <p:txBody>
          <a:bodyPr wrap="square" rtlCol="0">
            <a:spAutoFit/>
          </a:bodyPr>
          <a:lstStyle/>
          <a:p>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优优 清华学姐高考成绩查询页面</a:t>
            </a:r>
            <a:endParaRPr kumimoji="1" lang="en-US" altLang="zh-CN"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希望你也能收到这样的喜讯！</a:t>
            </a:r>
          </a:p>
        </p:txBody>
      </p:sp>
      <p:pic>
        <p:nvPicPr>
          <p:cNvPr id="21" name="图片 20" descr="图片包含 草, 人, 户外, 女孩&#10;&#10;描述已自动生成">
            <a:extLst>
              <a:ext uri="{FF2B5EF4-FFF2-40B4-BE49-F238E27FC236}">
                <a16:creationId xmlns:a16="http://schemas.microsoft.com/office/drawing/2014/main" id="{E3386503-24EF-5F4B-9853-9E2C013715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27015" y="1903926"/>
            <a:ext cx="2608122" cy="34767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82320" y="1590675"/>
            <a:ext cx="10627995" cy="3416320"/>
          </a:xfrm>
          <a:prstGeom prst="rect">
            <a:avLst/>
          </a:prstGeom>
          <a:noFill/>
          <a:ln>
            <a:noFill/>
          </a:ln>
        </p:spPr>
        <p:txBody>
          <a:bodyPr wrap="square" rtlCol="0" anchor="t">
            <a:spAutoFit/>
          </a:bodyPr>
          <a:lstStyle/>
          <a:p>
            <a:pPr algn="ctr"/>
            <a:r>
              <a:rPr lang="en-US" altLang="zh-CN" sz="7200" b="1" dirty="0">
                <a:solidFill>
                  <a:srgbClr val="7030A0"/>
                </a:solidFill>
                <a:effectLst>
                  <a:reflection blurRad="6350" stA="53000" endA="300" endPos="35500" dir="5400000" sy="-90000" algn="bl" rotWithShape="0"/>
                </a:effectLst>
              </a:rPr>
              <a:t>Chapter-2</a:t>
            </a:r>
          </a:p>
          <a:p>
            <a:pPr algn="ctr"/>
            <a:r>
              <a:rPr lang="en-US" altLang="zh-CN" sz="7200" b="1" dirty="0">
                <a:solidFill>
                  <a:srgbClr val="7030A0"/>
                </a:solidFill>
                <a:effectLst>
                  <a:reflection blurRad="6350" stA="53000" endA="300" endPos="35500" dir="5400000" sy="-90000" algn="bl" rotWithShape="0"/>
                </a:effectLst>
              </a:rPr>
              <a:t> </a:t>
            </a:r>
          </a:p>
          <a:p>
            <a:pPr algn="ctr"/>
            <a:r>
              <a:rPr lang="zh-CN" altLang="en-US" sz="7200" b="1" dirty="0">
                <a:solidFill>
                  <a:srgbClr val="7030A0"/>
                </a:solidFill>
                <a:effectLst>
                  <a:reflection blurRad="6350" stA="53000" endA="300" endPos="35500" dir="5400000" sy="-90000" algn="bl" rotWithShape="0"/>
                </a:effectLst>
              </a:rPr>
              <a:t>初高中物理知识板块梳理</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B49D920B-504F-E443-80E1-E5362C526C17}"/>
              </a:ext>
            </a:extLst>
          </p:cNvPr>
          <p:cNvSpPr/>
          <p:nvPr/>
        </p:nvSpPr>
        <p:spPr>
          <a:xfrm>
            <a:off x="683229" y="1271599"/>
            <a:ext cx="11043316" cy="4478037"/>
          </a:xfrm>
          <a:prstGeom prst="rect">
            <a:avLst/>
          </a:prstGeom>
          <a:solidFill>
            <a:schemeClr val="bg1">
              <a:lumMod val="95000"/>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 name="文本框 2">
            <a:extLst>
              <a:ext uri="{FF2B5EF4-FFF2-40B4-BE49-F238E27FC236}">
                <a16:creationId xmlns:a16="http://schemas.microsoft.com/office/drawing/2014/main" id="{DAAE971C-D36F-5C4F-AF63-A1FA3771E6E8}"/>
              </a:ext>
            </a:extLst>
          </p:cNvPr>
          <p:cNvSpPr txBox="1"/>
          <p:nvPr/>
        </p:nvSpPr>
        <p:spPr>
          <a:xfrm>
            <a:off x="1108530" y="5169994"/>
            <a:ext cx="9503133" cy="1142620"/>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rPr>
              <a:t>初中物理的核心：</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rPr>
              <a:t>{</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rPr>
              <a:t>记忆概念</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rPr>
              <a:t>}+{</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rPr>
              <a:t>力学、电学的学习</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rPr>
              <a:t>}</a:t>
            </a:r>
          </a:p>
          <a:p>
            <a:pPr>
              <a:lnSpc>
                <a:spcPct val="150000"/>
              </a:lnSpc>
            </a:pPr>
            <a:endParaRPr kumimoji="1" lang="en-US" altLang="zh-CN" sz="1600" dirty="0">
              <a:solidFill>
                <a:schemeClr val="tx1">
                  <a:lumMod val="50000"/>
                  <a:lumOff val="50000"/>
                </a:schemeClr>
              </a:solidFill>
              <a:latin typeface="KaiTi" panose="02010609060101010101" pitchFamily="49" charset="-122"/>
              <a:ea typeface="KaiTi" panose="02010609060101010101" pitchFamily="49" charset="-122"/>
            </a:endParaRPr>
          </a:p>
          <a:p>
            <a:pPr>
              <a:lnSpc>
                <a:spcPct val="150000"/>
              </a:lnSpc>
            </a:pPr>
            <a:endParaRPr kumimoji="1" lang="en-US"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p:txBody>
      </p:sp>
      <p:sp>
        <p:nvSpPr>
          <p:cNvPr id="4" name="文本框 3">
            <a:extLst>
              <a:ext uri="{FF2B5EF4-FFF2-40B4-BE49-F238E27FC236}">
                <a16:creationId xmlns:a16="http://schemas.microsoft.com/office/drawing/2014/main" id="{94442722-D24F-7342-BAAE-C1A2206C9DEA}"/>
              </a:ext>
            </a:extLst>
          </p:cNvPr>
          <p:cNvSpPr txBox="1"/>
          <p:nvPr/>
        </p:nvSpPr>
        <p:spPr>
          <a:xfrm>
            <a:off x="683229" y="809436"/>
            <a:ext cx="4942702" cy="307777"/>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哪些知识？</a:t>
            </a:r>
          </a:p>
        </p:txBody>
      </p:sp>
      <p:sp>
        <p:nvSpPr>
          <p:cNvPr id="6" name="矩形 5">
            <a:extLst>
              <a:ext uri="{FF2B5EF4-FFF2-40B4-BE49-F238E27FC236}">
                <a16:creationId xmlns:a16="http://schemas.microsoft.com/office/drawing/2014/main" id="{816CAE0A-BEF6-744D-BE73-9E3D9A7309B4}"/>
              </a:ext>
            </a:extLst>
          </p:cNvPr>
          <p:cNvSpPr/>
          <p:nvPr/>
        </p:nvSpPr>
        <p:spPr>
          <a:xfrm>
            <a:off x="721660" y="1347341"/>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A964E578-38D6-3944-8EAE-E6CD67EF4259}"/>
              </a:ext>
            </a:extLst>
          </p:cNvPr>
          <p:cNvSpPr txBox="1"/>
          <p:nvPr/>
        </p:nvSpPr>
        <p:spPr>
          <a:xfrm>
            <a:off x="1108530" y="1295247"/>
            <a:ext cx="7837762" cy="688137"/>
          </a:xfrm>
          <a:prstGeom prst="rect">
            <a:avLst/>
          </a:prstGeom>
          <a:noFill/>
        </p:spPr>
        <p:txBody>
          <a:bodyPr wrap="square" rtlCol="0">
            <a:spAutoFit/>
          </a:bodyPr>
          <a:lstStyle/>
          <a:p>
            <a:pPr>
              <a:lnSpc>
                <a:spcPct val="150000"/>
              </a:lnSpc>
            </a:pP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rPr>
              <a:t>初高中物理思维导图</a:t>
            </a:r>
          </a:p>
          <a:p>
            <a:pPr>
              <a:lnSpc>
                <a:spcPct val="150000"/>
              </a:lnSpc>
            </a:pPr>
            <a:endParaRPr kumimoji="1" lang="zh-CN" altLang="en-US" sz="1400" dirty="0">
              <a:solidFill>
                <a:schemeClr val="tx1">
                  <a:lumMod val="50000"/>
                  <a:lumOff val="50000"/>
                </a:schemeClr>
              </a:solidFill>
              <a:latin typeface="KaiTi" panose="02010609060101010101" pitchFamily="49" charset="-122"/>
              <a:ea typeface="KaiTi" panose="02010609060101010101" pitchFamily="49" charset="-122"/>
            </a:endParaRPr>
          </a:p>
        </p:txBody>
      </p:sp>
      <p:sp>
        <p:nvSpPr>
          <p:cNvPr id="8" name="矩形 7">
            <a:extLst>
              <a:ext uri="{FF2B5EF4-FFF2-40B4-BE49-F238E27FC236}">
                <a16:creationId xmlns:a16="http://schemas.microsoft.com/office/drawing/2014/main" id="{9E498107-496C-D649-9C0A-5336781AB0CF}"/>
              </a:ext>
            </a:extLst>
          </p:cNvPr>
          <p:cNvSpPr/>
          <p:nvPr/>
        </p:nvSpPr>
        <p:spPr>
          <a:xfrm>
            <a:off x="1108530" y="1958241"/>
            <a:ext cx="7266984" cy="9532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a:extLst>
              <a:ext uri="{FF2B5EF4-FFF2-40B4-BE49-F238E27FC236}">
                <a16:creationId xmlns:a16="http://schemas.microsoft.com/office/drawing/2014/main" id="{F0AFF280-8639-1645-ADBA-D45414D78FF8}"/>
              </a:ext>
            </a:extLst>
          </p:cNvPr>
          <p:cNvSpPr txBox="1"/>
          <p:nvPr/>
        </p:nvSpPr>
        <p:spPr>
          <a:xfrm>
            <a:off x="1108530" y="1958240"/>
            <a:ext cx="2151505" cy="276999"/>
          </a:xfrm>
          <a:prstGeom prst="rect">
            <a:avLst/>
          </a:prstGeom>
          <a:solidFill>
            <a:srgbClr val="F9CDCC"/>
          </a:solidFill>
        </p:spPr>
        <p:txBody>
          <a:bodyPr wrap="square" rtlCol="0">
            <a:spAutoFit/>
          </a:bodyPr>
          <a:lstStyle/>
          <a:p>
            <a:r>
              <a:rPr lang="zh-CN" altLang="en-US" sz="1200" b="1" dirty="0"/>
              <a:t>① </a:t>
            </a:r>
            <a:r>
              <a:rPr kumimoji="1" lang="zh-CN" altLang="en-US" sz="1200" b="1" dirty="0">
                <a:latin typeface="KaiTi" panose="02010609060101010101" pitchFamily="49" charset="-122"/>
                <a:ea typeface="KaiTi" panose="02010609060101010101" pitchFamily="49" charset="-122"/>
                <a:cs typeface="Times New Roman" panose="02020603050405020304" pitchFamily="18" charset="0"/>
              </a:rPr>
              <a:t>初中</a:t>
            </a:r>
            <a:r>
              <a:rPr kumimoji="1" lang="en-US" altLang="zh-CN" sz="1200" b="1"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200" b="1" dirty="0">
                <a:latin typeface="KaiTi" panose="02010609060101010101" pitchFamily="49" charset="-122"/>
                <a:ea typeface="KaiTi" panose="02010609060101010101" pitchFamily="49" charset="-122"/>
                <a:cs typeface="Times New Roman" panose="02020603050405020304" pitchFamily="18" charset="0"/>
              </a:rPr>
              <a:t>物理</a:t>
            </a:r>
          </a:p>
        </p:txBody>
      </p:sp>
      <p:sp>
        <p:nvSpPr>
          <p:cNvPr id="10" name="文本框 9">
            <a:extLst>
              <a:ext uri="{FF2B5EF4-FFF2-40B4-BE49-F238E27FC236}">
                <a16:creationId xmlns:a16="http://schemas.microsoft.com/office/drawing/2014/main" id="{1E8CE9DD-BE0A-B243-A2AA-1AF7E2132388}"/>
              </a:ext>
            </a:extLst>
          </p:cNvPr>
          <p:cNvSpPr txBox="1"/>
          <p:nvPr/>
        </p:nvSpPr>
        <p:spPr>
          <a:xfrm>
            <a:off x="1108530" y="2323430"/>
            <a:ext cx="5757143" cy="461665"/>
          </a:xfrm>
          <a:prstGeom prst="rect">
            <a:avLst/>
          </a:prstGeom>
          <a:noFill/>
        </p:spPr>
        <p:txBody>
          <a:bodyPr wrap="square" rtlCol="0">
            <a:spAutoFit/>
          </a:bodyPr>
          <a:lstStyle/>
          <a:p>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重点考点：</a:t>
            </a:r>
            <a:endPar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a:p>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力学（</a:t>
            </a:r>
            <a:r>
              <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40%</a:t>
            </a:r>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电学（</a:t>
            </a:r>
            <a:r>
              <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40%</a:t>
            </a:r>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endPar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p:txBody>
      </p:sp>
      <p:sp>
        <p:nvSpPr>
          <p:cNvPr id="11" name="矩形 10">
            <a:extLst>
              <a:ext uri="{FF2B5EF4-FFF2-40B4-BE49-F238E27FC236}">
                <a16:creationId xmlns:a16="http://schemas.microsoft.com/office/drawing/2014/main" id="{AAFFA163-5461-5B42-8AEE-277B8BB1899D}"/>
              </a:ext>
            </a:extLst>
          </p:cNvPr>
          <p:cNvSpPr/>
          <p:nvPr/>
        </p:nvSpPr>
        <p:spPr>
          <a:xfrm>
            <a:off x="1108530" y="3429000"/>
            <a:ext cx="7266984" cy="1618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5" name="直线连接符 14">
            <a:extLst>
              <a:ext uri="{FF2B5EF4-FFF2-40B4-BE49-F238E27FC236}">
                <a16:creationId xmlns:a16="http://schemas.microsoft.com/office/drawing/2014/main" id="{392AD85F-F15E-4849-A856-23B99721F21F}"/>
              </a:ext>
            </a:extLst>
          </p:cNvPr>
          <p:cNvCxnSpPr>
            <a:cxnSpLocks/>
          </p:cNvCxnSpPr>
          <p:nvPr/>
        </p:nvCxnSpPr>
        <p:spPr>
          <a:xfrm>
            <a:off x="582977" y="700757"/>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7" name="直线连接符 16">
            <a:extLst>
              <a:ext uri="{FF2B5EF4-FFF2-40B4-BE49-F238E27FC236}">
                <a16:creationId xmlns:a16="http://schemas.microsoft.com/office/drawing/2014/main" id="{4660D11D-A19F-8744-8DBC-B04157B3D03C}"/>
              </a:ext>
            </a:extLst>
          </p:cNvPr>
          <p:cNvCxnSpPr>
            <a:cxnSpLocks/>
          </p:cNvCxnSpPr>
          <p:nvPr/>
        </p:nvCxnSpPr>
        <p:spPr>
          <a:xfrm>
            <a:off x="582977" y="6079573"/>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18" name="表格 17">
            <a:extLst>
              <a:ext uri="{FF2B5EF4-FFF2-40B4-BE49-F238E27FC236}">
                <a16:creationId xmlns:a16="http://schemas.microsoft.com/office/drawing/2014/main" id="{1C4FD9F3-1BC1-1F4E-A9B2-A901043499C8}"/>
              </a:ext>
            </a:extLst>
          </p:cNvPr>
          <p:cNvGraphicFramePr>
            <a:graphicFrameLocks noGrp="1"/>
          </p:cNvGraphicFramePr>
          <p:nvPr>
            <p:extLst>
              <p:ext uri="{D42A27DB-BD31-4B8C-83A1-F6EECF244321}">
                <p14:modId xmlns:p14="http://schemas.microsoft.com/office/powerpoint/2010/main" val="3669516504"/>
              </p:ext>
            </p:extLst>
          </p:nvPr>
        </p:nvGraphicFramePr>
        <p:xfrm>
          <a:off x="3717723" y="2115020"/>
          <a:ext cx="4441187" cy="588758"/>
        </p:xfrm>
        <a:graphic>
          <a:graphicData uri="http://schemas.openxmlformats.org/drawingml/2006/table">
            <a:tbl>
              <a:tblPr firstRow="1" firstCol="1" bandRow="1"/>
              <a:tblGrid>
                <a:gridCol w="713002">
                  <a:extLst>
                    <a:ext uri="{9D8B030D-6E8A-4147-A177-3AD203B41FA5}">
                      <a16:colId xmlns:a16="http://schemas.microsoft.com/office/drawing/2014/main" val="454968088"/>
                    </a:ext>
                  </a:extLst>
                </a:gridCol>
                <a:gridCol w="713002">
                  <a:extLst>
                    <a:ext uri="{9D8B030D-6E8A-4147-A177-3AD203B41FA5}">
                      <a16:colId xmlns:a16="http://schemas.microsoft.com/office/drawing/2014/main" val="1461881595"/>
                    </a:ext>
                  </a:extLst>
                </a:gridCol>
                <a:gridCol w="733571">
                  <a:extLst>
                    <a:ext uri="{9D8B030D-6E8A-4147-A177-3AD203B41FA5}">
                      <a16:colId xmlns:a16="http://schemas.microsoft.com/office/drawing/2014/main" val="578789135"/>
                    </a:ext>
                  </a:extLst>
                </a:gridCol>
                <a:gridCol w="820428">
                  <a:extLst>
                    <a:ext uri="{9D8B030D-6E8A-4147-A177-3AD203B41FA5}">
                      <a16:colId xmlns:a16="http://schemas.microsoft.com/office/drawing/2014/main" val="1368306751"/>
                    </a:ext>
                  </a:extLst>
                </a:gridCol>
                <a:gridCol w="730592">
                  <a:extLst>
                    <a:ext uri="{9D8B030D-6E8A-4147-A177-3AD203B41FA5}">
                      <a16:colId xmlns:a16="http://schemas.microsoft.com/office/drawing/2014/main" val="2527633977"/>
                    </a:ext>
                  </a:extLst>
                </a:gridCol>
                <a:gridCol w="730592">
                  <a:extLst>
                    <a:ext uri="{9D8B030D-6E8A-4147-A177-3AD203B41FA5}">
                      <a16:colId xmlns:a16="http://schemas.microsoft.com/office/drawing/2014/main" val="1333143702"/>
                    </a:ext>
                  </a:extLst>
                </a:gridCol>
              </a:tblGrid>
              <a:tr h="294379">
                <a:tc>
                  <a:txBody>
                    <a:bodyPr/>
                    <a:lstStyle/>
                    <a:p>
                      <a:pPr algn="ctr">
                        <a:lnSpc>
                          <a:spcPct val="150000"/>
                        </a:lnSpc>
                        <a:spcAft>
                          <a:spcPts val="0"/>
                        </a:spcAft>
                      </a:pPr>
                      <a:r>
                        <a:rPr lang="zh-CN" altLang="en-US" sz="1050" kern="100" dirty="0">
                          <a:effectLst/>
                          <a:latin typeface="KaiTi" panose="02010609060101010101" pitchFamily="49" charset="-122"/>
                          <a:ea typeface="KaiTi" panose="02010609060101010101" pitchFamily="49" charset="-122"/>
                          <a:cs typeface="Times New Roman" panose="02020603050405020304" pitchFamily="18" charset="0"/>
                        </a:rPr>
                        <a:t>板块</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lnSpc>
                          <a:spcPct val="150000"/>
                        </a:lnSpc>
                        <a:spcAft>
                          <a:spcPts val="0"/>
                        </a:spcAft>
                      </a:pPr>
                      <a:r>
                        <a:rPr lang="zh-CN" altLang="en-US" sz="1200" kern="100" dirty="0">
                          <a:effectLst/>
                          <a:latin typeface="KaiTi" panose="02010609060101010101" pitchFamily="49" charset="-122"/>
                          <a:ea typeface="KaiTi" panose="02010609060101010101" pitchFamily="49" charset="-122"/>
                          <a:cs typeface="宋体" panose="02010600030101010101" pitchFamily="2" charset="-122"/>
                        </a:rPr>
                        <a:t>声</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lnSpc>
                          <a:spcPct val="150000"/>
                        </a:lnSpc>
                        <a:spcAft>
                          <a:spcPts val="0"/>
                        </a:spcAft>
                      </a:pPr>
                      <a:r>
                        <a:rPr lang="zh-CN" altLang="en-US"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光</a:t>
                      </a:r>
                      <a:r>
                        <a:rPr lang="en-US"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 </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lnSpc>
                          <a:spcPct val="150000"/>
                        </a:lnSpc>
                        <a:spcAft>
                          <a:spcPts val="0"/>
                        </a:spcAft>
                      </a:pPr>
                      <a:r>
                        <a:rPr lang="zh-CN" altLang="en-US" sz="1200" kern="100" dirty="0">
                          <a:effectLst/>
                          <a:latin typeface="KaiTi" panose="02010609060101010101" pitchFamily="49" charset="-122"/>
                          <a:ea typeface="KaiTi" panose="02010609060101010101" pitchFamily="49" charset="-122"/>
                          <a:cs typeface="Times New Roman" panose="02020603050405020304" pitchFamily="18" charset="0"/>
                        </a:rPr>
                        <a:t>热</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lnSpc>
                          <a:spcPct val="150000"/>
                        </a:lnSpc>
                        <a:spcAft>
                          <a:spcPts val="0"/>
                        </a:spcAft>
                      </a:pPr>
                      <a:r>
                        <a:rPr lang="zh-CN" altLang="en-US" sz="1200" kern="100" dirty="0">
                          <a:solidFill>
                            <a:srgbClr val="C00000"/>
                          </a:solidFill>
                          <a:effectLst/>
                          <a:latin typeface="KaiTi" panose="02010609060101010101" pitchFamily="49" charset="-122"/>
                          <a:ea typeface="KaiTi" panose="02010609060101010101" pitchFamily="49" charset="-122"/>
                          <a:cs typeface="宋体" panose="02010600030101010101" pitchFamily="2" charset="-122"/>
                        </a:rPr>
                        <a:t>力</a:t>
                      </a:r>
                      <a:r>
                        <a:rPr lang="en-US" sz="1200" kern="100" dirty="0">
                          <a:solidFill>
                            <a:srgbClr val="C00000"/>
                          </a:solidFill>
                          <a:effectLst/>
                          <a:latin typeface="KaiTi" panose="02010609060101010101" pitchFamily="49" charset="-122"/>
                          <a:ea typeface="KaiTi" panose="02010609060101010101" pitchFamily="49" charset="-122"/>
                          <a:cs typeface="宋体" panose="02010600030101010101" pitchFamily="2" charset="-122"/>
                        </a:rPr>
                        <a:t> </a:t>
                      </a:r>
                      <a:endParaRPr lang="zh-CN" sz="105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lnSpc>
                          <a:spcPct val="150000"/>
                        </a:lnSpc>
                        <a:spcAft>
                          <a:spcPts val="0"/>
                        </a:spcAft>
                      </a:pPr>
                      <a:r>
                        <a:rPr lang="zh-CN" altLang="en-US" sz="105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rPr>
                        <a:t>电</a:t>
                      </a:r>
                      <a:endParaRPr lang="zh-CN" sz="105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392909552"/>
                  </a:ext>
                </a:extLst>
              </a:tr>
              <a:tr h="294379">
                <a:tc>
                  <a:txBody>
                    <a:bodyPr/>
                    <a:lstStyle/>
                    <a:p>
                      <a:pPr algn="ctr">
                        <a:lnSpc>
                          <a:spcPct val="150000"/>
                        </a:lnSpc>
                        <a:spcAft>
                          <a:spcPts val="0"/>
                        </a:spcAft>
                      </a:pPr>
                      <a:r>
                        <a:rPr lang="zh-CN" altLang="en-US" sz="1050" kern="100" dirty="0">
                          <a:effectLst/>
                          <a:latin typeface="KaiTi" panose="02010609060101010101" pitchFamily="49" charset="-122"/>
                          <a:ea typeface="KaiTi" panose="02010609060101010101" pitchFamily="49" charset="-122"/>
                          <a:cs typeface="Times New Roman" panose="02020603050405020304" pitchFamily="18" charset="0"/>
                        </a:rPr>
                        <a:t>中考占比</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lnSpc>
                          <a:spcPct val="150000"/>
                        </a:lnSpc>
                        <a:spcAft>
                          <a:spcPts val="0"/>
                        </a:spcAft>
                      </a:pPr>
                      <a:r>
                        <a:rPr lang="en-US" altLang="zh-CN" sz="1200" kern="100" dirty="0">
                          <a:effectLst/>
                          <a:latin typeface="KaiTi" panose="02010609060101010101" pitchFamily="49" charset="-122"/>
                          <a:ea typeface="KaiTi" panose="02010609060101010101" pitchFamily="49" charset="-122"/>
                          <a:cs typeface="Times New Roman" panose="02020603050405020304" pitchFamily="18" charset="0"/>
                        </a:rPr>
                        <a:t>5%</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lnSpc>
                          <a:spcPct val="150000"/>
                        </a:lnSpc>
                        <a:spcAft>
                          <a:spcPts val="0"/>
                        </a:spcAft>
                      </a:pPr>
                      <a:r>
                        <a:rPr lang="en-US"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 </a:t>
                      </a:r>
                      <a:r>
                        <a:rPr lang="en-US" altLang="zh-CN"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9%</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r>
                        <a:rPr lang="en-US" altLang="zh-CN" sz="1200" kern="100" dirty="0">
                          <a:solidFill>
                            <a:schemeClr val="tx1"/>
                          </a:solidFill>
                          <a:effectLst/>
                          <a:latin typeface="KaiTi" panose="02010609060101010101" pitchFamily="49" charset="-122"/>
                          <a:ea typeface="KaiTi" panose="02010609060101010101" pitchFamily="49" charset="-122"/>
                          <a:cs typeface="Times New Roman" panose="02020603050405020304" pitchFamily="18" charset="0"/>
                        </a:rPr>
                        <a:t>6%</a:t>
                      </a:r>
                      <a:endParaRPr lang="zh-CN" altLang="en-US" sz="1200" kern="100" dirty="0">
                        <a:solidFill>
                          <a:schemeClr val="tx1"/>
                        </a:solidFill>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r>
                        <a:rPr lang="en-US" altLang="zh-CN" sz="120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rPr>
                        <a:t>40%</a:t>
                      </a:r>
                      <a:endParaRPr lang="zh-CN" altLang="en-US" sz="120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r>
                        <a:rPr lang="en-US" altLang="zh-CN" sz="120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rPr>
                        <a:t>40%</a:t>
                      </a:r>
                      <a:endParaRPr lang="zh-CN" altLang="en-US" sz="120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1954342874"/>
                  </a:ext>
                </a:extLst>
              </a:tr>
            </a:tbl>
          </a:graphicData>
        </a:graphic>
      </p:graphicFrame>
      <p:graphicFrame>
        <p:nvGraphicFramePr>
          <p:cNvPr id="19" name="表格 18">
            <a:extLst>
              <a:ext uri="{FF2B5EF4-FFF2-40B4-BE49-F238E27FC236}">
                <a16:creationId xmlns:a16="http://schemas.microsoft.com/office/drawing/2014/main" id="{3285F1B1-A6A5-3A4B-81EF-844D8C03543F}"/>
              </a:ext>
            </a:extLst>
          </p:cNvPr>
          <p:cNvGraphicFramePr>
            <a:graphicFrameLocks noGrp="1"/>
          </p:cNvGraphicFramePr>
          <p:nvPr>
            <p:extLst>
              <p:ext uri="{D42A27DB-BD31-4B8C-83A1-F6EECF244321}">
                <p14:modId xmlns:p14="http://schemas.microsoft.com/office/powerpoint/2010/main" val="975854044"/>
              </p:ext>
            </p:extLst>
          </p:nvPr>
        </p:nvGraphicFramePr>
        <p:xfrm>
          <a:off x="1297459" y="3996704"/>
          <a:ext cx="6861453" cy="1074477"/>
        </p:xfrm>
        <a:graphic>
          <a:graphicData uri="http://schemas.openxmlformats.org/drawingml/2006/table">
            <a:tbl>
              <a:tblPr firstRow="1" firstCol="1" bandRow="1"/>
              <a:tblGrid>
                <a:gridCol w="1101559">
                  <a:extLst>
                    <a:ext uri="{9D8B030D-6E8A-4147-A177-3AD203B41FA5}">
                      <a16:colId xmlns:a16="http://schemas.microsoft.com/office/drawing/2014/main" val="454968088"/>
                    </a:ext>
                  </a:extLst>
                </a:gridCol>
                <a:gridCol w="1101559">
                  <a:extLst>
                    <a:ext uri="{9D8B030D-6E8A-4147-A177-3AD203B41FA5}">
                      <a16:colId xmlns:a16="http://schemas.microsoft.com/office/drawing/2014/main" val="1461881595"/>
                    </a:ext>
                  </a:extLst>
                </a:gridCol>
                <a:gridCol w="1133337">
                  <a:extLst>
                    <a:ext uri="{9D8B030D-6E8A-4147-A177-3AD203B41FA5}">
                      <a16:colId xmlns:a16="http://schemas.microsoft.com/office/drawing/2014/main" val="578789135"/>
                    </a:ext>
                  </a:extLst>
                </a:gridCol>
                <a:gridCol w="1267528">
                  <a:extLst>
                    <a:ext uri="{9D8B030D-6E8A-4147-A177-3AD203B41FA5}">
                      <a16:colId xmlns:a16="http://schemas.microsoft.com/office/drawing/2014/main" val="1368306751"/>
                    </a:ext>
                  </a:extLst>
                </a:gridCol>
                <a:gridCol w="1128735">
                  <a:extLst>
                    <a:ext uri="{9D8B030D-6E8A-4147-A177-3AD203B41FA5}">
                      <a16:colId xmlns:a16="http://schemas.microsoft.com/office/drawing/2014/main" val="2527633977"/>
                    </a:ext>
                  </a:extLst>
                </a:gridCol>
                <a:gridCol w="1128735">
                  <a:extLst>
                    <a:ext uri="{9D8B030D-6E8A-4147-A177-3AD203B41FA5}">
                      <a16:colId xmlns:a16="http://schemas.microsoft.com/office/drawing/2014/main" val="1333143702"/>
                    </a:ext>
                  </a:extLst>
                </a:gridCol>
              </a:tblGrid>
              <a:tr h="294379">
                <a:tc>
                  <a:txBody>
                    <a:bodyPr/>
                    <a:lstStyle/>
                    <a:p>
                      <a:pPr algn="ctr">
                        <a:lnSpc>
                          <a:spcPct val="150000"/>
                        </a:lnSpc>
                        <a:spcAft>
                          <a:spcPts val="0"/>
                        </a:spcAft>
                      </a:pPr>
                      <a:r>
                        <a:rPr lang="zh-CN" altLang="en-US" sz="1050" kern="100" dirty="0">
                          <a:effectLst/>
                          <a:latin typeface="KaiTi" panose="02010609060101010101" pitchFamily="49" charset="-122"/>
                          <a:ea typeface="KaiTi" panose="02010609060101010101" pitchFamily="49" charset="-122"/>
                          <a:cs typeface="Times New Roman" panose="02020603050405020304" pitchFamily="18" charset="0"/>
                        </a:rPr>
                        <a:t>年级</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lnSpc>
                          <a:spcPct val="150000"/>
                        </a:lnSpc>
                        <a:spcAft>
                          <a:spcPts val="0"/>
                        </a:spcAft>
                      </a:pPr>
                      <a:r>
                        <a:rPr lang="zh-CN" altLang="en-US" sz="1200" kern="100" dirty="0">
                          <a:effectLst/>
                          <a:latin typeface="KaiTi" panose="02010609060101010101" pitchFamily="49" charset="-122"/>
                          <a:ea typeface="KaiTi" panose="02010609060101010101" pitchFamily="49" charset="-122"/>
                          <a:cs typeface="Times New Roman" panose="02020603050405020304" pitchFamily="18" charset="0"/>
                        </a:rPr>
                        <a:t>八上</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lnSpc>
                          <a:spcPct val="150000"/>
                        </a:lnSpc>
                        <a:spcAft>
                          <a:spcPts val="0"/>
                        </a:spcAft>
                      </a:pPr>
                      <a:r>
                        <a:rPr lang="zh-CN" altLang="en-US" sz="1200" kern="100" dirty="0">
                          <a:solidFill>
                            <a:srgbClr val="C00000"/>
                          </a:solidFill>
                          <a:effectLst/>
                          <a:latin typeface="KaiTi" panose="02010609060101010101" pitchFamily="49" charset="-122"/>
                          <a:ea typeface="KaiTi" panose="02010609060101010101" pitchFamily="49" charset="-122"/>
                          <a:cs typeface="宋体" panose="02010600030101010101" pitchFamily="2" charset="-122"/>
                        </a:rPr>
                        <a:t>八下</a:t>
                      </a:r>
                      <a:r>
                        <a:rPr lang="en-US" sz="1200" kern="100" dirty="0">
                          <a:solidFill>
                            <a:srgbClr val="C00000"/>
                          </a:solidFill>
                          <a:effectLst/>
                          <a:latin typeface="KaiTi" panose="02010609060101010101" pitchFamily="49" charset="-122"/>
                          <a:ea typeface="KaiTi" panose="02010609060101010101" pitchFamily="49" charset="-122"/>
                          <a:cs typeface="宋体" panose="02010600030101010101" pitchFamily="2" charset="-122"/>
                        </a:rPr>
                        <a:t> </a:t>
                      </a:r>
                      <a:endParaRPr lang="zh-CN" sz="105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lnSpc>
                          <a:spcPct val="150000"/>
                        </a:lnSpc>
                        <a:spcAft>
                          <a:spcPts val="0"/>
                        </a:spcAft>
                      </a:pPr>
                      <a:r>
                        <a:rPr lang="zh-CN" altLang="en-US" sz="120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rPr>
                        <a:t>九上</a:t>
                      </a:r>
                      <a:endParaRPr lang="zh-CN" sz="105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lnSpc>
                          <a:spcPct val="150000"/>
                        </a:lnSpc>
                        <a:spcAft>
                          <a:spcPts val="0"/>
                        </a:spcAft>
                      </a:pPr>
                      <a:r>
                        <a:rPr lang="zh-CN" altLang="en-US"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九下</a:t>
                      </a:r>
                      <a:r>
                        <a:rPr lang="en-US"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 </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lnSpc>
                          <a:spcPct val="150000"/>
                        </a:lnSpc>
                        <a:spcAft>
                          <a:spcPts val="0"/>
                        </a:spcAft>
                      </a:pPr>
                      <a:r>
                        <a:rPr lang="zh-CN" altLang="en-US" sz="1050" kern="100" dirty="0">
                          <a:effectLst/>
                          <a:latin typeface="KaiTi" panose="02010609060101010101" pitchFamily="49" charset="-122"/>
                          <a:ea typeface="KaiTi" panose="02010609060101010101" pitchFamily="49" charset="-122"/>
                          <a:cs typeface="Times New Roman" panose="02020603050405020304" pitchFamily="18" charset="0"/>
                        </a:rPr>
                        <a:t>中考</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392909552"/>
                  </a:ext>
                </a:extLst>
              </a:tr>
              <a:tr h="294379">
                <a:tc>
                  <a:txBody>
                    <a:bodyPr/>
                    <a:lstStyle/>
                    <a:p>
                      <a:pPr algn="ctr">
                        <a:lnSpc>
                          <a:spcPct val="150000"/>
                        </a:lnSpc>
                        <a:spcAft>
                          <a:spcPts val="0"/>
                        </a:spcAft>
                      </a:pPr>
                      <a:r>
                        <a:rPr lang="zh-CN" altLang="en-US" sz="1050" kern="100" dirty="0">
                          <a:effectLst/>
                          <a:latin typeface="KaiTi" panose="02010609060101010101" pitchFamily="49" charset="-122"/>
                          <a:ea typeface="KaiTi" panose="02010609060101010101" pitchFamily="49" charset="-122"/>
                          <a:cs typeface="Times New Roman" panose="02020603050405020304" pitchFamily="18" charset="0"/>
                        </a:rPr>
                        <a:t>学习内容</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lnSpc>
                          <a:spcPct val="150000"/>
                        </a:lnSpc>
                        <a:spcAft>
                          <a:spcPts val="0"/>
                        </a:spcAft>
                      </a:pPr>
                      <a:r>
                        <a:rPr lang="zh-CN" altLang="en-US" sz="1200" kern="100" dirty="0">
                          <a:effectLst/>
                          <a:latin typeface="KaiTi" panose="02010609060101010101" pitchFamily="49" charset="-122"/>
                          <a:ea typeface="KaiTi" panose="02010609060101010101" pitchFamily="49" charset="-122"/>
                          <a:cs typeface="Times New Roman" panose="02020603050405020304" pitchFamily="18" charset="0"/>
                        </a:rPr>
                        <a:t>声、光、物态、运动</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lnSpc>
                          <a:spcPct val="150000"/>
                        </a:lnSpc>
                        <a:spcAft>
                          <a:spcPts val="0"/>
                        </a:spcAft>
                      </a:pPr>
                      <a:r>
                        <a:rPr lang="en-US" sz="1200" kern="100" dirty="0">
                          <a:solidFill>
                            <a:srgbClr val="C00000"/>
                          </a:solidFill>
                          <a:effectLst/>
                          <a:latin typeface="KaiTi" panose="02010609060101010101" pitchFamily="49" charset="-122"/>
                          <a:ea typeface="KaiTi" panose="02010609060101010101" pitchFamily="49" charset="-122"/>
                          <a:cs typeface="宋体" panose="02010600030101010101" pitchFamily="2" charset="-122"/>
                        </a:rPr>
                        <a:t> </a:t>
                      </a:r>
                      <a:r>
                        <a:rPr lang="zh-CN" altLang="en-US" sz="1200" kern="100" dirty="0">
                          <a:solidFill>
                            <a:srgbClr val="C00000"/>
                          </a:solidFill>
                          <a:effectLst/>
                          <a:latin typeface="KaiTi" panose="02010609060101010101" pitchFamily="49" charset="-122"/>
                          <a:ea typeface="KaiTi" panose="02010609060101010101" pitchFamily="49" charset="-122"/>
                          <a:cs typeface="宋体" panose="02010600030101010101" pitchFamily="2" charset="-122"/>
                        </a:rPr>
                        <a:t>质量、密度、力与运动、压强、浮力</a:t>
                      </a:r>
                      <a:endParaRPr lang="zh-CN" sz="105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r>
                        <a:rPr lang="zh-CN" altLang="en-US" sz="120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rPr>
                        <a:t>电路、欧姆定律、电功</a:t>
                      </a:r>
                      <a:r>
                        <a:rPr lang="en-US" altLang="zh-CN" sz="120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rPr>
                        <a:t>/</a:t>
                      </a:r>
                      <a:r>
                        <a:rPr lang="zh-CN" altLang="en-US" sz="120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rPr>
                        <a:t>电功率、电磁转换</a:t>
                      </a: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r>
                        <a:rPr lang="zh-CN" altLang="en-US" sz="1200" kern="100" dirty="0">
                          <a:solidFill>
                            <a:schemeClr val="tx1"/>
                          </a:solidFill>
                          <a:effectLst/>
                          <a:latin typeface="KaiTi" panose="02010609060101010101" pitchFamily="49" charset="-122"/>
                          <a:ea typeface="KaiTi" panose="02010609060101010101" pitchFamily="49" charset="-122"/>
                          <a:cs typeface="Times New Roman" panose="02020603050405020304" pitchFamily="18" charset="0"/>
                        </a:rPr>
                        <a:t>总复习</a:t>
                      </a: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r>
                        <a:rPr lang="en-US" altLang="zh-CN" sz="1200" kern="100" dirty="0">
                          <a:solidFill>
                            <a:schemeClr val="tx1"/>
                          </a:solidFill>
                          <a:effectLst/>
                          <a:latin typeface="KaiTi" panose="02010609060101010101" pitchFamily="49" charset="-122"/>
                          <a:ea typeface="KaiTi" panose="02010609060101010101" pitchFamily="49" charset="-122"/>
                          <a:cs typeface="Times New Roman" panose="02020603050405020304" pitchFamily="18" charset="0"/>
                        </a:rPr>
                        <a:t>🚩</a:t>
                      </a:r>
                      <a:endParaRPr lang="zh-CN" altLang="en-US" sz="1200" kern="100" dirty="0">
                        <a:solidFill>
                          <a:schemeClr val="tx1"/>
                        </a:solidFill>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1954342874"/>
                  </a:ext>
                </a:extLst>
              </a:tr>
            </a:tbl>
          </a:graphicData>
        </a:graphic>
      </p:graphicFrame>
      <p:sp>
        <p:nvSpPr>
          <p:cNvPr id="20" name="文本框 19">
            <a:extLst>
              <a:ext uri="{FF2B5EF4-FFF2-40B4-BE49-F238E27FC236}">
                <a16:creationId xmlns:a16="http://schemas.microsoft.com/office/drawing/2014/main" id="{5A7BD940-F147-C844-8141-27F5738EA516}"/>
              </a:ext>
            </a:extLst>
          </p:cNvPr>
          <p:cNvSpPr txBox="1"/>
          <p:nvPr/>
        </p:nvSpPr>
        <p:spPr>
          <a:xfrm>
            <a:off x="1108529" y="3457846"/>
            <a:ext cx="5757143" cy="461665"/>
          </a:xfrm>
          <a:prstGeom prst="rect">
            <a:avLst/>
          </a:prstGeom>
          <a:noFill/>
        </p:spPr>
        <p:txBody>
          <a:bodyPr wrap="square" rtlCol="0">
            <a:spAutoFit/>
          </a:bodyPr>
          <a:lstStyle/>
          <a:p>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重点：</a:t>
            </a:r>
            <a:endPar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a:p>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八下（力学）</a:t>
            </a:r>
            <a:r>
              <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九上（电学）</a:t>
            </a:r>
            <a:endPar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B49D920B-504F-E443-80E1-E5362C526C17}"/>
              </a:ext>
            </a:extLst>
          </p:cNvPr>
          <p:cNvSpPr/>
          <p:nvPr/>
        </p:nvSpPr>
        <p:spPr>
          <a:xfrm>
            <a:off x="683229" y="1271599"/>
            <a:ext cx="11043316" cy="4478037"/>
          </a:xfrm>
          <a:prstGeom prst="rect">
            <a:avLst/>
          </a:prstGeom>
          <a:solidFill>
            <a:schemeClr val="bg1">
              <a:lumMod val="95000"/>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8" name="矩形 7">
            <a:extLst>
              <a:ext uri="{FF2B5EF4-FFF2-40B4-BE49-F238E27FC236}">
                <a16:creationId xmlns:a16="http://schemas.microsoft.com/office/drawing/2014/main" id="{9E498107-496C-D649-9C0A-5336781AB0CF}"/>
              </a:ext>
            </a:extLst>
          </p:cNvPr>
          <p:cNvSpPr/>
          <p:nvPr/>
        </p:nvSpPr>
        <p:spPr>
          <a:xfrm>
            <a:off x="984545" y="1958240"/>
            <a:ext cx="10375713" cy="31830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1" name="矩形 40">
            <a:extLst>
              <a:ext uri="{FF2B5EF4-FFF2-40B4-BE49-F238E27FC236}">
                <a16:creationId xmlns:a16="http://schemas.microsoft.com/office/drawing/2014/main" id="{3356B501-BFD9-424A-92CE-7AC36276D91C}"/>
              </a:ext>
            </a:extLst>
          </p:cNvPr>
          <p:cNvSpPr/>
          <p:nvPr/>
        </p:nvSpPr>
        <p:spPr>
          <a:xfrm>
            <a:off x="2417736" y="2695525"/>
            <a:ext cx="6528556" cy="1627034"/>
          </a:xfrm>
          <a:prstGeom prst="rect">
            <a:avLst/>
          </a:prstGeom>
          <a:solidFill>
            <a:srgbClr val="FCED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文本框 2">
            <a:extLst>
              <a:ext uri="{FF2B5EF4-FFF2-40B4-BE49-F238E27FC236}">
                <a16:creationId xmlns:a16="http://schemas.microsoft.com/office/drawing/2014/main" id="{DAAE971C-D36F-5C4F-AF63-A1FA3771E6E8}"/>
              </a:ext>
            </a:extLst>
          </p:cNvPr>
          <p:cNvSpPr txBox="1"/>
          <p:nvPr/>
        </p:nvSpPr>
        <p:spPr>
          <a:xfrm>
            <a:off x="1108530" y="5169994"/>
            <a:ext cx="9503133" cy="1142620"/>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rPr>
              <a:t>高中物理的核心：</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rPr>
              <a:t>{</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rPr>
              <a:t>理解概念</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rPr>
              <a:t>}+{</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rPr>
              <a:t>知识点融会贯通</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rPr>
              <a:t>}+{</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rPr>
              <a:t>把握动力学分析</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rPr>
              <a:t>}</a:t>
            </a:r>
          </a:p>
          <a:p>
            <a:pPr>
              <a:lnSpc>
                <a:spcPct val="150000"/>
              </a:lnSpc>
            </a:pPr>
            <a:endParaRPr kumimoji="1" lang="en-US" altLang="zh-CN" sz="1600" dirty="0">
              <a:solidFill>
                <a:schemeClr val="tx1">
                  <a:lumMod val="50000"/>
                  <a:lumOff val="50000"/>
                </a:schemeClr>
              </a:solidFill>
              <a:latin typeface="KaiTi" panose="02010609060101010101" pitchFamily="49" charset="-122"/>
              <a:ea typeface="KaiTi" panose="02010609060101010101" pitchFamily="49" charset="-122"/>
            </a:endParaRPr>
          </a:p>
          <a:p>
            <a:pPr>
              <a:lnSpc>
                <a:spcPct val="150000"/>
              </a:lnSpc>
            </a:pPr>
            <a:endParaRPr kumimoji="1" lang="en-US"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p:txBody>
      </p:sp>
      <p:sp>
        <p:nvSpPr>
          <p:cNvPr id="4" name="文本框 3">
            <a:extLst>
              <a:ext uri="{FF2B5EF4-FFF2-40B4-BE49-F238E27FC236}">
                <a16:creationId xmlns:a16="http://schemas.microsoft.com/office/drawing/2014/main" id="{94442722-D24F-7342-BAAE-C1A2206C9DEA}"/>
              </a:ext>
            </a:extLst>
          </p:cNvPr>
          <p:cNvSpPr txBox="1"/>
          <p:nvPr/>
        </p:nvSpPr>
        <p:spPr>
          <a:xfrm>
            <a:off x="683229" y="809436"/>
            <a:ext cx="4942702" cy="307777"/>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哪些知识？</a:t>
            </a:r>
          </a:p>
        </p:txBody>
      </p:sp>
      <p:sp>
        <p:nvSpPr>
          <p:cNvPr id="6" name="矩形 5">
            <a:extLst>
              <a:ext uri="{FF2B5EF4-FFF2-40B4-BE49-F238E27FC236}">
                <a16:creationId xmlns:a16="http://schemas.microsoft.com/office/drawing/2014/main" id="{816CAE0A-BEF6-744D-BE73-9E3D9A7309B4}"/>
              </a:ext>
            </a:extLst>
          </p:cNvPr>
          <p:cNvSpPr/>
          <p:nvPr/>
        </p:nvSpPr>
        <p:spPr>
          <a:xfrm>
            <a:off x="721660" y="1347341"/>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A964E578-38D6-3944-8EAE-E6CD67EF4259}"/>
              </a:ext>
            </a:extLst>
          </p:cNvPr>
          <p:cNvSpPr txBox="1"/>
          <p:nvPr/>
        </p:nvSpPr>
        <p:spPr>
          <a:xfrm>
            <a:off x="1108530" y="1295247"/>
            <a:ext cx="7837762" cy="688137"/>
          </a:xfrm>
          <a:prstGeom prst="rect">
            <a:avLst/>
          </a:prstGeom>
          <a:noFill/>
        </p:spPr>
        <p:txBody>
          <a:bodyPr wrap="square" rtlCol="0">
            <a:spAutoFit/>
          </a:bodyPr>
          <a:lstStyle/>
          <a:p>
            <a:pPr>
              <a:lnSpc>
                <a:spcPct val="150000"/>
              </a:lnSpc>
            </a:pP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rPr>
              <a:t>初高中物理思维导图</a:t>
            </a:r>
          </a:p>
          <a:p>
            <a:pPr>
              <a:lnSpc>
                <a:spcPct val="150000"/>
              </a:lnSpc>
            </a:pPr>
            <a:endParaRPr kumimoji="1" lang="zh-CN" altLang="en-US" sz="1400" dirty="0">
              <a:solidFill>
                <a:schemeClr val="tx1">
                  <a:lumMod val="50000"/>
                  <a:lumOff val="50000"/>
                </a:schemeClr>
              </a:solidFill>
              <a:latin typeface="KaiTi" panose="02010609060101010101" pitchFamily="49" charset="-122"/>
              <a:ea typeface="KaiTi" panose="02010609060101010101" pitchFamily="49" charset="-122"/>
            </a:endParaRPr>
          </a:p>
        </p:txBody>
      </p:sp>
      <p:sp>
        <p:nvSpPr>
          <p:cNvPr id="9" name="文本框 8">
            <a:extLst>
              <a:ext uri="{FF2B5EF4-FFF2-40B4-BE49-F238E27FC236}">
                <a16:creationId xmlns:a16="http://schemas.microsoft.com/office/drawing/2014/main" id="{F0AFF280-8639-1645-ADBA-D45414D78FF8}"/>
              </a:ext>
            </a:extLst>
          </p:cNvPr>
          <p:cNvSpPr txBox="1"/>
          <p:nvPr/>
        </p:nvSpPr>
        <p:spPr>
          <a:xfrm>
            <a:off x="984546" y="1958240"/>
            <a:ext cx="2151505" cy="276999"/>
          </a:xfrm>
          <a:prstGeom prst="rect">
            <a:avLst/>
          </a:prstGeom>
          <a:solidFill>
            <a:srgbClr val="F9CDCC"/>
          </a:solidFill>
        </p:spPr>
        <p:txBody>
          <a:bodyPr wrap="square" rtlCol="0">
            <a:spAutoFit/>
          </a:bodyPr>
          <a:lstStyle/>
          <a:p>
            <a:r>
              <a:rPr lang="zh-CN" altLang="en-US" sz="1200" b="1" dirty="0">
                <a:latin typeface="KaiTi" panose="02010609060101010101" pitchFamily="49" charset="-122"/>
                <a:ea typeface="KaiTi" panose="02010609060101010101" pitchFamily="49" charset="-122"/>
              </a:rPr>
              <a:t>②</a:t>
            </a:r>
            <a:r>
              <a:rPr lang="zh-CN" altLang="en-US" sz="1200" b="1" dirty="0"/>
              <a:t> </a:t>
            </a:r>
            <a:r>
              <a:rPr kumimoji="1" lang="zh-CN" altLang="en-US" sz="1200" b="1" dirty="0">
                <a:latin typeface="KaiTi" panose="02010609060101010101" pitchFamily="49" charset="-122"/>
                <a:ea typeface="KaiTi" panose="02010609060101010101" pitchFamily="49" charset="-122"/>
                <a:cs typeface="Times New Roman" panose="02020603050405020304" pitchFamily="18" charset="0"/>
              </a:rPr>
              <a:t>高中</a:t>
            </a:r>
            <a:r>
              <a:rPr kumimoji="1" lang="en-US" altLang="zh-CN" sz="1200" b="1"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200" b="1" dirty="0">
                <a:latin typeface="KaiTi" panose="02010609060101010101" pitchFamily="49" charset="-122"/>
                <a:ea typeface="KaiTi" panose="02010609060101010101" pitchFamily="49" charset="-122"/>
                <a:cs typeface="Times New Roman" panose="02020603050405020304" pitchFamily="18" charset="0"/>
              </a:rPr>
              <a:t>物理</a:t>
            </a:r>
          </a:p>
        </p:txBody>
      </p:sp>
      <p:sp>
        <p:nvSpPr>
          <p:cNvPr id="10" name="文本框 9">
            <a:extLst>
              <a:ext uri="{FF2B5EF4-FFF2-40B4-BE49-F238E27FC236}">
                <a16:creationId xmlns:a16="http://schemas.microsoft.com/office/drawing/2014/main" id="{1E8CE9DD-BE0A-B243-A2AA-1AF7E2132388}"/>
              </a:ext>
            </a:extLst>
          </p:cNvPr>
          <p:cNvSpPr txBox="1"/>
          <p:nvPr/>
        </p:nvSpPr>
        <p:spPr>
          <a:xfrm>
            <a:off x="984546" y="2323430"/>
            <a:ext cx="5757143" cy="461665"/>
          </a:xfrm>
          <a:prstGeom prst="rect">
            <a:avLst/>
          </a:prstGeom>
          <a:noFill/>
        </p:spPr>
        <p:txBody>
          <a:bodyPr wrap="square" rtlCol="0">
            <a:spAutoFit/>
          </a:bodyPr>
          <a:lstStyle/>
          <a:p>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重点考点：</a:t>
            </a:r>
            <a:endPar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a:p>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动力学</a:t>
            </a:r>
            <a:r>
              <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电、磁</a:t>
            </a:r>
            <a:endPar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p:txBody>
      </p:sp>
      <p:cxnSp>
        <p:nvCxnSpPr>
          <p:cNvPr id="15" name="直线连接符 14">
            <a:extLst>
              <a:ext uri="{FF2B5EF4-FFF2-40B4-BE49-F238E27FC236}">
                <a16:creationId xmlns:a16="http://schemas.microsoft.com/office/drawing/2014/main" id="{392AD85F-F15E-4849-A856-23B99721F21F}"/>
              </a:ext>
            </a:extLst>
          </p:cNvPr>
          <p:cNvCxnSpPr>
            <a:cxnSpLocks/>
          </p:cNvCxnSpPr>
          <p:nvPr/>
        </p:nvCxnSpPr>
        <p:spPr>
          <a:xfrm>
            <a:off x="582977" y="700757"/>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7" name="直线连接符 16">
            <a:extLst>
              <a:ext uri="{FF2B5EF4-FFF2-40B4-BE49-F238E27FC236}">
                <a16:creationId xmlns:a16="http://schemas.microsoft.com/office/drawing/2014/main" id="{4660D11D-A19F-8744-8DBC-B04157B3D03C}"/>
              </a:ext>
            </a:extLst>
          </p:cNvPr>
          <p:cNvCxnSpPr>
            <a:cxnSpLocks/>
          </p:cNvCxnSpPr>
          <p:nvPr/>
        </p:nvCxnSpPr>
        <p:spPr>
          <a:xfrm>
            <a:off x="582977" y="6079573"/>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18" name="表格 17">
            <a:extLst>
              <a:ext uri="{FF2B5EF4-FFF2-40B4-BE49-F238E27FC236}">
                <a16:creationId xmlns:a16="http://schemas.microsoft.com/office/drawing/2014/main" id="{1C4FD9F3-1BC1-1F4E-A9B2-A901043499C8}"/>
              </a:ext>
            </a:extLst>
          </p:cNvPr>
          <p:cNvGraphicFramePr>
            <a:graphicFrameLocks noGrp="1"/>
          </p:cNvGraphicFramePr>
          <p:nvPr>
            <p:extLst>
              <p:ext uri="{D42A27DB-BD31-4B8C-83A1-F6EECF244321}">
                <p14:modId xmlns:p14="http://schemas.microsoft.com/office/powerpoint/2010/main" val="2717510720"/>
              </p:ext>
            </p:extLst>
          </p:nvPr>
        </p:nvGraphicFramePr>
        <p:xfrm>
          <a:off x="1137158" y="3592989"/>
          <a:ext cx="7648515" cy="588758"/>
        </p:xfrm>
        <a:graphic>
          <a:graphicData uri="http://schemas.openxmlformats.org/drawingml/2006/table">
            <a:tbl>
              <a:tblPr firstRow="1" firstCol="1" bandRow="1"/>
              <a:tblGrid>
                <a:gridCol w="1270355">
                  <a:extLst>
                    <a:ext uri="{9D8B030D-6E8A-4147-A177-3AD203B41FA5}">
                      <a16:colId xmlns:a16="http://schemas.microsoft.com/office/drawing/2014/main" val="454968088"/>
                    </a:ext>
                  </a:extLst>
                </a:gridCol>
                <a:gridCol w="2420652">
                  <a:extLst>
                    <a:ext uri="{9D8B030D-6E8A-4147-A177-3AD203B41FA5}">
                      <a16:colId xmlns:a16="http://schemas.microsoft.com/office/drawing/2014/main" val="578789135"/>
                    </a:ext>
                  </a:extLst>
                </a:gridCol>
                <a:gridCol w="2093364">
                  <a:extLst>
                    <a:ext uri="{9D8B030D-6E8A-4147-A177-3AD203B41FA5}">
                      <a16:colId xmlns:a16="http://schemas.microsoft.com/office/drawing/2014/main" val="1368306751"/>
                    </a:ext>
                  </a:extLst>
                </a:gridCol>
                <a:gridCol w="1864144">
                  <a:extLst>
                    <a:ext uri="{9D8B030D-6E8A-4147-A177-3AD203B41FA5}">
                      <a16:colId xmlns:a16="http://schemas.microsoft.com/office/drawing/2014/main" val="2527633977"/>
                    </a:ext>
                  </a:extLst>
                </a:gridCol>
              </a:tblGrid>
              <a:tr h="294379">
                <a:tc>
                  <a:txBody>
                    <a:bodyPr/>
                    <a:lstStyle/>
                    <a:p>
                      <a:pPr algn="ctr">
                        <a:lnSpc>
                          <a:spcPct val="150000"/>
                        </a:lnSpc>
                        <a:spcAft>
                          <a:spcPts val="0"/>
                        </a:spcAft>
                      </a:pPr>
                      <a:r>
                        <a:rPr lang="zh-CN" altLang="en-US" sz="1050" kern="100" dirty="0">
                          <a:effectLst/>
                          <a:latin typeface="KaiTi" panose="02010609060101010101" pitchFamily="49" charset="-122"/>
                          <a:ea typeface="KaiTi" panose="02010609060101010101" pitchFamily="49" charset="-122"/>
                          <a:cs typeface="Times New Roman" panose="02020603050405020304" pitchFamily="18" charset="0"/>
                        </a:rPr>
                        <a:t>动力学核心内容</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lnSpc>
                          <a:spcPct val="150000"/>
                        </a:lnSpc>
                        <a:spcAft>
                          <a:spcPts val="0"/>
                        </a:spcAft>
                      </a:pPr>
                      <a:r>
                        <a:rPr lang="zh-CN" altLang="en-US" sz="1200" kern="100" dirty="0">
                          <a:solidFill>
                            <a:srgbClr val="C00000"/>
                          </a:solidFill>
                          <a:effectLst/>
                          <a:latin typeface="KaiTi" panose="02010609060101010101" pitchFamily="49" charset="-122"/>
                          <a:ea typeface="KaiTi" panose="02010609060101010101" pitchFamily="49" charset="-122"/>
                          <a:cs typeface="宋体" panose="02010600030101010101" pitchFamily="2" charset="-122"/>
                        </a:rPr>
                        <a:t>功能分析</a:t>
                      </a:r>
                      <a:endParaRPr lang="zh-CN" sz="105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lnSpc>
                          <a:spcPct val="150000"/>
                        </a:lnSpc>
                        <a:spcAft>
                          <a:spcPts val="0"/>
                        </a:spcAft>
                      </a:pPr>
                      <a:r>
                        <a:rPr lang="zh-CN" altLang="en-US" sz="120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rPr>
                        <a:t>动力学分析</a:t>
                      </a:r>
                      <a:endParaRPr lang="zh-CN" sz="105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lnSpc>
                          <a:spcPct val="150000"/>
                        </a:lnSpc>
                        <a:spcAft>
                          <a:spcPts val="0"/>
                        </a:spcAft>
                      </a:pPr>
                      <a:r>
                        <a:rPr lang="zh-CN" altLang="en-US" sz="120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rPr>
                        <a:t>动量分析</a:t>
                      </a:r>
                      <a:endParaRPr lang="zh-CN" sz="105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392909552"/>
                  </a:ext>
                </a:extLst>
              </a:tr>
              <a:tr h="294379">
                <a:tc>
                  <a:txBody>
                    <a:bodyPr/>
                    <a:lstStyle/>
                    <a:p>
                      <a:pPr algn="ctr">
                        <a:lnSpc>
                          <a:spcPct val="150000"/>
                        </a:lnSpc>
                        <a:spcAft>
                          <a:spcPts val="0"/>
                        </a:spcAft>
                      </a:pPr>
                      <a:r>
                        <a:rPr lang="zh-CN" altLang="en-US" sz="1050" kern="100" dirty="0">
                          <a:effectLst/>
                          <a:latin typeface="KaiTi" panose="02010609060101010101" pitchFamily="49" charset="-122"/>
                          <a:ea typeface="KaiTi" panose="02010609060101010101" pitchFamily="49" charset="-122"/>
                          <a:cs typeface="Times New Roman" panose="02020603050405020304" pitchFamily="18" charset="0"/>
                        </a:rPr>
                        <a:t>年级</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lnSpc>
                          <a:spcPct val="150000"/>
                        </a:lnSpc>
                        <a:spcAft>
                          <a:spcPts val="0"/>
                        </a:spcAft>
                      </a:pPr>
                      <a:r>
                        <a:rPr lang="en-US"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 </a:t>
                      </a:r>
                      <a:r>
                        <a:rPr lang="zh-CN" altLang="en-US"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高一下（必修</a:t>
                      </a:r>
                      <a:r>
                        <a:rPr lang="en-US" altLang="zh-CN"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2</a:t>
                      </a:r>
                      <a:r>
                        <a:rPr lang="zh-CN" altLang="en-US"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r>
                        <a:rPr lang="zh-CN" altLang="en-US" sz="120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rPr>
                        <a:t>高一上（必修</a:t>
                      </a:r>
                      <a:r>
                        <a:rPr lang="en-US" altLang="zh-CN" sz="120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rPr>
                        <a:t>1</a:t>
                      </a:r>
                      <a:r>
                        <a:rPr lang="zh-CN" altLang="en-US" sz="120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rPr>
                        <a:t>）</a:t>
                      </a: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r>
                        <a:rPr lang="zh-CN" altLang="en-US" sz="1200" kern="100" dirty="0">
                          <a:solidFill>
                            <a:schemeClr val="tx1"/>
                          </a:solidFill>
                          <a:effectLst/>
                          <a:latin typeface="KaiTi" panose="02010609060101010101" pitchFamily="49" charset="-122"/>
                          <a:ea typeface="KaiTi" panose="02010609060101010101" pitchFamily="49" charset="-122"/>
                          <a:cs typeface="Times New Roman" panose="02020603050405020304" pitchFamily="18" charset="0"/>
                        </a:rPr>
                        <a:t>高一下（选修</a:t>
                      </a:r>
                      <a:r>
                        <a:rPr lang="en-US" altLang="zh-CN" sz="1200" kern="100" dirty="0">
                          <a:solidFill>
                            <a:schemeClr val="tx1"/>
                          </a:solidFill>
                          <a:effectLst/>
                          <a:latin typeface="KaiTi" panose="02010609060101010101" pitchFamily="49" charset="-122"/>
                          <a:ea typeface="KaiTi" panose="02010609060101010101" pitchFamily="49" charset="-122"/>
                          <a:cs typeface="Times New Roman" panose="02020603050405020304" pitchFamily="18" charset="0"/>
                        </a:rPr>
                        <a:t>1</a:t>
                      </a:r>
                      <a:r>
                        <a:rPr lang="zh-CN" altLang="en-US" sz="1200" kern="100" dirty="0">
                          <a:solidFill>
                            <a:schemeClr val="tx1"/>
                          </a:solidFill>
                          <a:effectLst/>
                          <a:latin typeface="KaiTi" panose="02010609060101010101" pitchFamily="49" charset="-122"/>
                          <a:ea typeface="KaiTi" panose="02010609060101010101" pitchFamily="49" charset="-122"/>
                          <a:cs typeface="Times New Roman" panose="02020603050405020304" pitchFamily="18" charset="0"/>
                        </a:rPr>
                        <a:t>）</a:t>
                      </a: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1954342874"/>
                  </a:ext>
                </a:extLst>
              </a:tr>
            </a:tbl>
          </a:graphicData>
        </a:graphic>
      </p:graphicFrame>
      <p:graphicFrame>
        <p:nvGraphicFramePr>
          <p:cNvPr id="16" name="表格 15">
            <a:extLst>
              <a:ext uri="{FF2B5EF4-FFF2-40B4-BE49-F238E27FC236}">
                <a16:creationId xmlns:a16="http://schemas.microsoft.com/office/drawing/2014/main" id="{01E007F1-C664-6A4B-96E2-9D63CB47A60B}"/>
              </a:ext>
            </a:extLst>
          </p:cNvPr>
          <p:cNvGraphicFramePr>
            <a:graphicFrameLocks noGrp="1"/>
          </p:cNvGraphicFramePr>
          <p:nvPr>
            <p:extLst>
              <p:ext uri="{D42A27DB-BD31-4B8C-83A1-F6EECF244321}">
                <p14:modId xmlns:p14="http://schemas.microsoft.com/office/powerpoint/2010/main" val="4244375158"/>
              </p:ext>
            </p:extLst>
          </p:nvPr>
        </p:nvGraphicFramePr>
        <p:xfrm>
          <a:off x="4913871" y="2049773"/>
          <a:ext cx="1556952" cy="588758"/>
        </p:xfrm>
        <a:graphic>
          <a:graphicData uri="http://schemas.openxmlformats.org/drawingml/2006/table">
            <a:tbl>
              <a:tblPr firstRow="1" firstCol="1" bandRow="1"/>
              <a:tblGrid>
                <a:gridCol w="1556952">
                  <a:extLst>
                    <a:ext uri="{9D8B030D-6E8A-4147-A177-3AD203B41FA5}">
                      <a16:colId xmlns:a16="http://schemas.microsoft.com/office/drawing/2014/main" val="578789135"/>
                    </a:ext>
                  </a:extLst>
                </a:gridCol>
              </a:tblGrid>
              <a:tr h="294379">
                <a:tc>
                  <a:txBody>
                    <a:bodyPr/>
                    <a:lstStyle/>
                    <a:p>
                      <a:pPr algn="ctr">
                        <a:lnSpc>
                          <a:spcPct val="150000"/>
                        </a:lnSpc>
                        <a:spcAft>
                          <a:spcPts val="0"/>
                        </a:spcAft>
                      </a:pPr>
                      <a:r>
                        <a:rPr lang="zh-CN" altLang="en-US" sz="1200" kern="100" dirty="0">
                          <a:solidFill>
                            <a:srgbClr val="C00000"/>
                          </a:solidFill>
                          <a:effectLst/>
                          <a:latin typeface="KaiTi" panose="02010609060101010101" pitchFamily="49" charset="-122"/>
                          <a:ea typeface="KaiTi" panose="02010609060101010101" pitchFamily="49" charset="-122"/>
                          <a:cs typeface="宋体" panose="02010600030101010101" pitchFamily="2" charset="-122"/>
                        </a:rPr>
                        <a:t>电磁现象</a:t>
                      </a:r>
                      <a:endParaRPr lang="zh-CN" sz="105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392909552"/>
                  </a:ext>
                </a:extLst>
              </a:tr>
              <a:tr h="294379">
                <a:tc>
                  <a:txBody>
                    <a:bodyPr/>
                    <a:lstStyle/>
                    <a:p>
                      <a:pPr algn="ctr">
                        <a:lnSpc>
                          <a:spcPct val="150000"/>
                        </a:lnSpc>
                        <a:spcAft>
                          <a:spcPts val="0"/>
                        </a:spcAft>
                      </a:pPr>
                      <a:r>
                        <a:rPr lang="en-US"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 </a:t>
                      </a:r>
                      <a:r>
                        <a:rPr lang="zh-CN" altLang="en-US"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高二上（必修</a:t>
                      </a:r>
                      <a:r>
                        <a:rPr lang="en-US" altLang="zh-CN"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3+</a:t>
                      </a:r>
                      <a:r>
                        <a:rPr lang="zh-CN" altLang="en-US"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选修</a:t>
                      </a:r>
                      <a:r>
                        <a:rPr lang="en-US" altLang="zh-CN"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2</a:t>
                      </a:r>
                      <a:r>
                        <a:rPr lang="zh-CN" altLang="en-US"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1954342874"/>
                  </a:ext>
                </a:extLst>
              </a:tr>
            </a:tbl>
          </a:graphicData>
        </a:graphic>
      </p:graphicFrame>
      <p:graphicFrame>
        <p:nvGraphicFramePr>
          <p:cNvPr id="21" name="表格 20">
            <a:extLst>
              <a:ext uri="{FF2B5EF4-FFF2-40B4-BE49-F238E27FC236}">
                <a16:creationId xmlns:a16="http://schemas.microsoft.com/office/drawing/2014/main" id="{B98D2D48-7F4E-684F-BDBD-76FF3C498880}"/>
              </a:ext>
            </a:extLst>
          </p:cNvPr>
          <p:cNvGraphicFramePr>
            <a:graphicFrameLocks noGrp="1"/>
          </p:cNvGraphicFramePr>
          <p:nvPr>
            <p:extLst>
              <p:ext uri="{D42A27DB-BD31-4B8C-83A1-F6EECF244321}">
                <p14:modId xmlns:p14="http://schemas.microsoft.com/office/powerpoint/2010/main" val="4114386883"/>
              </p:ext>
            </p:extLst>
          </p:nvPr>
        </p:nvGraphicFramePr>
        <p:xfrm>
          <a:off x="3857385" y="2810098"/>
          <a:ext cx="1556952" cy="588758"/>
        </p:xfrm>
        <a:graphic>
          <a:graphicData uri="http://schemas.openxmlformats.org/drawingml/2006/table">
            <a:tbl>
              <a:tblPr firstRow="1" firstCol="1" bandRow="1"/>
              <a:tblGrid>
                <a:gridCol w="1556952">
                  <a:extLst>
                    <a:ext uri="{9D8B030D-6E8A-4147-A177-3AD203B41FA5}">
                      <a16:colId xmlns:a16="http://schemas.microsoft.com/office/drawing/2014/main" val="578789135"/>
                    </a:ext>
                  </a:extLst>
                </a:gridCol>
              </a:tblGrid>
              <a:tr h="294379">
                <a:tc>
                  <a:txBody>
                    <a:bodyPr/>
                    <a:lstStyle/>
                    <a:p>
                      <a:pPr algn="ctr">
                        <a:lnSpc>
                          <a:spcPct val="150000"/>
                        </a:lnSpc>
                        <a:spcAft>
                          <a:spcPts val="0"/>
                        </a:spcAft>
                      </a:pPr>
                      <a:r>
                        <a:rPr lang="zh-CN" altLang="en-US"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曲线运动</a:t>
                      </a:r>
                      <a:r>
                        <a:rPr lang="en-US" altLang="zh-CN"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a:t>
                      </a:r>
                      <a:r>
                        <a:rPr lang="zh-CN" altLang="en-US"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天体运动</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392909552"/>
                  </a:ext>
                </a:extLst>
              </a:tr>
              <a:tr h="294379">
                <a:tc>
                  <a:txBody>
                    <a:bodyPr/>
                    <a:lstStyle/>
                    <a:p>
                      <a:pPr algn="ctr">
                        <a:lnSpc>
                          <a:spcPct val="150000"/>
                        </a:lnSpc>
                        <a:spcAft>
                          <a:spcPts val="0"/>
                        </a:spcAft>
                      </a:pPr>
                      <a:r>
                        <a:rPr lang="en-US"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 </a:t>
                      </a:r>
                      <a:r>
                        <a:rPr lang="zh-CN" altLang="en-US"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高一下（必修</a:t>
                      </a:r>
                      <a:r>
                        <a:rPr lang="en-US" altLang="zh-CN"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2</a:t>
                      </a:r>
                      <a:r>
                        <a:rPr lang="zh-CN" altLang="en-US"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1954342874"/>
                  </a:ext>
                </a:extLst>
              </a:tr>
            </a:tbl>
          </a:graphicData>
        </a:graphic>
      </p:graphicFrame>
      <p:graphicFrame>
        <p:nvGraphicFramePr>
          <p:cNvPr id="22" name="表格 21">
            <a:extLst>
              <a:ext uri="{FF2B5EF4-FFF2-40B4-BE49-F238E27FC236}">
                <a16:creationId xmlns:a16="http://schemas.microsoft.com/office/drawing/2014/main" id="{39AC0AB0-6706-8C40-84ED-4657CECDCA92}"/>
              </a:ext>
            </a:extLst>
          </p:cNvPr>
          <p:cNvGraphicFramePr>
            <a:graphicFrameLocks noGrp="1"/>
          </p:cNvGraphicFramePr>
          <p:nvPr>
            <p:extLst>
              <p:ext uri="{D42A27DB-BD31-4B8C-83A1-F6EECF244321}">
                <p14:modId xmlns:p14="http://schemas.microsoft.com/office/powerpoint/2010/main" val="3513761209"/>
              </p:ext>
            </p:extLst>
          </p:nvPr>
        </p:nvGraphicFramePr>
        <p:xfrm>
          <a:off x="6025411" y="2810098"/>
          <a:ext cx="1556952" cy="588758"/>
        </p:xfrm>
        <a:graphic>
          <a:graphicData uri="http://schemas.openxmlformats.org/drawingml/2006/table">
            <a:tbl>
              <a:tblPr firstRow="1" firstCol="1" bandRow="1"/>
              <a:tblGrid>
                <a:gridCol w="1556952">
                  <a:extLst>
                    <a:ext uri="{9D8B030D-6E8A-4147-A177-3AD203B41FA5}">
                      <a16:colId xmlns:a16="http://schemas.microsoft.com/office/drawing/2014/main" val="578789135"/>
                    </a:ext>
                  </a:extLst>
                </a:gridCol>
              </a:tblGrid>
              <a:tr h="294379">
                <a:tc>
                  <a:txBody>
                    <a:bodyPr/>
                    <a:lstStyle/>
                    <a:p>
                      <a:pPr algn="ctr">
                        <a:lnSpc>
                          <a:spcPct val="150000"/>
                        </a:lnSpc>
                        <a:spcAft>
                          <a:spcPts val="0"/>
                        </a:spcAft>
                      </a:pPr>
                      <a:r>
                        <a:rPr lang="zh-CN" altLang="en-US"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直线运动</a:t>
                      </a:r>
                      <a:r>
                        <a:rPr lang="en-US" altLang="zh-CN"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a:t>
                      </a:r>
                      <a:r>
                        <a:rPr lang="zh-CN" altLang="en-US"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天体运动</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392909552"/>
                  </a:ext>
                </a:extLst>
              </a:tr>
              <a:tr h="294379">
                <a:tc>
                  <a:txBody>
                    <a:bodyPr/>
                    <a:lstStyle/>
                    <a:p>
                      <a:pPr algn="ctr">
                        <a:lnSpc>
                          <a:spcPct val="150000"/>
                        </a:lnSpc>
                        <a:spcAft>
                          <a:spcPts val="0"/>
                        </a:spcAft>
                      </a:pPr>
                      <a:r>
                        <a:rPr lang="en-US"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 </a:t>
                      </a:r>
                      <a:r>
                        <a:rPr lang="zh-CN" altLang="en-US"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高一上（必修</a:t>
                      </a:r>
                      <a:r>
                        <a:rPr lang="en-US" altLang="zh-CN"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1</a:t>
                      </a:r>
                      <a:r>
                        <a:rPr lang="zh-CN" altLang="en-US"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1954342874"/>
                  </a:ext>
                </a:extLst>
              </a:tr>
            </a:tbl>
          </a:graphicData>
        </a:graphic>
      </p:graphicFrame>
      <p:graphicFrame>
        <p:nvGraphicFramePr>
          <p:cNvPr id="23" name="表格 22">
            <a:extLst>
              <a:ext uri="{FF2B5EF4-FFF2-40B4-BE49-F238E27FC236}">
                <a16:creationId xmlns:a16="http://schemas.microsoft.com/office/drawing/2014/main" id="{A4F6BE56-8957-0846-9FEE-3AD7D6782389}"/>
              </a:ext>
            </a:extLst>
          </p:cNvPr>
          <p:cNvGraphicFramePr>
            <a:graphicFrameLocks noGrp="1"/>
          </p:cNvGraphicFramePr>
          <p:nvPr>
            <p:extLst>
              <p:ext uri="{D42A27DB-BD31-4B8C-83A1-F6EECF244321}">
                <p14:modId xmlns:p14="http://schemas.microsoft.com/office/powerpoint/2010/main" val="3292117056"/>
              </p:ext>
            </p:extLst>
          </p:nvPr>
        </p:nvGraphicFramePr>
        <p:xfrm>
          <a:off x="9706795" y="3590576"/>
          <a:ext cx="1556952" cy="588758"/>
        </p:xfrm>
        <a:graphic>
          <a:graphicData uri="http://schemas.openxmlformats.org/drawingml/2006/table">
            <a:tbl>
              <a:tblPr firstRow="1" firstCol="1" bandRow="1"/>
              <a:tblGrid>
                <a:gridCol w="1556952">
                  <a:extLst>
                    <a:ext uri="{9D8B030D-6E8A-4147-A177-3AD203B41FA5}">
                      <a16:colId xmlns:a16="http://schemas.microsoft.com/office/drawing/2014/main" val="578789135"/>
                    </a:ext>
                  </a:extLst>
                </a:gridCol>
              </a:tblGrid>
              <a:tr h="294379">
                <a:tc>
                  <a:txBody>
                    <a:bodyPr/>
                    <a:lstStyle/>
                    <a:p>
                      <a:pPr algn="ctr">
                        <a:lnSpc>
                          <a:spcPct val="150000"/>
                        </a:lnSpc>
                        <a:spcAft>
                          <a:spcPts val="0"/>
                        </a:spcAft>
                      </a:pPr>
                      <a:r>
                        <a:rPr lang="zh-CN" altLang="en-US"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波、光、热、原</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392909552"/>
                  </a:ext>
                </a:extLst>
              </a:tr>
              <a:tr h="294379">
                <a:tc>
                  <a:txBody>
                    <a:bodyPr/>
                    <a:lstStyle/>
                    <a:p>
                      <a:pPr algn="ctr">
                        <a:lnSpc>
                          <a:spcPct val="150000"/>
                        </a:lnSpc>
                        <a:spcAft>
                          <a:spcPts val="0"/>
                        </a:spcAft>
                      </a:pPr>
                      <a:r>
                        <a:rPr lang="en-US"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 </a:t>
                      </a:r>
                      <a:r>
                        <a:rPr lang="zh-CN" altLang="en-US"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高二下（选修</a:t>
                      </a:r>
                      <a:r>
                        <a:rPr lang="en-US" altLang="zh-CN"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1</a:t>
                      </a:r>
                      <a:r>
                        <a:rPr lang="zh-CN" altLang="en-US"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1954342874"/>
                  </a:ext>
                </a:extLst>
              </a:tr>
            </a:tbl>
          </a:graphicData>
        </a:graphic>
      </p:graphicFrame>
      <p:graphicFrame>
        <p:nvGraphicFramePr>
          <p:cNvPr id="24" name="表格 23">
            <a:extLst>
              <a:ext uri="{FF2B5EF4-FFF2-40B4-BE49-F238E27FC236}">
                <a16:creationId xmlns:a16="http://schemas.microsoft.com/office/drawing/2014/main" id="{205329B2-DE2E-3044-AC82-2B4B858170E3}"/>
              </a:ext>
            </a:extLst>
          </p:cNvPr>
          <p:cNvGraphicFramePr>
            <a:graphicFrameLocks noGrp="1"/>
          </p:cNvGraphicFramePr>
          <p:nvPr>
            <p:extLst>
              <p:ext uri="{D42A27DB-BD31-4B8C-83A1-F6EECF244321}">
                <p14:modId xmlns:p14="http://schemas.microsoft.com/office/powerpoint/2010/main" val="2294911195"/>
              </p:ext>
            </p:extLst>
          </p:nvPr>
        </p:nvGraphicFramePr>
        <p:xfrm>
          <a:off x="2656716" y="4446939"/>
          <a:ext cx="848498" cy="505778"/>
        </p:xfrm>
        <a:graphic>
          <a:graphicData uri="http://schemas.openxmlformats.org/drawingml/2006/table">
            <a:tbl>
              <a:tblPr firstRow="1" firstCol="1" bandRow="1"/>
              <a:tblGrid>
                <a:gridCol w="848498">
                  <a:extLst>
                    <a:ext uri="{9D8B030D-6E8A-4147-A177-3AD203B41FA5}">
                      <a16:colId xmlns:a16="http://schemas.microsoft.com/office/drawing/2014/main" val="578789135"/>
                    </a:ext>
                  </a:extLst>
                </a:gridCol>
              </a:tblGrid>
              <a:tr h="225231">
                <a:tc>
                  <a:txBody>
                    <a:bodyPr/>
                    <a:lstStyle/>
                    <a:p>
                      <a:pPr algn="ctr">
                        <a:lnSpc>
                          <a:spcPct val="150000"/>
                        </a:lnSpc>
                        <a:spcAft>
                          <a:spcPts val="0"/>
                        </a:spcAft>
                      </a:pPr>
                      <a:r>
                        <a:rPr lang="zh-CN" altLang="en-US" sz="1200" kern="100" dirty="0">
                          <a:solidFill>
                            <a:srgbClr val="000000"/>
                          </a:solidFill>
                          <a:effectLst/>
                          <a:latin typeface="KaiTi" panose="02010609060101010101" pitchFamily="49" charset="-122"/>
                          <a:ea typeface="KaiTi" panose="02010609060101010101" pitchFamily="49" charset="-122"/>
                          <a:cs typeface="Times New Roman" panose="02020603050405020304" pitchFamily="18" charset="0"/>
                        </a:rPr>
                        <a:t>动能定理</a:t>
                      </a:r>
                      <a:br>
                        <a:rPr lang="en-US" altLang="zh-CN" sz="1200" kern="100" dirty="0">
                          <a:solidFill>
                            <a:srgbClr val="000000"/>
                          </a:solidFill>
                          <a:effectLst/>
                          <a:latin typeface="KaiTi" panose="02010609060101010101" pitchFamily="49" charset="-122"/>
                          <a:ea typeface="KaiTi" panose="02010609060101010101" pitchFamily="49" charset="-122"/>
                          <a:cs typeface="Times New Roman" panose="02020603050405020304" pitchFamily="18" charset="0"/>
                        </a:rPr>
                      </a:br>
                      <a:r>
                        <a:rPr lang="zh-CN" altLang="en-US" sz="1200" kern="100" dirty="0">
                          <a:solidFill>
                            <a:srgbClr val="000000"/>
                          </a:solidFill>
                          <a:effectLst/>
                          <a:latin typeface="KaiTi" panose="02010609060101010101" pitchFamily="49" charset="-122"/>
                          <a:ea typeface="KaiTi" panose="02010609060101010101" pitchFamily="49" charset="-122"/>
                          <a:cs typeface="Times New Roman" panose="02020603050405020304" pitchFamily="18" charset="0"/>
                        </a:rPr>
                        <a:t>能量守恒</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392909552"/>
                  </a:ext>
                </a:extLst>
              </a:tr>
            </a:tbl>
          </a:graphicData>
        </a:graphic>
      </p:graphicFrame>
      <p:graphicFrame>
        <p:nvGraphicFramePr>
          <p:cNvPr id="25" name="表格 24">
            <a:extLst>
              <a:ext uri="{FF2B5EF4-FFF2-40B4-BE49-F238E27FC236}">
                <a16:creationId xmlns:a16="http://schemas.microsoft.com/office/drawing/2014/main" id="{27E34B5B-A711-8F43-B951-878E8BF49094}"/>
              </a:ext>
            </a:extLst>
          </p:cNvPr>
          <p:cNvGraphicFramePr>
            <a:graphicFrameLocks noGrp="1"/>
          </p:cNvGraphicFramePr>
          <p:nvPr>
            <p:extLst>
              <p:ext uri="{D42A27DB-BD31-4B8C-83A1-F6EECF244321}">
                <p14:modId xmlns:p14="http://schemas.microsoft.com/office/powerpoint/2010/main" val="2477974442"/>
              </p:ext>
            </p:extLst>
          </p:nvPr>
        </p:nvGraphicFramePr>
        <p:xfrm>
          <a:off x="3711146" y="4438296"/>
          <a:ext cx="848498" cy="505778"/>
        </p:xfrm>
        <a:graphic>
          <a:graphicData uri="http://schemas.openxmlformats.org/drawingml/2006/table">
            <a:tbl>
              <a:tblPr firstRow="1" firstCol="1" bandRow="1"/>
              <a:tblGrid>
                <a:gridCol w="848498">
                  <a:extLst>
                    <a:ext uri="{9D8B030D-6E8A-4147-A177-3AD203B41FA5}">
                      <a16:colId xmlns:a16="http://schemas.microsoft.com/office/drawing/2014/main" val="578789135"/>
                    </a:ext>
                  </a:extLst>
                </a:gridCol>
              </a:tblGrid>
              <a:tr h="225231">
                <a:tc>
                  <a:txBody>
                    <a:bodyPr/>
                    <a:lstStyle/>
                    <a:p>
                      <a:pPr algn="ctr">
                        <a:lnSpc>
                          <a:spcPct val="150000"/>
                        </a:lnSpc>
                        <a:spcAft>
                          <a:spcPts val="0"/>
                        </a:spcAft>
                      </a:pPr>
                      <a:r>
                        <a:rPr lang="zh-CN" altLang="en-US" sz="1200" kern="100" dirty="0">
                          <a:solidFill>
                            <a:srgbClr val="000000"/>
                          </a:solidFill>
                          <a:effectLst/>
                          <a:latin typeface="KaiTi" panose="02010609060101010101" pitchFamily="49" charset="-122"/>
                          <a:ea typeface="KaiTi" panose="02010609060101010101" pitchFamily="49" charset="-122"/>
                          <a:cs typeface="Times New Roman" panose="02020603050405020304" pitchFamily="18" charset="0"/>
                        </a:rPr>
                        <a:t>功能</a:t>
                      </a:r>
                      <a:endParaRPr lang="en-US" altLang="zh-CN" sz="1200" kern="100" dirty="0">
                        <a:solidFill>
                          <a:srgbClr val="000000"/>
                        </a:solidFill>
                        <a:effectLst/>
                        <a:latin typeface="KaiTi" panose="02010609060101010101" pitchFamily="49" charset="-122"/>
                        <a:ea typeface="KaiTi" panose="02010609060101010101" pitchFamily="49" charset="-122"/>
                        <a:cs typeface="Times New Roman" panose="02020603050405020304" pitchFamily="18" charset="0"/>
                      </a:endParaRPr>
                    </a:p>
                    <a:p>
                      <a:pPr algn="ctr">
                        <a:lnSpc>
                          <a:spcPct val="150000"/>
                        </a:lnSpc>
                        <a:spcAft>
                          <a:spcPts val="0"/>
                        </a:spcAft>
                      </a:pPr>
                      <a:r>
                        <a:rPr lang="zh-CN" altLang="en-US" sz="1200" kern="100" dirty="0">
                          <a:solidFill>
                            <a:srgbClr val="000000"/>
                          </a:solidFill>
                          <a:effectLst/>
                          <a:latin typeface="KaiTi" panose="02010609060101010101" pitchFamily="49" charset="-122"/>
                          <a:ea typeface="KaiTi" panose="02010609060101010101" pitchFamily="49" charset="-122"/>
                          <a:cs typeface="Times New Roman" panose="02020603050405020304" pitchFamily="18" charset="0"/>
                        </a:rPr>
                        <a:t>关系</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392909552"/>
                  </a:ext>
                </a:extLst>
              </a:tr>
            </a:tbl>
          </a:graphicData>
        </a:graphic>
      </p:graphicFrame>
      <p:graphicFrame>
        <p:nvGraphicFramePr>
          <p:cNvPr id="26" name="表格 25">
            <a:extLst>
              <a:ext uri="{FF2B5EF4-FFF2-40B4-BE49-F238E27FC236}">
                <a16:creationId xmlns:a16="http://schemas.microsoft.com/office/drawing/2014/main" id="{AB1BB834-8916-1949-8618-962097DF1F4A}"/>
              </a:ext>
            </a:extLst>
          </p:cNvPr>
          <p:cNvGraphicFramePr>
            <a:graphicFrameLocks noGrp="1"/>
          </p:cNvGraphicFramePr>
          <p:nvPr>
            <p:extLst>
              <p:ext uri="{D42A27DB-BD31-4B8C-83A1-F6EECF244321}">
                <p14:modId xmlns:p14="http://schemas.microsoft.com/office/powerpoint/2010/main" val="905261705"/>
              </p:ext>
            </p:extLst>
          </p:nvPr>
        </p:nvGraphicFramePr>
        <p:xfrm>
          <a:off x="4765576" y="4452254"/>
          <a:ext cx="848498" cy="505778"/>
        </p:xfrm>
        <a:graphic>
          <a:graphicData uri="http://schemas.openxmlformats.org/drawingml/2006/table">
            <a:tbl>
              <a:tblPr firstRow="1" firstCol="1" bandRow="1"/>
              <a:tblGrid>
                <a:gridCol w="848498">
                  <a:extLst>
                    <a:ext uri="{9D8B030D-6E8A-4147-A177-3AD203B41FA5}">
                      <a16:colId xmlns:a16="http://schemas.microsoft.com/office/drawing/2014/main" val="578789135"/>
                    </a:ext>
                  </a:extLst>
                </a:gridCol>
              </a:tblGrid>
              <a:tr h="225231">
                <a:tc>
                  <a:txBody>
                    <a:bodyPr/>
                    <a:lstStyle/>
                    <a:p>
                      <a:pPr algn="ctr">
                        <a:lnSpc>
                          <a:spcPct val="150000"/>
                        </a:lnSpc>
                        <a:spcAft>
                          <a:spcPts val="0"/>
                        </a:spcAft>
                      </a:pPr>
                      <a:r>
                        <a:rPr lang="zh-CN" altLang="en-US" sz="1200" kern="100" dirty="0">
                          <a:solidFill>
                            <a:srgbClr val="000000"/>
                          </a:solidFill>
                          <a:effectLst/>
                          <a:latin typeface="KaiTi" panose="02010609060101010101" pitchFamily="49" charset="-122"/>
                          <a:ea typeface="KaiTi" panose="02010609060101010101" pitchFamily="49" charset="-122"/>
                          <a:cs typeface="Times New Roman" panose="02020603050405020304" pitchFamily="18" charset="0"/>
                        </a:rPr>
                        <a:t>受力</a:t>
                      </a:r>
                      <a:br>
                        <a:rPr lang="en-US" altLang="zh-CN" sz="1200" kern="100" dirty="0">
                          <a:solidFill>
                            <a:srgbClr val="000000"/>
                          </a:solidFill>
                          <a:effectLst/>
                          <a:latin typeface="KaiTi" panose="02010609060101010101" pitchFamily="49" charset="-122"/>
                          <a:ea typeface="KaiTi" panose="02010609060101010101" pitchFamily="49" charset="-122"/>
                          <a:cs typeface="Times New Roman" panose="02020603050405020304" pitchFamily="18" charset="0"/>
                        </a:rPr>
                      </a:br>
                      <a:r>
                        <a:rPr lang="zh-CN" altLang="en-US" sz="1200" kern="100" dirty="0">
                          <a:solidFill>
                            <a:srgbClr val="000000"/>
                          </a:solidFill>
                          <a:effectLst/>
                          <a:latin typeface="KaiTi" panose="02010609060101010101" pitchFamily="49" charset="-122"/>
                          <a:ea typeface="KaiTi" panose="02010609060101010101" pitchFamily="49" charset="-122"/>
                          <a:cs typeface="Times New Roman" panose="02020603050405020304" pitchFamily="18" charset="0"/>
                        </a:rPr>
                        <a:t>分析</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392909552"/>
                  </a:ext>
                </a:extLst>
              </a:tr>
            </a:tbl>
          </a:graphicData>
        </a:graphic>
      </p:graphicFrame>
      <p:graphicFrame>
        <p:nvGraphicFramePr>
          <p:cNvPr id="27" name="表格 26">
            <a:extLst>
              <a:ext uri="{FF2B5EF4-FFF2-40B4-BE49-F238E27FC236}">
                <a16:creationId xmlns:a16="http://schemas.microsoft.com/office/drawing/2014/main" id="{E76B0168-6295-324E-AFD3-DDF50B9787EA}"/>
              </a:ext>
            </a:extLst>
          </p:cNvPr>
          <p:cNvGraphicFramePr>
            <a:graphicFrameLocks noGrp="1"/>
          </p:cNvGraphicFramePr>
          <p:nvPr>
            <p:extLst>
              <p:ext uri="{D42A27DB-BD31-4B8C-83A1-F6EECF244321}">
                <p14:modId xmlns:p14="http://schemas.microsoft.com/office/powerpoint/2010/main" val="2990459845"/>
              </p:ext>
            </p:extLst>
          </p:nvPr>
        </p:nvGraphicFramePr>
        <p:xfrm>
          <a:off x="5820006" y="4443611"/>
          <a:ext cx="848498" cy="505778"/>
        </p:xfrm>
        <a:graphic>
          <a:graphicData uri="http://schemas.openxmlformats.org/drawingml/2006/table">
            <a:tbl>
              <a:tblPr firstRow="1" firstCol="1" bandRow="1"/>
              <a:tblGrid>
                <a:gridCol w="848498">
                  <a:extLst>
                    <a:ext uri="{9D8B030D-6E8A-4147-A177-3AD203B41FA5}">
                      <a16:colId xmlns:a16="http://schemas.microsoft.com/office/drawing/2014/main" val="578789135"/>
                    </a:ext>
                  </a:extLst>
                </a:gridCol>
              </a:tblGrid>
              <a:tr h="225231">
                <a:tc>
                  <a:txBody>
                    <a:bodyPr/>
                    <a:lstStyle/>
                    <a:p>
                      <a:pPr algn="ctr">
                        <a:lnSpc>
                          <a:spcPct val="150000"/>
                        </a:lnSpc>
                        <a:spcAft>
                          <a:spcPts val="0"/>
                        </a:spcAft>
                      </a:pPr>
                      <a:r>
                        <a:rPr lang="zh-CN" altLang="en-US" sz="1200" kern="100" dirty="0">
                          <a:solidFill>
                            <a:srgbClr val="000000"/>
                          </a:solidFill>
                          <a:effectLst/>
                          <a:latin typeface="KaiTi" panose="02010609060101010101" pitchFamily="49" charset="-122"/>
                          <a:ea typeface="KaiTi" panose="02010609060101010101" pitchFamily="49" charset="-122"/>
                          <a:cs typeface="Times New Roman" panose="02020603050405020304" pitchFamily="18" charset="0"/>
                        </a:rPr>
                        <a:t>运动</a:t>
                      </a:r>
                      <a:br>
                        <a:rPr lang="en-US" altLang="zh-CN" sz="1200" kern="100" dirty="0">
                          <a:solidFill>
                            <a:srgbClr val="000000"/>
                          </a:solidFill>
                          <a:effectLst/>
                          <a:latin typeface="KaiTi" panose="02010609060101010101" pitchFamily="49" charset="-122"/>
                          <a:ea typeface="KaiTi" panose="02010609060101010101" pitchFamily="49" charset="-122"/>
                          <a:cs typeface="Times New Roman" panose="02020603050405020304" pitchFamily="18" charset="0"/>
                        </a:rPr>
                      </a:br>
                      <a:r>
                        <a:rPr lang="zh-CN" altLang="en-US" sz="1200" kern="100" dirty="0">
                          <a:solidFill>
                            <a:srgbClr val="000000"/>
                          </a:solidFill>
                          <a:effectLst/>
                          <a:latin typeface="KaiTi" panose="02010609060101010101" pitchFamily="49" charset="-122"/>
                          <a:ea typeface="KaiTi" panose="02010609060101010101" pitchFamily="49" charset="-122"/>
                          <a:cs typeface="Times New Roman" panose="02020603050405020304" pitchFamily="18" charset="0"/>
                        </a:rPr>
                        <a:t>分析</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392909552"/>
                  </a:ext>
                </a:extLst>
              </a:tr>
            </a:tbl>
          </a:graphicData>
        </a:graphic>
      </p:graphicFrame>
      <p:graphicFrame>
        <p:nvGraphicFramePr>
          <p:cNvPr id="28" name="表格 27">
            <a:extLst>
              <a:ext uri="{FF2B5EF4-FFF2-40B4-BE49-F238E27FC236}">
                <a16:creationId xmlns:a16="http://schemas.microsoft.com/office/drawing/2014/main" id="{C4BFCFDE-0C8B-A14C-8B30-63A14F801A74}"/>
              </a:ext>
            </a:extLst>
          </p:cNvPr>
          <p:cNvGraphicFramePr>
            <a:graphicFrameLocks noGrp="1"/>
          </p:cNvGraphicFramePr>
          <p:nvPr>
            <p:extLst>
              <p:ext uri="{D42A27DB-BD31-4B8C-83A1-F6EECF244321}">
                <p14:modId xmlns:p14="http://schemas.microsoft.com/office/powerpoint/2010/main" val="1843099924"/>
              </p:ext>
            </p:extLst>
          </p:nvPr>
        </p:nvGraphicFramePr>
        <p:xfrm>
          <a:off x="6874436" y="4431957"/>
          <a:ext cx="848498" cy="505778"/>
        </p:xfrm>
        <a:graphic>
          <a:graphicData uri="http://schemas.openxmlformats.org/drawingml/2006/table">
            <a:tbl>
              <a:tblPr firstRow="1" firstCol="1" bandRow="1"/>
              <a:tblGrid>
                <a:gridCol w="848498">
                  <a:extLst>
                    <a:ext uri="{9D8B030D-6E8A-4147-A177-3AD203B41FA5}">
                      <a16:colId xmlns:a16="http://schemas.microsoft.com/office/drawing/2014/main" val="578789135"/>
                    </a:ext>
                  </a:extLst>
                </a:gridCol>
              </a:tblGrid>
              <a:tr h="225231">
                <a:tc>
                  <a:txBody>
                    <a:bodyPr/>
                    <a:lstStyle/>
                    <a:p>
                      <a:pPr algn="ctr">
                        <a:lnSpc>
                          <a:spcPct val="150000"/>
                        </a:lnSpc>
                        <a:spcAft>
                          <a:spcPts val="0"/>
                        </a:spcAft>
                      </a:pPr>
                      <a:r>
                        <a:rPr lang="zh-CN" altLang="en-US" sz="1200" kern="100" dirty="0">
                          <a:solidFill>
                            <a:srgbClr val="000000"/>
                          </a:solidFill>
                          <a:effectLst/>
                          <a:latin typeface="KaiTi" panose="02010609060101010101" pitchFamily="49" charset="-122"/>
                          <a:ea typeface="KaiTi" panose="02010609060101010101" pitchFamily="49" charset="-122"/>
                          <a:cs typeface="Times New Roman" panose="02020603050405020304" pitchFamily="18" charset="0"/>
                        </a:rPr>
                        <a:t>动量</a:t>
                      </a:r>
                      <a:br>
                        <a:rPr lang="en-US" altLang="zh-CN" sz="1200" kern="100" dirty="0">
                          <a:solidFill>
                            <a:srgbClr val="000000"/>
                          </a:solidFill>
                          <a:effectLst/>
                          <a:latin typeface="KaiTi" panose="02010609060101010101" pitchFamily="49" charset="-122"/>
                          <a:ea typeface="KaiTi" panose="02010609060101010101" pitchFamily="49" charset="-122"/>
                          <a:cs typeface="Times New Roman" panose="02020603050405020304" pitchFamily="18" charset="0"/>
                        </a:rPr>
                      </a:br>
                      <a:r>
                        <a:rPr lang="zh-CN" altLang="en-US" sz="1200" kern="100" dirty="0">
                          <a:solidFill>
                            <a:srgbClr val="000000"/>
                          </a:solidFill>
                          <a:effectLst/>
                          <a:latin typeface="KaiTi" panose="02010609060101010101" pitchFamily="49" charset="-122"/>
                          <a:ea typeface="KaiTi" panose="02010609060101010101" pitchFamily="49" charset="-122"/>
                          <a:cs typeface="Times New Roman" panose="02020603050405020304" pitchFamily="18" charset="0"/>
                        </a:rPr>
                        <a:t>变化</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392909552"/>
                  </a:ext>
                </a:extLst>
              </a:tr>
            </a:tbl>
          </a:graphicData>
        </a:graphic>
      </p:graphicFrame>
      <p:graphicFrame>
        <p:nvGraphicFramePr>
          <p:cNvPr id="29" name="表格 28">
            <a:extLst>
              <a:ext uri="{FF2B5EF4-FFF2-40B4-BE49-F238E27FC236}">
                <a16:creationId xmlns:a16="http://schemas.microsoft.com/office/drawing/2014/main" id="{0E002333-0796-0348-A226-59B5E85377E4}"/>
              </a:ext>
            </a:extLst>
          </p:cNvPr>
          <p:cNvGraphicFramePr>
            <a:graphicFrameLocks noGrp="1"/>
          </p:cNvGraphicFramePr>
          <p:nvPr>
            <p:extLst>
              <p:ext uri="{D42A27DB-BD31-4B8C-83A1-F6EECF244321}">
                <p14:modId xmlns:p14="http://schemas.microsoft.com/office/powerpoint/2010/main" val="130071739"/>
              </p:ext>
            </p:extLst>
          </p:nvPr>
        </p:nvGraphicFramePr>
        <p:xfrm>
          <a:off x="7928866" y="4423314"/>
          <a:ext cx="848498" cy="505778"/>
        </p:xfrm>
        <a:graphic>
          <a:graphicData uri="http://schemas.openxmlformats.org/drawingml/2006/table">
            <a:tbl>
              <a:tblPr firstRow="1" firstCol="1" bandRow="1"/>
              <a:tblGrid>
                <a:gridCol w="848498">
                  <a:extLst>
                    <a:ext uri="{9D8B030D-6E8A-4147-A177-3AD203B41FA5}">
                      <a16:colId xmlns:a16="http://schemas.microsoft.com/office/drawing/2014/main" val="578789135"/>
                    </a:ext>
                  </a:extLst>
                </a:gridCol>
              </a:tblGrid>
              <a:tr h="225231">
                <a:tc>
                  <a:txBody>
                    <a:bodyPr/>
                    <a:lstStyle/>
                    <a:p>
                      <a:pPr algn="ctr">
                        <a:lnSpc>
                          <a:spcPct val="150000"/>
                        </a:lnSpc>
                        <a:spcAft>
                          <a:spcPts val="0"/>
                        </a:spcAft>
                      </a:pPr>
                      <a:r>
                        <a:rPr lang="zh-CN" altLang="en-US" sz="1200" kern="100" dirty="0">
                          <a:solidFill>
                            <a:srgbClr val="000000"/>
                          </a:solidFill>
                          <a:effectLst/>
                          <a:latin typeface="KaiTi" panose="02010609060101010101" pitchFamily="49" charset="-122"/>
                          <a:ea typeface="KaiTi" panose="02010609060101010101" pitchFamily="49" charset="-122"/>
                          <a:cs typeface="Times New Roman" panose="02020603050405020304" pitchFamily="18" charset="0"/>
                        </a:rPr>
                        <a:t>动量</a:t>
                      </a:r>
                      <a:br>
                        <a:rPr lang="en-US" altLang="zh-CN" sz="1200" kern="100" dirty="0">
                          <a:solidFill>
                            <a:srgbClr val="000000"/>
                          </a:solidFill>
                          <a:effectLst/>
                          <a:latin typeface="KaiTi" panose="02010609060101010101" pitchFamily="49" charset="-122"/>
                          <a:ea typeface="KaiTi" panose="02010609060101010101" pitchFamily="49" charset="-122"/>
                          <a:cs typeface="Times New Roman" panose="02020603050405020304" pitchFamily="18" charset="0"/>
                        </a:rPr>
                      </a:br>
                      <a:r>
                        <a:rPr lang="zh-CN" altLang="en-US" sz="1200" kern="100" dirty="0">
                          <a:solidFill>
                            <a:srgbClr val="000000"/>
                          </a:solidFill>
                          <a:effectLst/>
                          <a:latin typeface="KaiTi" panose="02010609060101010101" pitchFamily="49" charset="-122"/>
                          <a:ea typeface="KaiTi" panose="02010609060101010101" pitchFamily="49" charset="-122"/>
                          <a:cs typeface="Times New Roman" panose="02020603050405020304" pitchFamily="18" charset="0"/>
                        </a:rPr>
                        <a:t>定理</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392909552"/>
                  </a:ext>
                </a:extLst>
              </a:tr>
            </a:tbl>
          </a:graphicData>
        </a:graphic>
      </p:graphicFrame>
      <p:cxnSp>
        <p:nvCxnSpPr>
          <p:cNvPr id="5" name="直线箭头连接符 4">
            <a:extLst>
              <a:ext uri="{FF2B5EF4-FFF2-40B4-BE49-F238E27FC236}">
                <a16:creationId xmlns:a16="http://schemas.microsoft.com/office/drawing/2014/main" id="{A4CD13C9-D40C-294D-93DC-F568B66736B2}"/>
              </a:ext>
            </a:extLst>
          </p:cNvPr>
          <p:cNvCxnSpPr>
            <a:endCxn id="24" idx="0"/>
          </p:cNvCxnSpPr>
          <p:nvPr/>
        </p:nvCxnSpPr>
        <p:spPr>
          <a:xfrm flipH="1">
            <a:off x="3080965" y="4181747"/>
            <a:ext cx="424249" cy="265192"/>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线箭头连接符 29">
            <a:extLst>
              <a:ext uri="{FF2B5EF4-FFF2-40B4-BE49-F238E27FC236}">
                <a16:creationId xmlns:a16="http://schemas.microsoft.com/office/drawing/2014/main" id="{A7882B26-A4FD-7D4A-93A4-9AD4DCE8E995}"/>
              </a:ext>
            </a:extLst>
          </p:cNvPr>
          <p:cNvCxnSpPr>
            <a:cxnSpLocks/>
          </p:cNvCxnSpPr>
          <p:nvPr/>
        </p:nvCxnSpPr>
        <p:spPr>
          <a:xfrm>
            <a:off x="3657615" y="4171118"/>
            <a:ext cx="477780" cy="267178"/>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线箭头连接符 30">
            <a:extLst>
              <a:ext uri="{FF2B5EF4-FFF2-40B4-BE49-F238E27FC236}">
                <a16:creationId xmlns:a16="http://schemas.microsoft.com/office/drawing/2014/main" id="{44413F3F-9E8A-9541-B2B8-AC08492AE2A8}"/>
              </a:ext>
            </a:extLst>
          </p:cNvPr>
          <p:cNvCxnSpPr/>
          <p:nvPr/>
        </p:nvCxnSpPr>
        <p:spPr>
          <a:xfrm flipH="1">
            <a:off x="5202213" y="4173104"/>
            <a:ext cx="424249" cy="265192"/>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线箭头连接符 31">
            <a:extLst>
              <a:ext uri="{FF2B5EF4-FFF2-40B4-BE49-F238E27FC236}">
                <a16:creationId xmlns:a16="http://schemas.microsoft.com/office/drawing/2014/main" id="{DA3F4217-ECF3-8A4D-91BA-27D0A1B452C6}"/>
              </a:ext>
            </a:extLst>
          </p:cNvPr>
          <p:cNvCxnSpPr>
            <a:cxnSpLocks/>
          </p:cNvCxnSpPr>
          <p:nvPr/>
        </p:nvCxnSpPr>
        <p:spPr>
          <a:xfrm>
            <a:off x="5778863" y="4162475"/>
            <a:ext cx="477780" cy="267178"/>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线箭头连接符 32">
            <a:extLst>
              <a:ext uri="{FF2B5EF4-FFF2-40B4-BE49-F238E27FC236}">
                <a16:creationId xmlns:a16="http://schemas.microsoft.com/office/drawing/2014/main" id="{6DF487B6-C69B-994C-A0F2-C9F100CE3380}"/>
              </a:ext>
            </a:extLst>
          </p:cNvPr>
          <p:cNvCxnSpPr/>
          <p:nvPr/>
        </p:nvCxnSpPr>
        <p:spPr>
          <a:xfrm flipH="1">
            <a:off x="7195719" y="4189963"/>
            <a:ext cx="424249" cy="265192"/>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线箭头连接符 33">
            <a:extLst>
              <a:ext uri="{FF2B5EF4-FFF2-40B4-BE49-F238E27FC236}">
                <a16:creationId xmlns:a16="http://schemas.microsoft.com/office/drawing/2014/main" id="{EDF2D58E-29A2-A042-9CFC-7E09E9974057}"/>
              </a:ext>
            </a:extLst>
          </p:cNvPr>
          <p:cNvCxnSpPr>
            <a:cxnSpLocks/>
          </p:cNvCxnSpPr>
          <p:nvPr/>
        </p:nvCxnSpPr>
        <p:spPr>
          <a:xfrm>
            <a:off x="7772369" y="4179334"/>
            <a:ext cx="477780" cy="267178"/>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线箭头连接符 34">
            <a:extLst>
              <a:ext uri="{FF2B5EF4-FFF2-40B4-BE49-F238E27FC236}">
                <a16:creationId xmlns:a16="http://schemas.microsoft.com/office/drawing/2014/main" id="{A06DB992-EC2B-E640-B4A9-A58AB5395496}"/>
              </a:ext>
            </a:extLst>
          </p:cNvPr>
          <p:cNvCxnSpPr/>
          <p:nvPr/>
        </p:nvCxnSpPr>
        <p:spPr>
          <a:xfrm>
            <a:off x="3369305" y="4732638"/>
            <a:ext cx="461305" cy="0"/>
          </a:xfrm>
          <a:prstGeom prst="straightConnector1">
            <a:avLst/>
          </a:prstGeom>
          <a:ln w="28575">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直线箭头连接符 35">
            <a:extLst>
              <a:ext uri="{FF2B5EF4-FFF2-40B4-BE49-F238E27FC236}">
                <a16:creationId xmlns:a16="http://schemas.microsoft.com/office/drawing/2014/main" id="{BC340D08-634C-3343-8FDD-BCAC3E9920AC}"/>
              </a:ext>
            </a:extLst>
          </p:cNvPr>
          <p:cNvCxnSpPr/>
          <p:nvPr/>
        </p:nvCxnSpPr>
        <p:spPr>
          <a:xfrm>
            <a:off x="4452566" y="4732638"/>
            <a:ext cx="461305" cy="0"/>
          </a:xfrm>
          <a:prstGeom prst="straightConnector1">
            <a:avLst/>
          </a:prstGeom>
          <a:ln w="28575">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7" name="直线箭头连接符 36">
            <a:extLst>
              <a:ext uri="{FF2B5EF4-FFF2-40B4-BE49-F238E27FC236}">
                <a16:creationId xmlns:a16="http://schemas.microsoft.com/office/drawing/2014/main" id="{E2699F59-932B-8F42-9B41-C525BDD09E06}"/>
              </a:ext>
            </a:extLst>
          </p:cNvPr>
          <p:cNvCxnSpPr/>
          <p:nvPr/>
        </p:nvCxnSpPr>
        <p:spPr>
          <a:xfrm>
            <a:off x="5489974" y="4732638"/>
            <a:ext cx="461305" cy="0"/>
          </a:xfrm>
          <a:prstGeom prst="straightConnector1">
            <a:avLst/>
          </a:prstGeom>
          <a:ln w="28575">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直线箭头连接符 37">
            <a:extLst>
              <a:ext uri="{FF2B5EF4-FFF2-40B4-BE49-F238E27FC236}">
                <a16:creationId xmlns:a16="http://schemas.microsoft.com/office/drawing/2014/main" id="{9D809B18-8A13-A74E-BF1D-C7A196DC8448}"/>
              </a:ext>
            </a:extLst>
          </p:cNvPr>
          <p:cNvCxnSpPr/>
          <p:nvPr/>
        </p:nvCxnSpPr>
        <p:spPr>
          <a:xfrm>
            <a:off x="6573235" y="4732638"/>
            <a:ext cx="461305" cy="0"/>
          </a:xfrm>
          <a:prstGeom prst="straightConnector1">
            <a:avLst/>
          </a:prstGeom>
          <a:ln w="28575">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9" name="直线箭头连接符 38">
            <a:extLst>
              <a:ext uri="{FF2B5EF4-FFF2-40B4-BE49-F238E27FC236}">
                <a16:creationId xmlns:a16="http://schemas.microsoft.com/office/drawing/2014/main" id="{88317D39-E780-9C48-8544-75C39BFA4989}"/>
              </a:ext>
            </a:extLst>
          </p:cNvPr>
          <p:cNvCxnSpPr/>
          <p:nvPr/>
        </p:nvCxnSpPr>
        <p:spPr>
          <a:xfrm>
            <a:off x="7607611" y="4736757"/>
            <a:ext cx="461305" cy="0"/>
          </a:xfrm>
          <a:prstGeom prst="straightConnector1">
            <a:avLst/>
          </a:prstGeom>
          <a:ln w="28575">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 name="直线箭头连接符 44">
            <a:extLst>
              <a:ext uri="{FF2B5EF4-FFF2-40B4-BE49-F238E27FC236}">
                <a16:creationId xmlns:a16="http://schemas.microsoft.com/office/drawing/2014/main" id="{C37886EC-97D0-E547-8823-1B34F7DC759C}"/>
              </a:ext>
            </a:extLst>
          </p:cNvPr>
          <p:cNvCxnSpPr>
            <a:cxnSpLocks/>
          </p:cNvCxnSpPr>
          <p:nvPr/>
        </p:nvCxnSpPr>
        <p:spPr>
          <a:xfrm flipV="1">
            <a:off x="5744215" y="2638155"/>
            <a:ext cx="0" cy="954834"/>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9" name="表格 48">
            <a:extLst>
              <a:ext uri="{FF2B5EF4-FFF2-40B4-BE49-F238E27FC236}">
                <a16:creationId xmlns:a16="http://schemas.microsoft.com/office/drawing/2014/main" id="{D9AA48F4-CAB2-FF41-AED7-E9A6023733F4}"/>
              </a:ext>
            </a:extLst>
          </p:cNvPr>
          <p:cNvGraphicFramePr>
            <a:graphicFrameLocks noGrp="1"/>
          </p:cNvGraphicFramePr>
          <p:nvPr>
            <p:extLst>
              <p:ext uri="{D42A27DB-BD31-4B8C-83A1-F6EECF244321}">
                <p14:modId xmlns:p14="http://schemas.microsoft.com/office/powerpoint/2010/main" val="2303620389"/>
              </p:ext>
            </p:extLst>
          </p:nvPr>
        </p:nvGraphicFramePr>
        <p:xfrm>
          <a:off x="9146471" y="3699231"/>
          <a:ext cx="311690" cy="376273"/>
        </p:xfrm>
        <a:graphic>
          <a:graphicData uri="http://schemas.openxmlformats.org/drawingml/2006/table">
            <a:tbl>
              <a:tblPr firstRow="1" firstCol="1" bandRow="1"/>
              <a:tblGrid>
                <a:gridCol w="311690">
                  <a:extLst>
                    <a:ext uri="{9D8B030D-6E8A-4147-A177-3AD203B41FA5}">
                      <a16:colId xmlns:a16="http://schemas.microsoft.com/office/drawing/2014/main" val="578789135"/>
                    </a:ext>
                  </a:extLst>
                </a:gridCol>
              </a:tblGrid>
              <a:tr h="376273">
                <a:tc>
                  <a:txBody>
                    <a:bodyPr/>
                    <a:lstStyle/>
                    <a:p>
                      <a:pPr algn="ctr">
                        <a:lnSpc>
                          <a:spcPct val="150000"/>
                        </a:lnSpc>
                        <a:spcAft>
                          <a:spcPts val="0"/>
                        </a:spcAft>
                      </a:pPr>
                      <a:r>
                        <a:rPr lang="en-US" altLang="zh-CN" sz="160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rPr>
                        <a:t>+</a:t>
                      </a:r>
                      <a:endParaRPr lang="zh-CN" sz="160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392909552"/>
                  </a:ext>
                </a:extLst>
              </a:tr>
            </a:tbl>
          </a:graphicData>
        </a:graphic>
      </p:graphicFrame>
    </p:spTree>
    <p:extLst>
      <p:ext uri="{BB962C8B-B14F-4D97-AF65-F5344CB8AC3E}">
        <p14:creationId xmlns:p14="http://schemas.microsoft.com/office/powerpoint/2010/main" val="28438917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B49D920B-504F-E443-80E1-E5362C526C17}"/>
              </a:ext>
            </a:extLst>
          </p:cNvPr>
          <p:cNvSpPr/>
          <p:nvPr/>
        </p:nvSpPr>
        <p:spPr>
          <a:xfrm>
            <a:off x="683229" y="1271599"/>
            <a:ext cx="11043316" cy="4478037"/>
          </a:xfrm>
          <a:prstGeom prst="rect">
            <a:avLst/>
          </a:prstGeom>
          <a:solidFill>
            <a:schemeClr val="bg1">
              <a:lumMod val="95000"/>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 name="文本框 2">
            <a:extLst>
              <a:ext uri="{FF2B5EF4-FFF2-40B4-BE49-F238E27FC236}">
                <a16:creationId xmlns:a16="http://schemas.microsoft.com/office/drawing/2014/main" id="{DAAE971C-D36F-5C4F-AF63-A1FA3771E6E8}"/>
              </a:ext>
            </a:extLst>
          </p:cNvPr>
          <p:cNvSpPr txBox="1"/>
          <p:nvPr/>
        </p:nvSpPr>
        <p:spPr>
          <a:xfrm>
            <a:off x="1108530" y="5169994"/>
            <a:ext cx="9503133" cy="1142620"/>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rPr>
              <a:t>初高中物理的核心：</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rPr>
              <a:t>{</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rPr>
              <a:t>力</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rPr>
              <a:t>}+{</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rPr>
              <a:t>电（磁）</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rPr>
              <a:t>}</a:t>
            </a:r>
          </a:p>
          <a:p>
            <a:pPr>
              <a:lnSpc>
                <a:spcPct val="150000"/>
              </a:lnSpc>
            </a:pPr>
            <a:endParaRPr kumimoji="1" lang="en-US" altLang="zh-CN" sz="1600" dirty="0">
              <a:solidFill>
                <a:schemeClr val="tx1">
                  <a:lumMod val="50000"/>
                  <a:lumOff val="50000"/>
                </a:schemeClr>
              </a:solidFill>
              <a:latin typeface="KaiTi" panose="02010609060101010101" pitchFamily="49" charset="-122"/>
              <a:ea typeface="KaiTi" panose="02010609060101010101" pitchFamily="49" charset="-122"/>
            </a:endParaRPr>
          </a:p>
          <a:p>
            <a:pPr>
              <a:lnSpc>
                <a:spcPct val="150000"/>
              </a:lnSpc>
            </a:pPr>
            <a:endParaRPr kumimoji="1" lang="en-US"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p:txBody>
      </p:sp>
      <p:sp>
        <p:nvSpPr>
          <p:cNvPr id="4" name="文本框 3">
            <a:extLst>
              <a:ext uri="{FF2B5EF4-FFF2-40B4-BE49-F238E27FC236}">
                <a16:creationId xmlns:a16="http://schemas.microsoft.com/office/drawing/2014/main" id="{94442722-D24F-7342-BAAE-C1A2206C9DEA}"/>
              </a:ext>
            </a:extLst>
          </p:cNvPr>
          <p:cNvSpPr txBox="1"/>
          <p:nvPr/>
        </p:nvSpPr>
        <p:spPr>
          <a:xfrm>
            <a:off x="683229" y="809436"/>
            <a:ext cx="4942702" cy="307777"/>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学习知识重点？</a:t>
            </a:r>
          </a:p>
        </p:txBody>
      </p:sp>
      <p:sp>
        <p:nvSpPr>
          <p:cNvPr id="6" name="矩形 5">
            <a:extLst>
              <a:ext uri="{FF2B5EF4-FFF2-40B4-BE49-F238E27FC236}">
                <a16:creationId xmlns:a16="http://schemas.microsoft.com/office/drawing/2014/main" id="{816CAE0A-BEF6-744D-BE73-9E3D9A7309B4}"/>
              </a:ext>
            </a:extLst>
          </p:cNvPr>
          <p:cNvSpPr/>
          <p:nvPr/>
        </p:nvSpPr>
        <p:spPr>
          <a:xfrm>
            <a:off x="721660" y="1347341"/>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A964E578-38D6-3944-8EAE-E6CD67EF4259}"/>
              </a:ext>
            </a:extLst>
          </p:cNvPr>
          <p:cNvSpPr txBox="1"/>
          <p:nvPr/>
        </p:nvSpPr>
        <p:spPr>
          <a:xfrm>
            <a:off x="1108530" y="1295247"/>
            <a:ext cx="7837762" cy="688137"/>
          </a:xfrm>
          <a:prstGeom prst="rect">
            <a:avLst/>
          </a:prstGeom>
          <a:noFill/>
        </p:spPr>
        <p:txBody>
          <a:bodyPr wrap="square" rtlCol="0">
            <a:spAutoFit/>
          </a:bodyPr>
          <a:lstStyle/>
          <a:p>
            <a:pPr>
              <a:lnSpc>
                <a:spcPct val="150000"/>
              </a:lnSpc>
            </a:pP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rPr>
              <a:t>初高中物理思维导图</a:t>
            </a:r>
          </a:p>
          <a:p>
            <a:pPr>
              <a:lnSpc>
                <a:spcPct val="150000"/>
              </a:lnSpc>
            </a:pPr>
            <a:endParaRPr kumimoji="1" lang="zh-CN" altLang="en-US" sz="1400" dirty="0">
              <a:solidFill>
                <a:schemeClr val="tx1">
                  <a:lumMod val="50000"/>
                  <a:lumOff val="50000"/>
                </a:schemeClr>
              </a:solidFill>
              <a:latin typeface="KaiTi" panose="02010609060101010101" pitchFamily="49" charset="-122"/>
              <a:ea typeface="KaiTi" panose="02010609060101010101" pitchFamily="49" charset="-122"/>
            </a:endParaRPr>
          </a:p>
        </p:txBody>
      </p:sp>
      <p:sp>
        <p:nvSpPr>
          <p:cNvPr id="8" name="矩形 7">
            <a:extLst>
              <a:ext uri="{FF2B5EF4-FFF2-40B4-BE49-F238E27FC236}">
                <a16:creationId xmlns:a16="http://schemas.microsoft.com/office/drawing/2014/main" id="{9E498107-496C-D649-9C0A-5336781AB0CF}"/>
              </a:ext>
            </a:extLst>
          </p:cNvPr>
          <p:cNvSpPr/>
          <p:nvPr/>
        </p:nvSpPr>
        <p:spPr>
          <a:xfrm>
            <a:off x="1108530" y="1958241"/>
            <a:ext cx="7266984" cy="9532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a:extLst>
              <a:ext uri="{FF2B5EF4-FFF2-40B4-BE49-F238E27FC236}">
                <a16:creationId xmlns:a16="http://schemas.microsoft.com/office/drawing/2014/main" id="{F0AFF280-8639-1645-ADBA-D45414D78FF8}"/>
              </a:ext>
            </a:extLst>
          </p:cNvPr>
          <p:cNvSpPr txBox="1"/>
          <p:nvPr/>
        </p:nvSpPr>
        <p:spPr>
          <a:xfrm>
            <a:off x="1108530" y="1958240"/>
            <a:ext cx="2151505" cy="276999"/>
          </a:xfrm>
          <a:prstGeom prst="rect">
            <a:avLst/>
          </a:prstGeom>
          <a:solidFill>
            <a:srgbClr val="F9CDCC"/>
          </a:solidFill>
        </p:spPr>
        <p:txBody>
          <a:bodyPr wrap="square" rtlCol="0">
            <a:spAutoFit/>
          </a:bodyPr>
          <a:lstStyle/>
          <a:p>
            <a:r>
              <a:rPr lang="zh-CN" altLang="en-US" sz="1200" b="1" dirty="0">
                <a:latin typeface="KaiTi" panose="02010609060101010101" pitchFamily="49" charset="-122"/>
                <a:ea typeface="KaiTi" panose="02010609060101010101" pitchFamily="49" charset="-122"/>
              </a:rPr>
              <a:t>②</a:t>
            </a:r>
            <a:r>
              <a:rPr lang="zh-CN" altLang="en-US" sz="1200" b="1" dirty="0"/>
              <a:t> </a:t>
            </a:r>
            <a:r>
              <a:rPr kumimoji="1" lang="zh-CN" altLang="en-US" sz="1200" b="1" dirty="0">
                <a:latin typeface="KaiTi" panose="02010609060101010101" pitchFamily="49" charset="-122"/>
                <a:ea typeface="KaiTi" panose="02010609060101010101" pitchFamily="49" charset="-122"/>
                <a:cs typeface="Times New Roman" panose="02020603050405020304" pitchFamily="18" charset="0"/>
              </a:rPr>
              <a:t>初中</a:t>
            </a:r>
            <a:r>
              <a:rPr kumimoji="1" lang="en-US" altLang="zh-CN" sz="1200" b="1"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200" b="1" dirty="0">
                <a:latin typeface="KaiTi" panose="02010609060101010101" pitchFamily="49" charset="-122"/>
                <a:ea typeface="KaiTi" panose="02010609060101010101" pitchFamily="49" charset="-122"/>
                <a:cs typeface="Times New Roman" panose="02020603050405020304" pitchFamily="18" charset="0"/>
              </a:rPr>
              <a:t>物理</a:t>
            </a:r>
          </a:p>
        </p:txBody>
      </p:sp>
      <p:sp>
        <p:nvSpPr>
          <p:cNvPr id="10" name="文本框 9">
            <a:extLst>
              <a:ext uri="{FF2B5EF4-FFF2-40B4-BE49-F238E27FC236}">
                <a16:creationId xmlns:a16="http://schemas.microsoft.com/office/drawing/2014/main" id="{1E8CE9DD-BE0A-B243-A2AA-1AF7E2132388}"/>
              </a:ext>
            </a:extLst>
          </p:cNvPr>
          <p:cNvSpPr txBox="1"/>
          <p:nvPr/>
        </p:nvSpPr>
        <p:spPr>
          <a:xfrm>
            <a:off x="1108530" y="2323430"/>
            <a:ext cx="5757143" cy="461665"/>
          </a:xfrm>
          <a:prstGeom prst="rect">
            <a:avLst/>
          </a:prstGeom>
          <a:noFill/>
        </p:spPr>
        <p:txBody>
          <a:bodyPr wrap="square" rtlCol="0">
            <a:spAutoFit/>
          </a:bodyPr>
          <a:lstStyle/>
          <a:p>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重点：</a:t>
            </a:r>
            <a:endPar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a:p>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八下（力学）</a:t>
            </a:r>
            <a:r>
              <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九上（电学）</a:t>
            </a:r>
            <a:endPar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p:txBody>
      </p:sp>
      <p:sp>
        <p:nvSpPr>
          <p:cNvPr id="11" name="矩形 10">
            <a:extLst>
              <a:ext uri="{FF2B5EF4-FFF2-40B4-BE49-F238E27FC236}">
                <a16:creationId xmlns:a16="http://schemas.microsoft.com/office/drawing/2014/main" id="{AAFFA163-5461-5B42-8AEE-277B8BB1899D}"/>
              </a:ext>
            </a:extLst>
          </p:cNvPr>
          <p:cNvSpPr/>
          <p:nvPr/>
        </p:nvSpPr>
        <p:spPr>
          <a:xfrm>
            <a:off x="1108530" y="3867113"/>
            <a:ext cx="7266984" cy="11803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文本框 11">
            <a:extLst>
              <a:ext uri="{FF2B5EF4-FFF2-40B4-BE49-F238E27FC236}">
                <a16:creationId xmlns:a16="http://schemas.microsoft.com/office/drawing/2014/main" id="{82F4228B-5AC5-464E-8F3F-BB984938497F}"/>
              </a:ext>
            </a:extLst>
          </p:cNvPr>
          <p:cNvSpPr txBox="1"/>
          <p:nvPr/>
        </p:nvSpPr>
        <p:spPr>
          <a:xfrm>
            <a:off x="1108530" y="3867112"/>
            <a:ext cx="2151505" cy="276999"/>
          </a:xfrm>
          <a:prstGeom prst="rect">
            <a:avLst/>
          </a:prstGeom>
          <a:solidFill>
            <a:srgbClr val="F9CDCC"/>
          </a:solidFill>
        </p:spPr>
        <p:txBody>
          <a:bodyPr wrap="square" rtlCol="0">
            <a:spAutoFit/>
          </a:bodyPr>
          <a:lstStyle/>
          <a:p>
            <a:r>
              <a:rPr lang="zh-CN" altLang="en-US" sz="1200" b="1" dirty="0">
                <a:latin typeface="KaiTi" panose="02010609060101010101" pitchFamily="49" charset="-122"/>
                <a:ea typeface="KaiTi" panose="02010609060101010101" pitchFamily="49" charset="-122"/>
              </a:rPr>
              <a:t>②高中</a:t>
            </a:r>
            <a:r>
              <a:rPr lang="en-US" altLang="zh-CN" sz="1200" b="1" dirty="0">
                <a:latin typeface="KaiTi" panose="02010609060101010101" pitchFamily="49" charset="-122"/>
                <a:ea typeface="KaiTi" panose="02010609060101010101" pitchFamily="49" charset="-122"/>
              </a:rPr>
              <a:t>——</a:t>
            </a:r>
            <a:r>
              <a:rPr lang="zh-CN" altLang="en-US" sz="1200" b="1" dirty="0">
                <a:latin typeface="KaiTi" panose="02010609060101010101" pitchFamily="49" charset="-122"/>
                <a:ea typeface="KaiTi" panose="02010609060101010101" pitchFamily="49" charset="-122"/>
              </a:rPr>
              <a:t>物理</a:t>
            </a:r>
            <a:endParaRPr kumimoji="1" lang="zh-CN" altLang="en-US" sz="1200" b="1" dirty="0">
              <a:latin typeface="KaiTi" panose="02010609060101010101" pitchFamily="49" charset="-122"/>
              <a:ea typeface="KaiTi" panose="02010609060101010101" pitchFamily="49" charset="-122"/>
              <a:cs typeface="Times New Roman" panose="02020603050405020304" pitchFamily="18" charset="0"/>
            </a:endParaRPr>
          </a:p>
        </p:txBody>
      </p:sp>
      <p:sp>
        <p:nvSpPr>
          <p:cNvPr id="13" name="文本框 12">
            <a:extLst>
              <a:ext uri="{FF2B5EF4-FFF2-40B4-BE49-F238E27FC236}">
                <a16:creationId xmlns:a16="http://schemas.microsoft.com/office/drawing/2014/main" id="{7016F543-32CB-B645-9929-6B8A22B037ED}"/>
              </a:ext>
            </a:extLst>
          </p:cNvPr>
          <p:cNvSpPr txBox="1"/>
          <p:nvPr/>
        </p:nvSpPr>
        <p:spPr>
          <a:xfrm>
            <a:off x="1108530" y="4232302"/>
            <a:ext cx="7266985" cy="646331"/>
          </a:xfrm>
          <a:prstGeom prst="rect">
            <a:avLst/>
          </a:prstGeom>
          <a:noFill/>
        </p:spPr>
        <p:txBody>
          <a:bodyPr wrap="square" rtlCol="0">
            <a:spAutoFit/>
          </a:bodyPr>
          <a:lstStyle/>
          <a:p>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重点：</a:t>
            </a:r>
            <a:endPar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a:p>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高一（动力学分析）</a:t>
            </a:r>
            <a:endPar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a:p>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*高二（电</a:t>
            </a:r>
            <a:r>
              <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磁）在高一基础上！</a:t>
            </a:r>
            <a:endPar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p:txBody>
      </p:sp>
      <p:cxnSp>
        <p:nvCxnSpPr>
          <p:cNvPr id="15" name="直线连接符 14">
            <a:extLst>
              <a:ext uri="{FF2B5EF4-FFF2-40B4-BE49-F238E27FC236}">
                <a16:creationId xmlns:a16="http://schemas.microsoft.com/office/drawing/2014/main" id="{392AD85F-F15E-4849-A856-23B99721F21F}"/>
              </a:ext>
            </a:extLst>
          </p:cNvPr>
          <p:cNvCxnSpPr>
            <a:cxnSpLocks/>
          </p:cNvCxnSpPr>
          <p:nvPr/>
        </p:nvCxnSpPr>
        <p:spPr>
          <a:xfrm>
            <a:off x="582977" y="700757"/>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7" name="直线连接符 16">
            <a:extLst>
              <a:ext uri="{FF2B5EF4-FFF2-40B4-BE49-F238E27FC236}">
                <a16:creationId xmlns:a16="http://schemas.microsoft.com/office/drawing/2014/main" id="{4660D11D-A19F-8744-8DBC-B04157B3D03C}"/>
              </a:ext>
            </a:extLst>
          </p:cNvPr>
          <p:cNvCxnSpPr>
            <a:cxnSpLocks/>
          </p:cNvCxnSpPr>
          <p:nvPr/>
        </p:nvCxnSpPr>
        <p:spPr>
          <a:xfrm>
            <a:off x="582977" y="6079573"/>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18" name="表格 17">
            <a:extLst>
              <a:ext uri="{FF2B5EF4-FFF2-40B4-BE49-F238E27FC236}">
                <a16:creationId xmlns:a16="http://schemas.microsoft.com/office/drawing/2014/main" id="{1C4FD9F3-1BC1-1F4E-A9B2-A901043499C8}"/>
              </a:ext>
            </a:extLst>
          </p:cNvPr>
          <p:cNvGraphicFramePr>
            <a:graphicFrameLocks noGrp="1"/>
          </p:cNvGraphicFramePr>
          <p:nvPr>
            <p:extLst>
              <p:ext uri="{D42A27DB-BD31-4B8C-83A1-F6EECF244321}">
                <p14:modId xmlns:p14="http://schemas.microsoft.com/office/powerpoint/2010/main" val="284649634"/>
              </p:ext>
            </p:extLst>
          </p:nvPr>
        </p:nvGraphicFramePr>
        <p:xfrm>
          <a:off x="3717723" y="2115020"/>
          <a:ext cx="4441187" cy="588758"/>
        </p:xfrm>
        <a:graphic>
          <a:graphicData uri="http://schemas.openxmlformats.org/drawingml/2006/table">
            <a:tbl>
              <a:tblPr firstRow="1" firstCol="1" bandRow="1"/>
              <a:tblGrid>
                <a:gridCol w="713002">
                  <a:extLst>
                    <a:ext uri="{9D8B030D-6E8A-4147-A177-3AD203B41FA5}">
                      <a16:colId xmlns:a16="http://schemas.microsoft.com/office/drawing/2014/main" val="454968088"/>
                    </a:ext>
                  </a:extLst>
                </a:gridCol>
                <a:gridCol w="713002">
                  <a:extLst>
                    <a:ext uri="{9D8B030D-6E8A-4147-A177-3AD203B41FA5}">
                      <a16:colId xmlns:a16="http://schemas.microsoft.com/office/drawing/2014/main" val="1461881595"/>
                    </a:ext>
                  </a:extLst>
                </a:gridCol>
                <a:gridCol w="733571">
                  <a:extLst>
                    <a:ext uri="{9D8B030D-6E8A-4147-A177-3AD203B41FA5}">
                      <a16:colId xmlns:a16="http://schemas.microsoft.com/office/drawing/2014/main" val="578789135"/>
                    </a:ext>
                  </a:extLst>
                </a:gridCol>
                <a:gridCol w="820428">
                  <a:extLst>
                    <a:ext uri="{9D8B030D-6E8A-4147-A177-3AD203B41FA5}">
                      <a16:colId xmlns:a16="http://schemas.microsoft.com/office/drawing/2014/main" val="1368306751"/>
                    </a:ext>
                  </a:extLst>
                </a:gridCol>
                <a:gridCol w="730592">
                  <a:extLst>
                    <a:ext uri="{9D8B030D-6E8A-4147-A177-3AD203B41FA5}">
                      <a16:colId xmlns:a16="http://schemas.microsoft.com/office/drawing/2014/main" val="2527633977"/>
                    </a:ext>
                  </a:extLst>
                </a:gridCol>
                <a:gridCol w="730592">
                  <a:extLst>
                    <a:ext uri="{9D8B030D-6E8A-4147-A177-3AD203B41FA5}">
                      <a16:colId xmlns:a16="http://schemas.microsoft.com/office/drawing/2014/main" val="1333143702"/>
                    </a:ext>
                  </a:extLst>
                </a:gridCol>
              </a:tblGrid>
              <a:tr h="294379">
                <a:tc>
                  <a:txBody>
                    <a:bodyPr/>
                    <a:lstStyle/>
                    <a:p>
                      <a:pPr algn="ctr">
                        <a:lnSpc>
                          <a:spcPct val="150000"/>
                        </a:lnSpc>
                        <a:spcAft>
                          <a:spcPts val="0"/>
                        </a:spcAft>
                      </a:pPr>
                      <a:r>
                        <a:rPr lang="zh-CN" altLang="en-US" sz="1050" kern="100" dirty="0">
                          <a:effectLst/>
                          <a:latin typeface="KaiTi" panose="02010609060101010101" pitchFamily="49" charset="-122"/>
                          <a:ea typeface="KaiTi" panose="02010609060101010101" pitchFamily="49" charset="-122"/>
                          <a:cs typeface="Times New Roman" panose="02020603050405020304" pitchFamily="18" charset="0"/>
                        </a:rPr>
                        <a:t>板块</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lnSpc>
                          <a:spcPct val="150000"/>
                        </a:lnSpc>
                        <a:spcAft>
                          <a:spcPts val="0"/>
                        </a:spcAft>
                      </a:pPr>
                      <a:r>
                        <a:rPr lang="zh-CN" altLang="en-US" sz="1200" kern="100" dirty="0">
                          <a:effectLst/>
                          <a:latin typeface="KaiTi" panose="02010609060101010101" pitchFamily="49" charset="-122"/>
                          <a:ea typeface="KaiTi" panose="02010609060101010101" pitchFamily="49" charset="-122"/>
                          <a:cs typeface="宋体" panose="02010600030101010101" pitchFamily="2" charset="-122"/>
                        </a:rPr>
                        <a:t>声</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lnSpc>
                          <a:spcPct val="150000"/>
                        </a:lnSpc>
                        <a:spcAft>
                          <a:spcPts val="0"/>
                        </a:spcAft>
                      </a:pPr>
                      <a:r>
                        <a:rPr lang="zh-CN" altLang="en-US"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光</a:t>
                      </a:r>
                      <a:r>
                        <a:rPr lang="en-US"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 </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lnSpc>
                          <a:spcPct val="150000"/>
                        </a:lnSpc>
                        <a:spcAft>
                          <a:spcPts val="0"/>
                        </a:spcAft>
                      </a:pPr>
                      <a:r>
                        <a:rPr lang="zh-CN" altLang="en-US" sz="1200" kern="100" dirty="0">
                          <a:effectLst/>
                          <a:latin typeface="KaiTi" panose="02010609060101010101" pitchFamily="49" charset="-122"/>
                          <a:ea typeface="KaiTi" panose="02010609060101010101" pitchFamily="49" charset="-122"/>
                          <a:cs typeface="Times New Roman" panose="02020603050405020304" pitchFamily="18" charset="0"/>
                        </a:rPr>
                        <a:t>热</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lnSpc>
                          <a:spcPct val="150000"/>
                        </a:lnSpc>
                        <a:spcAft>
                          <a:spcPts val="0"/>
                        </a:spcAft>
                      </a:pPr>
                      <a:r>
                        <a:rPr lang="zh-CN" altLang="en-US" sz="1200" kern="100" dirty="0">
                          <a:solidFill>
                            <a:srgbClr val="C00000"/>
                          </a:solidFill>
                          <a:effectLst/>
                          <a:latin typeface="KaiTi" panose="02010609060101010101" pitchFamily="49" charset="-122"/>
                          <a:ea typeface="KaiTi" panose="02010609060101010101" pitchFamily="49" charset="-122"/>
                          <a:cs typeface="宋体" panose="02010600030101010101" pitchFamily="2" charset="-122"/>
                        </a:rPr>
                        <a:t>力</a:t>
                      </a:r>
                      <a:r>
                        <a:rPr lang="en-US" sz="1200" kern="100" dirty="0">
                          <a:solidFill>
                            <a:srgbClr val="C00000"/>
                          </a:solidFill>
                          <a:effectLst/>
                          <a:latin typeface="KaiTi" panose="02010609060101010101" pitchFamily="49" charset="-122"/>
                          <a:ea typeface="KaiTi" panose="02010609060101010101" pitchFamily="49" charset="-122"/>
                          <a:cs typeface="宋体" panose="02010600030101010101" pitchFamily="2" charset="-122"/>
                        </a:rPr>
                        <a:t> </a:t>
                      </a:r>
                      <a:endParaRPr lang="zh-CN" sz="105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lnSpc>
                          <a:spcPct val="150000"/>
                        </a:lnSpc>
                        <a:spcAft>
                          <a:spcPts val="0"/>
                        </a:spcAft>
                      </a:pPr>
                      <a:r>
                        <a:rPr lang="zh-CN" altLang="en-US" sz="105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rPr>
                        <a:t>电</a:t>
                      </a:r>
                      <a:endParaRPr lang="zh-CN" sz="105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392909552"/>
                  </a:ext>
                </a:extLst>
              </a:tr>
              <a:tr h="294379">
                <a:tc>
                  <a:txBody>
                    <a:bodyPr/>
                    <a:lstStyle/>
                    <a:p>
                      <a:pPr algn="ctr">
                        <a:lnSpc>
                          <a:spcPct val="150000"/>
                        </a:lnSpc>
                        <a:spcAft>
                          <a:spcPts val="0"/>
                        </a:spcAft>
                      </a:pPr>
                      <a:r>
                        <a:rPr lang="zh-CN" altLang="en-US" sz="1050" kern="100" dirty="0">
                          <a:effectLst/>
                          <a:latin typeface="KaiTi" panose="02010609060101010101" pitchFamily="49" charset="-122"/>
                          <a:ea typeface="KaiTi" panose="02010609060101010101" pitchFamily="49" charset="-122"/>
                          <a:cs typeface="Times New Roman" panose="02020603050405020304" pitchFamily="18" charset="0"/>
                        </a:rPr>
                        <a:t>中考占比</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lnSpc>
                          <a:spcPct val="150000"/>
                        </a:lnSpc>
                        <a:spcAft>
                          <a:spcPts val="0"/>
                        </a:spcAft>
                      </a:pPr>
                      <a:r>
                        <a:rPr lang="en-US" altLang="zh-CN" sz="1200" kern="100" dirty="0">
                          <a:effectLst/>
                          <a:latin typeface="KaiTi" panose="02010609060101010101" pitchFamily="49" charset="-122"/>
                          <a:ea typeface="KaiTi" panose="02010609060101010101" pitchFamily="49" charset="-122"/>
                          <a:cs typeface="Times New Roman" panose="02020603050405020304" pitchFamily="18" charset="0"/>
                        </a:rPr>
                        <a:t>5%</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lnSpc>
                          <a:spcPct val="150000"/>
                        </a:lnSpc>
                        <a:spcAft>
                          <a:spcPts val="0"/>
                        </a:spcAft>
                      </a:pPr>
                      <a:r>
                        <a:rPr lang="en-US"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 </a:t>
                      </a:r>
                      <a:r>
                        <a:rPr lang="en-US" altLang="zh-CN"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9%</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r>
                        <a:rPr lang="en-US" altLang="zh-CN" sz="1200" kern="100" dirty="0">
                          <a:solidFill>
                            <a:schemeClr val="tx1"/>
                          </a:solidFill>
                          <a:effectLst/>
                          <a:latin typeface="KaiTi" panose="02010609060101010101" pitchFamily="49" charset="-122"/>
                          <a:ea typeface="KaiTi" panose="02010609060101010101" pitchFamily="49" charset="-122"/>
                          <a:cs typeface="Times New Roman" panose="02020603050405020304" pitchFamily="18" charset="0"/>
                        </a:rPr>
                        <a:t>6%</a:t>
                      </a:r>
                      <a:endParaRPr lang="zh-CN" altLang="en-US" sz="1200" kern="100" dirty="0">
                        <a:solidFill>
                          <a:schemeClr val="tx1"/>
                        </a:solidFill>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r>
                        <a:rPr lang="en-US" altLang="zh-CN" sz="120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rPr>
                        <a:t>40%</a:t>
                      </a:r>
                      <a:endParaRPr lang="zh-CN" altLang="en-US" sz="120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r>
                        <a:rPr lang="en-US" altLang="zh-CN" sz="120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rPr>
                        <a:t>40%</a:t>
                      </a:r>
                      <a:endParaRPr lang="zh-CN" altLang="en-US" sz="120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1954342874"/>
                  </a:ext>
                </a:extLst>
              </a:tr>
            </a:tbl>
          </a:graphicData>
        </a:graphic>
      </p:graphicFrame>
      <p:graphicFrame>
        <p:nvGraphicFramePr>
          <p:cNvPr id="16" name="表格 15">
            <a:extLst>
              <a:ext uri="{FF2B5EF4-FFF2-40B4-BE49-F238E27FC236}">
                <a16:creationId xmlns:a16="http://schemas.microsoft.com/office/drawing/2014/main" id="{B1F145C7-0853-A743-9687-3EAEC906598E}"/>
              </a:ext>
            </a:extLst>
          </p:cNvPr>
          <p:cNvGraphicFramePr>
            <a:graphicFrameLocks noGrp="1"/>
          </p:cNvGraphicFramePr>
          <p:nvPr>
            <p:extLst>
              <p:ext uri="{D42A27DB-BD31-4B8C-83A1-F6EECF244321}">
                <p14:modId xmlns:p14="http://schemas.microsoft.com/office/powerpoint/2010/main" val="3862919185"/>
              </p:ext>
            </p:extLst>
          </p:nvPr>
        </p:nvGraphicFramePr>
        <p:xfrm>
          <a:off x="4449244" y="4217688"/>
          <a:ext cx="1556952" cy="588758"/>
        </p:xfrm>
        <a:graphic>
          <a:graphicData uri="http://schemas.openxmlformats.org/drawingml/2006/table">
            <a:tbl>
              <a:tblPr firstRow="1" firstCol="1" bandRow="1"/>
              <a:tblGrid>
                <a:gridCol w="1556952">
                  <a:extLst>
                    <a:ext uri="{9D8B030D-6E8A-4147-A177-3AD203B41FA5}">
                      <a16:colId xmlns:a16="http://schemas.microsoft.com/office/drawing/2014/main" val="1368306751"/>
                    </a:ext>
                  </a:extLst>
                </a:gridCol>
              </a:tblGrid>
              <a:tr h="294379">
                <a:tc>
                  <a:txBody>
                    <a:bodyPr/>
                    <a:lstStyle/>
                    <a:p>
                      <a:pPr algn="ctr">
                        <a:lnSpc>
                          <a:spcPct val="150000"/>
                        </a:lnSpc>
                        <a:spcAft>
                          <a:spcPts val="0"/>
                        </a:spcAft>
                      </a:pPr>
                      <a:r>
                        <a:rPr lang="zh-CN" altLang="en-US" sz="120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rPr>
                        <a:t>动力学分析</a:t>
                      </a:r>
                      <a:endParaRPr lang="zh-CN" sz="105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392909552"/>
                  </a:ext>
                </a:extLst>
              </a:tr>
              <a:tr h="294379">
                <a:tc>
                  <a:txBody>
                    <a:bodyPr/>
                    <a:lstStyle/>
                    <a:p>
                      <a:pPr algn="ctr"/>
                      <a:r>
                        <a:rPr lang="zh-CN" altLang="en-US" sz="120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rPr>
                        <a:t>高一上（必修</a:t>
                      </a:r>
                      <a:r>
                        <a:rPr lang="en-US" altLang="zh-CN" sz="120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rPr>
                        <a:t>1</a:t>
                      </a:r>
                      <a:r>
                        <a:rPr lang="zh-CN" altLang="en-US" sz="120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rPr>
                        <a:t>）</a:t>
                      </a: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1954342874"/>
                  </a:ext>
                </a:extLst>
              </a:tr>
            </a:tbl>
          </a:graphicData>
        </a:graphic>
      </p:graphicFrame>
      <p:graphicFrame>
        <p:nvGraphicFramePr>
          <p:cNvPr id="19" name="表格 18">
            <a:extLst>
              <a:ext uri="{FF2B5EF4-FFF2-40B4-BE49-F238E27FC236}">
                <a16:creationId xmlns:a16="http://schemas.microsoft.com/office/drawing/2014/main" id="{556C8FA6-7DB7-5B4A-8A9A-CA1513CE4A42}"/>
              </a:ext>
            </a:extLst>
          </p:cNvPr>
          <p:cNvGraphicFramePr>
            <a:graphicFrameLocks noGrp="1"/>
          </p:cNvGraphicFramePr>
          <p:nvPr>
            <p:extLst>
              <p:ext uri="{D42A27DB-BD31-4B8C-83A1-F6EECF244321}">
                <p14:modId xmlns:p14="http://schemas.microsoft.com/office/powerpoint/2010/main" val="149588067"/>
              </p:ext>
            </p:extLst>
          </p:nvPr>
        </p:nvGraphicFramePr>
        <p:xfrm>
          <a:off x="6544819" y="4209664"/>
          <a:ext cx="1556952" cy="588758"/>
        </p:xfrm>
        <a:graphic>
          <a:graphicData uri="http://schemas.openxmlformats.org/drawingml/2006/table">
            <a:tbl>
              <a:tblPr firstRow="1" firstCol="1" bandRow="1"/>
              <a:tblGrid>
                <a:gridCol w="1556952">
                  <a:extLst>
                    <a:ext uri="{9D8B030D-6E8A-4147-A177-3AD203B41FA5}">
                      <a16:colId xmlns:a16="http://schemas.microsoft.com/office/drawing/2014/main" val="578789135"/>
                    </a:ext>
                  </a:extLst>
                </a:gridCol>
              </a:tblGrid>
              <a:tr h="294379">
                <a:tc>
                  <a:txBody>
                    <a:bodyPr/>
                    <a:lstStyle/>
                    <a:p>
                      <a:pPr algn="ctr">
                        <a:lnSpc>
                          <a:spcPct val="150000"/>
                        </a:lnSpc>
                        <a:spcAft>
                          <a:spcPts val="0"/>
                        </a:spcAft>
                      </a:pPr>
                      <a:r>
                        <a:rPr lang="zh-CN" altLang="en-US" sz="1200" kern="100" dirty="0">
                          <a:solidFill>
                            <a:srgbClr val="C00000"/>
                          </a:solidFill>
                          <a:effectLst/>
                          <a:latin typeface="KaiTi" panose="02010609060101010101" pitchFamily="49" charset="-122"/>
                          <a:ea typeface="KaiTi" panose="02010609060101010101" pitchFamily="49" charset="-122"/>
                          <a:cs typeface="宋体" panose="02010600030101010101" pitchFamily="2" charset="-122"/>
                        </a:rPr>
                        <a:t>电磁现象</a:t>
                      </a:r>
                      <a:endParaRPr lang="zh-CN" sz="105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392909552"/>
                  </a:ext>
                </a:extLst>
              </a:tr>
              <a:tr h="294379">
                <a:tc>
                  <a:txBody>
                    <a:bodyPr/>
                    <a:lstStyle/>
                    <a:p>
                      <a:pPr algn="ctr">
                        <a:lnSpc>
                          <a:spcPct val="150000"/>
                        </a:lnSpc>
                        <a:spcAft>
                          <a:spcPts val="0"/>
                        </a:spcAft>
                      </a:pPr>
                      <a:r>
                        <a:rPr lang="en-US" sz="1200" kern="100" dirty="0">
                          <a:solidFill>
                            <a:srgbClr val="C00000"/>
                          </a:solidFill>
                          <a:effectLst/>
                          <a:latin typeface="KaiTi" panose="02010609060101010101" pitchFamily="49" charset="-122"/>
                          <a:ea typeface="KaiTi" panose="02010609060101010101" pitchFamily="49" charset="-122"/>
                          <a:cs typeface="宋体" panose="02010600030101010101" pitchFamily="2" charset="-122"/>
                        </a:rPr>
                        <a:t> </a:t>
                      </a:r>
                      <a:r>
                        <a:rPr lang="zh-CN" altLang="en-US" sz="1200" kern="100" dirty="0">
                          <a:solidFill>
                            <a:srgbClr val="C00000"/>
                          </a:solidFill>
                          <a:effectLst/>
                          <a:latin typeface="KaiTi" panose="02010609060101010101" pitchFamily="49" charset="-122"/>
                          <a:ea typeface="KaiTi" panose="02010609060101010101" pitchFamily="49" charset="-122"/>
                          <a:cs typeface="宋体" panose="02010600030101010101" pitchFamily="2" charset="-122"/>
                        </a:rPr>
                        <a:t>高二上（必修</a:t>
                      </a:r>
                      <a:r>
                        <a:rPr lang="en-US" altLang="zh-CN" sz="1200" kern="100" dirty="0">
                          <a:solidFill>
                            <a:srgbClr val="C00000"/>
                          </a:solidFill>
                          <a:effectLst/>
                          <a:latin typeface="KaiTi" panose="02010609060101010101" pitchFamily="49" charset="-122"/>
                          <a:ea typeface="KaiTi" panose="02010609060101010101" pitchFamily="49" charset="-122"/>
                          <a:cs typeface="宋体" panose="02010600030101010101" pitchFamily="2" charset="-122"/>
                        </a:rPr>
                        <a:t>3+</a:t>
                      </a:r>
                      <a:r>
                        <a:rPr lang="zh-CN" altLang="en-US" sz="1200" kern="100" dirty="0">
                          <a:solidFill>
                            <a:srgbClr val="C00000"/>
                          </a:solidFill>
                          <a:effectLst/>
                          <a:latin typeface="KaiTi" panose="02010609060101010101" pitchFamily="49" charset="-122"/>
                          <a:ea typeface="KaiTi" panose="02010609060101010101" pitchFamily="49" charset="-122"/>
                          <a:cs typeface="宋体" panose="02010600030101010101" pitchFamily="2" charset="-122"/>
                        </a:rPr>
                        <a:t>选修</a:t>
                      </a:r>
                      <a:r>
                        <a:rPr lang="en-US" altLang="zh-CN" sz="1200" kern="100" dirty="0">
                          <a:solidFill>
                            <a:srgbClr val="C00000"/>
                          </a:solidFill>
                          <a:effectLst/>
                          <a:latin typeface="KaiTi" panose="02010609060101010101" pitchFamily="49" charset="-122"/>
                          <a:ea typeface="KaiTi" panose="02010609060101010101" pitchFamily="49" charset="-122"/>
                          <a:cs typeface="宋体" panose="02010600030101010101" pitchFamily="2" charset="-122"/>
                        </a:rPr>
                        <a:t>2</a:t>
                      </a:r>
                      <a:r>
                        <a:rPr lang="zh-CN" altLang="en-US" sz="1200" kern="100" dirty="0">
                          <a:solidFill>
                            <a:srgbClr val="C00000"/>
                          </a:solidFill>
                          <a:effectLst/>
                          <a:latin typeface="KaiTi" panose="02010609060101010101" pitchFamily="49" charset="-122"/>
                          <a:ea typeface="KaiTi" panose="02010609060101010101" pitchFamily="49" charset="-122"/>
                          <a:cs typeface="宋体" panose="02010600030101010101" pitchFamily="2" charset="-122"/>
                        </a:rPr>
                        <a:t>）</a:t>
                      </a:r>
                      <a:endParaRPr lang="zh-CN" sz="105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1954342874"/>
                  </a:ext>
                </a:extLst>
              </a:tr>
            </a:tbl>
          </a:graphicData>
        </a:graphic>
      </p:graphicFrame>
      <p:graphicFrame>
        <p:nvGraphicFramePr>
          <p:cNvPr id="22" name="表格 21">
            <a:extLst>
              <a:ext uri="{FF2B5EF4-FFF2-40B4-BE49-F238E27FC236}">
                <a16:creationId xmlns:a16="http://schemas.microsoft.com/office/drawing/2014/main" id="{3087959E-9CD5-FF4B-BABE-3C461071ACF2}"/>
              </a:ext>
            </a:extLst>
          </p:cNvPr>
          <p:cNvGraphicFramePr>
            <a:graphicFrameLocks noGrp="1"/>
          </p:cNvGraphicFramePr>
          <p:nvPr>
            <p:extLst>
              <p:ext uri="{D42A27DB-BD31-4B8C-83A1-F6EECF244321}">
                <p14:modId xmlns:p14="http://schemas.microsoft.com/office/powerpoint/2010/main" val="2554608472"/>
              </p:ext>
            </p:extLst>
          </p:nvPr>
        </p:nvGraphicFramePr>
        <p:xfrm>
          <a:off x="6087331" y="4323930"/>
          <a:ext cx="376352" cy="376273"/>
        </p:xfrm>
        <a:graphic>
          <a:graphicData uri="http://schemas.openxmlformats.org/drawingml/2006/table">
            <a:tbl>
              <a:tblPr firstRow="1" firstCol="1" bandRow="1"/>
              <a:tblGrid>
                <a:gridCol w="376352">
                  <a:extLst>
                    <a:ext uri="{9D8B030D-6E8A-4147-A177-3AD203B41FA5}">
                      <a16:colId xmlns:a16="http://schemas.microsoft.com/office/drawing/2014/main" val="578789135"/>
                    </a:ext>
                  </a:extLst>
                </a:gridCol>
              </a:tblGrid>
              <a:tr h="376273">
                <a:tc>
                  <a:txBody>
                    <a:bodyPr/>
                    <a:lstStyle/>
                    <a:p>
                      <a:pPr algn="ctr">
                        <a:lnSpc>
                          <a:spcPct val="150000"/>
                        </a:lnSpc>
                        <a:spcAft>
                          <a:spcPts val="0"/>
                        </a:spcAft>
                      </a:pPr>
                      <a:r>
                        <a:rPr lang="en-US" altLang="zh-CN" sz="160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rPr>
                        <a:t>+</a:t>
                      </a:r>
                      <a:endParaRPr lang="zh-CN" sz="160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392909552"/>
                  </a:ext>
                </a:extLst>
              </a:tr>
            </a:tbl>
          </a:graphicData>
        </a:graphic>
      </p:graphicFrame>
    </p:spTree>
    <p:extLst>
      <p:ext uri="{BB962C8B-B14F-4D97-AF65-F5344CB8AC3E}">
        <p14:creationId xmlns:p14="http://schemas.microsoft.com/office/powerpoint/2010/main" val="2007071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F150AB8-D8D1-1542-AD12-C7B5ACDB517E}"/>
              </a:ext>
            </a:extLst>
          </p:cNvPr>
          <p:cNvSpPr txBox="1"/>
          <p:nvPr/>
        </p:nvSpPr>
        <p:spPr>
          <a:xfrm>
            <a:off x="417830" y="748030"/>
            <a:ext cx="4942702" cy="307777"/>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初中物理思维导图</a:t>
            </a:r>
          </a:p>
        </p:txBody>
      </p:sp>
      <p:sp>
        <p:nvSpPr>
          <p:cNvPr id="4" name="文本框 3">
            <a:extLst>
              <a:ext uri="{FF2B5EF4-FFF2-40B4-BE49-F238E27FC236}">
                <a16:creationId xmlns:a16="http://schemas.microsoft.com/office/drawing/2014/main" id="{2A995DB2-C901-AD41-8949-4826090408EB}"/>
              </a:ext>
            </a:extLst>
          </p:cNvPr>
          <p:cNvSpPr txBox="1"/>
          <p:nvPr/>
        </p:nvSpPr>
        <p:spPr>
          <a:xfrm>
            <a:off x="417830" y="1055807"/>
            <a:ext cx="9503133" cy="773289"/>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rPr>
              <a:t>如何画思维导图？</a:t>
            </a:r>
            <a:r>
              <a:rPr kumimoji="1" lang="zh-CN" altLang="en-US" sz="1600" dirty="0">
                <a:solidFill>
                  <a:srgbClr val="C00000"/>
                </a:solidFill>
                <a:latin typeface="KaiTi" panose="02010609060101010101" pitchFamily="49" charset="-122"/>
                <a:ea typeface="KaiTi" panose="02010609060101010101" pitchFamily="49" charset="-122"/>
                <a:cs typeface="Times New Roman" panose="02020603050405020304" pitchFamily="18" charset="0"/>
              </a:rPr>
              <a:t>目录</a:t>
            </a:r>
            <a:r>
              <a:rPr kumimoji="1" lang="en-US" altLang="zh-CN" sz="1600" dirty="0">
                <a:solidFill>
                  <a:srgbClr val="C00000"/>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C00000"/>
                </a:solidFill>
                <a:latin typeface="KaiTi" panose="02010609060101010101" pitchFamily="49" charset="-122"/>
                <a:ea typeface="KaiTi" panose="02010609060101010101" pitchFamily="49" charset="-122"/>
                <a:cs typeface="Times New Roman" panose="02020603050405020304" pitchFamily="18" charset="0"/>
              </a:rPr>
              <a:t>知识点联系</a:t>
            </a:r>
            <a:r>
              <a:rPr kumimoji="1" lang="en-US" altLang="zh-CN" sz="1600" dirty="0">
                <a:solidFill>
                  <a:srgbClr val="C00000"/>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C00000"/>
                </a:solidFill>
                <a:latin typeface="KaiTi" panose="02010609060101010101" pitchFamily="49" charset="-122"/>
                <a:ea typeface="KaiTi" panose="02010609060101010101" pitchFamily="49" charset="-122"/>
                <a:cs typeface="Times New Roman" panose="02020603050405020304" pitchFamily="18" charset="0"/>
              </a:rPr>
              <a:t>书上概念</a:t>
            </a:r>
            <a:endParaRPr kumimoji="1" lang="en-US" altLang="zh-CN" sz="1600" dirty="0">
              <a:solidFill>
                <a:schemeClr val="tx1">
                  <a:lumMod val="50000"/>
                  <a:lumOff val="50000"/>
                </a:schemeClr>
              </a:solidFill>
              <a:latin typeface="KaiTi" panose="02010609060101010101" pitchFamily="49" charset="-122"/>
              <a:ea typeface="KaiTi" panose="02010609060101010101" pitchFamily="49" charset="-122"/>
            </a:endParaRPr>
          </a:p>
          <a:p>
            <a:pPr>
              <a:lnSpc>
                <a:spcPct val="150000"/>
              </a:lnSpc>
            </a:pP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分板块：将</a:t>
            </a:r>
            <a:r>
              <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基本概念</a:t>
            </a:r>
            <a:r>
              <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列出</a:t>
            </a:r>
            <a:r>
              <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详细</a:t>
            </a:r>
            <a:r>
              <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全面</a:t>
            </a:r>
            <a:endPar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endParaRPr>
          </a:p>
        </p:txBody>
      </p:sp>
      <p:cxnSp>
        <p:nvCxnSpPr>
          <p:cNvPr id="7" name="直线连接符 6">
            <a:extLst>
              <a:ext uri="{FF2B5EF4-FFF2-40B4-BE49-F238E27FC236}">
                <a16:creationId xmlns:a16="http://schemas.microsoft.com/office/drawing/2014/main" id="{B47786F8-6C85-3C46-95ED-567BE89F2562}"/>
              </a:ext>
            </a:extLst>
          </p:cNvPr>
          <p:cNvCxnSpPr>
            <a:cxnSpLocks/>
          </p:cNvCxnSpPr>
          <p:nvPr/>
        </p:nvCxnSpPr>
        <p:spPr>
          <a:xfrm>
            <a:off x="582977" y="700757"/>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8" name="直线连接符 7">
            <a:extLst>
              <a:ext uri="{FF2B5EF4-FFF2-40B4-BE49-F238E27FC236}">
                <a16:creationId xmlns:a16="http://schemas.microsoft.com/office/drawing/2014/main" id="{2587DEE8-447E-D04E-98FA-D7B7A6720502}"/>
              </a:ext>
            </a:extLst>
          </p:cNvPr>
          <p:cNvCxnSpPr>
            <a:cxnSpLocks/>
          </p:cNvCxnSpPr>
          <p:nvPr/>
        </p:nvCxnSpPr>
        <p:spPr>
          <a:xfrm>
            <a:off x="582977" y="6425562"/>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id="{5B9D66E1-585C-6141-8593-634B58C94DFA}"/>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582978" y="1853896"/>
            <a:ext cx="11054032" cy="4708199"/>
          </a:xfrm>
          <a:prstGeom prst="rect">
            <a:avLst/>
          </a:prstGeom>
          <a:ln>
            <a:solidFill>
              <a:srgbClr val="A41AD4"/>
            </a:solid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F150AB8-D8D1-1542-AD12-C7B5ACDB517E}"/>
              </a:ext>
            </a:extLst>
          </p:cNvPr>
          <p:cNvSpPr txBox="1"/>
          <p:nvPr/>
        </p:nvSpPr>
        <p:spPr>
          <a:xfrm>
            <a:off x="417830" y="748030"/>
            <a:ext cx="4942702" cy="307777"/>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初中物理思维导图</a:t>
            </a:r>
          </a:p>
        </p:txBody>
      </p:sp>
      <p:sp>
        <p:nvSpPr>
          <p:cNvPr id="4" name="文本框 3">
            <a:extLst>
              <a:ext uri="{FF2B5EF4-FFF2-40B4-BE49-F238E27FC236}">
                <a16:creationId xmlns:a16="http://schemas.microsoft.com/office/drawing/2014/main" id="{2A995DB2-C901-AD41-8949-4826090408EB}"/>
              </a:ext>
            </a:extLst>
          </p:cNvPr>
          <p:cNvSpPr txBox="1"/>
          <p:nvPr/>
        </p:nvSpPr>
        <p:spPr>
          <a:xfrm>
            <a:off x="417830" y="1055807"/>
            <a:ext cx="9503133" cy="773289"/>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rPr>
              <a:t>如何画思维导图？</a:t>
            </a:r>
            <a:r>
              <a:rPr kumimoji="1" lang="zh-CN" altLang="en-US" sz="1600" dirty="0">
                <a:solidFill>
                  <a:srgbClr val="C00000"/>
                </a:solidFill>
                <a:latin typeface="KaiTi" panose="02010609060101010101" pitchFamily="49" charset="-122"/>
                <a:ea typeface="KaiTi" panose="02010609060101010101" pitchFamily="49" charset="-122"/>
                <a:cs typeface="Times New Roman" panose="02020603050405020304" pitchFamily="18" charset="0"/>
              </a:rPr>
              <a:t>目录</a:t>
            </a:r>
            <a:r>
              <a:rPr kumimoji="1" lang="en-US" altLang="zh-CN" sz="1600" dirty="0">
                <a:solidFill>
                  <a:srgbClr val="C00000"/>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C00000"/>
                </a:solidFill>
                <a:latin typeface="KaiTi" panose="02010609060101010101" pitchFamily="49" charset="-122"/>
                <a:ea typeface="KaiTi" panose="02010609060101010101" pitchFamily="49" charset="-122"/>
                <a:cs typeface="Times New Roman" panose="02020603050405020304" pitchFamily="18" charset="0"/>
              </a:rPr>
              <a:t>知识点联系</a:t>
            </a:r>
            <a:r>
              <a:rPr kumimoji="1" lang="en-US" altLang="zh-CN" sz="1600" dirty="0">
                <a:solidFill>
                  <a:srgbClr val="C00000"/>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C00000"/>
                </a:solidFill>
                <a:latin typeface="KaiTi" panose="02010609060101010101" pitchFamily="49" charset="-122"/>
                <a:ea typeface="KaiTi" panose="02010609060101010101" pitchFamily="49" charset="-122"/>
                <a:cs typeface="Times New Roman" panose="02020603050405020304" pitchFamily="18" charset="0"/>
              </a:rPr>
              <a:t>书上概念</a:t>
            </a:r>
            <a:endParaRPr kumimoji="1" lang="en-US" altLang="zh-CN" sz="1600" dirty="0">
              <a:solidFill>
                <a:schemeClr val="tx1">
                  <a:lumMod val="50000"/>
                  <a:lumOff val="50000"/>
                </a:schemeClr>
              </a:solidFill>
              <a:latin typeface="KaiTi" panose="02010609060101010101" pitchFamily="49" charset="-122"/>
              <a:ea typeface="KaiTi" panose="02010609060101010101" pitchFamily="49" charset="-122"/>
            </a:endParaRPr>
          </a:p>
          <a:p>
            <a:pPr>
              <a:lnSpc>
                <a:spcPct val="150000"/>
              </a:lnSpc>
            </a:pP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分板块：将</a:t>
            </a:r>
            <a:r>
              <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基本概念</a:t>
            </a:r>
            <a:r>
              <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列出</a:t>
            </a:r>
            <a:r>
              <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详细</a:t>
            </a:r>
            <a:r>
              <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全面</a:t>
            </a:r>
            <a:endPar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endParaRPr>
          </a:p>
        </p:txBody>
      </p:sp>
      <p:cxnSp>
        <p:nvCxnSpPr>
          <p:cNvPr id="7" name="直线连接符 6">
            <a:extLst>
              <a:ext uri="{FF2B5EF4-FFF2-40B4-BE49-F238E27FC236}">
                <a16:creationId xmlns:a16="http://schemas.microsoft.com/office/drawing/2014/main" id="{B47786F8-6C85-3C46-95ED-567BE89F2562}"/>
              </a:ext>
            </a:extLst>
          </p:cNvPr>
          <p:cNvCxnSpPr>
            <a:cxnSpLocks/>
          </p:cNvCxnSpPr>
          <p:nvPr/>
        </p:nvCxnSpPr>
        <p:spPr>
          <a:xfrm>
            <a:off x="582977" y="700757"/>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8" name="直线连接符 7">
            <a:extLst>
              <a:ext uri="{FF2B5EF4-FFF2-40B4-BE49-F238E27FC236}">
                <a16:creationId xmlns:a16="http://schemas.microsoft.com/office/drawing/2014/main" id="{2587DEE8-447E-D04E-98FA-D7B7A6720502}"/>
              </a:ext>
            </a:extLst>
          </p:cNvPr>
          <p:cNvCxnSpPr>
            <a:cxnSpLocks/>
          </p:cNvCxnSpPr>
          <p:nvPr/>
        </p:nvCxnSpPr>
        <p:spPr>
          <a:xfrm>
            <a:off x="582977" y="6339065"/>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id="{38DA6B99-10E4-924B-8C2C-244C493B5ECC}"/>
              </a:ext>
            </a:extLst>
          </p:cNvPr>
          <p:cNvPicPr>
            <a:picLocks noChangeAspect="1"/>
          </p:cNvPicPr>
          <p:nvPr/>
        </p:nvPicPr>
        <p:blipFill>
          <a:blip r:embed="rId2"/>
          <a:stretch>
            <a:fillRect/>
          </a:stretch>
        </p:blipFill>
        <p:spPr>
          <a:xfrm>
            <a:off x="507199" y="1829096"/>
            <a:ext cx="11177601" cy="4812110"/>
          </a:xfrm>
          <a:prstGeom prst="rect">
            <a:avLst/>
          </a:prstGeom>
          <a:ln>
            <a:solidFill>
              <a:srgbClr val="A41AD4"/>
            </a:solidFill>
          </a:ln>
        </p:spPr>
      </p:pic>
    </p:spTree>
    <p:extLst>
      <p:ext uri="{BB962C8B-B14F-4D97-AF65-F5344CB8AC3E}">
        <p14:creationId xmlns:p14="http://schemas.microsoft.com/office/powerpoint/2010/main" val="11603869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F150AB8-D8D1-1542-AD12-C7B5ACDB517E}"/>
              </a:ext>
            </a:extLst>
          </p:cNvPr>
          <p:cNvSpPr txBox="1"/>
          <p:nvPr/>
        </p:nvSpPr>
        <p:spPr>
          <a:xfrm>
            <a:off x="417830" y="748030"/>
            <a:ext cx="4942702" cy="307777"/>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高中物理思维导图</a:t>
            </a:r>
          </a:p>
        </p:txBody>
      </p:sp>
      <p:sp>
        <p:nvSpPr>
          <p:cNvPr id="4" name="文本框 3">
            <a:extLst>
              <a:ext uri="{FF2B5EF4-FFF2-40B4-BE49-F238E27FC236}">
                <a16:creationId xmlns:a16="http://schemas.microsoft.com/office/drawing/2014/main" id="{2A995DB2-C901-AD41-8949-4826090408EB}"/>
              </a:ext>
            </a:extLst>
          </p:cNvPr>
          <p:cNvSpPr txBox="1"/>
          <p:nvPr/>
        </p:nvSpPr>
        <p:spPr>
          <a:xfrm>
            <a:off x="417830" y="1055807"/>
            <a:ext cx="9503133" cy="773289"/>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rPr>
              <a:t>如何画思维导图？</a:t>
            </a:r>
            <a:r>
              <a:rPr kumimoji="1" lang="zh-CN" altLang="en-US" sz="1600" dirty="0">
                <a:solidFill>
                  <a:srgbClr val="C00000"/>
                </a:solidFill>
                <a:latin typeface="KaiTi" panose="02010609060101010101" pitchFamily="49" charset="-122"/>
                <a:ea typeface="KaiTi" panose="02010609060101010101" pitchFamily="49" charset="-122"/>
                <a:cs typeface="Times New Roman" panose="02020603050405020304" pitchFamily="18" charset="0"/>
              </a:rPr>
              <a:t>目录</a:t>
            </a:r>
            <a:r>
              <a:rPr kumimoji="1" lang="en-US" altLang="zh-CN" sz="1600" dirty="0">
                <a:solidFill>
                  <a:srgbClr val="C00000"/>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C00000"/>
                </a:solidFill>
                <a:latin typeface="KaiTi" panose="02010609060101010101" pitchFamily="49" charset="-122"/>
                <a:ea typeface="KaiTi" panose="02010609060101010101" pitchFamily="49" charset="-122"/>
                <a:cs typeface="Times New Roman" panose="02020603050405020304" pitchFamily="18" charset="0"/>
              </a:rPr>
              <a:t>知识点联系</a:t>
            </a:r>
            <a:r>
              <a:rPr kumimoji="1" lang="en-US" altLang="zh-CN" sz="1600" dirty="0">
                <a:solidFill>
                  <a:srgbClr val="C00000"/>
                </a:solidFill>
                <a:latin typeface="KaiTi" panose="02010609060101010101" pitchFamily="49" charset="-122"/>
                <a:ea typeface="KaiTi" panose="02010609060101010101" pitchFamily="49" charset="-122"/>
                <a:cs typeface="Times New Roman" panose="02020603050405020304" pitchFamily="18" charset="0"/>
              </a:rPr>
              <a:t>}</a:t>
            </a:r>
            <a:endParaRPr kumimoji="1" lang="en-US" altLang="zh-CN" sz="1600" dirty="0">
              <a:solidFill>
                <a:schemeClr val="tx1">
                  <a:lumMod val="50000"/>
                  <a:lumOff val="50000"/>
                </a:schemeClr>
              </a:solidFill>
              <a:latin typeface="KaiTi" panose="02010609060101010101" pitchFamily="49" charset="-122"/>
              <a:ea typeface="KaiTi" panose="02010609060101010101" pitchFamily="49" charset="-122"/>
            </a:endParaRPr>
          </a:p>
          <a:p>
            <a:pPr>
              <a:lnSpc>
                <a:spcPct val="150000"/>
              </a:lnSpc>
            </a:pPr>
            <a:r>
              <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和初中相比</a:t>
            </a:r>
            <a:r>
              <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 侧重于列</a:t>
            </a:r>
            <a:r>
              <a:rPr kumimoji="1" lang="zh-CN" altLang="en-US" sz="1600" u="sng" dirty="0">
                <a:solidFill>
                  <a:srgbClr val="A41AD4"/>
                </a:solidFill>
                <a:latin typeface="KaiTi" panose="02010609060101010101" pitchFamily="49" charset="-122"/>
                <a:ea typeface="KaiTi" panose="02010609060101010101" pitchFamily="49" charset="-122"/>
                <a:cs typeface="Times New Roman" panose="02020603050405020304" pitchFamily="18" charset="0"/>
              </a:rPr>
              <a:t>提纲</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而非概念全部写出，随时结合教材翻看</a:t>
            </a:r>
            <a:endPar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endParaRPr>
          </a:p>
        </p:txBody>
      </p:sp>
      <p:cxnSp>
        <p:nvCxnSpPr>
          <p:cNvPr id="7" name="直线连接符 6">
            <a:extLst>
              <a:ext uri="{FF2B5EF4-FFF2-40B4-BE49-F238E27FC236}">
                <a16:creationId xmlns:a16="http://schemas.microsoft.com/office/drawing/2014/main" id="{B47786F8-6C85-3C46-95ED-567BE89F2562}"/>
              </a:ext>
            </a:extLst>
          </p:cNvPr>
          <p:cNvCxnSpPr>
            <a:cxnSpLocks/>
          </p:cNvCxnSpPr>
          <p:nvPr/>
        </p:nvCxnSpPr>
        <p:spPr>
          <a:xfrm>
            <a:off x="582977" y="700757"/>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2" name="图片 1">
            <a:extLst>
              <a:ext uri="{FF2B5EF4-FFF2-40B4-BE49-F238E27FC236}">
                <a16:creationId xmlns:a16="http://schemas.microsoft.com/office/drawing/2014/main" id="{83039D37-0D1E-0044-9068-0B1F66E30E62}"/>
              </a:ext>
            </a:extLst>
          </p:cNvPr>
          <p:cNvPicPr>
            <a:picLocks noChangeAspect="1"/>
          </p:cNvPicPr>
          <p:nvPr/>
        </p:nvPicPr>
        <p:blipFill>
          <a:blip r:embed="rId2"/>
          <a:stretch>
            <a:fillRect/>
          </a:stretch>
        </p:blipFill>
        <p:spPr>
          <a:xfrm>
            <a:off x="3759397" y="1985642"/>
            <a:ext cx="8186532" cy="3774750"/>
          </a:xfrm>
          <a:prstGeom prst="rect">
            <a:avLst/>
          </a:prstGeom>
          <a:ln>
            <a:solidFill>
              <a:srgbClr val="A41AD4"/>
            </a:solidFill>
          </a:ln>
        </p:spPr>
      </p:pic>
      <p:cxnSp>
        <p:nvCxnSpPr>
          <p:cNvPr id="9" name="直线连接符 8">
            <a:extLst>
              <a:ext uri="{FF2B5EF4-FFF2-40B4-BE49-F238E27FC236}">
                <a16:creationId xmlns:a16="http://schemas.microsoft.com/office/drawing/2014/main" id="{09A798B5-2F18-4C4D-883C-84D5587AC5DA}"/>
              </a:ext>
            </a:extLst>
          </p:cNvPr>
          <p:cNvCxnSpPr>
            <a:cxnSpLocks/>
          </p:cNvCxnSpPr>
          <p:nvPr/>
        </p:nvCxnSpPr>
        <p:spPr>
          <a:xfrm>
            <a:off x="582977" y="6351422"/>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a16="http://schemas.microsoft.com/office/drawing/2014/main" id="{3684BE30-62B2-C644-807D-986E071D6FF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10317" y="2014026"/>
            <a:ext cx="2715978" cy="3774750"/>
          </a:xfrm>
          <a:prstGeom prst="rect">
            <a:avLst/>
          </a:prstGeom>
          <a:ln>
            <a:solidFill>
              <a:srgbClr val="A41AD4"/>
            </a:solidFill>
          </a:ln>
        </p:spPr>
      </p:pic>
      <p:sp>
        <p:nvSpPr>
          <p:cNvPr id="12" name="矩形 11">
            <a:extLst>
              <a:ext uri="{FF2B5EF4-FFF2-40B4-BE49-F238E27FC236}">
                <a16:creationId xmlns:a16="http://schemas.microsoft.com/office/drawing/2014/main" id="{678658B0-2FA9-EC4E-AE2F-EB8F84A24AFE}"/>
              </a:ext>
            </a:extLst>
          </p:cNvPr>
          <p:cNvSpPr/>
          <p:nvPr/>
        </p:nvSpPr>
        <p:spPr>
          <a:xfrm>
            <a:off x="1542893" y="3087757"/>
            <a:ext cx="776237" cy="123285"/>
          </a:xfrm>
          <a:prstGeom prst="rect">
            <a:avLst/>
          </a:prstGeom>
          <a:solidFill>
            <a:srgbClr val="A41AD4">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椭圆 12">
            <a:extLst>
              <a:ext uri="{FF2B5EF4-FFF2-40B4-BE49-F238E27FC236}">
                <a16:creationId xmlns:a16="http://schemas.microsoft.com/office/drawing/2014/main" id="{968DBC5F-7CA2-0E46-8500-A9379CA8A94C}"/>
              </a:ext>
            </a:extLst>
          </p:cNvPr>
          <p:cNvSpPr/>
          <p:nvPr/>
        </p:nvSpPr>
        <p:spPr>
          <a:xfrm>
            <a:off x="2545798" y="3038943"/>
            <a:ext cx="185351" cy="185351"/>
          </a:xfrm>
          <a:prstGeom prst="ellipse">
            <a:avLst/>
          </a:prstGeom>
          <a:solidFill>
            <a:srgbClr val="A41AD4"/>
          </a:solidFill>
          <a:ln>
            <a:solidFill>
              <a:srgbClr val="A41AD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4" name="直线连接符 13">
            <a:extLst>
              <a:ext uri="{FF2B5EF4-FFF2-40B4-BE49-F238E27FC236}">
                <a16:creationId xmlns:a16="http://schemas.microsoft.com/office/drawing/2014/main" id="{5975B77A-A30C-2C48-A103-05CCF672ED29}"/>
              </a:ext>
            </a:extLst>
          </p:cNvPr>
          <p:cNvCxnSpPr>
            <a:cxnSpLocks/>
          </p:cNvCxnSpPr>
          <p:nvPr/>
        </p:nvCxnSpPr>
        <p:spPr>
          <a:xfrm>
            <a:off x="2717257" y="3119095"/>
            <a:ext cx="1042140" cy="0"/>
          </a:xfrm>
          <a:prstGeom prst="line">
            <a:avLst/>
          </a:prstGeom>
          <a:ln w="12700">
            <a:solidFill>
              <a:srgbClr val="A41AD4"/>
            </a:solidFill>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F97B59AA-EA48-E941-932D-A18009194CB9}"/>
              </a:ext>
            </a:extLst>
          </p:cNvPr>
          <p:cNvSpPr/>
          <p:nvPr/>
        </p:nvSpPr>
        <p:spPr>
          <a:xfrm>
            <a:off x="417830" y="5855685"/>
            <a:ext cx="11774170" cy="403957"/>
          </a:xfrm>
          <a:prstGeom prst="rect">
            <a:avLst/>
          </a:prstGeom>
        </p:spPr>
        <p:txBody>
          <a:bodyPr wrap="square">
            <a:spAutoFit/>
          </a:bodyPr>
          <a:lstStyle/>
          <a:p>
            <a:pPr lvl="0">
              <a:lnSpc>
                <a:spcPct val="150000"/>
              </a:lnSpc>
            </a:pPr>
            <a:r>
              <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e.g.【</a:t>
            </a:r>
            <a:r>
              <a:rPr kumimoji="1" lang="zh-CN" altLang="en-US" sz="1600" b="1" u="sng" dirty="0">
                <a:solidFill>
                  <a:srgbClr val="A41AD4"/>
                </a:solidFill>
                <a:latin typeface="KaiTi" panose="02010609060101010101" pitchFamily="49" charset="-122"/>
                <a:ea typeface="KaiTi" panose="02010609060101010101" pitchFamily="49" charset="-122"/>
                <a:cs typeface="Times New Roman" panose="02020603050405020304" pitchFamily="18" charset="0"/>
              </a:rPr>
              <a:t>高一知识</a:t>
            </a:r>
            <a:r>
              <a:rPr kumimoji="1" lang="en-US" altLang="zh-CN" sz="1600" b="1" u="sng"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b="1" u="sng"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动力学板块 </a:t>
            </a:r>
            <a:r>
              <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 知识点思维导图 </a:t>
            </a:r>
            <a:r>
              <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 动量守恒「引出所有知识点联系」</a:t>
            </a:r>
            <a:endPar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endParaRPr>
          </a:p>
        </p:txBody>
      </p:sp>
      <p:sp>
        <p:nvSpPr>
          <p:cNvPr id="16" name="矩形 15">
            <a:extLst>
              <a:ext uri="{FF2B5EF4-FFF2-40B4-BE49-F238E27FC236}">
                <a16:creationId xmlns:a16="http://schemas.microsoft.com/office/drawing/2014/main" id="{4803C7E4-BCE5-9C44-AFD3-EAD33F58B93F}"/>
              </a:ext>
            </a:extLst>
          </p:cNvPr>
          <p:cNvSpPr/>
          <p:nvPr/>
        </p:nvSpPr>
        <p:spPr>
          <a:xfrm>
            <a:off x="3363333" y="3117996"/>
            <a:ext cx="521070" cy="1142620"/>
          </a:xfrm>
          <a:prstGeom prst="rect">
            <a:avLst/>
          </a:prstGeom>
        </p:spPr>
        <p:txBody>
          <a:bodyPr wrap="square">
            <a:spAutoFit/>
          </a:bodyPr>
          <a:lstStyle/>
          <a:p>
            <a:pPr lvl="0">
              <a:lnSpc>
                <a:spcPct val="150000"/>
              </a:lnSpc>
            </a:pP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第一步</a:t>
            </a:r>
            <a:endPar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904267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F150AB8-D8D1-1542-AD12-C7B5ACDB517E}"/>
              </a:ext>
            </a:extLst>
          </p:cNvPr>
          <p:cNvSpPr txBox="1"/>
          <p:nvPr/>
        </p:nvSpPr>
        <p:spPr>
          <a:xfrm>
            <a:off x="417830" y="748030"/>
            <a:ext cx="4942702" cy="307777"/>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高中物理思维导图</a:t>
            </a:r>
          </a:p>
        </p:txBody>
      </p:sp>
      <p:sp>
        <p:nvSpPr>
          <p:cNvPr id="4" name="文本框 3">
            <a:extLst>
              <a:ext uri="{FF2B5EF4-FFF2-40B4-BE49-F238E27FC236}">
                <a16:creationId xmlns:a16="http://schemas.microsoft.com/office/drawing/2014/main" id="{2A995DB2-C901-AD41-8949-4826090408EB}"/>
              </a:ext>
            </a:extLst>
          </p:cNvPr>
          <p:cNvSpPr txBox="1"/>
          <p:nvPr/>
        </p:nvSpPr>
        <p:spPr>
          <a:xfrm>
            <a:off x="417830" y="1055807"/>
            <a:ext cx="9503133" cy="403957"/>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rPr>
              <a:t>如何画思维导图？</a:t>
            </a:r>
            <a:r>
              <a:rPr kumimoji="1" lang="zh-CN" altLang="en-US" sz="1600" dirty="0">
                <a:solidFill>
                  <a:srgbClr val="C00000"/>
                </a:solidFill>
                <a:latin typeface="KaiTi" panose="02010609060101010101" pitchFamily="49" charset="-122"/>
                <a:ea typeface="KaiTi" panose="02010609060101010101" pitchFamily="49" charset="-122"/>
                <a:cs typeface="Times New Roman" panose="02020603050405020304" pitchFamily="18" charset="0"/>
              </a:rPr>
              <a:t>目录</a:t>
            </a:r>
            <a:r>
              <a:rPr kumimoji="1" lang="en-US" altLang="zh-CN" sz="1600" dirty="0">
                <a:solidFill>
                  <a:srgbClr val="C00000"/>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C00000"/>
                </a:solidFill>
                <a:latin typeface="KaiTi" panose="02010609060101010101" pitchFamily="49" charset="-122"/>
                <a:ea typeface="KaiTi" panose="02010609060101010101" pitchFamily="49" charset="-122"/>
                <a:cs typeface="Times New Roman" panose="02020603050405020304" pitchFamily="18" charset="0"/>
              </a:rPr>
              <a:t>知识点联系</a:t>
            </a:r>
            <a:r>
              <a:rPr kumimoji="1" lang="en-US" altLang="zh-CN" sz="1600" dirty="0">
                <a:solidFill>
                  <a:srgbClr val="C00000"/>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C00000"/>
                </a:solidFill>
                <a:latin typeface="KaiTi" panose="02010609060101010101" pitchFamily="49" charset="-122"/>
                <a:ea typeface="KaiTi" panose="02010609060101010101" pitchFamily="49" charset="-122"/>
                <a:cs typeface="Times New Roman" panose="02020603050405020304" pitchFamily="18" charset="0"/>
              </a:rPr>
              <a:t>书上概念</a:t>
            </a:r>
            <a:r>
              <a:rPr kumimoji="1" lang="en-US" altLang="zh-CN" sz="1600" dirty="0">
                <a:solidFill>
                  <a:srgbClr val="C00000"/>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C00000"/>
                </a:solidFill>
                <a:latin typeface="KaiTi" panose="02010609060101010101" pitchFamily="49" charset="-122"/>
                <a:ea typeface="KaiTi" panose="02010609060101010101" pitchFamily="49" charset="-122"/>
                <a:cs typeface="Times New Roman" panose="02020603050405020304" pitchFamily="18" charset="0"/>
              </a:rPr>
              <a:t>做到能够对照提纲反应，教材上所有知识点</a:t>
            </a:r>
            <a:r>
              <a:rPr kumimoji="1" lang="en-US" altLang="zh-CN" sz="1600" dirty="0">
                <a:solidFill>
                  <a:srgbClr val="C00000"/>
                </a:solidFill>
                <a:latin typeface="KaiTi" panose="02010609060101010101" pitchFamily="49" charset="-122"/>
                <a:ea typeface="KaiTi" panose="02010609060101010101" pitchFamily="49" charset="-122"/>
                <a:cs typeface="Times New Roman" panose="02020603050405020304" pitchFamily="18" charset="0"/>
              </a:rPr>
              <a:t>】</a:t>
            </a:r>
            <a:endParaRPr kumimoji="1" lang="en-US" altLang="zh-CN" sz="1600" dirty="0">
              <a:solidFill>
                <a:schemeClr val="tx1">
                  <a:lumMod val="50000"/>
                  <a:lumOff val="50000"/>
                </a:schemeClr>
              </a:solidFill>
              <a:latin typeface="KaiTi" panose="02010609060101010101" pitchFamily="49" charset="-122"/>
              <a:ea typeface="KaiTi" panose="02010609060101010101" pitchFamily="49" charset="-122"/>
            </a:endParaRPr>
          </a:p>
        </p:txBody>
      </p:sp>
      <p:cxnSp>
        <p:nvCxnSpPr>
          <p:cNvPr id="7" name="直线连接符 6">
            <a:extLst>
              <a:ext uri="{FF2B5EF4-FFF2-40B4-BE49-F238E27FC236}">
                <a16:creationId xmlns:a16="http://schemas.microsoft.com/office/drawing/2014/main" id="{B47786F8-6C85-3C46-95ED-567BE89F2562}"/>
              </a:ext>
            </a:extLst>
          </p:cNvPr>
          <p:cNvCxnSpPr>
            <a:cxnSpLocks/>
          </p:cNvCxnSpPr>
          <p:nvPr/>
        </p:nvCxnSpPr>
        <p:spPr>
          <a:xfrm>
            <a:off x="582977" y="700757"/>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8" name="直线连接符 7">
            <a:extLst>
              <a:ext uri="{FF2B5EF4-FFF2-40B4-BE49-F238E27FC236}">
                <a16:creationId xmlns:a16="http://schemas.microsoft.com/office/drawing/2014/main" id="{2587DEE8-447E-D04E-98FA-D7B7A6720502}"/>
              </a:ext>
            </a:extLst>
          </p:cNvPr>
          <p:cNvCxnSpPr>
            <a:cxnSpLocks/>
          </p:cNvCxnSpPr>
          <p:nvPr/>
        </p:nvCxnSpPr>
        <p:spPr>
          <a:xfrm>
            <a:off x="582977" y="6477139"/>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id="{86FDCE74-3BAC-BD4D-B190-461746CBAF4E}"/>
              </a:ext>
            </a:extLst>
          </p:cNvPr>
          <p:cNvPicPr>
            <a:picLocks noChangeAspect="1"/>
          </p:cNvPicPr>
          <p:nvPr/>
        </p:nvPicPr>
        <p:blipFill>
          <a:blip r:embed="rId2"/>
          <a:stretch>
            <a:fillRect/>
          </a:stretch>
        </p:blipFill>
        <p:spPr>
          <a:xfrm>
            <a:off x="3578086" y="1519954"/>
            <a:ext cx="8058923" cy="2405748"/>
          </a:xfrm>
          <a:prstGeom prst="rect">
            <a:avLst/>
          </a:prstGeom>
          <a:ln>
            <a:solidFill>
              <a:srgbClr val="A41AD4"/>
            </a:solidFill>
          </a:ln>
        </p:spPr>
      </p:pic>
      <p:pic>
        <p:nvPicPr>
          <p:cNvPr id="11" name="图片 10">
            <a:extLst>
              <a:ext uri="{FF2B5EF4-FFF2-40B4-BE49-F238E27FC236}">
                <a16:creationId xmlns:a16="http://schemas.microsoft.com/office/drawing/2014/main" id="{0E674CF0-8ACB-7349-A0DA-052CFF90099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17830" y="1520726"/>
            <a:ext cx="2945263" cy="3816547"/>
          </a:xfrm>
          <a:prstGeom prst="rect">
            <a:avLst/>
          </a:prstGeom>
          <a:ln>
            <a:solidFill>
              <a:srgbClr val="A41AD4"/>
            </a:solidFill>
          </a:ln>
        </p:spPr>
      </p:pic>
      <p:sp>
        <p:nvSpPr>
          <p:cNvPr id="12" name="矩形 11">
            <a:extLst>
              <a:ext uri="{FF2B5EF4-FFF2-40B4-BE49-F238E27FC236}">
                <a16:creationId xmlns:a16="http://schemas.microsoft.com/office/drawing/2014/main" id="{A72FC11E-A2DD-C641-BB07-DD07AD5786AF}"/>
              </a:ext>
            </a:extLst>
          </p:cNvPr>
          <p:cNvSpPr/>
          <p:nvPr/>
        </p:nvSpPr>
        <p:spPr>
          <a:xfrm>
            <a:off x="1568413" y="5061240"/>
            <a:ext cx="877330" cy="131490"/>
          </a:xfrm>
          <a:prstGeom prst="rect">
            <a:avLst/>
          </a:prstGeom>
          <a:solidFill>
            <a:srgbClr val="A41AD4">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椭圆 12">
            <a:extLst>
              <a:ext uri="{FF2B5EF4-FFF2-40B4-BE49-F238E27FC236}">
                <a16:creationId xmlns:a16="http://schemas.microsoft.com/office/drawing/2014/main" id="{422D390A-5F1C-AA46-A3E8-62945E2250BB}"/>
              </a:ext>
            </a:extLst>
          </p:cNvPr>
          <p:cNvSpPr/>
          <p:nvPr/>
        </p:nvSpPr>
        <p:spPr>
          <a:xfrm>
            <a:off x="3270417" y="5007379"/>
            <a:ext cx="185351" cy="185351"/>
          </a:xfrm>
          <a:prstGeom prst="ellipse">
            <a:avLst/>
          </a:prstGeom>
          <a:solidFill>
            <a:srgbClr val="A41AD4"/>
          </a:solidFill>
          <a:ln>
            <a:solidFill>
              <a:srgbClr val="A41AD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4" name="直线连接符 13">
            <a:extLst>
              <a:ext uri="{FF2B5EF4-FFF2-40B4-BE49-F238E27FC236}">
                <a16:creationId xmlns:a16="http://schemas.microsoft.com/office/drawing/2014/main" id="{38D971A6-C911-6C4A-A9FD-EE10070EEFCB}"/>
              </a:ext>
            </a:extLst>
          </p:cNvPr>
          <p:cNvCxnSpPr>
            <a:cxnSpLocks/>
          </p:cNvCxnSpPr>
          <p:nvPr/>
        </p:nvCxnSpPr>
        <p:spPr>
          <a:xfrm flipV="1">
            <a:off x="3441876" y="3925703"/>
            <a:ext cx="2084280" cy="1108820"/>
          </a:xfrm>
          <a:prstGeom prst="line">
            <a:avLst/>
          </a:prstGeom>
          <a:ln w="12700">
            <a:solidFill>
              <a:srgbClr val="A41AD4"/>
            </a:solidFill>
          </a:ln>
        </p:spPr>
        <p:style>
          <a:lnRef idx="1">
            <a:schemeClr val="accent1"/>
          </a:lnRef>
          <a:fillRef idx="0">
            <a:schemeClr val="accent1"/>
          </a:fillRef>
          <a:effectRef idx="0">
            <a:schemeClr val="accent1"/>
          </a:effectRef>
          <a:fontRef idx="minor">
            <a:schemeClr val="tx1"/>
          </a:fontRef>
        </p:style>
      </p:cxnSp>
      <p:pic>
        <p:nvPicPr>
          <p:cNvPr id="24" name="图片 23">
            <a:extLst>
              <a:ext uri="{FF2B5EF4-FFF2-40B4-BE49-F238E27FC236}">
                <a16:creationId xmlns:a16="http://schemas.microsoft.com/office/drawing/2014/main" id="{020DFE07-C831-634B-B69F-E2506431666A}"/>
              </a:ext>
            </a:extLst>
          </p:cNvPr>
          <p:cNvPicPr>
            <a:picLocks noChangeAspect="1"/>
          </p:cNvPicPr>
          <p:nvPr/>
        </p:nvPicPr>
        <p:blipFill>
          <a:blip r:embed="rId4"/>
          <a:stretch>
            <a:fillRect/>
          </a:stretch>
        </p:blipFill>
        <p:spPr>
          <a:xfrm>
            <a:off x="8115728" y="4125931"/>
            <a:ext cx="3521281" cy="1729752"/>
          </a:xfrm>
          <a:prstGeom prst="rect">
            <a:avLst/>
          </a:prstGeom>
          <a:ln>
            <a:solidFill>
              <a:srgbClr val="A41AD4"/>
            </a:solidFill>
            <a:prstDash val="dash"/>
          </a:ln>
        </p:spPr>
      </p:pic>
      <p:sp>
        <p:nvSpPr>
          <p:cNvPr id="25" name="矩形 24">
            <a:extLst>
              <a:ext uri="{FF2B5EF4-FFF2-40B4-BE49-F238E27FC236}">
                <a16:creationId xmlns:a16="http://schemas.microsoft.com/office/drawing/2014/main" id="{65F49A1B-0A88-364D-9646-1BC3BCCC3920}"/>
              </a:ext>
            </a:extLst>
          </p:cNvPr>
          <p:cNvSpPr/>
          <p:nvPr/>
        </p:nvSpPr>
        <p:spPr>
          <a:xfrm>
            <a:off x="417830" y="5855685"/>
            <a:ext cx="11774170" cy="403957"/>
          </a:xfrm>
          <a:prstGeom prst="rect">
            <a:avLst/>
          </a:prstGeom>
        </p:spPr>
        <p:txBody>
          <a:bodyPr wrap="square">
            <a:spAutoFit/>
          </a:bodyPr>
          <a:lstStyle/>
          <a:p>
            <a:pPr lvl="0">
              <a:lnSpc>
                <a:spcPct val="150000"/>
              </a:lnSpc>
            </a:pPr>
            <a:r>
              <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e.g.【</a:t>
            </a:r>
            <a:r>
              <a:rPr kumimoji="1" lang="zh-CN" altLang="en-US" sz="1600" b="1" u="sng" dirty="0">
                <a:solidFill>
                  <a:srgbClr val="A41AD4"/>
                </a:solidFill>
                <a:latin typeface="KaiTi" panose="02010609060101010101" pitchFamily="49" charset="-122"/>
                <a:ea typeface="KaiTi" panose="02010609060101010101" pitchFamily="49" charset="-122"/>
                <a:cs typeface="Times New Roman" panose="02020603050405020304" pitchFamily="18" charset="0"/>
              </a:rPr>
              <a:t>高一知识</a:t>
            </a:r>
            <a:r>
              <a:rPr kumimoji="1" lang="en-US" altLang="zh-CN" sz="1600" b="1" u="sng"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b="1" u="sng"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功与能板块 </a:t>
            </a:r>
            <a:r>
              <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 知识点思维导图 </a:t>
            </a:r>
            <a:r>
              <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 必修二：</a:t>
            </a:r>
            <a:r>
              <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p91-92</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 “机械能守恒定律”定义</a:t>
            </a:r>
            <a:r>
              <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成立条件的理解</a:t>
            </a:r>
            <a:endPar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endParaRPr>
          </a:p>
        </p:txBody>
      </p:sp>
      <p:sp>
        <p:nvSpPr>
          <p:cNvPr id="26" name="椭圆 25">
            <a:extLst>
              <a:ext uri="{FF2B5EF4-FFF2-40B4-BE49-F238E27FC236}">
                <a16:creationId xmlns:a16="http://schemas.microsoft.com/office/drawing/2014/main" id="{F0666EDE-34E9-AF42-BAF6-D8DAE726D087}"/>
              </a:ext>
            </a:extLst>
          </p:cNvPr>
          <p:cNvSpPr/>
          <p:nvPr/>
        </p:nvSpPr>
        <p:spPr>
          <a:xfrm>
            <a:off x="10399067" y="3587782"/>
            <a:ext cx="185351" cy="185351"/>
          </a:xfrm>
          <a:prstGeom prst="ellipse">
            <a:avLst/>
          </a:prstGeom>
          <a:solidFill>
            <a:srgbClr val="A41AD4"/>
          </a:solidFill>
          <a:ln>
            <a:solidFill>
              <a:srgbClr val="A41AD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27" name="直线连接符 26">
            <a:extLst>
              <a:ext uri="{FF2B5EF4-FFF2-40B4-BE49-F238E27FC236}">
                <a16:creationId xmlns:a16="http://schemas.microsoft.com/office/drawing/2014/main" id="{DDBF56F5-C9BE-024D-96A9-1069D72E4BE2}"/>
              </a:ext>
            </a:extLst>
          </p:cNvPr>
          <p:cNvCxnSpPr>
            <a:cxnSpLocks/>
          </p:cNvCxnSpPr>
          <p:nvPr/>
        </p:nvCxnSpPr>
        <p:spPr>
          <a:xfrm>
            <a:off x="10491014" y="3601034"/>
            <a:ext cx="0" cy="846367"/>
          </a:xfrm>
          <a:prstGeom prst="line">
            <a:avLst/>
          </a:prstGeom>
          <a:ln w="12700">
            <a:solidFill>
              <a:srgbClr val="A41AD4"/>
            </a:solidFill>
            <a:prstDash val="sysDash"/>
          </a:ln>
        </p:spPr>
        <p:style>
          <a:lnRef idx="1">
            <a:schemeClr val="accent1"/>
          </a:lnRef>
          <a:fillRef idx="0">
            <a:schemeClr val="accent1"/>
          </a:fillRef>
          <a:effectRef idx="0">
            <a:schemeClr val="accent1"/>
          </a:effectRef>
          <a:fontRef idx="minor">
            <a:schemeClr val="tx1"/>
          </a:fontRef>
        </p:style>
      </p:cxnSp>
      <p:pic>
        <p:nvPicPr>
          <p:cNvPr id="29" name="图片 28">
            <a:extLst>
              <a:ext uri="{FF2B5EF4-FFF2-40B4-BE49-F238E27FC236}">
                <a16:creationId xmlns:a16="http://schemas.microsoft.com/office/drawing/2014/main" id="{20C9BD8F-9EE0-854B-9B27-3AFCB5BC7484}"/>
              </a:ext>
            </a:extLst>
          </p:cNvPr>
          <p:cNvPicPr>
            <a:picLocks noChangeAspect="1"/>
          </p:cNvPicPr>
          <p:nvPr/>
        </p:nvPicPr>
        <p:blipFill rotWithShape="1">
          <a:blip r:embed="rId5"/>
          <a:srcRect b="19313"/>
          <a:stretch/>
        </p:blipFill>
        <p:spPr>
          <a:xfrm>
            <a:off x="6450943" y="4124153"/>
            <a:ext cx="1309520" cy="1729752"/>
          </a:xfrm>
          <a:prstGeom prst="rect">
            <a:avLst/>
          </a:prstGeom>
          <a:ln>
            <a:solidFill>
              <a:srgbClr val="A41AD4"/>
            </a:solidFill>
          </a:ln>
        </p:spPr>
      </p:pic>
      <p:sp>
        <p:nvSpPr>
          <p:cNvPr id="30" name="矩形 29">
            <a:extLst>
              <a:ext uri="{FF2B5EF4-FFF2-40B4-BE49-F238E27FC236}">
                <a16:creationId xmlns:a16="http://schemas.microsoft.com/office/drawing/2014/main" id="{717BDBCE-A452-574D-8375-4836313B029F}"/>
              </a:ext>
            </a:extLst>
          </p:cNvPr>
          <p:cNvSpPr/>
          <p:nvPr/>
        </p:nvSpPr>
        <p:spPr>
          <a:xfrm>
            <a:off x="6450943" y="4143199"/>
            <a:ext cx="877330" cy="131490"/>
          </a:xfrm>
          <a:prstGeom prst="rect">
            <a:avLst/>
          </a:prstGeom>
          <a:solidFill>
            <a:srgbClr val="A41AD4">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矩形 30">
            <a:extLst>
              <a:ext uri="{FF2B5EF4-FFF2-40B4-BE49-F238E27FC236}">
                <a16:creationId xmlns:a16="http://schemas.microsoft.com/office/drawing/2014/main" id="{9E52A902-015E-4446-B1AA-09D435B0B684}"/>
              </a:ext>
            </a:extLst>
          </p:cNvPr>
          <p:cNvSpPr/>
          <p:nvPr/>
        </p:nvSpPr>
        <p:spPr>
          <a:xfrm>
            <a:off x="6889608" y="4583334"/>
            <a:ext cx="877330" cy="609395"/>
          </a:xfrm>
          <a:prstGeom prst="rect">
            <a:avLst/>
          </a:prstGeom>
          <a:solidFill>
            <a:srgbClr val="A41AD4">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矩形 32">
            <a:extLst>
              <a:ext uri="{FF2B5EF4-FFF2-40B4-BE49-F238E27FC236}">
                <a16:creationId xmlns:a16="http://schemas.microsoft.com/office/drawing/2014/main" id="{F2490DCB-0E55-7745-A390-0236046571D7}"/>
              </a:ext>
            </a:extLst>
          </p:cNvPr>
          <p:cNvSpPr/>
          <p:nvPr/>
        </p:nvSpPr>
        <p:spPr>
          <a:xfrm>
            <a:off x="6000867" y="4381587"/>
            <a:ext cx="521070" cy="1142620"/>
          </a:xfrm>
          <a:prstGeom prst="rect">
            <a:avLst/>
          </a:prstGeom>
        </p:spPr>
        <p:txBody>
          <a:bodyPr wrap="square">
            <a:spAutoFit/>
          </a:bodyPr>
          <a:lstStyle/>
          <a:p>
            <a:pPr lvl="0">
              <a:lnSpc>
                <a:spcPct val="150000"/>
              </a:lnSpc>
            </a:pP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第二步</a:t>
            </a:r>
            <a:endPar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5764932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F150AB8-D8D1-1542-AD12-C7B5ACDB517E}"/>
              </a:ext>
            </a:extLst>
          </p:cNvPr>
          <p:cNvSpPr txBox="1"/>
          <p:nvPr/>
        </p:nvSpPr>
        <p:spPr>
          <a:xfrm>
            <a:off x="417830" y="748030"/>
            <a:ext cx="4942702" cy="307777"/>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高中物理思维导图</a:t>
            </a:r>
          </a:p>
        </p:txBody>
      </p:sp>
      <p:sp>
        <p:nvSpPr>
          <p:cNvPr id="4" name="文本框 3">
            <a:extLst>
              <a:ext uri="{FF2B5EF4-FFF2-40B4-BE49-F238E27FC236}">
                <a16:creationId xmlns:a16="http://schemas.microsoft.com/office/drawing/2014/main" id="{2A995DB2-C901-AD41-8949-4826090408EB}"/>
              </a:ext>
            </a:extLst>
          </p:cNvPr>
          <p:cNvSpPr txBox="1"/>
          <p:nvPr/>
        </p:nvSpPr>
        <p:spPr>
          <a:xfrm>
            <a:off x="417830" y="1055807"/>
            <a:ext cx="9503133" cy="403957"/>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rPr>
              <a:t>如何画思维导图？</a:t>
            </a:r>
            <a:r>
              <a:rPr kumimoji="1" lang="zh-CN" altLang="en-US" sz="1600" dirty="0">
                <a:solidFill>
                  <a:srgbClr val="C00000"/>
                </a:solidFill>
                <a:latin typeface="KaiTi" panose="02010609060101010101" pitchFamily="49" charset="-122"/>
                <a:ea typeface="KaiTi" panose="02010609060101010101" pitchFamily="49" charset="-122"/>
                <a:cs typeface="Times New Roman" panose="02020603050405020304" pitchFamily="18" charset="0"/>
              </a:rPr>
              <a:t>目录</a:t>
            </a:r>
            <a:r>
              <a:rPr kumimoji="1" lang="en-US" altLang="zh-CN" sz="1600" dirty="0">
                <a:solidFill>
                  <a:srgbClr val="C00000"/>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C00000"/>
                </a:solidFill>
                <a:latin typeface="KaiTi" panose="02010609060101010101" pitchFamily="49" charset="-122"/>
                <a:ea typeface="KaiTi" panose="02010609060101010101" pitchFamily="49" charset="-122"/>
                <a:cs typeface="Times New Roman" panose="02020603050405020304" pitchFamily="18" charset="0"/>
              </a:rPr>
              <a:t>知识点联系</a:t>
            </a:r>
            <a:r>
              <a:rPr kumimoji="1" lang="en-US" altLang="zh-CN" sz="1600" dirty="0">
                <a:solidFill>
                  <a:srgbClr val="C00000"/>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C00000"/>
                </a:solidFill>
                <a:latin typeface="KaiTi" panose="02010609060101010101" pitchFamily="49" charset="-122"/>
                <a:ea typeface="KaiTi" panose="02010609060101010101" pitchFamily="49" charset="-122"/>
                <a:cs typeface="Times New Roman" panose="02020603050405020304" pitchFamily="18" charset="0"/>
              </a:rPr>
              <a:t>书上概念</a:t>
            </a:r>
            <a:r>
              <a:rPr kumimoji="1" lang="en-US" altLang="zh-CN" sz="1600" dirty="0">
                <a:solidFill>
                  <a:srgbClr val="C00000"/>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C00000"/>
                </a:solidFill>
                <a:latin typeface="KaiTi" panose="02010609060101010101" pitchFamily="49" charset="-122"/>
                <a:ea typeface="KaiTi" panose="02010609060101010101" pitchFamily="49" charset="-122"/>
                <a:cs typeface="Times New Roman" panose="02020603050405020304" pitchFamily="18" charset="0"/>
              </a:rPr>
              <a:t>做到能够对照提纲反应，教材上所有知识点</a:t>
            </a:r>
            <a:r>
              <a:rPr kumimoji="1" lang="en-US" altLang="zh-CN" sz="1600" dirty="0">
                <a:solidFill>
                  <a:srgbClr val="C00000"/>
                </a:solidFill>
                <a:latin typeface="KaiTi" panose="02010609060101010101" pitchFamily="49" charset="-122"/>
                <a:ea typeface="KaiTi" panose="02010609060101010101" pitchFamily="49" charset="-122"/>
                <a:cs typeface="Times New Roman" panose="02020603050405020304" pitchFamily="18" charset="0"/>
              </a:rPr>
              <a:t>】</a:t>
            </a:r>
            <a:endParaRPr kumimoji="1" lang="zh-CN" altLang="en-US" sz="1600"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p:txBody>
      </p:sp>
      <p:cxnSp>
        <p:nvCxnSpPr>
          <p:cNvPr id="7" name="直线连接符 6">
            <a:extLst>
              <a:ext uri="{FF2B5EF4-FFF2-40B4-BE49-F238E27FC236}">
                <a16:creationId xmlns:a16="http://schemas.microsoft.com/office/drawing/2014/main" id="{B47786F8-6C85-3C46-95ED-567BE89F2562}"/>
              </a:ext>
            </a:extLst>
          </p:cNvPr>
          <p:cNvCxnSpPr>
            <a:cxnSpLocks/>
          </p:cNvCxnSpPr>
          <p:nvPr/>
        </p:nvCxnSpPr>
        <p:spPr>
          <a:xfrm>
            <a:off x="582977" y="700757"/>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2" name="图片 11">
            <a:extLst>
              <a:ext uri="{FF2B5EF4-FFF2-40B4-BE49-F238E27FC236}">
                <a16:creationId xmlns:a16="http://schemas.microsoft.com/office/drawing/2014/main" id="{D6E63413-3AF0-0640-9336-62BB68DCB011}"/>
              </a:ext>
            </a:extLst>
          </p:cNvPr>
          <p:cNvPicPr>
            <a:picLocks noChangeAspect="1"/>
          </p:cNvPicPr>
          <p:nvPr/>
        </p:nvPicPr>
        <p:blipFill rotWithShape="1">
          <a:blip r:embed="rId3"/>
          <a:srcRect t="9791"/>
          <a:stretch/>
        </p:blipFill>
        <p:spPr>
          <a:xfrm>
            <a:off x="3962913" y="2825368"/>
            <a:ext cx="7811257" cy="2976825"/>
          </a:xfrm>
          <a:prstGeom prst="rect">
            <a:avLst/>
          </a:prstGeom>
          <a:ln>
            <a:solidFill>
              <a:srgbClr val="A41AD4"/>
            </a:solidFill>
          </a:ln>
        </p:spPr>
      </p:pic>
      <p:cxnSp>
        <p:nvCxnSpPr>
          <p:cNvPr id="13" name="直线连接符 12">
            <a:extLst>
              <a:ext uri="{FF2B5EF4-FFF2-40B4-BE49-F238E27FC236}">
                <a16:creationId xmlns:a16="http://schemas.microsoft.com/office/drawing/2014/main" id="{5A60865B-B19C-F54F-A885-E943B2174305}"/>
              </a:ext>
            </a:extLst>
          </p:cNvPr>
          <p:cNvCxnSpPr>
            <a:cxnSpLocks/>
          </p:cNvCxnSpPr>
          <p:nvPr/>
        </p:nvCxnSpPr>
        <p:spPr>
          <a:xfrm>
            <a:off x="582977" y="6339065"/>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4" name="图片 13">
            <a:extLst>
              <a:ext uri="{FF2B5EF4-FFF2-40B4-BE49-F238E27FC236}">
                <a16:creationId xmlns:a16="http://schemas.microsoft.com/office/drawing/2014/main" id="{362EC9D8-8FC9-2D4B-80CB-78C47F94E697}"/>
              </a:ext>
            </a:extLst>
          </p:cNvPr>
          <p:cNvPicPr>
            <a:picLocks noChangeAspect="1"/>
          </p:cNvPicPr>
          <p:nvPr/>
        </p:nvPicPr>
        <p:blipFill>
          <a:blip r:embed="rId4"/>
          <a:stretch>
            <a:fillRect/>
          </a:stretch>
        </p:blipFill>
        <p:spPr>
          <a:xfrm>
            <a:off x="417830" y="1588790"/>
            <a:ext cx="3110923" cy="4209234"/>
          </a:xfrm>
          <a:prstGeom prst="rect">
            <a:avLst/>
          </a:prstGeom>
          <a:ln>
            <a:solidFill>
              <a:srgbClr val="A41AD4"/>
            </a:solidFill>
          </a:ln>
        </p:spPr>
      </p:pic>
      <p:sp>
        <p:nvSpPr>
          <p:cNvPr id="15" name="椭圆 14">
            <a:extLst>
              <a:ext uri="{FF2B5EF4-FFF2-40B4-BE49-F238E27FC236}">
                <a16:creationId xmlns:a16="http://schemas.microsoft.com/office/drawing/2014/main" id="{7FC13296-80E1-D247-BC79-CD515998967B}"/>
              </a:ext>
            </a:extLst>
          </p:cNvPr>
          <p:cNvSpPr/>
          <p:nvPr/>
        </p:nvSpPr>
        <p:spPr>
          <a:xfrm>
            <a:off x="3467806" y="5387748"/>
            <a:ext cx="185351" cy="185351"/>
          </a:xfrm>
          <a:prstGeom prst="ellipse">
            <a:avLst/>
          </a:prstGeom>
          <a:solidFill>
            <a:srgbClr val="A41AD4"/>
          </a:solidFill>
          <a:ln>
            <a:solidFill>
              <a:srgbClr val="A41AD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7" name="直线连接符 16">
            <a:extLst>
              <a:ext uri="{FF2B5EF4-FFF2-40B4-BE49-F238E27FC236}">
                <a16:creationId xmlns:a16="http://schemas.microsoft.com/office/drawing/2014/main" id="{B7F8B050-BFDB-6A49-9E10-73B21E2EE5E9}"/>
              </a:ext>
            </a:extLst>
          </p:cNvPr>
          <p:cNvCxnSpPr>
            <a:cxnSpLocks/>
            <a:stCxn id="15" idx="4"/>
          </p:cNvCxnSpPr>
          <p:nvPr/>
        </p:nvCxnSpPr>
        <p:spPr>
          <a:xfrm flipV="1">
            <a:off x="3560482" y="4565617"/>
            <a:ext cx="402431" cy="1007482"/>
          </a:xfrm>
          <a:prstGeom prst="line">
            <a:avLst/>
          </a:prstGeom>
          <a:ln w="12700">
            <a:solidFill>
              <a:srgbClr val="A41AD4"/>
            </a:solidFill>
          </a:ln>
        </p:spPr>
        <p:style>
          <a:lnRef idx="1">
            <a:schemeClr val="accent1"/>
          </a:lnRef>
          <a:fillRef idx="0">
            <a:schemeClr val="accent1"/>
          </a:fillRef>
          <a:effectRef idx="0">
            <a:schemeClr val="accent1"/>
          </a:effectRef>
          <a:fontRef idx="minor">
            <a:schemeClr val="tx1"/>
          </a:fontRef>
        </p:style>
      </p:cxnSp>
      <p:pic>
        <p:nvPicPr>
          <p:cNvPr id="19" name="图片 18">
            <a:extLst>
              <a:ext uri="{FF2B5EF4-FFF2-40B4-BE49-F238E27FC236}">
                <a16:creationId xmlns:a16="http://schemas.microsoft.com/office/drawing/2014/main" id="{332FBB56-6EB9-5442-B16A-8C3AA353D2DB}"/>
              </a:ext>
            </a:extLst>
          </p:cNvPr>
          <p:cNvPicPr>
            <a:picLocks noChangeAspect="1"/>
          </p:cNvPicPr>
          <p:nvPr/>
        </p:nvPicPr>
        <p:blipFill>
          <a:blip r:embed="rId5"/>
          <a:stretch>
            <a:fillRect/>
          </a:stretch>
        </p:blipFill>
        <p:spPr>
          <a:xfrm>
            <a:off x="5574418" y="1582410"/>
            <a:ext cx="4267200" cy="914400"/>
          </a:xfrm>
          <a:prstGeom prst="rect">
            <a:avLst/>
          </a:prstGeom>
          <a:ln>
            <a:solidFill>
              <a:srgbClr val="A41AD4"/>
            </a:solidFill>
            <a:prstDash val="sysDash"/>
          </a:ln>
        </p:spPr>
      </p:pic>
      <p:sp>
        <p:nvSpPr>
          <p:cNvPr id="20" name="椭圆 19">
            <a:extLst>
              <a:ext uri="{FF2B5EF4-FFF2-40B4-BE49-F238E27FC236}">
                <a16:creationId xmlns:a16="http://schemas.microsoft.com/office/drawing/2014/main" id="{39F1DF9A-3A91-D84D-8B05-026B0E915115}"/>
              </a:ext>
            </a:extLst>
          </p:cNvPr>
          <p:cNvSpPr/>
          <p:nvPr/>
        </p:nvSpPr>
        <p:spPr>
          <a:xfrm>
            <a:off x="6202768" y="3143758"/>
            <a:ext cx="185351" cy="185351"/>
          </a:xfrm>
          <a:prstGeom prst="ellipse">
            <a:avLst/>
          </a:prstGeom>
          <a:solidFill>
            <a:srgbClr val="A41AD4"/>
          </a:solidFill>
          <a:ln>
            <a:solidFill>
              <a:srgbClr val="A41AD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21" name="直线连接符 20">
            <a:extLst>
              <a:ext uri="{FF2B5EF4-FFF2-40B4-BE49-F238E27FC236}">
                <a16:creationId xmlns:a16="http://schemas.microsoft.com/office/drawing/2014/main" id="{3B300440-03F2-1949-99DC-5AD41891B09D}"/>
              </a:ext>
            </a:extLst>
          </p:cNvPr>
          <p:cNvCxnSpPr>
            <a:cxnSpLocks/>
            <a:stCxn id="20" idx="7"/>
          </p:cNvCxnSpPr>
          <p:nvPr/>
        </p:nvCxnSpPr>
        <p:spPr>
          <a:xfrm flipV="1">
            <a:off x="6360975" y="2496812"/>
            <a:ext cx="1145995" cy="674090"/>
          </a:xfrm>
          <a:prstGeom prst="line">
            <a:avLst/>
          </a:prstGeom>
          <a:ln w="12700">
            <a:solidFill>
              <a:srgbClr val="A41AD4"/>
            </a:solidFill>
            <a:prstDash val="sysDash"/>
          </a:ln>
        </p:spPr>
        <p:style>
          <a:lnRef idx="1">
            <a:schemeClr val="accent1"/>
          </a:lnRef>
          <a:fillRef idx="0">
            <a:schemeClr val="accent1"/>
          </a:fillRef>
          <a:effectRef idx="0">
            <a:schemeClr val="accent1"/>
          </a:effectRef>
          <a:fontRef idx="minor">
            <a:schemeClr val="tx1"/>
          </a:fontRef>
        </p:style>
      </p:cxnSp>
      <p:pic>
        <p:nvPicPr>
          <p:cNvPr id="24" name="图片 23">
            <a:extLst>
              <a:ext uri="{FF2B5EF4-FFF2-40B4-BE49-F238E27FC236}">
                <a16:creationId xmlns:a16="http://schemas.microsoft.com/office/drawing/2014/main" id="{C4C27DB7-4051-B842-82C1-7B21E677ED77}"/>
              </a:ext>
            </a:extLst>
          </p:cNvPr>
          <p:cNvPicPr>
            <a:picLocks noChangeAspect="1"/>
          </p:cNvPicPr>
          <p:nvPr/>
        </p:nvPicPr>
        <p:blipFill>
          <a:blip r:embed="rId6"/>
          <a:stretch>
            <a:fillRect/>
          </a:stretch>
        </p:blipFill>
        <p:spPr>
          <a:xfrm>
            <a:off x="9960889" y="851954"/>
            <a:ext cx="1145995" cy="1713774"/>
          </a:xfrm>
          <a:prstGeom prst="rect">
            <a:avLst/>
          </a:prstGeom>
          <a:ln>
            <a:solidFill>
              <a:srgbClr val="A41AD4"/>
            </a:solidFill>
          </a:ln>
        </p:spPr>
      </p:pic>
      <p:sp>
        <p:nvSpPr>
          <p:cNvPr id="25" name="矩形 24">
            <a:extLst>
              <a:ext uri="{FF2B5EF4-FFF2-40B4-BE49-F238E27FC236}">
                <a16:creationId xmlns:a16="http://schemas.microsoft.com/office/drawing/2014/main" id="{1905823C-0A23-E347-9E20-D1116CF95370}"/>
              </a:ext>
            </a:extLst>
          </p:cNvPr>
          <p:cNvSpPr/>
          <p:nvPr/>
        </p:nvSpPr>
        <p:spPr>
          <a:xfrm>
            <a:off x="1581665" y="5387748"/>
            <a:ext cx="877330" cy="185351"/>
          </a:xfrm>
          <a:prstGeom prst="rect">
            <a:avLst/>
          </a:prstGeom>
          <a:solidFill>
            <a:srgbClr val="A41AD4">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矩形 28">
            <a:extLst>
              <a:ext uri="{FF2B5EF4-FFF2-40B4-BE49-F238E27FC236}">
                <a16:creationId xmlns:a16="http://schemas.microsoft.com/office/drawing/2014/main" id="{B00D11AE-FDBC-5A47-B647-5D26F9BB6269}"/>
              </a:ext>
            </a:extLst>
          </p:cNvPr>
          <p:cNvSpPr/>
          <p:nvPr/>
        </p:nvSpPr>
        <p:spPr>
          <a:xfrm>
            <a:off x="417830" y="5855685"/>
            <a:ext cx="9144000" cy="403957"/>
          </a:xfrm>
          <a:prstGeom prst="rect">
            <a:avLst/>
          </a:prstGeom>
        </p:spPr>
        <p:txBody>
          <a:bodyPr wrap="square">
            <a:spAutoFit/>
          </a:bodyPr>
          <a:lstStyle/>
          <a:p>
            <a:pPr lvl="0">
              <a:lnSpc>
                <a:spcPct val="150000"/>
              </a:lnSpc>
            </a:pPr>
            <a:r>
              <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e.g.【</a:t>
            </a:r>
            <a:r>
              <a:rPr kumimoji="1" lang="zh-CN" altLang="en-US" sz="1600" b="1" u="sng" dirty="0">
                <a:solidFill>
                  <a:srgbClr val="A41AD4"/>
                </a:solidFill>
                <a:latin typeface="KaiTi" panose="02010609060101010101" pitchFamily="49" charset="-122"/>
                <a:ea typeface="KaiTi" panose="02010609060101010101" pitchFamily="49" charset="-122"/>
                <a:cs typeface="Times New Roman" panose="02020603050405020304" pitchFamily="18" charset="0"/>
              </a:rPr>
              <a:t>高二知识</a:t>
            </a:r>
            <a:r>
              <a:rPr kumimoji="1" lang="en-US" altLang="zh-CN" sz="1600" b="1" u="sng"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b="1" u="sng"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电磁感应板块 </a:t>
            </a:r>
            <a:r>
              <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 知识点思维导图 </a:t>
            </a:r>
            <a:r>
              <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 必修三：</a:t>
            </a:r>
            <a:r>
              <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p116</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 “产生感应电流的条件”</a:t>
            </a:r>
            <a:endPar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endParaRPr>
          </a:p>
        </p:txBody>
      </p:sp>
      <p:sp>
        <p:nvSpPr>
          <p:cNvPr id="30" name="矩形 29">
            <a:extLst>
              <a:ext uri="{FF2B5EF4-FFF2-40B4-BE49-F238E27FC236}">
                <a16:creationId xmlns:a16="http://schemas.microsoft.com/office/drawing/2014/main" id="{C29F3849-BECF-BE45-AA80-7897180AE303}"/>
              </a:ext>
            </a:extLst>
          </p:cNvPr>
          <p:cNvSpPr/>
          <p:nvPr/>
        </p:nvSpPr>
        <p:spPr>
          <a:xfrm>
            <a:off x="10229554" y="1237630"/>
            <a:ext cx="877330" cy="185351"/>
          </a:xfrm>
          <a:prstGeom prst="rect">
            <a:avLst/>
          </a:prstGeom>
          <a:solidFill>
            <a:srgbClr val="A41AD4">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矩形 30">
            <a:extLst>
              <a:ext uri="{FF2B5EF4-FFF2-40B4-BE49-F238E27FC236}">
                <a16:creationId xmlns:a16="http://schemas.microsoft.com/office/drawing/2014/main" id="{FD6DEFA8-19B4-8546-9D48-4E444FDFBA85}"/>
              </a:ext>
            </a:extLst>
          </p:cNvPr>
          <p:cNvSpPr/>
          <p:nvPr/>
        </p:nvSpPr>
        <p:spPr>
          <a:xfrm>
            <a:off x="5141283" y="1390088"/>
            <a:ext cx="521070" cy="1142620"/>
          </a:xfrm>
          <a:prstGeom prst="rect">
            <a:avLst/>
          </a:prstGeom>
        </p:spPr>
        <p:txBody>
          <a:bodyPr wrap="square">
            <a:spAutoFit/>
          </a:bodyPr>
          <a:lstStyle/>
          <a:p>
            <a:pPr lvl="0">
              <a:lnSpc>
                <a:spcPct val="150000"/>
              </a:lnSpc>
            </a:pP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第二步</a:t>
            </a:r>
            <a:endPar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3487232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B49D920B-504F-E443-80E1-E5362C526C17}"/>
              </a:ext>
            </a:extLst>
          </p:cNvPr>
          <p:cNvSpPr/>
          <p:nvPr/>
        </p:nvSpPr>
        <p:spPr>
          <a:xfrm>
            <a:off x="683229" y="1271599"/>
            <a:ext cx="11043316" cy="4478037"/>
          </a:xfrm>
          <a:prstGeom prst="rect">
            <a:avLst/>
          </a:prstGeom>
          <a:solidFill>
            <a:schemeClr val="bg1">
              <a:lumMod val="95000"/>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 name="文本框 2">
            <a:extLst>
              <a:ext uri="{FF2B5EF4-FFF2-40B4-BE49-F238E27FC236}">
                <a16:creationId xmlns:a16="http://schemas.microsoft.com/office/drawing/2014/main" id="{DAAE971C-D36F-5C4F-AF63-A1FA3771E6E8}"/>
              </a:ext>
            </a:extLst>
          </p:cNvPr>
          <p:cNvSpPr txBox="1"/>
          <p:nvPr/>
        </p:nvSpPr>
        <p:spPr>
          <a:xfrm>
            <a:off x="1108530" y="5169994"/>
            <a:ext cx="9503133" cy="1142620"/>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rPr>
              <a:t>初高中物理的核心：</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rPr>
              <a:t>{</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rPr>
              <a:t>力</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rPr>
              <a:t>}+{</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rPr>
              <a:t>电（磁）</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rPr>
              <a:t>}</a:t>
            </a:r>
          </a:p>
          <a:p>
            <a:pPr>
              <a:lnSpc>
                <a:spcPct val="150000"/>
              </a:lnSpc>
            </a:pPr>
            <a:endParaRPr kumimoji="1" lang="en-US" altLang="zh-CN" sz="1600" dirty="0">
              <a:solidFill>
                <a:schemeClr val="tx1">
                  <a:lumMod val="50000"/>
                  <a:lumOff val="50000"/>
                </a:schemeClr>
              </a:solidFill>
              <a:latin typeface="KaiTi" panose="02010609060101010101" pitchFamily="49" charset="-122"/>
              <a:ea typeface="KaiTi" panose="02010609060101010101" pitchFamily="49" charset="-122"/>
            </a:endParaRPr>
          </a:p>
          <a:p>
            <a:pPr>
              <a:lnSpc>
                <a:spcPct val="150000"/>
              </a:lnSpc>
            </a:pPr>
            <a:endParaRPr kumimoji="1" lang="en-US"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p:txBody>
      </p:sp>
      <p:sp>
        <p:nvSpPr>
          <p:cNvPr id="4" name="文本框 3">
            <a:extLst>
              <a:ext uri="{FF2B5EF4-FFF2-40B4-BE49-F238E27FC236}">
                <a16:creationId xmlns:a16="http://schemas.microsoft.com/office/drawing/2014/main" id="{94442722-D24F-7342-BAAE-C1A2206C9DEA}"/>
              </a:ext>
            </a:extLst>
          </p:cNvPr>
          <p:cNvSpPr txBox="1"/>
          <p:nvPr/>
        </p:nvSpPr>
        <p:spPr>
          <a:xfrm>
            <a:off x="683229" y="809436"/>
            <a:ext cx="4942702" cy="307777"/>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初高中物理的特点与区别？</a:t>
            </a:r>
          </a:p>
        </p:txBody>
      </p:sp>
      <p:sp>
        <p:nvSpPr>
          <p:cNvPr id="6" name="矩形 5">
            <a:extLst>
              <a:ext uri="{FF2B5EF4-FFF2-40B4-BE49-F238E27FC236}">
                <a16:creationId xmlns:a16="http://schemas.microsoft.com/office/drawing/2014/main" id="{816CAE0A-BEF6-744D-BE73-9E3D9A7309B4}"/>
              </a:ext>
            </a:extLst>
          </p:cNvPr>
          <p:cNvSpPr/>
          <p:nvPr/>
        </p:nvSpPr>
        <p:spPr>
          <a:xfrm>
            <a:off x="721660" y="1347341"/>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A964E578-38D6-3944-8EAE-E6CD67EF4259}"/>
              </a:ext>
            </a:extLst>
          </p:cNvPr>
          <p:cNvSpPr txBox="1"/>
          <p:nvPr/>
        </p:nvSpPr>
        <p:spPr>
          <a:xfrm>
            <a:off x="1108530" y="1295247"/>
            <a:ext cx="7837762" cy="688137"/>
          </a:xfrm>
          <a:prstGeom prst="rect">
            <a:avLst/>
          </a:prstGeom>
          <a:noFill/>
        </p:spPr>
        <p:txBody>
          <a:bodyPr wrap="square" rtlCol="0">
            <a:spAutoFit/>
          </a:bodyPr>
          <a:lstStyle/>
          <a:p>
            <a:pPr>
              <a:lnSpc>
                <a:spcPct val="150000"/>
              </a:lnSpc>
            </a:pP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rPr>
              <a:t>初高中物理的「同」：</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rPr>
              <a:t>1.</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rPr>
              <a:t>知识点重难点都侧重「力」「电」</a:t>
            </a:r>
          </a:p>
          <a:p>
            <a:pPr>
              <a:lnSpc>
                <a:spcPct val="150000"/>
              </a:lnSpc>
            </a:pPr>
            <a:endParaRPr kumimoji="1" lang="zh-CN" altLang="en-US" sz="1400" dirty="0">
              <a:solidFill>
                <a:schemeClr val="tx1">
                  <a:lumMod val="50000"/>
                  <a:lumOff val="50000"/>
                </a:schemeClr>
              </a:solidFill>
              <a:latin typeface="KaiTi" panose="02010609060101010101" pitchFamily="49" charset="-122"/>
              <a:ea typeface="KaiTi" panose="02010609060101010101" pitchFamily="49" charset="-122"/>
            </a:endParaRPr>
          </a:p>
        </p:txBody>
      </p:sp>
      <p:sp>
        <p:nvSpPr>
          <p:cNvPr id="8" name="矩形 7">
            <a:extLst>
              <a:ext uri="{FF2B5EF4-FFF2-40B4-BE49-F238E27FC236}">
                <a16:creationId xmlns:a16="http://schemas.microsoft.com/office/drawing/2014/main" id="{9E498107-496C-D649-9C0A-5336781AB0CF}"/>
              </a:ext>
            </a:extLst>
          </p:cNvPr>
          <p:cNvSpPr/>
          <p:nvPr/>
        </p:nvSpPr>
        <p:spPr>
          <a:xfrm>
            <a:off x="1108530" y="1958241"/>
            <a:ext cx="7266984" cy="9532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a:extLst>
              <a:ext uri="{FF2B5EF4-FFF2-40B4-BE49-F238E27FC236}">
                <a16:creationId xmlns:a16="http://schemas.microsoft.com/office/drawing/2014/main" id="{F0AFF280-8639-1645-ADBA-D45414D78FF8}"/>
              </a:ext>
            </a:extLst>
          </p:cNvPr>
          <p:cNvSpPr txBox="1"/>
          <p:nvPr/>
        </p:nvSpPr>
        <p:spPr>
          <a:xfrm>
            <a:off x="1108530" y="1958240"/>
            <a:ext cx="2151505" cy="276999"/>
          </a:xfrm>
          <a:prstGeom prst="rect">
            <a:avLst/>
          </a:prstGeom>
          <a:solidFill>
            <a:srgbClr val="F9CDCC"/>
          </a:solidFill>
        </p:spPr>
        <p:txBody>
          <a:bodyPr wrap="square" rtlCol="0">
            <a:spAutoFit/>
          </a:bodyPr>
          <a:lstStyle/>
          <a:p>
            <a:r>
              <a:rPr lang="zh-CN" altLang="en-US" sz="1200" b="1" dirty="0"/>
              <a:t> </a:t>
            </a:r>
            <a:r>
              <a:rPr kumimoji="1" lang="zh-CN" altLang="en-US" sz="1200" b="1" dirty="0">
                <a:latin typeface="KaiTi" panose="02010609060101010101" pitchFamily="49" charset="-122"/>
                <a:ea typeface="KaiTi" panose="02010609060101010101" pitchFamily="49" charset="-122"/>
                <a:cs typeface="Times New Roman" panose="02020603050405020304" pitchFamily="18" charset="0"/>
              </a:rPr>
              <a:t>初中</a:t>
            </a:r>
            <a:r>
              <a:rPr kumimoji="1" lang="en-US" altLang="zh-CN" sz="1200" b="1"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200" b="1" dirty="0">
                <a:latin typeface="KaiTi" panose="02010609060101010101" pitchFamily="49" charset="-122"/>
                <a:ea typeface="KaiTi" panose="02010609060101010101" pitchFamily="49" charset="-122"/>
                <a:cs typeface="Times New Roman" panose="02020603050405020304" pitchFamily="18" charset="0"/>
              </a:rPr>
              <a:t>物理</a:t>
            </a:r>
          </a:p>
        </p:txBody>
      </p:sp>
      <p:sp>
        <p:nvSpPr>
          <p:cNvPr id="10" name="文本框 9">
            <a:extLst>
              <a:ext uri="{FF2B5EF4-FFF2-40B4-BE49-F238E27FC236}">
                <a16:creationId xmlns:a16="http://schemas.microsoft.com/office/drawing/2014/main" id="{1E8CE9DD-BE0A-B243-A2AA-1AF7E2132388}"/>
              </a:ext>
            </a:extLst>
          </p:cNvPr>
          <p:cNvSpPr txBox="1"/>
          <p:nvPr/>
        </p:nvSpPr>
        <p:spPr>
          <a:xfrm>
            <a:off x="1108530" y="2323430"/>
            <a:ext cx="5757143" cy="461665"/>
          </a:xfrm>
          <a:prstGeom prst="rect">
            <a:avLst/>
          </a:prstGeom>
          <a:noFill/>
        </p:spPr>
        <p:txBody>
          <a:bodyPr wrap="square" rtlCol="0">
            <a:spAutoFit/>
          </a:bodyPr>
          <a:lstStyle/>
          <a:p>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特点：</a:t>
            </a:r>
            <a:endPar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a:p>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八下（力学）</a:t>
            </a:r>
            <a:r>
              <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九上（电学）</a:t>
            </a:r>
            <a:endPar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p:txBody>
      </p:sp>
      <p:sp>
        <p:nvSpPr>
          <p:cNvPr id="11" name="矩形 10">
            <a:extLst>
              <a:ext uri="{FF2B5EF4-FFF2-40B4-BE49-F238E27FC236}">
                <a16:creationId xmlns:a16="http://schemas.microsoft.com/office/drawing/2014/main" id="{AAFFA163-5461-5B42-8AEE-277B8BB1899D}"/>
              </a:ext>
            </a:extLst>
          </p:cNvPr>
          <p:cNvSpPr/>
          <p:nvPr/>
        </p:nvSpPr>
        <p:spPr>
          <a:xfrm>
            <a:off x="1108530" y="3867113"/>
            <a:ext cx="7266984" cy="11803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文本框 11">
            <a:extLst>
              <a:ext uri="{FF2B5EF4-FFF2-40B4-BE49-F238E27FC236}">
                <a16:creationId xmlns:a16="http://schemas.microsoft.com/office/drawing/2014/main" id="{82F4228B-5AC5-464E-8F3F-BB984938497F}"/>
              </a:ext>
            </a:extLst>
          </p:cNvPr>
          <p:cNvSpPr txBox="1"/>
          <p:nvPr/>
        </p:nvSpPr>
        <p:spPr>
          <a:xfrm>
            <a:off x="1108530" y="3867112"/>
            <a:ext cx="2151505" cy="276999"/>
          </a:xfrm>
          <a:prstGeom prst="rect">
            <a:avLst/>
          </a:prstGeom>
          <a:solidFill>
            <a:srgbClr val="F9CDCC"/>
          </a:solidFill>
        </p:spPr>
        <p:txBody>
          <a:bodyPr wrap="square" rtlCol="0">
            <a:spAutoFit/>
          </a:bodyPr>
          <a:lstStyle/>
          <a:p>
            <a:r>
              <a:rPr lang="zh-CN" altLang="en-US" sz="1200" b="1" dirty="0">
                <a:latin typeface="KaiTi" panose="02010609060101010101" pitchFamily="49" charset="-122"/>
                <a:ea typeface="KaiTi" panose="02010609060101010101" pitchFamily="49" charset="-122"/>
              </a:rPr>
              <a:t>高中</a:t>
            </a:r>
            <a:r>
              <a:rPr lang="en-US" altLang="zh-CN" sz="1200" b="1" dirty="0">
                <a:latin typeface="KaiTi" panose="02010609060101010101" pitchFamily="49" charset="-122"/>
                <a:ea typeface="KaiTi" panose="02010609060101010101" pitchFamily="49" charset="-122"/>
              </a:rPr>
              <a:t>——</a:t>
            </a:r>
            <a:r>
              <a:rPr lang="zh-CN" altLang="en-US" sz="1200" b="1" dirty="0">
                <a:latin typeface="KaiTi" panose="02010609060101010101" pitchFamily="49" charset="-122"/>
                <a:ea typeface="KaiTi" panose="02010609060101010101" pitchFamily="49" charset="-122"/>
              </a:rPr>
              <a:t>物理</a:t>
            </a:r>
            <a:endParaRPr kumimoji="1" lang="zh-CN" altLang="en-US" sz="1200" b="1" dirty="0">
              <a:latin typeface="KaiTi" panose="02010609060101010101" pitchFamily="49" charset="-122"/>
              <a:ea typeface="KaiTi" panose="02010609060101010101" pitchFamily="49" charset="-122"/>
              <a:cs typeface="Times New Roman" panose="02020603050405020304" pitchFamily="18" charset="0"/>
            </a:endParaRPr>
          </a:p>
        </p:txBody>
      </p:sp>
      <p:sp>
        <p:nvSpPr>
          <p:cNvPr id="13" name="文本框 12">
            <a:extLst>
              <a:ext uri="{FF2B5EF4-FFF2-40B4-BE49-F238E27FC236}">
                <a16:creationId xmlns:a16="http://schemas.microsoft.com/office/drawing/2014/main" id="{7016F543-32CB-B645-9929-6B8A22B037ED}"/>
              </a:ext>
            </a:extLst>
          </p:cNvPr>
          <p:cNvSpPr txBox="1"/>
          <p:nvPr/>
        </p:nvSpPr>
        <p:spPr>
          <a:xfrm>
            <a:off x="1108530" y="4232302"/>
            <a:ext cx="7266985" cy="646331"/>
          </a:xfrm>
          <a:prstGeom prst="rect">
            <a:avLst/>
          </a:prstGeom>
          <a:noFill/>
        </p:spPr>
        <p:txBody>
          <a:bodyPr wrap="square" rtlCol="0">
            <a:spAutoFit/>
          </a:bodyPr>
          <a:lstStyle/>
          <a:p>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重点：</a:t>
            </a:r>
            <a:endPar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a:p>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高一（动力学分析）</a:t>
            </a:r>
            <a:endPar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a:p>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*高二（电</a:t>
            </a:r>
            <a:r>
              <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磁）在高一基础上！</a:t>
            </a:r>
            <a:endPar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p:txBody>
      </p:sp>
      <p:cxnSp>
        <p:nvCxnSpPr>
          <p:cNvPr id="15" name="直线连接符 14">
            <a:extLst>
              <a:ext uri="{FF2B5EF4-FFF2-40B4-BE49-F238E27FC236}">
                <a16:creationId xmlns:a16="http://schemas.microsoft.com/office/drawing/2014/main" id="{392AD85F-F15E-4849-A856-23B99721F21F}"/>
              </a:ext>
            </a:extLst>
          </p:cNvPr>
          <p:cNvCxnSpPr>
            <a:cxnSpLocks/>
          </p:cNvCxnSpPr>
          <p:nvPr/>
        </p:nvCxnSpPr>
        <p:spPr>
          <a:xfrm>
            <a:off x="582977" y="700757"/>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7" name="直线连接符 16">
            <a:extLst>
              <a:ext uri="{FF2B5EF4-FFF2-40B4-BE49-F238E27FC236}">
                <a16:creationId xmlns:a16="http://schemas.microsoft.com/office/drawing/2014/main" id="{4660D11D-A19F-8744-8DBC-B04157B3D03C}"/>
              </a:ext>
            </a:extLst>
          </p:cNvPr>
          <p:cNvCxnSpPr>
            <a:cxnSpLocks/>
          </p:cNvCxnSpPr>
          <p:nvPr/>
        </p:nvCxnSpPr>
        <p:spPr>
          <a:xfrm>
            <a:off x="582977" y="6079573"/>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18" name="表格 17">
            <a:extLst>
              <a:ext uri="{FF2B5EF4-FFF2-40B4-BE49-F238E27FC236}">
                <a16:creationId xmlns:a16="http://schemas.microsoft.com/office/drawing/2014/main" id="{1C4FD9F3-1BC1-1F4E-A9B2-A901043499C8}"/>
              </a:ext>
            </a:extLst>
          </p:cNvPr>
          <p:cNvGraphicFramePr>
            <a:graphicFrameLocks noGrp="1"/>
          </p:cNvGraphicFramePr>
          <p:nvPr/>
        </p:nvGraphicFramePr>
        <p:xfrm>
          <a:off x="3717723" y="2115020"/>
          <a:ext cx="4441187" cy="588758"/>
        </p:xfrm>
        <a:graphic>
          <a:graphicData uri="http://schemas.openxmlformats.org/drawingml/2006/table">
            <a:tbl>
              <a:tblPr firstRow="1" firstCol="1" bandRow="1"/>
              <a:tblGrid>
                <a:gridCol w="713002">
                  <a:extLst>
                    <a:ext uri="{9D8B030D-6E8A-4147-A177-3AD203B41FA5}">
                      <a16:colId xmlns:a16="http://schemas.microsoft.com/office/drawing/2014/main" val="454968088"/>
                    </a:ext>
                  </a:extLst>
                </a:gridCol>
                <a:gridCol w="713002">
                  <a:extLst>
                    <a:ext uri="{9D8B030D-6E8A-4147-A177-3AD203B41FA5}">
                      <a16:colId xmlns:a16="http://schemas.microsoft.com/office/drawing/2014/main" val="1461881595"/>
                    </a:ext>
                  </a:extLst>
                </a:gridCol>
                <a:gridCol w="733571">
                  <a:extLst>
                    <a:ext uri="{9D8B030D-6E8A-4147-A177-3AD203B41FA5}">
                      <a16:colId xmlns:a16="http://schemas.microsoft.com/office/drawing/2014/main" val="578789135"/>
                    </a:ext>
                  </a:extLst>
                </a:gridCol>
                <a:gridCol w="820428">
                  <a:extLst>
                    <a:ext uri="{9D8B030D-6E8A-4147-A177-3AD203B41FA5}">
                      <a16:colId xmlns:a16="http://schemas.microsoft.com/office/drawing/2014/main" val="1368306751"/>
                    </a:ext>
                  </a:extLst>
                </a:gridCol>
                <a:gridCol w="730592">
                  <a:extLst>
                    <a:ext uri="{9D8B030D-6E8A-4147-A177-3AD203B41FA5}">
                      <a16:colId xmlns:a16="http://schemas.microsoft.com/office/drawing/2014/main" val="2527633977"/>
                    </a:ext>
                  </a:extLst>
                </a:gridCol>
                <a:gridCol w="730592">
                  <a:extLst>
                    <a:ext uri="{9D8B030D-6E8A-4147-A177-3AD203B41FA5}">
                      <a16:colId xmlns:a16="http://schemas.microsoft.com/office/drawing/2014/main" val="1333143702"/>
                    </a:ext>
                  </a:extLst>
                </a:gridCol>
              </a:tblGrid>
              <a:tr h="294379">
                <a:tc>
                  <a:txBody>
                    <a:bodyPr/>
                    <a:lstStyle/>
                    <a:p>
                      <a:pPr algn="ctr">
                        <a:lnSpc>
                          <a:spcPct val="150000"/>
                        </a:lnSpc>
                        <a:spcAft>
                          <a:spcPts val="0"/>
                        </a:spcAft>
                      </a:pPr>
                      <a:r>
                        <a:rPr lang="zh-CN" altLang="en-US" sz="1050" kern="100" dirty="0">
                          <a:effectLst/>
                          <a:latin typeface="KaiTi" panose="02010609060101010101" pitchFamily="49" charset="-122"/>
                          <a:ea typeface="KaiTi" panose="02010609060101010101" pitchFamily="49" charset="-122"/>
                          <a:cs typeface="Times New Roman" panose="02020603050405020304" pitchFamily="18" charset="0"/>
                        </a:rPr>
                        <a:t>板块</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lnSpc>
                          <a:spcPct val="150000"/>
                        </a:lnSpc>
                        <a:spcAft>
                          <a:spcPts val="0"/>
                        </a:spcAft>
                      </a:pPr>
                      <a:r>
                        <a:rPr lang="zh-CN" altLang="en-US" sz="1200" kern="100" dirty="0">
                          <a:effectLst/>
                          <a:latin typeface="KaiTi" panose="02010609060101010101" pitchFamily="49" charset="-122"/>
                          <a:ea typeface="KaiTi" panose="02010609060101010101" pitchFamily="49" charset="-122"/>
                          <a:cs typeface="宋体" panose="02010600030101010101" pitchFamily="2" charset="-122"/>
                        </a:rPr>
                        <a:t>声</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lnSpc>
                          <a:spcPct val="150000"/>
                        </a:lnSpc>
                        <a:spcAft>
                          <a:spcPts val="0"/>
                        </a:spcAft>
                      </a:pPr>
                      <a:r>
                        <a:rPr lang="zh-CN" altLang="en-US"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光</a:t>
                      </a:r>
                      <a:r>
                        <a:rPr lang="en-US"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 </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lnSpc>
                          <a:spcPct val="150000"/>
                        </a:lnSpc>
                        <a:spcAft>
                          <a:spcPts val="0"/>
                        </a:spcAft>
                      </a:pPr>
                      <a:r>
                        <a:rPr lang="zh-CN" altLang="en-US" sz="1200" kern="100" dirty="0">
                          <a:effectLst/>
                          <a:latin typeface="KaiTi" panose="02010609060101010101" pitchFamily="49" charset="-122"/>
                          <a:ea typeface="KaiTi" panose="02010609060101010101" pitchFamily="49" charset="-122"/>
                          <a:cs typeface="Times New Roman" panose="02020603050405020304" pitchFamily="18" charset="0"/>
                        </a:rPr>
                        <a:t>热</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lnSpc>
                          <a:spcPct val="150000"/>
                        </a:lnSpc>
                        <a:spcAft>
                          <a:spcPts val="0"/>
                        </a:spcAft>
                      </a:pPr>
                      <a:r>
                        <a:rPr lang="zh-CN" altLang="en-US" sz="1200" kern="100" dirty="0">
                          <a:solidFill>
                            <a:srgbClr val="C00000"/>
                          </a:solidFill>
                          <a:effectLst/>
                          <a:latin typeface="KaiTi" panose="02010609060101010101" pitchFamily="49" charset="-122"/>
                          <a:ea typeface="KaiTi" panose="02010609060101010101" pitchFamily="49" charset="-122"/>
                          <a:cs typeface="宋体" panose="02010600030101010101" pitchFamily="2" charset="-122"/>
                        </a:rPr>
                        <a:t>力</a:t>
                      </a:r>
                      <a:r>
                        <a:rPr lang="en-US" sz="1200" kern="100" dirty="0">
                          <a:solidFill>
                            <a:srgbClr val="C00000"/>
                          </a:solidFill>
                          <a:effectLst/>
                          <a:latin typeface="KaiTi" panose="02010609060101010101" pitchFamily="49" charset="-122"/>
                          <a:ea typeface="KaiTi" panose="02010609060101010101" pitchFamily="49" charset="-122"/>
                          <a:cs typeface="宋体" panose="02010600030101010101" pitchFamily="2" charset="-122"/>
                        </a:rPr>
                        <a:t> </a:t>
                      </a:r>
                      <a:endParaRPr lang="zh-CN" sz="105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lnSpc>
                          <a:spcPct val="150000"/>
                        </a:lnSpc>
                        <a:spcAft>
                          <a:spcPts val="0"/>
                        </a:spcAft>
                      </a:pPr>
                      <a:r>
                        <a:rPr lang="zh-CN" altLang="en-US" sz="105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rPr>
                        <a:t>电</a:t>
                      </a:r>
                      <a:endParaRPr lang="zh-CN" sz="105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392909552"/>
                  </a:ext>
                </a:extLst>
              </a:tr>
              <a:tr h="294379">
                <a:tc>
                  <a:txBody>
                    <a:bodyPr/>
                    <a:lstStyle/>
                    <a:p>
                      <a:pPr algn="ctr">
                        <a:lnSpc>
                          <a:spcPct val="150000"/>
                        </a:lnSpc>
                        <a:spcAft>
                          <a:spcPts val="0"/>
                        </a:spcAft>
                      </a:pPr>
                      <a:r>
                        <a:rPr lang="zh-CN" altLang="en-US" sz="1050" kern="100" dirty="0">
                          <a:effectLst/>
                          <a:latin typeface="KaiTi" panose="02010609060101010101" pitchFamily="49" charset="-122"/>
                          <a:ea typeface="KaiTi" panose="02010609060101010101" pitchFamily="49" charset="-122"/>
                          <a:cs typeface="Times New Roman" panose="02020603050405020304" pitchFamily="18" charset="0"/>
                        </a:rPr>
                        <a:t>中考占比</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lnSpc>
                          <a:spcPct val="150000"/>
                        </a:lnSpc>
                        <a:spcAft>
                          <a:spcPts val="0"/>
                        </a:spcAft>
                      </a:pPr>
                      <a:r>
                        <a:rPr lang="en-US" altLang="zh-CN" sz="1200" kern="100" dirty="0">
                          <a:effectLst/>
                          <a:latin typeface="KaiTi" panose="02010609060101010101" pitchFamily="49" charset="-122"/>
                          <a:ea typeface="KaiTi" panose="02010609060101010101" pitchFamily="49" charset="-122"/>
                          <a:cs typeface="Times New Roman" panose="02020603050405020304" pitchFamily="18" charset="0"/>
                        </a:rPr>
                        <a:t>5%</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lnSpc>
                          <a:spcPct val="150000"/>
                        </a:lnSpc>
                        <a:spcAft>
                          <a:spcPts val="0"/>
                        </a:spcAft>
                      </a:pPr>
                      <a:r>
                        <a:rPr lang="en-US"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 </a:t>
                      </a:r>
                      <a:r>
                        <a:rPr lang="en-US" altLang="zh-CN" sz="1200" kern="100" dirty="0">
                          <a:solidFill>
                            <a:srgbClr val="000000"/>
                          </a:solidFill>
                          <a:effectLst/>
                          <a:latin typeface="KaiTi" panose="02010609060101010101" pitchFamily="49" charset="-122"/>
                          <a:ea typeface="KaiTi" panose="02010609060101010101" pitchFamily="49" charset="-122"/>
                          <a:cs typeface="宋体" panose="02010600030101010101" pitchFamily="2" charset="-122"/>
                        </a:rPr>
                        <a:t>9%</a:t>
                      </a:r>
                      <a:endParaRPr lang="zh-CN" sz="105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r>
                        <a:rPr lang="en-US" altLang="zh-CN" sz="1200" kern="100" dirty="0">
                          <a:solidFill>
                            <a:schemeClr val="tx1"/>
                          </a:solidFill>
                          <a:effectLst/>
                          <a:latin typeface="KaiTi" panose="02010609060101010101" pitchFamily="49" charset="-122"/>
                          <a:ea typeface="KaiTi" panose="02010609060101010101" pitchFamily="49" charset="-122"/>
                          <a:cs typeface="Times New Roman" panose="02020603050405020304" pitchFamily="18" charset="0"/>
                        </a:rPr>
                        <a:t>6%</a:t>
                      </a:r>
                      <a:endParaRPr lang="zh-CN" altLang="en-US" sz="1200" kern="100" dirty="0">
                        <a:solidFill>
                          <a:schemeClr val="tx1"/>
                        </a:solidFill>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r>
                        <a:rPr lang="en-US" altLang="zh-CN" sz="120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rPr>
                        <a:t>40%</a:t>
                      </a:r>
                      <a:endParaRPr lang="zh-CN" altLang="en-US" sz="120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tc>
                  <a:txBody>
                    <a:bodyPr/>
                    <a:lstStyle/>
                    <a:p>
                      <a:pPr algn="ctr"/>
                      <a:r>
                        <a:rPr lang="en-US" altLang="zh-CN" sz="120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rPr>
                        <a:t>40%</a:t>
                      </a:r>
                      <a:endParaRPr lang="zh-CN" altLang="en-US" sz="120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1954342874"/>
                  </a:ext>
                </a:extLst>
              </a:tr>
            </a:tbl>
          </a:graphicData>
        </a:graphic>
      </p:graphicFrame>
      <p:graphicFrame>
        <p:nvGraphicFramePr>
          <p:cNvPr id="16" name="表格 15">
            <a:extLst>
              <a:ext uri="{FF2B5EF4-FFF2-40B4-BE49-F238E27FC236}">
                <a16:creationId xmlns:a16="http://schemas.microsoft.com/office/drawing/2014/main" id="{B1F145C7-0853-A743-9687-3EAEC906598E}"/>
              </a:ext>
            </a:extLst>
          </p:cNvPr>
          <p:cNvGraphicFramePr>
            <a:graphicFrameLocks noGrp="1"/>
          </p:cNvGraphicFramePr>
          <p:nvPr/>
        </p:nvGraphicFramePr>
        <p:xfrm>
          <a:off x="4449244" y="4217688"/>
          <a:ext cx="1556952" cy="588758"/>
        </p:xfrm>
        <a:graphic>
          <a:graphicData uri="http://schemas.openxmlformats.org/drawingml/2006/table">
            <a:tbl>
              <a:tblPr firstRow="1" firstCol="1" bandRow="1"/>
              <a:tblGrid>
                <a:gridCol w="1556952">
                  <a:extLst>
                    <a:ext uri="{9D8B030D-6E8A-4147-A177-3AD203B41FA5}">
                      <a16:colId xmlns:a16="http://schemas.microsoft.com/office/drawing/2014/main" val="1368306751"/>
                    </a:ext>
                  </a:extLst>
                </a:gridCol>
              </a:tblGrid>
              <a:tr h="294379">
                <a:tc>
                  <a:txBody>
                    <a:bodyPr/>
                    <a:lstStyle/>
                    <a:p>
                      <a:pPr algn="ctr">
                        <a:lnSpc>
                          <a:spcPct val="150000"/>
                        </a:lnSpc>
                        <a:spcAft>
                          <a:spcPts val="0"/>
                        </a:spcAft>
                      </a:pPr>
                      <a:r>
                        <a:rPr lang="zh-CN" altLang="en-US" sz="120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rPr>
                        <a:t>动力学分析</a:t>
                      </a:r>
                      <a:endParaRPr lang="zh-CN" sz="105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392909552"/>
                  </a:ext>
                </a:extLst>
              </a:tr>
              <a:tr h="294379">
                <a:tc>
                  <a:txBody>
                    <a:bodyPr/>
                    <a:lstStyle/>
                    <a:p>
                      <a:pPr algn="ctr"/>
                      <a:r>
                        <a:rPr lang="zh-CN" altLang="en-US" sz="120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rPr>
                        <a:t>高一上（必修</a:t>
                      </a:r>
                      <a:r>
                        <a:rPr lang="en-US" altLang="zh-CN" sz="120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rPr>
                        <a:t>1</a:t>
                      </a:r>
                      <a:r>
                        <a:rPr lang="zh-CN" altLang="en-US" sz="120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rPr>
                        <a:t>）</a:t>
                      </a: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1954342874"/>
                  </a:ext>
                </a:extLst>
              </a:tr>
            </a:tbl>
          </a:graphicData>
        </a:graphic>
      </p:graphicFrame>
      <p:graphicFrame>
        <p:nvGraphicFramePr>
          <p:cNvPr id="19" name="表格 18">
            <a:extLst>
              <a:ext uri="{FF2B5EF4-FFF2-40B4-BE49-F238E27FC236}">
                <a16:creationId xmlns:a16="http://schemas.microsoft.com/office/drawing/2014/main" id="{556C8FA6-7DB7-5B4A-8A9A-CA1513CE4A42}"/>
              </a:ext>
            </a:extLst>
          </p:cNvPr>
          <p:cNvGraphicFramePr>
            <a:graphicFrameLocks noGrp="1"/>
          </p:cNvGraphicFramePr>
          <p:nvPr/>
        </p:nvGraphicFramePr>
        <p:xfrm>
          <a:off x="6544819" y="4209664"/>
          <a:ext cx="1556952" cy="588758"/>
        </p:xfrm>
        <a:graphic>
          <a:graphicData uri="http://schemas.openxmlformats.org/drawingml/2006/table">
            <a:tbl>
              <a:tblPr firstRow="1" firstCol="1" bandRow="1"/>
              <a:tblGrid>
                <a:gridCol w="1556952">
                  <a:extLst>
                    <a:ext uri="{9D8B030D-6E8A-4147-A177-3AD203B41FA5}">
                      <a16:colId xmlns:a16="http://schemas.microsoft.com/office/drawing/2014/main" val="578789135"/>
                    </a:ext>
                  </a:extLst>
                </a:gridCol>
              </a:tblGrid>
              <a:tr h="294379">
                <a:tc>
                  <a:txBody>
                    <a:bodyPr/>
                    <a:lstStyle/>
                    <a:p>
                      <a:pPr algn="ctr">
                        <a:lnSpc>
                          <a:spcPct val="150000"/>
                        </a:lnSpc>
                        <a:spcAft>
                          <a:spcPts val="0"/>
                        </a:spcAft>
                      </a:pPr>
                      <a:r>
                        <a:rPr lang="zh-CN" altLang="en-US" sz="1200" kern="100" dirty="0">
                          <a:solidFill>
                            <a:srgbClr val="C00000"/>
                          </a:solidFill>
                          <a:effectLst/>
                          <a:latin typeface="KaiTi" panose="02010609060101010101" pitchFamily="49" charset="-122"/>
                          <a:ea typeface="KaiTi" panose="02010609060101010101" pitchFamily="49" charset="-122"/>
                          <a:cs typeface="宋体" panose="02010600030101010101" pitchFamily="2" charset="-122"/>
                        </a:rPr>
                        <a:t>电磁现象</a:t>
                      </a:r>
                      <a:endParaRPr lang="zh-CN" sz="105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392909552"/>
                  </a:ext>
                </a:extLst>
              </a:tr>
              <a:tr h="294379">
                <a:tc>
                  <a:txBody>
                    <a:bodyPr/>
                    <a:lstStyle/>
                    <a:p>
                      <a:pPr algn="ctr">
                        <a:lnSpc>
                          <a:spcPct val="150000"/>
                        </a:lnSpc>
                        <a:spcAft>
                          <a:spcPts val="0"/>
                        </a:spcAft>
                      </a:pPr>
                      <a:r>
                        <a:rPr lang="en-US" sz="1200" kern="100" dirty="0">
                          <a:solidFill>
                            <a:srgbClr val="C00000"/>
                          </a:solidFill>
                          <a:effectLst/>
                          <a:latin typeface="KaiTi" panose="02010609060101010101" pitchFamily="49" charset="-122"/>
                          <a:ea typeface="KaiTi" panose="02010609060101010101" pitchFamily="49" charset="-122"/>
                          <a:cs typeface="宋体" panose="02010600030101010101" pitchFamily="2" charset="-122"/>
                        </a:rPr>
                        <a:t> </a:t>
                      </a:r>
                      <a:r>
                        <a:rPr lang="zh-CN" altLang="en-US" sz="1200" kern="100" dirty="0">
                          <a:solidFill>
                            <a:srgbClr val="C00000"/>
                          </a:solidFill>
                          <a:effectLst/>
                          <a:latin typeface="KaiTi" panose="02010609060101010101" pitchFamily="49" charset="-122"/>
                          <a:ea typeface="KaiTi" panose="02010609060101010101" pitchFamily="49" charset="-122"/>
                          <a:cs typeface="宋体" panose="02010600030101010101" pitchFamily="2" charset="-122"/>
                        </a:rPr>
                        <a:t>高二上（必修</a:t>
                      </a:r>
                      <a:r>
                        <a:rPr lang="en-US" altLang="zh-CN" sz="1200" kern="100" dirty="0">
                          <a:solidFill>
                            <a:srgbClr val="C00000"/>
                          </a:solidFill>
                          <a:effectLst/>
                          <a:latin typeface="KaiTi" panose="02010609060101010101" pitchFamily="49" charset="-122"/>
                          <a:ea typeface="KaiTi" panose="02010609060101010101" pitchFamily="49" charset="-122"/>
                          <a:cs typeface="宋体" panose="02010600030101010101" pitchFamily="2" charset="-122"/>
                        </a:rPr>
                        <a:t>3+</a:t>
                      </a:r>
                      <a:r>
                        <a:rPr lang="zh-CN" altLang="en-US" sz="1200" kern="100" dirty="0">
                          <a:solidFill>
                            <a:srgbClr val="C00000"/>
                          </a:solidFill>
                          <a:effectLst/>
                          <a:latin typeface="KaiTi" panose="02010609060101010101" pitchFamily="49" charset="-122"/>
                          <a:ea typeface="KaiTi" panose="02010609060101010101" pitchFamily="49" charset="-122"/>
                          <a:cs typeface="宋体" panose="02010600030101010101" pitchFamily="2" charset="-122"/>
                        </a:rPr>
                        <a:t>选修</a:t>
                      </a:r>
                      <a:r>
                        <a:rPr lang="en-US" altLang="zh-CN" sz="1200" kern="100" dirty="0">
                          <a:solidFill>
                            <a:srgbClr val="C00000"/>
                          </a:solidFill>
                          <a:effectLst/>
                          <a:latin typeface="KaiTi" panose="02010609060101010101" pitchFamily="49" charset="-122"/>
                          <a:ea typeface="KaiTi" panose="02010609060101010101" pitchFamily="49" charset="-122"/>
                          <a:cs typeface="宋体" panose="02010600030101010101" pitchFamily="2" charset="-122"/>
                        </a:rPr>
                        <a:t>2</a:t>
                      </a:r>
                      <a:r>
                        <a:rPr lang="zh-CN" altLang="en-US" sz="1200" kern="100" dirty="0">
                          <a:solidFill>
                            <a:srgbClr val="C00000"/>
                          </a:solidFill>
                          <a:effectLst/>
                          <a:latin typeface="KaiTi" panose="02010609060101010101" pitchFamily="49" charset="-122"/>
                          <a:ea typeface="KaiTi" panose="02010609060101010101" pitchFamily="49" charset="-122"/>
                          <a:cs typeface="宋体" panose="02010600030101010101" pitchFamily="2" charset="-122"/>
                        </a:rPr>
                        <a:t>）</a:t>
                      </a:r>
                      <a:endParaRPr lang="zh-CN" sz="105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1954342874"/>
                  </a:ext>
                </a:extLst>
              </a:tr>
            </a:tbl>
          </a:graphicData>
        </a:graphic>
      </p:graphicFrame>
      <p:graphicFrame>
        <p:nvGraphicFramePr>
          <p:cNvPr id="22" name="表格 21">
            <a:extLst>
              <a:ext uri="{FF2B5EF4-FFF2-40B4-BE49-F238E27FC236}">
                <a16:creationId xmlns:a16="http://schemas.microsoft.com/office/drawing/2014/main" id="{3087959E-9CD5-FF4B-BABE-3C461071ACF2}"/>
              </a:ext>
            </a:extLst>
          </p:cNvPr>
          <p:cNvGraphicFramePr>
            <a:graphicFrameLocks noGrp="1"/>
          </p:cNvGraphicFramePr>
          <p:nvPr/>
        </p:nvGraphicFramePr>
        <p:xfrm>
          <a:off x="6087331" y="4323930"/>
          <a:ext cx="376352" cy="376273"/>
        </p:xfrm>
        <a:graphic>
          <a:graphicData uri="http://schemas.openxmlformats.org/drawingml/2006/table">
            <a:tbl>
              <a:tblPr firstRow="1" firstCol="1" bandRow="1"/>
              <a:tblGrid>
                <a:gridCol w="376352">
                  <a:extLst>
                    <a:ext uri="{9D8B030D-6E8A-4147-A177-3AD203B41FA5}">
                      <a16:colId xmlns:a16="http://schemas.microsoft.com/office/drawing/2014/main" val="578789135"/>
                    </a:ext>
                  </a:extLst>
                </a:gridCol>
              </a:tblGrid>
              <a:tr h="376273">
                <a:tc>
                  <a:txBody>
                    <a:bodyPr/>
                    <a:lstStyle/>
                    <a:p>
                      <a:pPr algn="ctr">
                        <a:lnSpc>
                          <a:spcPct val="150000"/>
                        </a:lnSpc>
                        <a:spcAft>
                          <a:spcPts val="0"/>
                        </a:spcAft>
                      </a:pPr>
                      <a:r>
                        <a:rPr lang="en-US" altLang="zh-CN" sz="160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rPr>
                        <a:t>+</a:t>
                      </a:r>
                      <a:endParaRPr lang="zh-CN" sz="1600" kern="100" dirty="0">
                        <a:solidFill>
                          <a:srgbClr val="C00000"/>
                        </a:solidFill>
                        <a:effectLst/>
                        <a:latin typeface="KaiTi" panose="02010609060101010101" pitchFamily="49" charset="-122"/>
                        <a:ea typeface="KaiTi" panose="02010609060101010101" pitchFamily="49" charset="-122"/>
                        <a:cs typeface="Times New Roman" panose="02020603050405020304" pitchFamily="18" charset="0"/>
                      </a:endParaRPr>
                    </a:p>
                  </a:txBody>
                  <a:tcPr marL="0" marR="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392909552"/>
                  </a:ext>
                </a:extLst>
              </a:tr>
            </a:tbl>
          </a:graphicData>
        </a:graphic>
      </p:graphicFrame>
    </p:spTree>
    <p:extLst>
      <p:ext uri="{BB962C8B-B14F-4D97-AF65-F5344CB8AC3E}">
        <p14:creationId xmlns:p14="http://schemas.microsoft.com/office/powerpoint/2010/main" val="33543054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B49D920B-504F-E443-80E1-E5362C526C17}"/>
              </a:ext>
            </a:extLst>
          </p:cNvPr>
          <p:cNvSpPr/>
          <p:nvPr/>
        </p:nvSpPr>
        <p:spPr>
          <a:xfrm>
            <a:off x="683229" y="1271599"/>
            <a:ext cx="11043316" cy="4776955"/>
          </a:xfrm>
          <a:prstGeom prst="rect">
            <a:avLst/>
          </a:prstGeom>
          <a:solidFill>
            <a:schemeClr val="bg1">
              <a:lumMod val="95000"/>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 name="文本框 2">
            <a:extLst>
              <a:ext uri="{FF2B5EF4-FFF2-40B4-BE49-F238E27FC236}">
                <a16:creationId xmlns:a16="http://schemas.microsoft.com/office/drawing/2014/main" id="{DAAE971C-D36F-5C4F-AF63-A1FA3771E6E8}"/>
              </a:ext>
            </a:extLst>
          </p:cNvPr>
          <p:cNvSpPr txBox="1"/>
          <p:nvPr/>
        </p:nvSpPr>
        <p:spPr>
          <a:xfrm>
            <a:off x="1108530" y="5169994"/>
            <a:ext cx="9503133" cy="1511952"/>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rPr>
              <a:t>初中物理的核心：记忆</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rPr>
              <a:t>+</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rPr>
              <a:t>使用</a:t>
            </a:r>
            <a:endParaRPr kumimoji="1" lang="en-US" altLang="zh-CN" sz="1600" dirty="0">
              <a:solidFill>
                <a:schemeClr val="tx1">
                  <a:lumMod val="50000"/>
                  <a:lumOff val="50000"/>
                </a:schemeClr>
              </a:solidFill>
              <a:latin typeface="KaiTi" panose="02010609060101010101" pitchFamily="49" charset="-122"/>
              <a:ea typeface="KaiTi" panose="02010609060101010101" pitchFamily="49" charset="-122"/>
            </a:endParaRPr>
          </a:p>
          <a:p>
            <a:pPr marL="171450" indent="-171450">
              <a:lnSpc>
                <a:spcPct val="150000"/>
              </a:lnSpc>
              <a:buFont typeface="Arial" panose="020B0604020202020204" pitchFamily="34" charset="0"/>
              <a:buChar char="•"/>
            </a:pP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rPr>
              <a:t>高中物理的核心：理解</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rPr>
              <a:t>+</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rPr>
              <a:t>推导</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rPr>
              <a:t>+</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rPr>
              <a:t>计算</a:t>
            </a:r>
            <a:endParaRPr kumimoji="1" lang="en-US" altLang="zh-CN" sz="1600" dirty="0">
              <a:solidFill>
                <a:schemeClr val="tx1">
                  <a:lumMod val="50000"/>
                  <a:lumOff val="50000"/>
                </a:schemeClr>
              </a:solidFill>
              <a:latin typeface="KaiTi" panose="02010609060101010101" pitchFamily="49" charset="-122"/>
              <a:ea typeface="KaiTi" panose="02010609060101010101" pitchFamily="49" charset="-122"/>
            </a:endParaRPr>
          </a:p>
          <a:p>
            <a:pPr marL="171450" indent="-171450">
              <a:lnSpc>
                <a:spcPct val="150000"/>
              </a:lnSpc>
              <a:buFont typeface="Arial" panose="020B0604020202020204" pitchFamily="34" charset="0"/>
              <a:buChar char="•"/>
            </a:pPr>
            <a:endParaRPr kumimoji="1" lang="en-US" altLang="zh-CN" sz="1600" dirty="0">
              <a:solidFill>
                <a:schemeClr val="tx1">
                  <a:lumMod val="50000"/>
                  <a:lumOff val="50000"/>
                </a:schemeClr>
              </a:solidFill>
              <a:latin typeface="KaiTi" panose="02010609060101010101" pitchFamily="49" charset="-122"/>
              <a:ea typeface="KaiTi" panose="02010609060101010101" pitchFamily="49" charset="-122"/>
            </a:endParaRPr>
          </a:p>
          <a:p>
            <a:pPr>
              <a:lnSpc>
                <a:spcPct val="150000"/>
              </a:lnSpc>
            </a:pPr>
            <a:endParaRPr kumimoji="1" lang="en-US"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p:txBody>
      </p:sp>
      <p:sp>
        <p:nvSpPr>
          <p:cNvPr id="4" name="文本框 3">
            <a:extLst>
              <a:ext uri="{FF2B5EF4-FFF2-40B4-BE49-F238E27FC236}">
                <a16:creationId xmlns:a16="http://schemas.microsoft.com/office/drawing/2014/main" id="{94442722-D24F-7342-BAAE-C1A2206C9DEA}"/>
              </a:ext>
            </a:extLst>
          </p:cNvPr>
          <p:cNvSpPr txBox="1"/>
          <p:nvPr/>
        </p:nvSpPr>
        <p:spPr>
          <a:xfrm>
            <a:off x="683229" y="809436"/>
            <a:ext cx="4942702" cy="307777"/>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初高中物理的特点与区别？</a:t>
            </a:r>
          </a:p>
        </p:txBody>
      </p:sp>
      <p:sp>
        <p:nvSpPr>
          <p:cNvPr id="6" name="矩形 5">
            <a:extLst>
              <a:ext uri="{FF2B5EF4-FFF2-40B4-BE49-F238E27FC236}">
                <a16:creationId xmlns:a16="http://schemas.microsoft.com/office/drawing/2014/main" id="{816CAE0A-BEF6-744D-BE73-9E3D9A7309B4}"/>
              </a:ext>
            </a:extLst>
          </p:cNvPr>
          <p:cNvSpPr/>
          <p:nvPr/>
        </p:nvSpPr>
        <p:spPr>
          <a:xfrm>
            <a:off x="721660" y="1347341"/>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A964E578-38D6-3944-8EAE-E6CD67EF4259}"/>
              </a:ext>
            </a:extLst>
          </p:cNvPr>
          <p:cNvSpPr txBox="1"/>
          <p:nvPr/>
        </p:nvSpPr>
        <p:spPr>
          <a:xfrm>
            <a:off x="1108530" y="1295247"/>
            <a:ext cx="7837762" cy="364972"/>
          </a:xfrm>
          <a:prstGeom prst="rect">
            <a:avLst/>
          </a:prstGeom>
          <a:noFill/>
        </p:spPr>
        <p:txBody>
          <a:bodyPr wrap="square" rtlCol="0">
            <a:spAutoFit/>
          </a:bodyPr>
          <a:lstStyle/>
          <a:p>
            <a:pPr>
              <a:lnSpc>
                <a:spcPct val="150000"/>
              </a:lnSpc>
            </a:pP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rPr>
              <a:t>初高中物理的「异」：</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rPr>
              <a:t>2.</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rPr>
              <a:t>初中物理「半文半理」；高中物理「理」偏多</a:t>
            </a:r>
          </a:p>
        </p:txBody>
      </p:sp>
      <p:sp>
        <p:nvSpPr>
          <p:cNvPr id="8" name="矩形 7">
            <a:extLst>
              <a:ext uri="{FF2B5EF4-FFF2-40B4-BE49-F238E27FC236}">
                <a16:creationId xmlns:a16="http://schemas.microsoft.com/office/drawing/2014/main" id="{9E498107-496C-D649-9C0A-5336781AB0CF}"/>
              </a:ext>
            </a:extLst>
          </p:cNvPr>
          <p:cNvSpPr/>
          <p:nvPr/>
        </p:nvSpPr>
        <p:spPr>
          <a:xfrm>
            <a:off x="1108530" y="1958241"/>
            <a:ext cx="3489974" cy="9532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a:extLst>
              <a:ext uri="{FF2B5EF4-FFF2-40B4-BE49-F238E27FC236}">
                <a16:creationId xmlns:a16="http://schemas.microsoft.com/office/drawing/2014/main" id="{F0AFF280-8639-1645-ADBA-D45414D78FF8}"/>
              </a:ext>
            </a:extLst>
          </p:cNvPr>
          <p:cNvSpPr txBox="1"/>
          <p:nvPr/>
        </p:nvSpPr>
        <p:spPr>
          <a:xfrm>
            <a:off x="1108530" y="1958240"/>
            <a:ext cx="2151505" cy="276999"/>
          </a:xfrm>
          <a:prstGeom prst="rect">
            <a:avLst/>
          </a:prstGeom>
          <a:solidFill>
            <a:srgbClr val="F9CDCC"/>
          </a:solidFill>
        </p:spPr>
        <p:txBody>
          <a:bodyPr wrap="square" rtlCol="0">
            <a:spAutoFit/>
          </a:bodyPr>
          <a:lstStyle/>
          <a:p>
            <a:r>
              <a:rPr lang="zh-CN" altLang="en-US" sz="1200" b="1" dirty="0"/>
              <a:t> </a:t>
            </a:r>
            <a:r>
              <a:rPr kumimoji="1" lang="zh-CN" altLang="en-US" sz="1200" b="1" dirty="0">
                <a:latin typeface="KaiTi" panose="02010609060101010101" pitchFamily="49" charset="-122"/>
                <a:ea typeface="KaiTi" panose="02010609060101010101" pitchFamily="49" charset="-122"/>
                <a:cs typeface="Times New Roman" panose="02020603050405020304" pitchFamily="18" charset="0"/>
              </a:rPr>
              <a:t>初中</a:t>
            </a:r>
            <a:r>
              <a:rPr kumimoji="1" lang="en-US" altLang="zh-CN" sz="1200" b="1"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200" b="1" dirty="0">
                <a:latin typeface="KaiTi" panose="02010609060101010101" pitchFamily="49" charset="-122"/>
                <a:ea typeface="KaiTi" panose="02010609060101010101" pitchFamily="49" charset="-122"/>
                <a:cs typeface="Times New Roman" panose="02020603050405020304" pitchFamily="18" charset="0"/>
              </a:rPr>
              <a:t>物理</a:t>
            </a:r>
          </a:p>
        </p:txBody>
      </p:sp>
      <p:sp>
        <p:nvSpPr>
          <p:cNvPr id="10" name="文本框 9">
            <a:extLst>
              <a:ext uri="{FF2B5EF4-FFF2-40B4-BE49-F238E27FC236}">
                <a16:creationId xmlns:a16="http://schemas.microsoft.com/office/drawing/2014/main" id="{1E8CE9DD-BE0A-B243-A2AA-1AF7E2132388}"/>
              </a:ext>
            </a:extLst>
          </p:cNvPr>
          <p:cNvSpPr txBox="1"/>
          <p:nvPr/>
        </p:nvSpPr>
        <p:spPr>
          <a:xfrm>
            <a:off x="1108530" y="2323430"/>
            <a:ext cx="5757143" cy="461665"/>
          </a:xfrm>
          <a:prstGeom prst="rect">
            <a:avLst/>
          </a:prstGeom>
          <a:noFill/>
        </p:spPr>
        <p:txBody>
          <a:bodyPr wrap="square" rtlCol="0">
            <a:spAutoFit/>
          </a:bodyPr>
          <a:lstStyle/>
          <a:p>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特点：</a:t>
            </a:r>
            <a:endPar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a:p>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记忆概念</a:t>
            </a:r>
            <a:r>
              <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理解运用公式</a:t>
            </a:r>
            <a:endPar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p:txBody>
      </p:sp>
      <p:sp>
        <p:nvSpPr>
          <p:cNvPr id="11" name="矩形 10">
            <a:extLst>
              <a:ext uri="{FF2B5EF4-FFF2-40B4-BE49-F238E27FC236}">
                <a16:creationId xmlns:a16="http://schemas.microsoft.com/office/drawing/2014/main" id="{AAFFA163-5461-5B42-8AEE-277B8BB1899D}"/>
              </a:ext>
            </a:extLst>
          </p:cNvPr>
          <p:cNvSpPr/>
          <p:nvPr/>
        </p:nvSpPr>
        <p:spPr>
          <a:xfrm>
            <a:off x="1108530" y="3867113"/>
            <a:ext cx="3489974" cy="11803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文本框 11">
            <a:extLst>
              <a:ext uri="{FF2B5EF4-FFF2-40B4-BE49-F238E27FC236}">
                <a16:creationId xmlns:a16="http://schemas.microsoft.com/office/drawing/2014/main" id="{82F4228B-5AC5-464E-8F3F-BB984938497F}"/>
              </a:ext>
            </a:extLst>
          </p:cNvPr>
          <p:cNvSpPr txBox="1"/>
          <p:nvPr/>
        </p:nvSpPr>
        <p:spPr>
          <a:xfrm>
            <a:off x="1108530" y="3867112"/>
            <a:ext cx="2151505" cy="276999"/>
          </a:xfrm>
          <a:prstGeom prst="rect">
            <a:avLst/>
          </a:prstGeom>
          <a:solidFill>
            <a:srgbClr val="F9CDCC"/>
          </a:solidFill>
        </p:spPr>
        <p:txBody>
          <a:bodyPr wrap="square" rtlCol="0">
            <a:spAutoFit/>
          </a:bodyPr>
          <a:lstStyle/>
          <a:p>
            <a:r>
              <a:rPr lang="zh-CN" altLang="en-US" sz="1200" b="1" dirty="0">
                <a:latin typeface="KaiTi" panose="02010609060101010101" pitchFamily="49" charset="-122"/>
                <a:ea typeface="KaiTi" panose="02010609060101010101" pitchFamily="49" charset="-122"/>
              </a:rPr>
              <a:t>高中</a:t>
            </a:r>
            <a:r>
              <a:rPr lang="en-US" altLang="zh-CN" sz="1200" b="1" dirty="0">
                <a:latin typeface="KaiTi" panose="02010609060101010101" pitchFamily="49" charset="-122"/>
                <a:ea typeface="KaiTi" panose="02010609060101010101" pitchFamily="49" charset="-122"/>
              </a:rPr>
              <a:t>——</a:t>
            </a:r>
            <a:r>
              <a:rPr lang="zh-CN" altLang="en-US" sz="1200" b="1" dirty="0">
                <a:latin typeface="KaiTi" panose="02010609060101010101" pitchFamily="49" charset="-122"/>
                <a:ea typeface="KaiTi" panose="02010609060101010101" pitchFamily="49" charset="-122"/>
              </a:rPr>
              <a:t>物理</a:t>
            </a:r>
            <a:endParaRPr kumimoji="1" lang="zh-CN" altLang="en-US" sz="1200" b="1" dirty="0">
              <a:latin typeface="KaiTi" panose="02010609060101010101" pitchFamily="49" charset="-122"/>
              <a:ea typeface="KaiTi" panose="02010609060101010101" pitchFamily="49" charset="-122"/>
              <a:cs typeface="Times New Roman" panose="02020603050405020304" pitchFamily="18" charset="0"/>
            </a:endParaRPr>
          </a:p>
        </p:txBody>
      </p:sp>
      <p:sp>
        <p:nvSpPr>
          <p:cNvPr id="13" name="文本框 12">
            <a:extLst>
              <a:ext uri="{FF2B5EF4-FFF2-40B4-BE49-F238E27FC236}">
                <a16:creationId xmlns:a16="http://schemas.microsoft.com/office/drawing/2014/main" id="{7016F543-32CB-B645-9929-6B8A22B037ED}"/>
              </a:ext>
            </a:extLst>
          </p:cNvPr>
          <p:cNvSpPr txBox="1"/>
          <p:nvPr/>
        </p:nvSpPr>
        <p:spPr>
          <a:xfrm>
            <a:off x="1108530" y="4232302"/>
            <a:ext cx="7266985" cy="646331"/>
          </a:xfrm>
          <a:prstGeom prst="rect">
            <a:avLst/>
          </a:prstGeom>
          <a:noFill/>
        </p:spPr>
        <p:txBody>
          <a:bodyPr wrap="square" rtlCol="0">
            <a:spAutoFit/>
          </a:bodyPr>
          <a:lstStyle/>
          <a:p>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特点：</a:t>
            </a:r>
            <a:endPar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a:p>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逻辑性强、不能纯靠记忆</a:t>
            </a:r>
            <a:endPar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a:p>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公式运用：多且复杂，需推导！</a:t>
            </a:r>
            <a:endPar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p:txBody>
      </p:sp>
      <p:cxnSp>
        <p:nvCxnSpPr>
          <p:cNvPr id="15" name="直线连接符 14">
            <a:extLst>
              <a:ext uri="{FF2B5EF4-FFF2-40B4-BE49-F238E27FC236}">
                <a16:creationId xmlns:a16="http://schemas.microsoft.com/office/drawing/2014/main" id="{392AD85F-F15E-4849-A856-23B99721F21F}"/>
              </a:ext>
            </a:extLst>
          </p:cNvPr>
          <p:cNvCxnSpPr>
            <a:cxnSpLocks/>
          </p:cNvCxnSpPr>
          <p:nvPr/>
        </p:nvCxnSpPr>
        <p:spPr>
          <a:xfrm>
            <a:off x="582977" y="700757"/>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7" name="直线连接符 16">
            <a:extLst>
              <a:ext uri="{FF2B5EF4-FFF2-40B4-BE49-F238E27FC236}">
                <a16:creationId xmlns:a16="http://schemas.microsoft.com/office/drawing/2014/main" id="{4660D11D-A19F-8744-8DBC-B04157B3D03C}"/>
              </a:ext>
            </a:extLst>
          </p:cNvPr>
          <p:cNvCxnSpPr>
            <a:cxnSpLocks/>
          </p:cNvCxnSpPr>
          <p:nvPr/>
        </p:nvCxnSpPr>
        <p:spPr>
          <a:xfrm>
            <a:off x="582977" y="6079573"/>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20" name="图片 19">
            <a:extLst>
              <a:ext uri="{FF2B5EF4-FFF2-40B4-BE49-F238E27FC236}">
                <a16:creationId xmlns:a16="http://schemas.microsoft.com/office/drawing/2014/main" id="{8328A7FA-5EE3-9D41-997B-2A808B43C69C}"/>
              </a:ext>
            </a:extLst>
          </p:cNvPr>
          <p:cNvPicPr>
            <a:picLocks noChangeAspect="1"/>
          </p:cNvPicPr>
          <p:nvPr/>
        </p:nvPicPr>
        <p:blipFill>
          <a:blip r:embed="rId3"/>
          <a:stretch>
            <a:fillRect/>
          </a:stretch>
        </p:blipFill>
        <p:spPr>
          <a:xfrm>
            <a:off x="8815483" y="1947229"/>
            <a:ext cx="2738157" cy="3704863"/>
          </a:xfrm>
          <a:prstGeom prst="rect">
            <a:avLst/>
          </a:prstGeom>
          <a:ln>
            <a:solidFill>
              <a:srgbClr val="A41AD4"/>
            </a:solidFill>
          </a:ln>
        </p:spPr>
      </p:pic>
      <p:cxnSp>
        <p:nvCxnSpPr>
          <p:cNvPr id="5" name="直线箭头连接符 4">
            <a:extLst>
              <a:ext uri="{FF2B5EF4-FFF2-40B4-BE49-F238E27FC236}">
                <a16:creationId xmlns:a16="http://schemas.microsoft.com/office/drawing/2014/main" id="{A49C34E4-290C-CB40-A54D-16AB40C35C20}"/>
              </a:ext>
            </a:extLst>
          </p:cNvPr>
          <p:cNvCxnSpPr/>
          <p:nvPr/>
        </p:nvCxnSpPr>
        <p:spPr>
          <a:xfrm>
            <a:off x="7825691" y="3867112"/>
            <a:ext cx="755373" cy="0"/>
          </a:xfrm>
          <a:prstGeom prst="straightConnector1">
            <a:avLst/>
          </a:prstGeom>
          <a:ln w="19050">
            <a:solidFill>
              <a:srgbClr val="A41AD4"/>
            </a:solidFill>
            <a:tailEnd type="triangle"/>
          </a:ln>
        </p:spPr>
        <p:style>
          <a:lnRef idx="1">
            <a:schemeClr val="accent1"/>
          </a:lnRef>
          <a:fillRef idx="0">
            <a:schemeClr val="accent1"/>
          </a:fillRef>
          <a:effectRef idx="0">
            <a:schemeClr val="accent1"/>
          </a:effectRef>
          <a:fontRef idx="minor">
            <a:schemeClr val="tx1"/>
          </a:fontRef>
        </p:style>
      </p:cxnSp>
      <p:pic>
        <p:nvPicPr>
          <p:cNvPr id="21" name="图片 20">
            <a:extLst>
              <a:ext uri="{FF2B5EF4-FFF2-40B4-BE49-F238E27FC236}">
                <a16:creationId xmlns:a16="http://schemas.microsoft.com/office/drawing/2014/main" id="{150835CC-6E15-8343-AB40-2E421589C0EE}"/>
              </a:ext>
            </a:extLst>
          </p:cNvPr>
          <p:cNvPicPr>
            <a:picLocks noChangeAspect="1"/>
          </p:cNvPicPr>
          <p:nvPr/>
        </p:nvPicPr>
        <p:blipFill>
          <a:blip r:embed="rId4"/>
          <a:stretch>
            <a:fillRect/>
          </a:stretch>
        </p:blipFill>
        <p:spPr>
          <a:xfrm>
            <a:off x="5023805" y="1951622"/>
            <a:ext cx="2614560" cy="3700465"/>
          </a:xfrm>
          <a:prstGeom prst="rect">
            <a:avLst/>
          </a:prstGeom>
          <a:ln>
            <a:solidFill>
              <a:srgbClr val="A41AD4"/>
            </a:solidFill>
          </a:ln>
        </p:spPr>
      </p:pic>
    </p:spTree>
    <p:extLst>
      <p:ext uri="{BB962C8B-B14F-4D97-AF65-F5344CB8AC3E}">
        <p14:creationId xmlns:p14="http://schemas.microsoft.com/office/powerpoint/2010/main" val="41629433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B49D920B-504F-E443-80E1-E5362C526C17}"/>
              </a:ext>
            </a:extLst>
          </p:cNvPr>
          <p:cNvSpPr/>
          <p:nvPr/>
        </p:nvSpPr>
        <p:spPr>
          <a:xfrm>
            <a:off x="683229" y="1271599"/>
            <a:ext cx="11043316" cy="4776955"/>
          </a:xfrm>
          <a:prstGeom prst="rect">
            <a:avLst/>
          </a:prstGeom>
          <a:solidFill>
            <a:schemeClr val="bg1">
              <a:lumMod val="95000"/>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 name="文本框 2">
            <a:extLst>
              <a:ext uri="{FF2B5EF4-FFF2-40B4-BE49-F238E27FC236}">
                <a16:creationId xmlns:a16="http://schemas.microsoft.com/office/drawing/2014/main" id="{DAAE971C-D36F-5C4F-AF63-A1FA3771E6E8}"/>
              </a:ext>
            </a:extLst>
          </p:cNvPr>
          <p:cNvSpPr txBox="1"/>
          <p:nvPr/>
        </p:nvSpPr>
        <p:spPr>
          <a:xfrm>
            <a:off x="1108530" y="5169994"/>
            <a:ext cx="9957035" cy="1511952"/>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rPr>
              <a:t>学好物理的核心：</a:t>
            </a:r>
            <a:endParaRPr kumimoji="1" lang="en-US" altLang="zh-CN" sz="1600" dirty="0">
              <a:solidFill>
                <a:schemeClr val="tx1">
                  <a:lumMod val="50000"/>
                  <a:lumOff val="50000"/>
                </a:schemeClr>
              </a:solidFill>
              <a:latin typeface="KaiTi" panose="02010609060101010101" pitchFamily="49" charset="-122"/>
              <a:ea typeface="KaiTi" panose="02010609060101010101" pitchFamily="49" charset="-122"/>
            </a:endParaRPr>
          </a:p>
          <a:p>
            <a:pPr marL="171450" indent="-171450">
              <a:lnSpc>
                <a:spcPct val="150000"/>
              </a:lnSpc>
              <a:buFont typeface="Arial" panose="020B0604020202020204" pitchFamily="34" charset="0"/>
              <a:buChar char="•"/>
            </a:pP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rPr>
              <a:t>根据「</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rPr>
              <a:t>1.2.3.4</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rPr>
              <a:t>」的特点，针对性学习重难点，知识点互相连成体系，用「全、细、勤」将书</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rPr>
              <a:t>【</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rPr>
              <a:t>越读越薄</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rPr>
              <a:t>】</a:t>
            </a:r>
          </a:p>
          <a:p>
            <a:pPr marL="171450" indent="-171450">
              <a:lnSpc>
                <a:spcPct val="150000"/>
              </a:lnSpc>
              <a:buFont typeface="Arial" panose="020B0604020202020204" pitchFamily="34" charset="0"/>
              <a:buChar char="•"/>
            </a:pPr>
            <a:endParaRPr kumimoji="1" lang="en-US" altLang="zh-CN" sz="1600" dirty="0">
              <a:solidFill>
                <a:schemeClr val="tx1">
                  <a:lumMod val="50000"/>
                  <a:lumOff val="50000"/>
                </a:schemeClr>
              </a:solidFill>
              <a:latin typeface="KaiTi" panose="02010609060101010101" pitchFamily="49" charset="-122"/>
              <a:ea typeface="KaiTi" panose="02010609060101010101" pitchFamily="49" charset="-122"/>
            </a:endParaRPr>
          </a:p>
          <a:p>
            <a:pPr>
              <a:lnSpc>
                <a:spcPct val="150000"/>
              </a:lnSpc>
            </a:pPr>
            <a:endParaRPr kumimoji="1" lang="en-US"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p:txBody>
      </p:sp>
      <p:sp>
        <p:nvSpPr>
          <p:cNvPr id="4" name="文本框 3">
            <a:extLst>
              <a:ext uri="{FF2B5EF4-FFF2-40B4-BE49-F238E27FC236}">
                <a16:creationId xmlns:a16="http://schemas.microsoft.com/office/drawing/2014/main" id="{94442722-D24F-7342-BAAE-C1A2206C9DEA}"/>
              </a:ext>
            </a:extLst>
          </p:cNvPr>
          <p:cNvSpPr txBox="1"/>
          <p:nvPr/>
        </p:nvSpPr>
        <p:spPr>
          <a:xfrm>
            <a:off x="683229" y="809436"/>
            <a:ext cx="8132254" cy="307777"/>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学好物理的「</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3</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1.2.3.4</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a:t>
            </a:r>
          </a:p>
        </p:txBody>
      </p:sp>
      <p:sp>
        <p:nvSpPr>
          <p:cNvPr id="6" name="矩形 5">
            <a:extLst>
              <a:ext uri="{FF2B5EF4-FFF2-40B4-BE49-F238E27FC236}">
                <a16:creationId xmlns:a16="http://schemas.microsoft.com/office/drawing/2014/main" id="{816CAE0A-BEF6-744D-BE73-9E3D9A7309B4}"/>
              </a:ext>
            </a:extLst>
          </p:cNvPr>
          <p:cNvSpPr/>
          <p:nvPr/>
        </p:nvSpPr>
        <p:spPr>
          <a:xfrm>
            <a:off x="721660" y="1347341"/>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A964E578-38D6-3944-8EAE-E6CD67EF4259}"/>
              </a:ext>
            </a:extLst>
          </p:cNvPr>
          <p:cNvSpPr txBox="1"/>
          <p:nvPr/>
        </p:nvSpPr>
        <p:spPr>
          <a:xfrm>
            <a:off x="1108530" y="1295247"/>
            <a:ext cx="7837762" cy="364972"/>
          </a:xfrm>
          <a:prstGeom prst="rect">
            <a:avLst/>
          </a:prstGeom>
          <a:noFill/>
        </p:spPr>
        <p:txBody>
          <a:bodyPr wrap="square" rtlCol="0">
            <a:spAutoFit/>
          </a:bodyPr>
          <a:lstStyle/>
          <a:p>
            <a:pPr>
              <a:lnSpc>
                <a:spcPct val="150000"/>
              </a:lnSpc>
            </a:pP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rPr>
              <a:t>学好物理的方法</a:t>
            </a:r>
          </a:p>
        </p:txBody>
      </p:sp>
      <p:sp>
        <p:nvSpPr>
          <p:cNvPr id="8" name="矩形 7">
            <a:extLst>
              <a:ext uri="{FF2B5EF4-FFF2-40B4-BE49-F238E27FC236}">
                <a16:creationId xmlns:a16="http://schemas.microsoft.com/office/drawing/2014/main" id="{9E498107-496C-D649-9C0A-5336781AB0CF}"/>
              </a:ext>
            </a:extLst>
          </p:cNvPr>
          <p:cNvSpPr/>
          <p:nvPr/>
        </p:nvSpPr>
        <p:spPr>
          <a:xfrm>
            <a:off x="1108529" y="1958240"/>
            <a:ext cx="9214913" cy="16716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a:extLst>
              <a:ext uri="{FF2B5EF4-FFF2-40B4-BE49-F238E27FC236}">
                <a16:creationId xmlns:a16="http://schemas.microsoft.com/office/drawing/2014/main" id="{F0AFF280-8639-1645-ADBA-D45414D78FF8}"/>
              </a:ext>
            </a:extLst>
          </p:cNvPr>
          <p:cNvSpPr txBox="1"/>
          <p:nvPr/>
        </p:nvSpPr>
        <p:spPr>
          <a:xfrm>
            <a:off x="1108530" y="1958240"/>
            <a:ext cx="2151505" cy="276999"/>
          </a:xfrm>
          <a:prstGeom prst="rect">
            <a:avLst/>
          </a:prstGeom>
          <a:solidFill>
            <a:srgbClr val="F9CDCC"/>
          </a:solidFill>
        </p:spPr>
        <p:txBody>
          <a:bodyPr wrap="square" rtlCol="0">
            <a:spAutoFit/>
          </a:bodyPr>
          <a:lstStyle/>
          <a:p>
            <a:r>
              <a:rPr kumimoji="1" lang="en-US" altLang="zh-CN" sz="12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3——{</a:t>
            </a:r>
            <a:r>
              <a:rPr kumimoji="1" lang="zh-CN" altLang="en-US" sz="12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全</a:t>
            </a:r>
            <a:r>
              <a:rPr kumimoji="1" lang="en-US" altLang="zh-CN" sz="12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2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细</a:t>
            </a:r>
            <a:r>
              <a:rPr kumimoji="1" lang="en-US" altLang="zh-CN" sz="12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2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勤</a:t>
            </a:r>
            <a:r>
              <a:rPr kumimoji="1" lang="en-US" altLang="zh-CN" sz="12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a:t>
            </a:r>
            <a:endParaRPr kumimoji="1" lang="zh-CN" altLang="en-US" sz="1200" b="1" dirty="0">
              <a:latin typeface="KaiTi" panose="02010609060101010101" pitchFamily="49" charset="-122"/>
              <a:ea typeface="KaiTi" panose="02010609060101010101" pitchFamily="49" charset="-122"/>
              <a:cs typeface="Times New Roman" panose="02020603050405020304" pitchFamily="18" charset="0"/>
            </a:endParaRPr>
          </a:p>
        </p:txBody>
      </p:sp>
      <p:sp>
        <p:nvSpPr>
          <p:cNvPr id="10" name="文本框 9">
            <a:extLst>
              <a:ext uri="{FF2B5EF4-FFF2-40B4-BE49-F238E27FC236}">
                <a16:creationId xmlns:a16="http://schemas.microsoft.com/office/drawing/2014/main" id="{1E8CE9DD-BE0A-B243-A2AA-1AF7E2132388}"/>
              </a:ext>
            </a:extLst>
          </p:cNvPr>
          <p:cNvSpPr txBox="1"/>
          <p:nvPr/>
        </p:nvSpPr>
        <p:spPr>
          <a:xfrm>
            <a:off x="1108530" y="2323430"/>
            <a:ext cx="5757143" cy="1200329"/>
          </a:xfrm>
          <a:prstGeom prst="rect">
            <a:avLst/>
          </a:prstGeom>
          <a:noFill/>
        </p:spPr>
        <p:txBody>
          <a:bodyPr wrap="square" rtlCol="0">
            <a:spAutoFit/>
          </a:bodyPr>
          <a:lstStyle/>
          <a:p>
            <a:r>
              <a:rPr kumimoji="1" lang="zh-CN" altLang="en-US" sz="1200" b="1" dirty="0">
                <a:solidFill>
                  <a:srgbClr val="223AAC"/>
                </a:solidFill>
                <a:latin typeface="KaiTi" panose="02010609060101010101" pitchFamily="49" charset="-122"/>
                <a:ea typeface="KaiTi" panose="02010609060101010101" pitchFamily="49" charset="-122"/>
                <a:cs typeface="Times New Roman" panose="02020603050405020304" pitchFamily="18" charset="0"/>
              </a:rPr>
              <a:t>全：知识清单要全</a:t>
            </a:r>
            <a:endParaRPr kumimoji="1" lang="en-US" altLang="zh-CN" sz="1200" b="1"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a:p>
            <a:r>
              <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思维导图</a:t>
            </a:r>
            <a:r>
              <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讲出来</a:t>
            </a:r>
            <a:r>
              <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p>
          <a:p>
            <a:r>
              <a:rPr kumimoji="1" lang="zh-CN" altLang="en-US" sz="1200" b="1" dirty="0">
                <a:solidFill>
                  <a:srgbClr val="223AAC"/>
                </a:solidFill>
                <a:latin typeface="KaiTi" panose="02010609060101010101" pitchFamily="49" charset="-122"/>
                <a:ea typeface="KaiTi" panose="02010609060101010101" pitchFamily="49" charset="-122"/>
                <a:cs typeface="Times New Roman" panose="02020603050405020304" pitchFamily="18" charset="0"/>
              </a:rPr>
              <a:t>细：细做题</a:t>
            </a:r>
            <a:endParaRPr kumimoji="1" lang="en-US" altLang="zh-CN" sz="1200" b="1"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a:p>
            <a:r>
              <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一道题</a:t>
            </a:r>
            <a:r>
              <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总结</a:t>
            </a:r>
            <a:r>
              <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一类题</a:t>
            </a:r>
            <a:r>
              <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p>
          <a:p>
            <a:r>
              <a:rPr kumimoji="1" lang="zh-CN" altLang="en-US" sz="1200" b="1" dirty="0">
                <a:solidFill>
                  <a:srgbClr val="223AAC"/>
                </a:solidFill>
                <a:latin typeface="KaiTi" panose="02010609060101010101" pitchFamily="49" charset="-122"/>
                <a:ea typeface="KaiTi" panose="02010609060101010101" pitchFamily="49" charset="-122"/>
                <a:cs typeface="Times New Roman" panose="02020603050405020304" pitchFamily="18" charset="0"/>
              </a:rPr>
              <a:t>勤：勤复习</a:t>
            </a:r>
            <a:endParaRPr kumimoji="1" lang="en-US" altLang="zh-CN" sz="1200" b="1"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a:p>
            <a:r>
              <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【1</a:t>
            </a:r>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3】</a:t>
            </a:r>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掌握</a:t>
            </a:r>
            <a:r>
              <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-【3</a:t>
            </a:r>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5】</a:t>
            </a:r>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熟练</a:t>
            </a:r>
            <a:r>
              <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-【5</a:t>
            </a:r>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7】</a:t>
            </a:r>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悟</a:t>
            </a:r>
            <a:endPar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p:txBody>
      </p:sp>
      <p:sp>
        <p:nvSpPr>
          <p:cNvPr id="11" name="矩形 10">
            <a:extLst>
              <a:ext uri="{FF2B5EF4-FFF2-40B4-BE49-F238E27FC236}">
                <a16:creationId xmlns:a16="http://schemas.microsoft.com/office/drawing/2014/main" id="{AAFFA163-5461-5B42-8AEE-277B8BB1899D}"/>
              </a:ext>
            </a:extLst>
          </p:cNvPr>
          <p:cNvSpPr/>
          <p:nvPr/>
        </p:nvSpPr>
        <p:spPr>
          <a:xfrm>
            <a:off x="1108529" y="3867113"/>
            <a:ext cx="9214913" cy="11803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文本框 11">
            <a:extLst>
              <a:ext uri="{FF2B5EF4-FFF2-40B4-BE49-F238E27FC236}">
                <a16:creationId xmlns:a16="http://schemas.microsoft.com/office/drawing/2014/main" id="{82F4228B-5AC5-464E-8F3F-BB984938497F}"/>
              </a:ext>
            </a:extLst>
          </p:cNvPr>
          <p:cNvSpPr txBox="1"/>
          <p:nvPr/>
        </p:nvSpPr>
        <p:spPr>
          <a:xfrm>
            <a:off x="1108530" y="3867112"/>
            <a:ext cx="4550148" cy="276999"/>
          </a:xfrm>
          <a:prstGeom prst="rect">
            <a:avLst/>
          </a:prstGeom>
          <a:solidFill>
            <a:srgbClr val="F9CDCC"/>
          </a:solidFill>
        </p:spPr>
        <p:txBody>
          <a:bodyPr wrap="square" rtlCol="0">
            <a:spAutoFit/>
          </a:bodyPr>
          <a:lstStyle/>
          <a:p>
            <a:r>
              <a:rPr lang="zh-CN" altLang="en-US" sz="1200" b="1" dirty="0">
                <a:latin typeface="KaiTi" panose="02010609060101010101" pitchFamily="49" charset="-122"/>
                <a:ea typeface="KaiTi" panose="02010609060101010101" pitchFamily="49" charset="-122"/>
              </a:rPr>
              <a:t>高中物理的</a:t>
            </a:r>
            <a:r>
              <a:rPr lang="en-US" altLang="zh-CN" sz="1200" b="1" dirty="0">
                <a:latin typeface="KaiTi" panose="02010609060101010101" pitchFamily="49" charset="-122"/>
                <a:ea typeface="KaiTi" panose="02010609060101010101" pitchFamily="49" charset="-122"/>
              </a:rPr>
              <a:t>1.2.3.4——</a:t>
            </a:r>
            <a:r>
              <a:rPr kumimoji="1" lang="zh-CN" altLang="en-US" sz="12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a:t>
            </a:r>
            <a:r>
              <a:rPr kumimoji="1" lang="en-US" altLang="zh-CN" sz="12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1</a:t>
            </a:r>
            <a:r>
              <a:rPr kumimoji="1" lang="zh-CN" altLang="en-US" sz="12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中心、</a:t>
            </a:r>
            <a:r>
              <a:rPr kumimoji="1" lang="en-US" altLang="zh-CN" sz="12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2</a:t>
            </a:r>
            <a:r>
              <a:rPr kumimoji="1" lang="zh-CN" altLang="en-US" sz="12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手段、</a:t>
            </a:r>
            <a:r>
              <a:rPr kumimoji="1" lang="en-US" altLang="zh-CN" sz="12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3</a:t>
            </a:r>
            <a:r>
              <a:rPr kumimoji="1" lang="zh-CN" altLang="en-US" sz="12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2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4</a:t>
            </a:r>
            <a:r>
              <a:rPr kumimoji="1" lang="zh-CN" altLang="en-US" sz="12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特点」</a:t>
            </a:r>
            <a:endParaRPr kumimoji="1" lang="zh-CN" altLang="en-US" sz="1200" b="1" dirty="0">
              <a:latin typeface="KaiTi" panose="02010609060101010101" pitchFamily="49" charset="-122"/>
              <a:ea typeface="KaiTi" panose="02010609060101010101" pitchFamily="49" charset="-122"/>
              <a:cs typeface="Times New Roman" panose="02020603050405020304" pitchFamily="18" charset="0"/>
            </a:endParaRPr>
          </a:p>
        </p:txBody>
      </p:sp>
      <p:sp>
        <p:nvSpPr>
          <p:cNvPr id="13" name="文本框 12">
            <a:extLst>
              <a:ext uri="{FF2B5EF4-FFF2-40B4-BE49-F238E27FC236}">
                <a16:creationId xmlns:a16="http://schemas.microsoft.com/office/drawing/2014/main" id="{7016F543-32CB-B645-9929-6B8A22B037ED}"/>
              </a:ext>
            </a:extLst>
          </p:cNvPr>
          <p:cNvSpPr txBox="1"/>
          <p:nvPr/>
        </p:nvSpPr>
        <p:spPr>
          <a:xfrm>
            <a:off x="1108530" y="4232302"/>
            <a:ext cx="8300513" cy="830997"/>
          </a:xfrm>
          <a:prstGeom prst="rect">
            <a:avLst/>
          </a:prstGeom>
          <a:noFill/>
        </p:spPr>
        <p:txBody>
          <a:bodyPr wrap="square" rtlCol="0">
            <a:spAutoFit/>
          </a:bodyPr>
          <a:lstStyle/>
          <a:p>
            <a:r>
              <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1</a:t>
            </a:r>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中心：运动力学</a:t>
            </a:r>
            <a:endPar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a:p>
            <a:r>
              <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2</a:t>
            </a:r>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手段：动力学</a:t>
            </a:r>
            <a:r>
              <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功能关系</a:t>
            </a:r>
            <a:endPar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a:p>
            <a:r>
              <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3</a:t>
            </a:r>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模块：力</a:t>
            </a:r>
            <a:r>
              <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电</a:t>
            </a:r>
            <a:r>
              <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磁</a:t>
            </a:r>
            <a:endPar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a:p>
            <a:r>
              <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4</a:t>
            </a:r>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特点：连续性（力</a:t>
            </a:r>
            <a:r>
              <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a:t>
            </a:r>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电磁</a:t>
            </a:r>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逻辑性（公式多）</a:t>
            </a:r>
            <a:r>
              <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综合性（多知识点综合在一道题）</a:t>
            </a:r>
            <a:r>
              <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计算量大（数形结合是关键）</a:t>
            </a:r>
            <a:endPar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p:txBody>
      </p:sp>
      <p:cxnSp>
        <p:nvCxnSpPr>
          <p:cNvPr id="15" name="直线连接符 14">
            <a:extLst>
              <a:ext uri="{FF2B5EF4-FFF2-40B4-BE49-F238E27FC236}">
                <a16:creationId xmlns:a16="http://schemas.microsoft.com/office/drawing/2014/main" id="{392AD85F-F15E-4849-A856-23B99721F21F}"/>
              </a:ext>
            </a:extLst>
          </p:cNvPr>
          <p:cNvCxnSpPr>
            <a:cxnSpLocks/>
          </p:cNvCxnSpPr>
          <p:nvPr/>
        </p:nvCxnSpPr>
        <p:spPr>
          <a:xfrm>
            <a:off x="582977" y="700757"/>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7" name="直线连接符 16">
            <a:extLst>
              <a:ext uri="{FF2B5EF4-FFF2-40B4-BE49-F238E27FC236}">
                <a16:creationId xmlns:a16="http://schemas.microsoft.com/office/drawing/2014/main" id="{4660D11D-A19F-8744-8DBC-B04157B3D03C}"/>
              </a:ext>
            </a:extLst>
          </p:cNvPr>
          <p:cNvCxnSpPr>
            <a:cxnSpLocks/>
          </p:cNvCxnSpPr>
          <p:nvPr/>
        </p:nvCxnSpPr>
        <p:spPr>
          <a:xfrm>
            <a:off x="582977" y="6079573"/>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67629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863725" y="1590675"/>
            <a:ext cx="8239125" cy="3416320"/>
          </a:xfrm>
          <a:prstGeom prst="rect">
            <a:avLst/>
          </a:prstGeom>
          <a:noFill/>
          <a:ln>
            <a:noFill/>
          </a:ln>
        </p:spPr>
        <p:txBody>
          <a:bodyPr wrap="square" rtlCol="0" anchor="t">
            <a:spAutoFit/>
          </a:bodyPr>
          <a:lstStyle/>
          <a:p>
            <a:pPr algn="ctr"/>
            <a:r>
              <a:rPr lang="en-US" altLang="zh-CN" sz="7200" b="1" dirty="0">
                <a:solidFill>
                  <a:srgbClr val="7030A0"/>
                </a:solidFill>
                <a:effectLst>
                  <a:reflection blurRad="6350" stA="53000" endA="300" endPos="35500" dir="5400000" sy="-90000" algn="bl" rotWithShape="0"/>
                </a:effectLst>
              </a:rPr>
              <a:t>Chapter-3</a:t>
            </a:r>
          </a:p>
          <a:p>
            <a:pPr algn="ctr"/>
            <a:r>
              <a:rPr lang="en-US" altLang="zh-CN" sz="7200" b="1" dirty="0">
                <a:solidFill>
                  <a:srgbClr val="7030A0"/>
                </a:solidFill>
                <a:effectLst>
                  <a:reflection blurRad="6350" stA="53000" endA="300" endPos="35500" dir="5400000" sy="-90000" algn="bl" rotWithShape="0"/>
                </a:effectLst>
              </a:rPr>
              <a:t> </a:t>
            </a:r>
          </a:p>
          <a:p>
            <a:pPr algn="ctr"/>
            <a:r>
              <a:rPr lang="zh-CN" altLang="en-US" sz="7200" b="1" dirty="0">
                <a:solidFill>
                  <a:srgbClr val="7030A0"/>
                </a:solidFill>
                <a:effectLst>
                  <a:reflection blurRad="6350" stA="53000" endA="300" endPos="35500" dir="5400000" sy="-90000" algn="bl" rotWithShape="0"/>
                </a:effectLst>
              </a:rPr>
              <a:t>物理思维的核心</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AF08A445-F599-A64E-AFD7-C533675FF370}"/>
              </a:ext>
            </a:extLst>
          </p:cNvPr>
          <p:cNvSpPr/>
          <p:nvPr/>
        </p:nvSpPr>
        <p:spPr>
          <a:xfrm>
            <a:off x="609559" y="2192625"/>
            <a:ext cx="11129686" cy="1977265"/>
          </a:xfrm>
          <a:prstGeom prst="rect">
            <a:avLst/>
          </a:prstGeom>
          <a:solidFill>
            <a:srgbClr val="E9F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矩形 6">
            <a:extLst>
              <a:ext uri="{FF2B5EF4-FFF2-40B4-BE49-F238E27FC236}">
                <a16:creationId xmlns:a16="http://schemas.microsoft.com/office/drawing/2014/main" id="{0ED61C28-0FB1-ED4E-A5EC-867C764EA975}"/>
              </a:ext>
            </a:extLst>
          </p:cNvPr>
          <p:cNvSpPr/>
          <p:nvPr/>
        </p:nvSpPr>
        <p:spPr>
          <a:xfrm>
            <a:off x="609559" y="4574950"/>
            <a:ext cx="11129686" cy="1572205"/>
          </a:xfrm>
          <a:prstGeom prst="rect">
            <a:avLst/>
          </a:prstGeom>
          <a:solidFill>
            <a:srgbClr val="FDF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文本框 2">
            <a:extLst>
              <a:ext uri="{FF2B5EF4-FFF2-40B4-BE49-F238E27FC236}">
                <a16:creationId xmlns:a16="http://schemas.microsoft.com/office/drawing/2014/main" id="{56A75455-2377-8449-9C6F-C4E808CA9100}"/>
              </a:ext>
            </a:extLst>
          </p:cNvPr>
          <p:cNvSpPr txBox="1"/>
          <p:nvPr/>
        </p:nvSpPr>
        <p:spPr>
          <a:xfrm>
            <a:off x="452120" y="699770"/>
            <a:ext cx="4942702" cy="338554"/>
          </a:xfrm>
          <a:prstGeom prst="rect">
            <a:avLst/>
          </a:prstGeom>
          <a:noFill/>
        </p:spPr>
        <p:txBody>
          <a:bodyPr wrap="square" rtlCol="0">
            <a:spAutoFit/>
          </a:bodyPr>
          <a:lstStyle/>
          <a:p>
            <a:r>
              <a:rPr kumimoji="1" lang="en-US" altLang="zh-CN" sz="1600" b="1" dirty="0">
                <a:solidFill>
                  <a:srgbClr val="C00000"/>
                </a:solidFill>
                <a:highlight>
                  <a:srgbClr val="FDF4D5"/>
                </a:highlight>
                <a:latin typeface="KaiTi" panose="02010609060101010101" pitchFamily="49" charset="-122"/>
                <a:ea typeface="KaiTi" panose="02010609060101010101" pitchFamily="49" charset="-122"/>
              </a:rPr>
              <a:t>【</a:t>
            </a:r>
            <a:r>
              <a:rPr kumimoji="1" lang="zh-CN" altLang="en-US" sz="1600" b="1" dirty="0">
                <a:solidFill>
                  <a:srgbClr val="C00000"/>
                </a:solidFill>
                <a:highlight>
                  <a:srgbClr val="FDF4D5"/>
                </a:highlight>
                <a:latin typeface="KaiTi" panose="02010609060101010101" pitchFamily="49" charset="-122"/>
                <a:ea typeface="KaiTi" panose="02010609060101010101" pitchFamily="49" charset="-122"/>
              </a:rPr>
              <a:t>物理的解题核心</a:t>
            </a:r>
            <a:r>
              <a:rPr kumimoji="1" lang="en-US" altLang="zh-CN"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b="1"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三「化」</a:t>
            </a:r>
            <a:endPar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p:txBody>
      </p:sp>
      <p:sp>
        <p:nvSpPr>
          <p:cNvPr id="4" name="文本框 3">
            <a:extLst>
              <a:ext uri="{FF2B5EF4-FFF2-40B4-BE49-F238E27FC236}">
                <a16:creationId xmlns:a16="http://schemas.microsoft.com/office/drawing/2014/main" id="{A40DFC1D-CC36-1044-BA2D-1847D0A38696}"/>
              </a:ext>
            </a:extLst>
          </p:cNvPr>
          <p:cNvSpPr txBox="1"/>
          <p:nvPr/>
        </p:nvSpPr>
        <p:spPr>
          <a:xfrm>
            <a:off x="1048341" y="2250672"/>
            <a:ext cx="4942702" cy="830997"/>
          </a:xfrm>
          <a:prstGeom prst="rect">
            <a:avLst/>
          </a:prstGeom>
          <a:noFill/>
        </p:spPr>
        <p:txBody>
          <a:bodyPr wrap="square" rtlCol="0">
            <a:spAutoFit/>
          </a:bodyPr>
          <a:lstStyle/>
          <a:p>
            <a:r>
              <a:rPr kumimoji="1" lang="en-US" altLang="zh-CN"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a:t>
            </a:r>
            <a:r>
              <a:rPr kumimoji="1" lang="zh-CN" altLang="en-US"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具体化：</a:t>
            </a:r>
            <a:endParaRPr kumimoji="1" lang="en-US" altLang="zh-CN"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「避免」抽象化陷阱、死记硬背概念</a:t>
            </a:r>
            <a:r>
              <a:rPr kumimoji="1" lang="en-US" altLang="zh-CN"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盲目背公式</a:t>
            </a:r>
            <a:endParaRPr kumimoji="1" lang="en-US" altLang="zh-CN"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「策略」重在“广”</a:t>
            </a:r>
            <a:endParaRPr kumimoji="1" lang="zh-CN" altLang="en-US" sz="16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5" name="文本框 4">
            <a:extLst>
              <a:ext uri="{FF2B5EF4-FFF2-40B4-BE49-F238E27FC236}">
                <a16:creationId xmlns:a16="http://schemas.microsoft.com/office/drawing/2014/main" id="{8EBB11D0-7FE4-1543-8451-2D20873F4588}"/>
              </a:ext>
            </a:extLst>
          </p:cNvPr>
          <p:cNvSpPr txBox="1"/>
          <p:nvPr/>
        </p:nvSpPr>
        <p:spPr>
          <a:xfrm>
            <a:off x="1048341" y="4618077"/>
            <a:ext cx="9513642" cy="1600438"/>
          </a:xfrm>
          <a:prstGeom prst="rect">
            <a:avLst/>
          </a:prstGeom>
          <a:noFill/>
        </p:spPr>
        <p:txBody>
          <a:bodyPr wrap="square" rtlCol="0">
            <a:spAutoFit/>
          </a:bodyPr>
          <a:lstStyle/>
          <a:p>
            <a:r>
              <a:rPr kumimoji="1" lang="zh-CN" altLang="en-US"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例如：</a:t>
            </a:r>
            <a:endParaRPr kumimoji="1" lang="en-US" altLang="zh-CN"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「压强」</a:t>
            </a:r>
            <a:endParaRPr kumimoji="1" lang="en-US" altLang="zh-CN"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压强（</a:t>
            </a:r>
            <a:r>
              <a:rPr kumimoji="1" lang="fr-FR" altLang="zh-CN"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P</a:t>
            </a:r>
            <a:r>
              <a:rPr kumimoji="1" lang="zh-CN" altLang="fr-FR"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fr-FR" altLang="zh-CN"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 </a:t>
            </a:r>
            <a:r>
              <a:rPr kumimoji="1" lang="zh-CN" altLang="en-US"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作用力（</a:t>
            </a:r>
            <a:r>
              <a:rPr kumimoji="1" lang="fr-FR" altLang="zh-CN"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F</a:t>
            </a:r>
            <a:r>
              <a:rPr kumimoji="1" lang="zh-CN" altLang="fr-FR"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 </a:t>
            </a:r>
            <a:r>
              <a:rPr kumimoji="1" lang="fr-FR" altLang="zh-CN"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 </a:t>
            </a:r>
            <a:r>
              <a:rPr kumimoji="1" lang="zh-CN" altLang="en-US"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受力面积（</a:t>
            </a:r>
            <a:r>
              <a:rPr kumimoji="1" lang="fr-FR" altLang="zh-CN"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a:t>
            </a:r>
            <a:r>
              <a:rPr kumimoji="1" lang="zh-CN" altLang="fr-FR"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endParaRPr kumimoji="1" lang="en-US" altLang="zh-CN"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“压强是单位面积上受到的压力。” 这种定义较抽象</a:t>
            </a:r>
            <a:endParaRPr kumimoji="1" lang="en-US" altLang="zh-CN"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「具体化理解」给奶奶讲：用手握住鸡蛋的时候，很难压碎；但是用鸡蛋磕碗边上，很容易就碎了</a:t>
            </a:r>
            <a:r>
              <a:rPr kumimoji="1" lang="en-US" altLang="zh-CN"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sym typeface="Wingdings" pitchFamily="2" charset="2"/>
              </a:rPr>
              <a:t></a:t>
            </a:r>
          </a:p>
          <a:p>
            <a:r>
              <a:rPr kumimoji="1" lang="zh-CN" altLang="en-US" sz="16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作用力相同，但接触面积不同，导致压强不同</a:t>
            </a:r>
            <a:r>
              <a:rPr kumimoji="1" lang="en-US" altLang="zh-CN" sz="16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sym typeface="Wingdings" pitchFamily="2" charset="2"/>
              </a:rPr>
              <a:t></a:t>
            </a:r>
            <a:r>
              <a:rPr kumimoji="1" lang="zh-CN" altLang="en-US" sz="16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sym typeface="Wingdings" pitchFamily="2" charset="2"/>
              </a:rPr>
              <a:t>接触面积小，很容易击破</a:t>
            </a:r>
            <a:endParaRPr kumimoji="1" lang="zh-CN" altLang="en-US" sz="16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8" name="文本框 7">
            <a:extLst>
              <a:ext uri="{FF2B5EF4-FFF2-40B4-BE49-F238E27FC236}">
                <a16:creationId xmlns:a16="http://schemas.microsoft.com/office/drawing/2014/main" id="{61AC93CE-4BC5-FA48-8A02-20CA02AE75E0}"/>
              </a:ext>
            </a:extLst>
          </p:cNvPr>
          <p:cNvSpPr txBox="1"/>
          <p:nvPr/>
        </p:nvSpPr>
        <p:spPr>
          <a:xfrm>
            <a:off x="609559" y="1262042"/>
            <a:ext cx="4942702" cy="830997"/>
          </a:xfrm>
          <a:prstGeom prst="rect">
            <a:avLst/>
          </a:prstGeom>
          <a:noFill/>
        </p:spPr>
        <p:txBody>
          <a:bodyPr wrap="square" rtlCol="0">
            <a:spAutoFit/>
          </a:bodyPr>
          <a:lstStyle/>
          <a:p>
            <a:pPr marL="285750" indent="-285750">
              <a:buFont typeface="Wingdings" pitchFamily="2" charset="2"/>
              <a:buChar char="ü"/>
            </a:pPr>
            <a:r>
              <a:rPr kumimoji="1" lang="zh-CN" altLang="en-US"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具体化</a:t>
            </a:r>
            <a:endParaRPr kumimoji="1" lang="en-US" altLang="zh-CN"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marL="285750" indent="-285750">
              <a:buFont typeface="Wingdings" pitchFamily="2" charset="2"/>
              <a:buChar char="ü"/>
            </a:pPr>
            <a:r>
              <a:rPr kumimoji="1" lang="zh-CN" altLang="en-US"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图像化</a:t>
            </a:r>
            <a:endParaRPr kumimoji="1" lang="en-US" altLang="zh-CN"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marL="285750" indent="-285750">
              <a:buFont typeface="Wingdings" pitchFamily="2" charset="2"/>
              <a:buChar char="ü"/>
            </a:pPr>
            <a:r>
              <a:rPr kumimoji="1" lang="zh-CN" altLang="en-US"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动态化</a:t>
            </a:r>
            <a:endParaRPr kumimoji="1" lang="en-US" altLang="zh-CN"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9" name="矩形 8">
            <a:extLst>
              <a:ext uri="{FF2B5EF4-FFF2-40B4-BE49-F238E27FC236}">
                <a16:creationId xmlns:a16="http://schemas.microsoft.com/office/drawing/2014/main" id="{2159CDA4-58FB-6C4C-940B-183B61651EE0}"/>
              </a:ext>
            </a:extLst>
          </p:cNvPr>
          <p:cNvSpPr/>
          <p:nvPr/>
        </p:nvSpPr>
        <p:spPr>
          <a:xfrm>
            <a:off x="634049" y="2274196"/>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10" name="矩形 9">
            <a:extLst>
              <a:ext uri="{FF2B5EF4-FFF2-40B4-BE49-F238E27FC236}">
                <a16:creationId xmlns:a16="http://schemas.microsoft.com/office/drawing/2014/main" id="{154C05DA-6A5C-B740-AE62-43E4B122CE61}"/>
              </a:ext>
            </a:extLst>
          </p:cNvPr>
          <p:cNvSpPr/>
          <p:nvPr/>
        </p:nvSpPr>
        <p:spPr>
          <a:xfrm>
            <a:off x="634049" y="4619194"/>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Tree>
    <p:extLst>
      <p:ext uri="{BB962C8B-B14F-4D97-AF65-F5344CB8AC3E}">
        <p14:creationId xmlns:p14="http://schemas.microsoft.com/office/powerpoint/2010/main" val="17165330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AF08A445-F599-A64E-AFD7-C533675FF370}"/>
              </a:ext>
            </a:extLst>
          </p:cNvPr>
          <p:cNvSpPr/>
          <p:nvPr/>
        </p:nvSpPr>
        <p:spPr>
          <a:xfrm>
            <a:off x="609559" y="2192625"/>
            <a:ext cx="11129686" cy="1977265"/>
          </a:xfrm>
          <a:prstGeom prst="rect">
            <a:avLst/>
          </a:prstGeom>
          <a:solidFill>
            <a:srgbClr val="E9F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矩形 6">
            <a:extLst>
              <a:ext uri="{FF2B5EF4-FFF2-40B4-BE49-F238E27FC236}">
                <a16:creationId xmlns:a16="http://schemas.microsoft.com/office/drawing/2014/main" id="{0ED61C28-0FB1-ED4E-A5EC-867C764EA975}"/>
              </a:ext>
            </a:extLst>
          </p:cNvPr>
          <p:cNvSpPr/>
          <p:nvPr/>
        </p:nvSpPr>
        <p:spPr>
          <a:xfrm>
            <a:off x="609559" y="4574950"/>
            <a:ext cx="11129686" cy="1977265"/>
          </a:xfrm>
          <a:prstGeom prst="rect">
            <a:avLst/>
          </a:prstGeom>
          <a:solidFill>
            <a:srgbClr val="FDF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文本框 2">
            <a:extLst>
              <a:ext uri="{FF2B5EF4-FFF2-40B4-BE49-F238E27FC236}">
                <a16:creationId xmlns:a16="http://schemas.microsoft.com/office/drawing/2014/main" id="{56A75455-2377-8449-9C6F-C4E808CA9100}"/>
              </a:ext>
            </a:extLst>
          </p:cNvPr>
          <p:cNvSpPr txBox="1"/>
          <p:nvPr/>
        </p:nvSpPr>
        <p:spPr>
          <a:xfrm>
            <a:off x="452120" y="699770"/>
            <a:ext cx="4942702" cy="338554"/>
          </a:xfrm>
          <a:prstGeom prst="rect">
            <a:avLst/>
          </a:prstGeom>
          <a:noFill/>
        </p:spPr>
        <p:txBody>
          <a:bodyPr wrap="square" rtlCol="0">
            <a:spAutoFit/>
          </a:bodyPr>
          <a:lstStyle/>
          <a:p>
            <a:r>
              <a:rPr kumimoji="1" lang="en-US" altLang="zh-CN" sz="1600" b="1" dirty="0">
                <a:solidFill>
                  <a:srgbClr val="C00000"/>
                </a:solidFill>
                <a:highlight>
                  <a:srgbClr val="FDF4D5"/>
                </a:highlight>
                <a:latin typeface="KaiTi" panose="02010609060101010101" pitchFamily="49" charset="-122"/>
                <a:ea typeface="KaiTi" panose="02010609060101010101" pitchFamily="49" charset="-122"/>
              </a:rPr>
              <a:t>【</a:t>
            </a:r>
            <a:r>
              <a:rPr kumimoji="1" lang="zh-CN" altLang="en-US" sz="1600" b="1" dirty="0">
                <a:solidFill>
                  <a:srgbClr val="C00000"/>
                </a:solidFill>
                <a:highlight>
                  <a:srgbClr val="FDF4D5"/>
                </a:highlight>
                <a:latin typeface="KaiTi" panose="02010609060101010101" pitchFamily="49" charset="-122"/>
                <a:ea typeface="KaiTi" panose="02010609060101010101" pitchFamily="49" charset="-122"/>
              </a:rPr>
              <a:t>物理的解题核心</a:t>
            </a:r>
            <a:r>
              <a:rPr kumimoji="1" lang="en-US" altLang="zh-CN"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b="1"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三「化」</a:t>
            </a:r>
            <a:endPar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p:txBody>
      </p:sp>
      <p:sp>
        <p:nvSpPr>
          <p:cNvPr id="4" name="文本框 3">
            <a:extLst>
              <a:ext uri="{FF2B5EF4-FFF2-40B4-BE49-F238E27FC236}">
                <a16:creationId xmlns:a16="http://schemas.microsoft.com/office/drawing/2014/main" id="{A40DFC1D-CC36-1044-BA2D-1847D0A38696}"/>
              </a:ext>
            </a:extLst>
          </p:cNvPr>
          <p:cNvSpPr txBox="1"/>
          <p:nvPr/>
        </p:nvSpPr>
        <p:spPr>
          <a:xfrm>
            <a:off x="1048341" y="2250672"/>
            <a:ext cx="4942702" cy="1077218"/>
          </a:xfrm>
          <a:prstGeom prst="rect">
            <a:avLst/>
          </a:prstGeom>
          <a:noFill/>
        </p:spPr>
        <p:txBody>
          <a:bodyPr wrap="square" rtlCol="0">
            <a:spAutoFit/>
          </a:bodyPr>
          <a:lstStyle/>
          <a:p>
            <a:r>
              <a:rPr kumimoji="1" lang="en-US" altLang="zh-CN"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a:t>
            </a:r>
            <a:r>
              <a:rPr kumimoji="1" lang="zh-CN" altLang="en-US"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图像化：</a:t>
            </a:r>
            <a:endParaRPr kumimoji="1" lang="en-US" altLang="zh-CN"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「要」多画图、看图、分析图</a:t>
            </a:r>
            <a:endParaRPr kumimoji="1" lang="en-US" altLang="zh-CN"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「哪些图」坐标图：运动过程；受力分析：受力情况</a:t>
            </a:r>
            <a:endParaRPr kumimoji="1" lang="en-US" altLang="zh-CN"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zh-CN" altLang="en-US" sz="16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8" name="文本框 7">
            <a:extLst>
              <a:ext uri="{FF2B5EF4-FFF2-40B4-BE49-F238E27FC236}">
                <a16:creationId xmlns:a16="http://schemas.microsoft.com/office/drawing/2014/main" id="{61AC93CE-4BC5-FA48-8A02-20CA02AE75E0}"/>
              </a:ext>
            </a:extLst>
          </p:cNvPr>
          <p:cNvSpPr txBox="1"/>
          <p:nvPr/>
        </p:nvSpPr>
        <p:spPr>
          <a:xfrm>
            <a:off x="609559" y="1262042"/>
            <a:ext cx="4942702" cy="830997"/>
          </a:xfrm>
          <a:prstGeom prst="rect">
            <a:avLst/>
          </a:prstGeom>
          <a:noFill/>
        </p:spPr>
        <p:txBody>
          <a:bodyPr wrap="square" rtlCol="0">
            <a:spAutoFit/>
          </a:bodyPr>
          <a:lstStyle/>
          <a:p>
            <a:pPr marL="285750" indent="-285750">
              <a:buFont typeface="Wingdings" pitchFamily="2" charset="2"/>
              <a:buChar char="ü"/>
            </a:pPr>
            <a:r>
              <a:rPr kumimoji="1" lang="zh-CN" altLang="en-US"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具体化</a:t>
            </a:r>
            <a:endParaRPr kumimoji="1" lang="en-US" altLang="zh-CN"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marL="285750" indent="-285750">
              <a:buFont typeface="Wingdings" pitchFamily="2" charset="2"/>
              <a:buChar char="ü"/>
            </a:pPr>
            <a:r>
              <a:rPr kumimoji="1" lang="zh-CN" altLang="en-US"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图像化</a:t>
            </a:r>
            <a:endParaRPr kumimoji="1" lang="en-US" altLang="zh-CN"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marL="285750" indent="-285750">
              <a:buFont typeface="Wingdings" pitchFamily="2" charset="2"/>
              <a:buChar char="ü"/>
            </a:pPr>
            <a:r>
              <a:rPr kumimoji="1" lang="zh-CN" altLang="en-US"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动态化</a:t>
            </a:r>
            <a:endParaRPr kumimoji="1" lang="en-US" altLang="zh-CN"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9" name="矩形 8">
            <a:extLst>
              <a:ext uri="{FF2B5EF4-FFF2-40B4-BE49-F238E27FC236}">
                <a16:creationId xmlns:a16="http://schemas.microsoft.com/office/drawing/2014/main" id="{2159CDA4-58FB-6C4C-940B-183B61651EE0}"/>
              </a:ext>
            </a:extLst>
          </p:cNvPr>
          <p:cNvSpPr/>
          <p:nvPr/>
        </p:nvSpPr>
        <p:spPr>
          <a:xfrm>
            <a:off x="634049" y="2274196"/>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10" name="矩形 9">
            <a:extLst>
              <a:ext uri="{FF2B5EF4-FFF2-40B4-BE49-F238E27FC236}">
                <a16:creationId xmlns:a16="http://schemas.microsoft.com/office/drawing/2014/main" id="{154C05DA-6A5C-B740-AE62-43E4B122CE61}"/>
              </a:ext>
            </a:extLst>
          </p:cNvPr>
          <p:cNvSpPr/>
          <p:nvPr/>
        </p:nvSpPr>
        <p:spPr>
          <a:xfrm>
            <a:off x="634049" y="4619194"/>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11" name="文本框 10">
            <a:extLst>
              <a:ext uri="{FF2B5EF4-FFF2-40B4-BE49-F238E27FC236}">
                <a16:creationId xmlns:a16="http://schemas.microsoft.com/office/drawing/2014/main" id="{0CCE1DF7-221E-294A-96F3-BDFF595F3BA6}"/>
              </a:ext>
            </a:extLst>
          </p:cNvPr>
          <p:cNvSpPr txBox="1"/>
          <p:nvPr/>
        </p:nvSpPr>
        <p:spPr>
          <a:xfrm>
            <a:off x="1048341" y="4598400"/>
            <a:ext cx="4942702" cy="830997"/>
          </a:xfrm>
          <a:prstGeom prst="rect">
            <a:avLst/>
          </a:prstGeom>
          <a:noFill/>
        </p:spPr>
        <p:txBody>
          <a:bodyPr wrap="square" rtlCol="0">
            <a:spAutoFit/>
          </a:bodyPr>
          <a:lstStyle/>
          <a:p>
            <a:r>
              <a:rPr kumimoji="1" lang="en-US" altLang="zh-CN"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3.</a:t>
            </a:r>
            <a:r>
              <a:rPr kumimoji="1" lang="zh-CN" altLang="en-US"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动态化：</a:t>
            </a:r>
            <a:endParaRPr kumimoji="1" lang="en-US" altLang="zh-CN"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运动过程</a:t>
            </a:r>
            <a:r>
              <a:rPr kumimoji="1" lang="en-US" altLang="zh-CN"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受力情况</a:t>
            </a:r>
            <a:endParaRPr kumimoji="1" lang="en-US" altLang="zh-CN"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zh-CN" altLang="en-US" sz="16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cxnSp>
        <p:nvCxnSpPr>
          <p:cNvPr id="12" name="直线箭头连接符 11">
            <a:extLst>
              <a:ext uri="{FF2B5EF4-FFF2-40B4-BE49-F238E27FC236}">
                <a16:creationId xmlns:a16="http://schemas.microsoft.com/office/drawing/2014/main" id="{84F59296-132E-494B-BEBC-DB3969EC0950}"/>
              </a:ext>
            </a:extLst>
          </p:cNvPr>
          <p:cNvCxnSpPr/>
          <p:nvPr/>
        </p:nvCxnSpPr>
        <p:spPr>
          <a:xfrm>
            <a:off x="1404730" y="3181257"/>
            <a:ext cx="0" cy="1393693"/>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13" name="图片 12">
            <a:extLst>
              <a:ext uri="{FF2B5EF4-FFF2-40B4-BE49-F238E27FC236}">
                <a16:creationId xmlns:a16="http://schemas.microsoft.com/office/drawing/2014/main" id="{70F993F3-6095-B344-AF71-1A2809E059AC}"/>
              </a:ext>
            </a:extLst>
          </p:cNvPr>
          <p:cNvPicPr>
            <a:picLocks noChangeAspect="1"/>
          </p:cNvPicPr>
          <p:nvPr/>
        </p:nvPicPr>
        <p:blipFill>
          <a:blip r:embed="rId2"/>
          <a:stretch>
            <a:fillRect/>
          </a:stretch>
        </p:blipFill>
        <p:spPr>
          <a:xfrm>
            <a:off x="1882072" y="3143894"/>
            <a:ext cx="2082797" cy="774775"/>
          </a:xfrm>
          <a:prstGeom prst="rect">
            <a:avLst/>
          </a:prstGeom>
        </p:spPr>
      </p:pic>
      <p:grpSp>
        <p:nvGrpSpPr>
          <p:cNvPr id="16" name="组合 15">
            <a:extLst>
              <a:ext uri="{FF2B5EF4-FFF2-40B4-BE49-F238E27FC236}">
                <a16:creationId xmlns:a16="http://schemas.microsoft.com/office/drawing/2014/main" id="{F09F1A2B-B454-7C4C-A01C-3AC62BBF88DA}"/>
              </a:ext>
            </a:extLst>
          </p:cNvPr>
          <p:cNvGrpSpPr/>
          <p:nvPr/>
        </p:nvGrpSpPr>
        <p:grpSpPr>
          <a:xfrm>
            <a:off x="4901929" y="3181257"/>
            <a:ext cx="885190" cy="699385"/>
            <a:chOff x="4311650" y="2012950"/>
            <a:chExt cx="3568700" cy="2819614"/>
          </a:xfrm>
        </p:grpSpPr>
        <p:pic>
          <p:nvPicPr>
            <p:cNvPr id="14" name="图片 13">
              <a:extLst>
                <a:ext uri="{FF2B5EF4-FFF2-40B4-BE49-F238E27FC236}">
                  <a16:creationId xmlns:a16="http://schemas.microsoft.com/office/drawing/2014/main" id="{095C0606-2229-EA41-A9EF-CB0CEC276B25}"/>
                </a:ext>
              </a:extLst>
            </p:cNvPr>
            <p:cNvPicPr>
              <a:picLocks noChangeAspect="1"/>
            </p:cNvPicPr>
            <p:nvPr/>
          </p:nvPicPr>
          <p:blipFill>
            <a:blip r:embed="rId3"/>
            <a:stretch>
              <a:fillRect/>
            </a:stretch>
          </p:blipFill>
          <p:spPr>
            <a:xfrm>
              <a:off x="4311650" y="2012950"/>
              <a:ext cx="3568700" cy="2819614"/>
            </a:xfrm>
            <a:prstGeom prst="rect">
              <a:avLst/>
            </a:prstGeom>
            <a:ln w="19050">
              <a:solidFill>
                <a:srgbClr val="C00000"/>
              </a:solidFill>
            </a:ln>
          </p:spPr>
        </p:pic>
        <p:sp>
          <p:nvSpPr>
            <p:cNvPr id="15" name="矩形 14">
              <a:extLst>
                <a:ext uri="{FF2B5EF4-FFF2-40B4-BE49-F238E27FC236}">
                  <a16:creationId xmlns:a16="http://schemas.microsoft.com/office/drawing/2014/main" id="{B0CCAEE7-0F25-BD43-895B-1B959D0EC60D}"/>
                </a:ext>
              </a:extLst>
            </p:cNvPr>
            <p:cNvSpPr/>
            <p:nvPr/>
          </p:nvSpPr>
          <p:spPr>
            <a:xfrm>
              <a:off x="4311651" y="3143894"/>
              <a:ext cx="255800" cy="4825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17" name="图片 16">
            <a:extLst>
              <a:ext uri="{FF2B5EF4-FFF2-40B4-BE49-F238E27FC236}">
                <a16:creationId xmlns:a16="http://schemas.microsoft.com/office/drawing/2014/main" id="{56EACDFD-5D08-5749-AB42-DF6E1B76169B}"/>
              </a:ext>
            </a:extLst>
          </p:cNvPr>
          <p:cNvPicPr>
            <a:picLocks noChangeAspect="1"/>
          </p:cNvPicPr>
          <p:nvPr/>
        </p:nvPicPr>
        <p:blipFill>
          <a:blip r:embed="rId4"/>
          <a:stretch>
            <a:fillRect/>
          </a:stretch>
        </p:blipFill>
        <p:spPr>
          <a:xfrm>
            <a:off x="5800764" y="3181257"/>
            <a:ext cx="923416" cy="699386"/>
          </a:xfrm>
          <a:prstGeom prst="rect">
            <a:avLst/>
          </a:prstGeom>
          <a:ln w="19050">
            <a:solidFill>
              <a:srgbClr val="C00000"/>
            </a:solidFill>
          </a:ln>
        </p:spPr>
      </p:pic>
      <p:pic>
        <p:nvPicPr>
          <p:cNvPr id="18" name="图片 17">
            <a:extLst>
              <a:ext uri="{FF2B5EF4-FFF2-40B4-BE49-F238E27FC236}">
                <a16:creationId xmlns:a16="http://schemas.microsoft.com/office/drawing/2014/main" id="{D024D441-B7A9-484D-A6C6-BA719790B6DA}"/>
              </a:ext>
            </a:extLst>
          </p:cNvPr>
          <p:cNvPicPr>
            <a:picLocks noChangeAspect="1"/>
          </p:cNvPicPr>
          <p:nvPr/>
        </p:nvPicPr>
        <p:blipFill>
          <a:blip r:embed="rId5"/>
          <a:stretch>
            <a:fillRect/>
          </a:stretch>
        </p:blipFill>
        <p:spPr>
          <a:xfrm>
            <a:off x="3258203" y="4734291"/>
            <a:ext cx="2015925" cy="1697621"/>
          </a:xfrm>
          <a:prstGeom prst="rect">
            <a:avLst/>
          </a:prstGeom>
          <a:ln w="19050">
            <a:solidFill>
              <a:srgbClr val="C00000"/>
            </a:solidFill>
            <a:prstDash val="dash"/>
          </a:ln>
        </p:spPr>
      </p:pic>
      <p:sp>
        <p:nvSpPr>
          <p:cNvPr id="19" name="文本框 18">
            <a:extLst>
              <a:ext uri="{FF2B5EF4-FFF2-40B4-BE49-F238E27FC236}">
                <a16:creationId xmlns:a16="http://schemas.microsoft.com/office/drawing/2014/main" id="{9E0814F9-307F-0D4F-884A-399319877E4E}"/>
              </a:ext>
            </a:extLst>
          </p:cNvPr>
          <p:cNvSpPr txBox="1"/>
          <p:nvPr/>
        </p:nvSpPr>
        <p:spPr>
          <a:xfrm>
            <a:off x="5728348" y="4988526"/>
            <a:ext cx="4942702" cy="1077218"/>
          </a:xfrm>
          <a:prstGeom prst="rect">
            <a:avLst/>
          </a:prstGeom>
          <a:noFill/>
        </p:spPr>
        <p:txBody>
          <a:bodyPr wrap="square" rtlCol="0">
            <a:spAutoFit/>
          </a:bodyPr>
          <a:lstStyle/>
          <a:p>
            <a:r>
              <a:rPr kumimoji="1" lang="zh-CN" altLang="en-US"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画出</a:t>
            </a:r>
            <a:r>
              <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运动轨迹</a:t>
            </a:r>
            <a:r>
              <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每个重点状态的受力情况</a:t>
            </a:r>
            <a:r>
              <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endParaRPr kumimoji="1" lang="en-US" altLang="zh-CN"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en-US" altLang="zh-CN"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e.g.2023</a:t>
            </a:r>
            <a:r>
              <a:rPr kumimoji="1" lang="zh-CN" altLang="en-US"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年全国甲卷 </a:t>
            </a:r>
            <a:r>
              <a:rPr kumimoji="1" lang="en-US" altLang="zh-CN"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 </a:t>
            </a:r>
            <a:r>
              <a:rPr kumimoji="1" lang="en-US" altLang="zh-CN"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7.</a:t>
            </a:r>
            <a:r>
              <a:rPr kumimoji="1" lang="zh-CN" altLang="en-US"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选择</a:t>
            </a:r>
            <a:endParaRPr kumimoji="1" lang="en-US" altLang="zh-CN" sz="16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600" b="1"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*为什么要画出轨迹？</a:t>
            </a:r>
            <a:endParaRPr kumimoji="1" lang="en-US" altLang="zh-CN" sz="1600" b="1"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600" b="1"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思路清晰</a:t>
            </a:r>
            <a:r>
              <a:rPr kumimoji="1" lang="en-US" altLang="zh-CN" sz="1600" b="1"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b="1"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可视化</a:t>
            </a:r>
            <a:endParaRPr kumimoji="1" lang="zh-CN" altLang="en-US" sz="16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1674829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863725" y="1590675"/>
            <a:ext cx="8239125" cy="3416320"/>
          </a:xfrm>
          <a:prstGeom prst="rect">
            <a:avLst/>
          </a:prstGeom>
          <a:noFill/>
          <a:ln>
            <a:noFill/>
          </a:ln>
        </p:spPr>
        <p:txBody>
          <a:bodyPr wrap="square" rtlCol="0" anchor="t">
            <a:spAutoFit/>
          </a:bodyPr>
          <a:lstStyle/>
          <a:p>
            <a:pPr algn="ctr"/>
            <a:r>
              <a:rPr lang="en-US" altLang="zh-CN" sz="7200" b="1" dirty="0">
                <a:solidFill>
                  <a:srgbClr val="7030A0"/>
                </a:solidFill>
                <a:effectLst>
                  <a:reflection blurRad="6350" stA="53000" endA="300" endPos="35500" dir="5400000" sy="-90000" algn="bl" rotWithShape="0"/>
                </a:effectLst>
              </a:rPr>
              <a:t>Chapter-4</a:t>
            </a:r>
          </a:p>
          <a:p>
            <a:pPr algn="ctr"/>
            <a:r>
              <a:rPr lang="en-US" altLang="zh-CN" sz="7200" b="1" dirty="0">
                <a:solidFill>
                  <a:srgbClr val="7030A0"/>
                </a:solidFill>
                <a:effectLst>
                  <a:reflection blurRad="6350" stA="53000" endA="300" endPos="35500" dir="5400000" sy="-90000" algn="bl" rotWithShape="0"/>
                </a:effectLst>
              </a:rPr>
              <a:t> </a:t>
            </a:r>
          </a:p>
          <a:p>
            <a:pPr algn="ctr"/>
            <a:r>
              <a:rPr lang="zh-CN" altLang="en-US" sz="7200" b="1" dirty="0">
                <a:solidFill>
                  <a:srgbClr val="7030A0"/>
                </a:solidFill>
                <a:effectLst>
                  <a:reflection blurRad="6350" stA="53000" endA="300" endPos="35500" dir="5400000" sy="-90000" algn="bl" rotWithShape="0"/>
                </a:effectLst>
              </a:rPr>
              <a:t>题型分布</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20AA3AF4-0FB6-CC44-BC81-7C2324E34F6B}"/>
              </a:ext>
            </a:extLst>
          </p:cNvPr>
          <p:cNvSpPr/>
          <p:nvPr/>
        </p:nvSpPr>
        <p:spPr>
          <a:xfrm>
            <a:off x="473535" y="1444665"/>
            <a:ext cx="11004232" cy="5212992"/>
          </a:xfrm>
          <a:prstGeom prst="rect">
            <a:avLst/>
          </a:prstGeom>
          <a:solidFill>
            <a:srgbClr val="E8F0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文本框 2">
            <a:extLst>
              <a:ext uri="{FF2B5EF4-FFF2-40B4-BE49-F238E27FC236}">
                <a16:creationId xmlns:a16="http://schemas.microsoft.com/office/drawing/2014/main" id="{0E5813FD-F670-0541-A189-8575FD6E6004}"/>
              </a:ext>
            </a:extLst>
          </p:cNvPr>
          <p:cNvSpPr txBox="1"/>
          <p:nvPr/>
        </p:nvSpPr>
        <p:spPr>
          <a:xfrm>
            <a:off x="473535" y="355774"/>
            <a:ext cx="4942702" cy="338554"/>
          </a:xfrm>
          <a:prstGeom prst="rect">
            <a:avLst/>
          </a:prstGeom>
          <a:noFill/>
        </p:spPr>
        <p:txBody>
          <a:bodyPr wrap="square" rtlCol="0">
            <a:spAutoFit/>
          </a:bodyPr>
          <a:lstStyle/>
          <a:p>
            <a:r>
              <a:rPr kumimoji="1" lang="zh-CN" altLang="en-US"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题型拆分：</a:t>
            </a:r>
          </a:p>
        </p:txBody>
      </p:sp>
      <p:sp>
        <p:nvSpPr>
          <p:cNvPr id="4" name="文本框 3">
            <a:extLst>
              <a:ext uri="{FF2B5EF4-FFF2-40B4-BE49-F238E27FC236}">
                <a16:creationId xmlns:a16="http://schemas.microsoft.com/office/drawing/2014/main" id="{3F1FD399-1222-574D-A538-12F5D4CA656F}"/>
              </a:ext>
            </a:extLst>
          </p:cNvPr>
          <p:cNvSpPr txBox="1"/>
          <p:nvPr/>
        </p:nvSpPr>
        <p:spPr>
          <a:xfrm>
            <a:off x="342860" y="634087"/>
            <a:ext cx="9354349" cy="364972"/>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kumimoji="1" lang="zh-CN" altLang="en-US" sz="1400" dirty="0">
                <a:solidFill>
                  <a:schemeClr val="tx1">
                    <a:lumMod val="50000"/>
                    <a:lumOff val="50000"/>
                  </a:schemeClr>
                </a:solidFill>
                <a:highlight>
                  <a:srgbClr val="FFFF00"/>
                </a:highlight>
                <a:latin typeface="KaiTi" panose="02010609060101010101" pitchFamily="49" charset="-122"/>
                <a:ea typeface="KaiTi" panose="02010609060101010101" pitchFamily="49" charset="-122"/>
              </a:rPr>
              <a:t>中考物理题型分布</a:t>
            </a:r>
            <a:r>
              <a:rPr kumimoji="1" lang="en-US" altLang="zh-CN" sz="1400" dirty="0">
                <a:solidFill>
                  <a:schemeClr val="tx1">
                    <a:lumMod val="50000"/>
                    <a:lumOff val="50000"/>
                  </a:schemeClr>
                </a:solidFill>
                <a:highlight>
                  <a:srgbClr val="FFFF00"/>
                </a:highlight>
                <a:latin typeface="KaiTi" panose="02010609060101010101" pitchFamily="49" charset="-122"/>
                <a:ea typeface="KaiTi" panose="02010609060101010101" pitchFamily="49" charset="-122"/>
              </a:rPr>
              <a:t>/</a:t>
            </a:r>
            <a:r>
              <a:rPr kumimoji="1" lang="zh-CN" altLang="en-US" sz="1400" dirty="0">
                <a:solidFill>
                  <a:schemeClr val="tx1">
                    <a:lumMod val="50000"/>
                    <a:lumOff val="50000"/>
                  </a:schemeClr>
                </a:solidFill>
                <a:highlight>
                  <a:srgbClr val="FFFF00"/>
                </a:highlight>
                <a:latin typeface="KaiTi" panose="02010609060101010101" pitchFamily="49" charset="-122"/>
                <a:ea typeface="KaiTi" panose="02010609060101010101" pitchFamily="49" charset="-122"/>
              </a:rPr>
              <a:t>高考物理题型分布</a:t>
            </a:r>
            <a:endParaRPr kumimoji="1" lang="en-US" altLang="zh-CN" sz="1400" dirty="0">
              <a:solidFill>
                <a:schemeClr val="tx1">
                  <a:lumMod val="50000"/>
                  <a:lumOff val="50000"/>
                </a:schemeClr>
              </a:solidFill>
              <a:highlight>
                <a:srgbClr val="FFFF00"/>
              </a:highlight>
              <a:latin typeface="KaiTi" panose="02010609060101010101" pitchFamily="49" charset="-122"/>
              <a:ea typeface="KaiTi" panose="02010609060101010101" pitchFamily="49" charset="-122"/>
            </a:endParaRPr>
          </a:p>
        </p:txBody>
      </p:sp>
      <p:sp>
        <p:nvSpPr>
          <p:cNvPr id="6" name="文本框 5">
            <a:extLst>
              <a:ext uri="{FF2B5EF4-FFF2-40B4-BE49-F238E27FC236}">
                <a16:creationId xmlns:a16="http://schemas.microsoft.com/office/drawing/2014/main" id="{E7A5BADC-33FC-E246-9FEE-FC425A5D8254}"/>
              </a:ext>
            </a:extLst>
          </p:cNvPr>
          <p:cNvSpPr txBox="1"/>
          <p:nvPr/>
        </p:nvSpPr>
        <p:spPr>
          <a:xfrm>
            <a:off x="473535" y="943330"/>
            <a:ext cx="9354349" cy="376834"/>
          </a:xfrm>
          <a:prstGeom prst="rect">
            <a:avLst/>
          </a:prstGeom>
          <a:noFill/>
        </p:spPr>
        <p:txBody>
          <a:bodyPr wrap="square" rtlCol="0">
            <a:spAutoFit/>
          </a:bodyPr>
          <a:lstStyle/>
          <a:p>
            <a:pPr>
              <a:lnSpc>
                <a:spcPct val="150000"/>
              </a:lnSpc>
            </a:pPr>
            <a:r>
              <a:rPr kumimoji="1" lang="zh-CN" altLang="en-US" sz="1400" dirty="0">
                <a:solidFill>
                  <a:srgbClr val="A41AD4"/>
                </a:solidFill>
                <a:latin typeface="Times New Roman" panose="02020603050405020304" pitchFamily="18" charset="0"/>
                <a:ea typeface="KaiTi" panose="02010609060101010101" pitchFamily="49" charset="-122"/>
                <a:cs typeface="Times New Roman" panose="02020603050405020304" pitchFamily="18" charset="0"/>
              </a:rPr>
              <a:t>中考物理（以四川成都为例）</a:t>
            </a:r>
            <a:r>
              <a:rPr kumimoji="1" lang="en-US" altLang="zh-CN" sz="1400" dirty="0">
                <a:solidFill>
                  <a:srgbClr val="A41AD4"/>
                </a:solidFill>
                <a:latin typeface="Times New Roman" panose="02020603050405020304" pitchFamily="18" charset="0"/>
                <a:ea typeface="KaiTi" panose="02010609060101010101" pitchFamily="49" charset="-122"/>
                <a:cs typeface="Times New Roman" panose="02020603050405020304" pitchFamily="18" charset="0"/>
              </a:rPr>
              <a:t>:</a:t>
            </a:r>
          </a:p>
        </p:txBody>
      </p:sp>
      <p:sp>
        <p:nvSpPr>
          <p:cNvPr id="8" name="文本框 7">
            <a:extLst>
              <a:ext uri="{FF2B5EF4-FFF2-40B4-BE49-F238E27FC236}">
                <a16:creationId xmlns:a16="http://schemas.microsoft.com/office/drawing/2014/main" id="{54C44233-82F4-CE4A-8CCA-D646FFF28422}"/>
              </a:ext>
            </a:extLst>
          </p:cNvPr>
          <p:cNvSpPr txBox="1"/>
          <p:nvPr/>
        </p:nvSpPr>
        <p:spPr>
          <a:xfrm>
            <a:off x="952507" y="1416955"/>
            <a:ext cx="9354349" cy="130567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卷</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sym typeface="Wingdings" pitchFamily="2" charset="2"/>
              </a:rPr>
              <a:t>（</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sym typeface="Wingdings" pitchFamily="2" charset="2"/>
              </a:rPr>
              <a:t>85</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sym typeface="Wingdings" pitchFamily="2" charset="2"/>
              </a:rPr>
              <a:t>分）</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单选（</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13=26</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填空（</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14=28</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endPar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9" name="文本框 8">
            <a:extLst>
              <a:ext uri="{FF2B5EF4-FFF2-40B4-BE49-F238E27FC236}">
                <a16:creationId xmlns:a16="http://schemas.microsoft.com/office/drawing/2014/main" id="{E8FEC2B9-1CD0-9442-8204-4225AF92BF4A}"/>
              </a:ext>
            </a:extLst>
          </p:cNvPr>
          <p:cNvSpPr txBox="1"/>
          <p:nvPr/>
        </p:nvSpPr>
        <p:spPr>
          <a:xfrm>
            <a:off x="952507" y="2673322"/>
            <a:ext cx="9354349" cy="102310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作图与计算（</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作图</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计算</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=17</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实验（</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=14</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10" name="文本框 9">
            <a:extLst>
              <a:ext uri="{FF2B5EF4-FFF2-40B4-BE49-F238E27FC236}">
                <a16:creationId xmlns:a16="http://schemas.microsoft.com/office/drawing/2014/main" id="{05A5FF36-7DEE-564D-A769-4C8C32AD7436}"/>
              </a:ext>
            </a:extLst>
          </p:cNvPr>
          <p:cNvSpPr txBox="1"/>
          <p:nvPr/>
        </p:nvSpPr>
        <p:spPr>
          <a:xfrm>
            <a:off x="952507" y="3827475"/>
            <a:ext cx="9354349" cy="121334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B</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卷（</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20</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多选（</a:t>
            </a:r>
            <a:r>
              <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a:t>
            </a: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5=10</a:t>
            </a: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综合（</a:t>
            </a:r>
            <a:r>
              <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a:t>
            </a: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=10</a:t>
            </a: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endPar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11" name="文本框 10">
            <a:extLst>
              <a:ext uri="{FF2B5EF4-FFF2-40B4-BE49-F238E27FC236}">
                <a16:creationId xmlns:a16="http://schemas.microsoft.com/office/drawing/2014/main" id="{F46B5722-2F93-B44C-AE67-32E9B04802D0}"/>
              </a:ext>
            </a:extLst>
          </p:cNvPr>
          <p:cNvSpPr txBox="1"/>
          <p:nvPr/>
        </p:nvSpPr>
        <p:spPr>
          <a:xfrm>
            <a:off x="952507" y="5290535"/>
            <a:ext cx="9354349" cy="93634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实验（</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15</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endPar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折算后（</a:t>
            </a:r>
            <a:r>
              <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a:t>
            </a: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卷笔试）</a:t>
            </a:r>
            <a:r>
              <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50%+</a:t>
            </a: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B</a:t>
            </a: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卷）</a:t>
            </a:r>
            <a:r>
              <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20=70</a:t>
            </a: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分满分</a:t>
            </a:r>
            <a:endPar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cxnSp>
        <p:nvCxnSpPr>
          <p:cNvPr id="12" name="直线连接符 11">
            <a:extLst>
              <a:ext uri="{FF2B5EF4-FFF2-40B4-BE49-F238E27FC236}">
                <a16:creationId xmlns:a16="http://schemas.microsoft.com/office/drawing/2014/main" id="{732A8165-633C-BD42-AEA6-88E0AD10AAF7}"/>
              </a:ext>
            </a:extLst>
          </p:cNvPr>
          <p:cNvCxnSpPr>
            <a:cxnSpLocks/>
          </p:cNvCxnSpPr>
          <p:nvPr/>
        </p:nvCxnSpPr>
        <p:spPr>
          <a:xfrm>
            <a:off x="952507" y="2384674"/>
            <a:ext cx="10232564"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2E412AFC-C287-FF4A-B7B0-65E3F25EF90B}"/>
              </a:ext>
            </a:extLst>
          </p:cNvPr>
          <p:cNvCxnSpPr>
            <a:cxnSpLocks/>
          </p:cNvCxnSpPr>
          <p:nvPr/>
        </p:nvCxnSpPr>
        <p:spPr>
          <a:xfrm>
            <a:off x="952507" y="3614006"/>
            <a:ext cx="10232564"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线连接符 13">
            <a:extLst>
              <a:ext uri="{FF2B5EF4-FFF2-40B4-BE49-F238E27FC236}">
                <a16:creationId xmlns:a16="http://schemas.microsoft.com/office/drawing/2014/main" id="{CBD698BA-A12F-7A4F-8185-AD228F11FD73}"/>
              </a:ext>
            </a:extLst>
          </p:cNvPr>
          <p:cNvCxnSpPr>
            <a:cxnSpLocks/>
          </p:cNvCxnSpPr>
          <p:nvPr/>
        </p:nvCxnSpPr>
        <p:spPr>
          <a:xfrm>
            <a:off x="979718" y="5133395"/>
            <a:ext cx="10232564"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5" name="图片 4">
            <a:extLst>
              <a:ext uri="{FF2B5EF4-FFF2-40B4-BE49-F238E27FC236}">
                <a16:creationId xmlns:a16="http://schemas.microsoft.com/office/drawing/2014/main" id="{8BE05C8D-A0BF-DD47-BF78-4D7FB5BC9A3B}"/>
              </a:ext>
            </a:extLst>
          </p:cNvPr>
          <p:cNvPicPr>
            <a:picLocks noChangeAspect="1"/>
          </p:cNvPicPr>
          <p:nvPr/>
        </p:nvPicPr>
        <p:blipFill>
          <a:blip r:embed="rId2"/>
          <a:stretch>
            <a:fillRect/>
          </a:stretch>
        </p:blipFill>
        <p:spPr>
          <a:xfrm>
            <a:off x="4782508" y="1992735"/>
            <a:ext cx="6535305" cy="4116851"/>
          </a:xfrm>
          <a:prstGeom prst="rect">
            <a:avLst/>
          </a:prstGeom>
          <a:ln>
            <a:solidFill>
              <a:srgbClr val="C00000"/>
            </a:solidFill>
          </a:ln>
        </p:spPr>
      </p:pic>
    </p:spTree>
    <p:extLst>
      <p:ext uri="{BB962C8B-B14F-4D97-AF65-F5344CB8AC3E}">
        <p14:creationId xmlns:p14="http://schemas.microsoft.com/office/powerpoint/2010/main" val="35678000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20AA3AF4-0FB6-CC44-BC81-7C2324E34F6B}"/>
              </a:ext>
            </a:extLst>
          </p:cNvPr>
          <p:cNvSpPr/>
          <p:nvPr/>
        </p:nvSpPr>
        <p:spPr>
          <a:xfrm>
            <a:off x="473535" y="1444665"/>
            <a:ext cx="11004232" cy="5212992"/>
          </a:xfrm>
          <a:prstGeom prst="rect">
            <a:avLst/>
          </a:prstGeom>
          <a:solidFill>
            <a:srgbClr val="E8F0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文本框 2">
            <a:extLst>
              <a:ext uri="{FF2B5EF4-FFF2-40B4-BE49-F238E27FC236}">
                <a16:creationId xmlns:a16="http://schemas.microsoft.com/office/drawing/2014/main" id="{0E5813FD-F670-0541-A189-8575FD6E6004}"/>
              </a:ext>
            </a:extLst>
          </p:cNvPr>
          <p:cNvSpPr txBox="1"/>
          <p:nvPr/>
        </p:nvSpPr>
        <p:spPr>
          <a:xfrm>
            <a:off x="473535" y="355774"/>
            <a:ext cx="4942702" cy="338554"/>
          </a:xfrm>
          <a:prstGeom prst="rect">
            <a:avLst/>
          </a:prstGeom>
          <a:noFill/>
        </p:spPr>
        <p:txBody>
          <a:bodyPr wrap="square" rtlCol="0">
            <a:spAutoFit/>
          </a:bodyPr>
          <a:lstStyle/>
          <a:p>
            <a:r>
              <a:rPr kumimoji="1" lang="zh-CN" altLang="en-US"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题型拆分：</a:t>
            </a:r>
          </a:p>
        </p:txBody>
      </p:sp>
      <p:sp>
        <p:nvSpPr>
          <p:cNvPr id="4" name="文本框 3">
            <a:extLst>
              <a:ext uri="{FF2B5EF4-FFF2-40B4-BE49-F238E27FC236}">
                <a16:creationId xmlns:a16="http://schemas.microsoft.com/office/drawing/2014/main" id="{3F1FD399-1222-574D-A538-12F5D4CA656F}"/>
              </a:ext>
            </a:extLst>
          </p:cNvPr>
          <p:cNvSpPr txBox="1"/>
          <p:nvPr/>
        </p:nvSpPr>
        <p:spPr>
          <a:xfrm>
            <a:off x="342860" y="634087"/>
            <a:ext cx="9354349" cy="364972"/>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kumimoji="1" lang="zh-CN" altLang="en-US" sz="1400" dirty="0">
                <a:solidFill>
                  <a:schemeClr val="tx1">
                    <a:lumMod val="50000"/>
                    <a:lumOff val="50000"/>
                  </a:schemeClr>
                </a:solidFill>
                <a:highlight>
                  <a:srgbClr val="FFFF00"/>
                </a:highlight>
                <a:latin typeface="KaiTi" panose="02010609060101010101" pitchFamily="49" charset="-122"/>
                <a:ea typeface="KaiTi" panose="02010609060101010101" pitchFamily="49" charset="-122"/>
              </a:rPr>
              <a:t>中考物理题型分布</a:t>
            </a:r>
            <a:r>
              <a:rPr kumimoji="1" lang="en-US" altLang="zh-CN" sz="1400" dirty="0">
                <a:solidFill>
                  <a:schemeClr val="tx1">
                    <a:lumMod val="50000"/>
                    <a:lumOff val="50000"/>
                  </a:schemeClr>
                </a:solidFill>
                <a:highlight>
                  <a:srgbClr val="FFFF00"/>
                </a:highlight>
                <a:latin typeface="KaiTi" panose="02010609060101010101" pitchFamily="49" charset="-122"/>
                <a:ea typeface="KaiTi" panose="02010609060101010101" pitchFamily="49" charset="-122"/>
              </a:rPr>
              <a:t>/</a:t>
            </a:r>
            <a:r>
              <a:rPr kumimoji="1" lang="zh-CN" altLang="en-US" sz="1400" dirty="0">
                <a:solidFill>
                  <a:schemeClr val="tx1">
                    <a:lumMod val="50000"/>
                    <a:lumOff val="50000"/>
                  </a:schemeClr>
                </a:solidFill>
                <a:highlight>
                  <a:srgbClr val="FFFF00"/>
                </a:highlight>
                <a:latin typeface="KaiTi" panose="02010609060101010101" pitchFamily="49" charset="-122"/>
                <a:ea typeface="KaiTi" panose="02010609060101010101" pitchFamily="49" charset="-122"/>
              </a:rPr>
              <a:t>高考物理题型分布</a:t>
            </a:r>
            <a:endParaRPr kumimoji="1" lang="en-US" altLang="zh-CN" sz="1400" dirty="0">
              <a:solidFill>
                <a:schemeClr val="tx1">
                  <a:lumMod val="50000"/>
                  <a:lumOff val="50000"/>
                </a:schemeClr>
              </a:solidFill>
              <a:highlight>
                <a:srgbClr val="FFFF00"/>
              </a:highlight>
              <a:latin typeface="KaiTi" panose="02010609060101010101" pitchFamily="49" charset="-122"/>
              <a:ea typeface="KaiTi" panose="02010609060101010101" pitchFamily="49" charset="-122"/>
            </a:endParaRPr>
          </a:p>
        </p:txBody>
      </p:sp>
      <p:sp>
        <p:nvSpPr>
          <p:cNvPr id="6" name="文本框 5">
            <a:extLst>
              <a:ext uri="{FF2B5EF4-FFF2-40B4-BE49-F238E27FC236}">
                <a16:creationId xmlns:a16="http://schemas.microsoft.com/office/drawing/2014/main" id="{E7A5BADC-33FC-E246-9FEE-FC425A5D8254}"/>
              </a:ext>
            </a:extLst>
          </p:cNvPr>
          <p:cNvSpPr txBox="1"/>
          <p:nvPr/>
        </p:nvSpPr>
        <p:spPr>
          <a:xfrm>
            <a:off x="473535" y="943330"/>
            <a:ext cx="9354349" cy="376834"/>
          </a:xfrm>
          <a:prstGeom prst="rect">
            <a:avLst/>
          </a:prstGeom>
          <a:noFill/>
        </p:spPr>
        <p:txBody>
          <a:bodyPr wrap="square" rtlCol="0">
            <a:spAutoFit/>
          </a:bodyPr>
          <a:lstStyle/>
          <a:p>
            <a:pPr>
              <a:lnSpc>
                <a:spcPct val="150000"/>
              </a:lnSpc>
            </a:pPr>
            <a:r>
              <a:rPr kumimoji="1" lang="zh-CN" altLang="en-US" sz="1400" dirty="0">
                <a:solidFill>
                  <a:srgbClr val="A41AD4"/>
                </a:solidFill>
                <a:latin typeface="Times New Roman" panose="02020603050405020304" pitchFamily="18" charset="0"/>
                <a:ea typeface="KaiTi" panose="02010609060101010101" pitchFamily="49" charset="-122"/>
                <a:cs typeface="Times New Roman" panose="02020603050405020304" pitchFamily="18" charset="0"/>
              </a:rPr>
              <a:t>中考物理（以四川成都为例）</a:t>
            </a:r>
            <a:r>
              <a:rPr kumimoji="1" lang="en-US" altLang="zh-CN" sz="1400" dirty="0">
                <a:solidFill>
                  <a:srgbClr val="A41AD4"/>
                </a:solidFill>
                <a:latin typeface="Times New Roman" panose="02020603050405020304" pitchFamily="18" charset="0"/>
                <a:ea typeface="KaiTi" panose="02010609060101010101" pitchFamily="49" charset="-122"/>
                <a:cs typeface="Times New Roman" panose="02020603050405020304" pitchFamily="18" charset="0"/>
              </a:rPr>
              <a:t>:</a:t>
            </a:r>
          </a:p>
        </p:txBody>
      </p:sp>
      <p:sp>
        <p:nvSpPr>
          <p:cNvPr id="8" name="文本框 7">
            <a:extLst>
              <a:ext uri="{FF2B5EF4-FFF2-40B4-BE49-F238E27FC236}">
                <a16:creationId xmlns:a16="http://schemas.microsoft.com/office/drawing/2014/main" id="{54C44233-82F4-CE4A-8CCA-D646FFF28422}"/>
              </a:ext>
            </a:extLst>
          </p:cNvPr>
          <p:cNvSpPr txBox="1"/>
          <p:nvPr/>
        </p:nvSpPr>
        <p:spPr>
          <a:xfrm>
            <a:off x="952507" y="1416955"/>
            <a:ext cx="5202033" cy="130567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卷</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sym typeface="Wingdings" pitchFamily="2" charset="2"/>
              </a:rPr>
              <a:t>（</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sym typeface="Wingdings" pitchFamily="2" charset="2"/>
              </a:rPr>
              <a:t>85</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sym typeface="Wingdings" pitchFamily="2" charset="2"/>
              </a:rPr>
              <a:t>分）</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单选（</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13=26</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填空（</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14=28</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endPar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9" name="文本框 8">
            <a:extLst>
              <a:ext uri="{FF2B5EF4-FFF2-40B4-BE49-F238E27FC236}">
                <a16:creationId xmlns:a16="http://schemas.microsoft.com/office/drawing/2014/main" id="{E8FEC2B9-1CD0-9442-8204-4225AF92BF4A}"/>
              </a:ext>
            </a:extLst>
          </p:cNvPr>
          <p:cNvSpPr txBox="1"/>
          <p:nvPr/>
        </p:nvSpPr>
        <p:spPr>
          <a:xfrm>
            <a:off x="952507" y="2434735"/>
            <a:ext cx="9354349" cy="134626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实验（</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=14</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作图与计算（</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作图</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计算</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=17</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10" name="文本框 9">
            <a:extLst>
              <a:ext uri="{FF2B5EF4-FFF2-40B4-BE49-F238E27FC236}">
                <a16:creationId xmlns:a16="http://schemas.microsoft.com/office/drawing/2014/main" id="{05A5FF36-7DEE-564D-A769-4C8C32AD7436}"/>
              </a:ext>
            </a:extLst>
          </p:cNvPr>
          <p:cNvSpPr txBox="1"/>
          <p:nvPr/>
        </p:nvSpPr>
        <p:spPr>
          <a:xfrm>
            <a:off x="952507" y="3827475"/>
            <a:ext cx="9354349" cy="121334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B</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卷（</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20</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多选（</a:t>
            </a:r>
            <a:r>
              <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a:t>
            </a: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5=10</a:t>
            </a: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综合（</a:t>
            </a:r>
            <a:r>
              <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a:t>
            </a: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=10</a:t>
            </a: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endPar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11" name="文本框 10">
            <a:extLst>
              <a:ext uri="{FF2B5EF4-FFF2-40B4-BE49-F238E27FC236}">
                <a16:creationId xmlns:a16="http://schemas.microsoft.com/office/drawing/2014/main" id="{F46B5722-2F93-B44C-AE67-32E9B04802D0}"/>
              </a:ext>
            </a:extLst>
          </p:cNvPr>
          <p:cNvSpPr txBox="1"/>
          <p:nvPr/>
        </p:nvSpPr>
        <p:spPr>
          <a:xfrm>
            <a:off x="952507" y="5290535"/>
            <a:ext cx="9354349" cy="93634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实验（</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15</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endPar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折算后（</a:t>
            </a:r>
            <a:r>
              <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a:t>
            </a: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卷笔试</a:t>
            </a:r>
            <a:r>
              <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实验）</a:t>
            </a:r>
            <a:r>
              <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50%+</a:t>
            </a: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B</a:t>
            </a: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卷）</a:t>
            </a:r>
            <a:r>
              <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20=70</a:t>
            </a: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分满分</a:t>
            </a:r>
            <a:endPar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cxnSp>
        <p:nvCxnSpPr>
          <p:cNvPr id="12" name="直线连接符 11">
            <a:extLst>
              <a:ext uri="{FF2B5EF4-FFF2-40B4-BE49-F238E27FC236}">
                <a16:creationId xmlns:a16="http://schemas.microsoft.com/office/drawing/2014/main" id="{732A8165-633C-BD42-AEA6-88E0AD10AAF7}"/>
              </a:ext>
            </a:extLst>
          </p:cNvPr>
          <p:cNvCxnSpPr>
            <a:cxnSpLocks/>
          </p:cNvCxnSpPr>
          <p:nvPr/>
        </p:nvCxnSpPr>
        <p:spPr>
          <a:xfrm>
            <a:off x="952507" y="2996464"/>
            <a:ext cx="10232564"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2E412AFC-C287-FF4A-B7B0-65E3F25EF90B}"/>
              </a:ext>
            </a:extLst>
          </p:cNvPr>
          <p:cNvCxnSpPr>
            <a:cxnSpLocks/>
          </p:cNvCxnSpPr>
          <p:nvPr/>
        </p:nvCxnSpPr>
        <p:spPr>
          <a:xfrm>
            <a:off x="952507" y="3614006"/>
            <a:ext cx="10232564"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线连接符 13">
            <a:extLst>
              <a:ext uri="{FF2B5EF4-FFF2-40B4-BE49-F238E27FC236}">
                <a16:creationId xmlns:a16="http://schemas.microsoft.com/office/drawing/2014/main" id="{CBD698BA-A12F-7A4F-8185-AD228F11FD73}"/>
              </a:ext>
            </a:extLst>
          </p:cNvPr>
          <p:cNvCxnSpPr>
            <a:cxnSpLocks/>
          </p:cNvCxnSpPr>
          <p:nvPr/>
        </p:nvCxnSpPr>
        <p:spPr>
          <a:xfrm>
            <a:off x="979718" y="5133395"/>
            <a:ext cx="10232564"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右大括号 1">
            <a:extLst>
              <a:ext uri="{FF2B5EF4-FFF2-40B4-BE49-F238E27FC236}">
                <a16:creationId xmlns:a16="http://schemas.microsoft.com/office/drawing/2014/main" id="{792A2423-804B-B945-A460-1E850D0241CA}"/>
              </a:ext>
            </a:extLst>
          </p:cNvPr>
          <p:cNvSpPr/>
          <p:nvPr/>
        </p:nvSpPr>
        <p:spPr>
          <a:xfrm>
            <a:off x="6733309" y="1801091"/>
            <a:ext cx="484909" cy="103846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15" name="文本框 14">
            <a:extLst>
              <a:ext uri="{FF2B5EF4-FFF2-40B4-BE49-F238E27FC236}">
                <a16:creationId xmlns:a16="http://schemas.microsoft.com/office/drawing/2014/main" id="{A9147E05-D446-1541-A85F-9F7348B8E2AA}"/>
              </a:ext>
            </a:extLst>
          </p:cNvPr>
          <p:cNvSpPr txBox="1"/>
          <p:nvPr/>
        </p:nvSpPr>
        <p:spPr>
          <a:xfrm>
            <a:off x="7325451" y="2078098"/>
            <a:ext cx="3914042" cy="374590"/>
          </a:xfrm>
          <a:prstGeom prst="rect">
            <a:avLst/>
          </a:prstGeom>
          <a:noFill/>
        </p:spPr>
        <p:txBody>
          <a:bodyPr wrap="square" rtlCol="0">
            <a:spAutoFit/>
          </a:bodyPr>
          <a:lstStyle/>
          <a:p>
            <a:pPr>
              <a:lnSpc>
                <a:spcPct val="150000"/>
              </a:lnSpc>
            </a:pP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基础概念</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计算（占（</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26+28+14</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/2=34</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2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16" name="右大括号 15">
            <a:extLst>
              <a:ext uri="{FF2B5EF4-FFF2-40B4-BE49-F238E27FC236}">
                <a16:creationId xmlns:a16="http://schemas.microsoft.com/office/drawing/2014/main" id="{D9EA4CC5-B0CE-AB48-8B75-A1BD265482D9}"/>
              </a:ext>
            </a:extLst>
          </p:cNvPr>
          <p:cNvSpPr/>
          <p:nvPr/>
        </p:nvSpPr>
        <p:spPr>
          <a:xfrm>
            <a:off x="6733309" y="3148511"/>
            <a:ext cx="484909" cy="1657258"/>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17" name="文本框 16">
            <a:extLst>
              <a:ext uri="{FF2B5EF4-FFF2-40B4-BE49-F238E27FC236}">
                <a16:creationId xmlns:a16="http://schemas.microsoft.com/office/drawing/2014/main" id="{A9BB2CB6-5A9E-D346-8CF4-87B3810529CE}"/>
              </a:ext>
            </a:extLst>
          </p:cNvPr>
          <p:cNvSpPr txBox="1"/>
          <p:nvPr/>
        </p:nvSpPr>
        <p:spPr>
          <a:xfrm>
            <a:off x="7325451" y="3752358"/>
            <a:ext cx="3859620" cy="374590"/>
          </a:xfrm>
          <a:prstGeom prst="rect">
            <a:avLst/>
          </a:prstGeom>
          <a:noFill/>
        </p:spPr>
        <p:txBody>
          <a:bodyPr wrap="square" rtlCol="0">
            <a:spAutoFit/>
          </a:bodyPr>
          <a:lstStyle/>
          <a:p>
            <a:pPr>
              <a:lnSpc>
                <a:spcPct val="150000"/>
              </a:lnSpc>
            </a:pP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题型熟悉</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计算（占（</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17/2</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+20=28.5</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2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18" name="文本框 17">
            <a:extLst>
              <a:ext uri="{FF2B5EF4-FFF2-40B4-BE49-F238E27FC236}">
                <a16:creationId xmlns:a16="http://schemas.microsoft.com/office/drawing/2014/main" id="{1EE7C5E6-E659-1942-B2CA-2E346ABEDC6E}"/>
              </a:ext>
            </a:extLst>
          </p:cNvPr>
          <p:cNvSpPr txBox="1"/>
          <p:nvPr/>
        </p:nvSpPr>
        <p:spPr>
          <a:xfrm>
            <a:off x="7384674" y="5289784"/>
            <a:ext cx="3017149" cy="1211485"/>
          </a:xfrm>
          <a:prstGeom prst="rect">
            <a:avLst/>
          </a:prstGeom>
          <a:solidFill>
            <a:schemeClr val="bg1"/>
          </a:solidFill>
          <a:ln>
            <a:solidFill>
              <a:srgbClr val="A41AD4"/>
            </a:solidFill>
          </a:ln>
        </p:spPr>
        <p:txBody>
          <a:bodyPr wrap="square" rtlCol="0">
            <a:spAutoFit/>
          </a:bodyPr>
          <a:lstStyle/>
          <a:p>
            <a:pPr>
              <a:lnSpc>
                <a:spcPct val="150000"/>
              </a:lnSpc>
            </a:pP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*核心！：</a:t>
            </a:r>
            <a:endPar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pPr marL="171450" indent="-171450">
              <a:lnSpc>
                <a:spcPct val="150000"/>
              </a:lnSpc>
              <a:buFont typeface="Wingdings" pitchFamily="2" charset="2"/>
              <a:buChar char="ü"/>
            </a:pPr>
            <a:r>
              <a:rPr kumimoji="1" lang="zh-CN" altLang="en-US" sz="12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对书上基础知识的理解（</a:t>
            </a:r>
            <a:r>
              <a:rPr kumimoji="1" lang="en-US" altLang="zh-CN" sz="12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48.5%</a:t>
            </a:r>
            <a:r>
              <a:rPr kumimoji="1" lang="zh-CN" altLang="en-US" sz="12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endParaRPr kumimoji="1" lang="en-US" altLang="zh-CN" sz="12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pPr marL="171450" indent="-171450">
              <a:lnSpc>
                <a:spcPct val="150000"/>
              </a:lnSpc>
              <a:buFont typeface="Wingdings" pitchFamily="2" charset="2"/>
              <a:buChar char="ü"/>
            </a:pPr>
            <a:r>
              <a:rPr kumimoji="1" lang="zh-CN" altLang="en-US" sz="12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熟悉计算分析题型（</a:t>
            </a:r>
            <a:r>
              <a:rPr kumimoji="1" lang="en-US" altLang="zh-CN" sz="12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40.7%</a:t>
            </a:r>
            <a:r>
              <a:rPr kumimoji="1" lang="zh-CN" altLang="en-US" sz="12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endParaRPr kumimoji="1" lang="en-US" altLang="zh-CN" sz="12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pPr marL="171450" indent="-171450">
              <a:lnSpc>
                <a:spcPct val="150000"/>
              </a:lnSpc>
              <a:buFont typeface="Wingdings" pitchFamily="2" charset="2"/>
              <a:buChar char="ü"/>
            </a:pPr>
            <a:r>
              <a:rPr kumimoji="1" lang="zh-CN" altLang="en-US" sz="12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计算能力（所有题目！）</a:t>
            </a:r>
            <a:endParaRPr kumimoji="1" lang="en-US" altLang="zh-CN" sz="12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4132163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20AA3AF4-0FB6-CC44-BC81-7C2324E34F6B}"/>
              </a:ext>
            </a:extLst>
          </p:cNvPr>
          <p:cNvSpPr/>
          <p:nvPr/>
        </p:nvSpPr>
        <p:spPr>
          <a:xfrm>
            <a:off x="473535" y="1444665"/>
            <a:ext cx="11004232" cy="5212992"/>
          </a:xfrm>
          <a:prstGeom prst="rect">
            <a:avLst/>
          </a:prstGeom>
          <a:solidFill>
            <a:srgbClr val="E8F0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文本框 2">
            <a:extLst>
              <a:ext uri="{FF2B5EF4-FFF2-40B4-BE49-F238E27FC236}">
                <a16:creationId xmlns:a16="http://schemas.microsoft.com/office/drawing/2014/main" id="{0E5813FD-F670-0541-A189-8575FD6E6004}"/>
              </a:ext>
            </a:extLst>
          </p:cNvPr>
          <p:cNvSpPr txBox="1"/>
          <p:nvPr/>
        </p:nvSpPr>
        <p:spPr>
          <a:xfrm>
            <a:off x="473535" y="355774"/>
            <a:ext cx="4942702" cy="338554"/>
          </a:xfrm>
          <a:prstGeom prst="rect">
            <a:avLst/>
          </a:prstGeom>
          <a:noFill/>
        </p:spPr>
        <p:txBody>
          <a:bodyPr wrap="square" rtlCol="0">
            <a:spAutoFit/>
          </a:bodyPr>
          <a:lstStyle/>
          <a:p>
            <a:r>
              <a:rPr kumimoji="1" lang="zh-CN" altLang="en-US"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题型拆分：</a:t>
            </a:r>
          </a:p>
        </p:txBody>
      </p:sp>
      <p:sp>
        <p:nvSpPr>
          <p:cNvPr id="4" name="文本框 3">
            <a:extLst>
              <a:ext uri="{FF2B5EF4-FFF2-40B4-BE49-F238E27FC236}">
                <a16:creationId xmlns:a16="http://schemas.microsoft.com/office/drawing/2014/main" id="{3F1FD399-1222-574D-A538-12F5D4CA656F}"/>
              </a:ext>
            </a:extLst>
          </p:cNvPr>
          <p:cNvSpPr txBox="1"/>
          <p:nvPr/>
        </p:nvSpPr>
        <p:spPr>
          <a:xfrm>
            <a:off x="342860" y="634087"/>
            <a:ext cx="9354349" cy="364972"/>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kumimoji="1" lang="zh-CN" altLang="en-US" sz="1400" dirty="0">
                <a:solidFill>
                  <a:schemeClr val="tx1">
                    <a:lumMod val="50000"/>
                    <a:lumOff val="50000"/>
                  </a:schemeClr>
                </a:solidFill>
                <a:highlight>
                  <a:srgbClr val="FFFF00"/>
                </a:highlight>
                <a:latin typeface="KaiTi" panose="02010609060101010101" pitchFamily="49" charset="-122"/>
                <a:ea typeface="KaiTi" panose="02010609060101010101" pitchFamily="49" charset="-122"/>
              </a:rPr>
              <a:t>中考物理题型分布</a:t>
            </a:r>
            <a:r>
              <a:rPr kumimoji="1" lang="en-US" altLang="zh-CN" sz="1400" dirty="0">
                <a:solidFill>
                  <a:schemeClr val="tx1">
                    <a:lumMod val="50000"/>
                    <a:lumOff val="50000"/>
                  </a:schemeClr>
                </a:solidFill>
                <a:highlight>
                  <a:srgbClr val="FFFF00"/>
                </a:highlight>
                <a:latin typeface="KaiTi" panose="02010609060101010101" pitchFamily="49" charset="-122"/>
                <a:ea typeface="KaiTi" panose="02010609060101010101" pitchFamily="49" charset="-122"/>
              </a:rPr>
              <a:t>/</a:t>
            </a:r>
            <a:r>
              <a:rPr kumimoji="1" lang="zh-CN" altLang="en-US" sz="1400" dirty="0">
                <a:solidFill>
                  <a:schemeClr val="tx1">
                    <a:lumMod val="50000"/>
                    <a:lumOff val="50000"/>
                  </a:schemeClr>
                </a:solidFill>
                <a:highlight>
                  <a:srgbClr val="FFFF00"/>
                </a:highlight>
                <a:latin typeface="KaiTi" panose="02010609060101010101" pitchFamily="49" charset="-122"/>
                <a:ea typeface="KaiTi" panose="02010609060101010101" pitchFamily="49" charset="-122"/>
              </a:rPr>
              <a:t>高考物理题型分布</a:t>
            </a:r>
            <a:endParaRPr kumimoji="1" lang="en-US" altLang="zh-CN" sz="1400" dirty="0">
              <a:solidFill>
                <a:schemeClr val="tx1">
                  <a:lumMod val="50000"/>
                  <a:lumOff val="50000"/>
                </a:schemeClr>
              </a:solidFill>
              <a:highlight>
                <a:srgbClr val="FFFF00"/>
              </a:highlight>
              <a:latin typeface="KaiTi" panose="02010609060101010101" pitchFamily="49" charset="-122"/>
              <a:ea typeface="KaiTi" panose="02010609060101010101" pitchFamily="49" charset="-122"/>
            </a:endParaRPr>
          </a:p>
        </p:txBody>
      </p:sp>
      <p:sp>
        <p:nvSpPr>
          <p:cNvPr id="6" name="文本框 5">
            <a:extLst>
              <a:ext uri="{FF2B5EF4-FFF2-40B4-BE49-F238E27FC236}">
                <a16:creationId xmlns:a16="http://schemas.microsoft.com/office/drawing/2014/main" id="{E7A5BADC-33FC-E246-9FEE-FC425A5D8254}"/>
              </a:ext>
            </a:extLst>
          </p:cNvPr>
          <p:cNvSpPr txBox="1"/>
          <p:nvPr/>
        </p:nvSpPr>
        <p:spPr>
          <a:xfrm>
            <a:off x="473535" y="943330"/>
            <a:ext cx="9354349" cy="376834"/>
          </a:xfrm>
          <a:prstGeom prst="rect">
            <a:avLst/>
          </a:prstGeom>
          <a:noFill/>
        </p:spPr>
        <p:txBody>
          <a:bodyPr wrap="square" rtlCol="0">
            <a:spAutoFit/>
          </a:bodyPr>
          <a:lstStyle/>
          <a:p>
            <a:pPr>
              <a:lnSpc>
                <a:spcPct val="150000"/>
              </a:lnSpc>
            </a:pPr>
            <a:r>
              <a:rPr kumimoji="1" lang="zh-CN" altLang="en-US" sz="1400" dirty="0">
                <a:solidFill>
                  <a:srgbClr val="A41AD4"/>
                </a:solidFill>
                <a:latin typeface="Times New Roman" panose="02020603050405020304" pitchFamily="18" charset="0"/>
                <a:ea typeface="KaiTi" panose="02010609060101010101" pitchFamily="49" charset="-122"/>
                <a:cs typeface="Times New Roman" panose="02020603050405020304" pitchFamily="18" charset="0"/>
              </a:rPr>
              <a:t>高考物理（以全国</a:t>
            </a:r>
            <a:r>
              <a:rPr kumimoji="1" lang="en-US" altLang="zh-CN" sz="1400" dirty="0">
                <a:solidFill>
                  <a:srgbClr val="A41AD4"/>
                </a:solidFill>
                <a:latin typeface="Times New Roman" panose="02020603050405020304" pitchFamily="18" charset="0"/>
                <a:ea typeface="KaiTi" panose="02010609060101010101" pitchFamily="49" charset="-122"/>
                <a:cs typeface="Times New Roman" panose="02020603050405020304" pitchFamily="18" charset="0"/>
              </a:rPr>
              <a:t>2024</a:t>
            </a:r>
            <a:r>
              <a:rPr kumimoji="1" lang="zh-CN" altLang="en-US" sz="1400" dirty="0">
                <a:solidFill>
                  <a:srgbClr val="A41AD4"/>
                </a:solidFill>
                <a:latin typeface="Times New Roman" panose="02020603050405020304" pitchFamily="18" charset="0"/>
                <a:ea typeface="KaiTi" panose="02010609060101010101" pitchFamily="49" charset="-122"/>
                <a:cs typeface="Times New Roman" panose="02020603050405020304" pitchFamily="18" charset="0"/>
              </a:rPr>
              <a:t>新课标卷为例）</a:t>
            </a:r>
            <a:r>
              <a:rPr kumimoji="1" lang="en-US" altLang="zh-CN" sz="1400" dirty="0">
                <a:solidFill>
                  <a:srgbClr val="A41AD4"/>
                </a:solidFill>
                <a:latin typeface="Times New Roman" panose="02020603050405020304" pitchFamily="18" charset="0"/>
                <a:ea typeface="KaiTi" panose="02010609060101010101" pitchFamily="49" charset="-122"/>
                <a:cs typeface="Times New Roman" panose="02020603050405020304" pitchFamily="18" charset="0"/>
              </a:rPr>
              <a:t>:</a:t>
            </a:r>
          </a:p>
        </p:txBody>
      </p:sp>
      <p:sp>
        <p:nvSpPr>
          <p:cNvPr id="8" name="文本框 7">
            <a:extLst>
              <a:ext uri="{FF2B5EF4-FFF2-40B4-BE49-F238E27FC236}">
                <a16:creationId xmlns:a16="http://schemas.microsoft.com/office/drawing/2014/main" id="{54C44233-82F4-CE4A-8CCA-D646FFF28422}"/>
              </a:ext>
            </a:extLst>
          </p:cNvPr>
          <p:cNvSpPr txBox="1"/>
          <p:nvPr/>
        </p:nvSpPr>
        <p:spPr>
          <a:xfrm>
            <a:off x="952507" y="1416955"/>
            <a:ext cx="9354349" cy="1305678"/>
          </a:xfrm>
          <a:prstGeom prst="rect">
            <a:avLst/>
          </a:prstGeom>
          <a:noFill/>
        </p:spPr>
        <p:txBody>
          <a:bodyPr wrap="square" rtlCol="0">
            <a:spAutoFit/>
          </a:bodyPr>
          <a:lstStyle/>
          <a:p>
            <a:pPr>
              <a:lnSpc>
                <a:spcPct val="150000"/>
              </a:lnSpc>
            </a:pP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选填</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sym typeface="Wingdings" pitchFamily="2" charset="2"/>
              </a:rPr>
              <a:t>（</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sym typeface="Wingdings" pitchFamily="2" charset="2"/>
              </a:rPr>
              <a:t>85</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sym typeface="Wingdings" pitchFamily="2" charset="2"/>
              </a:rPr>
              <a:t>分）</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选择（</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6</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8=48</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单选：基础概念</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计算（</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5</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=30</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分；题型</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计算（</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3</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=18</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endPar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9" name="文本框 8">
            <a:extLst>
              <a:ext uri="{FF2B5EF4-FFF2-40B4-BE49-F238E27FC236}">
                <a16:creationId xmlns:a16="http://schemas.microsoft.com/office/drawing/2014/main" id="{E8FEC2B9-1CD0-9442-8204-4225AF92BF4A}"/>
              </a:ext>
            </a:extLst>
          </p:cNvPr>
          <p:cNvSpPr txBox="1"/>
          <p:nvPr/>
        </p:nvSpPr>
        <p:spPr>
          <a:xfrm>
            <a:off x="952507" y="2526014"/>
            <a:ext cx="9354349" cy="1020921"/>
          </a:xfrm>
          <a:prstGeom prst="rect">
            <a:avLst/>
          </a:prstGeom>
          <a:noFill/>
        </p:spPr>
        <p:txBody>
          <a:bodyPr wrap="square" rtlCol="0">
            <a:spAutoFit/>
          </a:bodyPr>
          <a:lstStyle/>
          <a:p>
            <a:pPr>
              <a:lnSpc>
                <a:spcPct val="150000"/>
              </a:lnSpc>
            </a:pP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实验（</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15</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实验（</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6+9=15</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10" name="文本框 9">
            <a:extLst>
              <a:ext uri="{FF2B5EF4-FFF2-40B4-BE49-F238E27FC236}">
                <a16:creationId xmlns:a16="http://schemas.microsoft.com/office/drawing/2014/main" id="{05A5FF36-7DEE-564D-A769-4C8C32AD7436}"/>
              </a:ext>
            </a:extLst>
          </p:cNvPr>
          <p:cNvSpPr txBox="1"/>
          <p:nvPr/>
        </p:nvSpPr>
        <p:spPr>
          <a:xfrm>
            <a:off x="952507" y="3827475"/>
            <a:ext cx="9354349" cy="1490344"/>
          </a:xfrm>
          <a:prstGeom prst="rect">
            <a:avLst/>
          </a:prstGeom>
          <a:noFill/>
        </p:spPr>
        <p:txBody>
          <a:bodyPr wrap="square" rtlCol="0">
            <a:spAutoFit/>
          </a:bodyPr>
          <a:lstStyle/>
          <a:p>
            <a:pPr>
              <a:lnSpc>
                <a:spcPct val="150000"/>
              </a:lnSpc>
            </a:pP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计算大题（</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47</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大题（</a:t>
            </a:r>
            <a:r>
              <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12</a:t>
            </a: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选修部分（</a:t>
            </a:r>
            <a:r>
              <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15</a:t>
            </a: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计算压轴（</a:t>
            </a:r>
            <a:r>
              <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20</a:t>
            </a: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endPar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11" name="文本框 10">
            <a:extLst>
              <a:ext uri="{FF2B5EF4-FFF2-40B4-BE49-F238E27FC236}">
                <a16:creationId xmlns:a16="http://schemas.microsoft.com/office/drawing/2014/main" id="{F46B5722-2F93-B44C-AE67-32E9B04802D0}"/>
              </a:ext>
            </a:extLst>
          </p:cNvPr>
          <p:cNvSpPr txBox="1"/>
          <p:nvPr/>
        </p:nvSpPr>
        <p:spPr>
          <a:xfrm>
            <a:off x="952507" y="5290535"/>
            <a:ext cx="9354349" cy="613181"/>
          </a:xfrm>
          <a:prstGeom prst="rect">
            <a:avLst/>
          </a:prstGeom>
          <a:noFill/>
        </p:spPr>
        <p:txBody>
          <a:bodyPr wrap="square" rtlCol="0">
            <a:spAutoFit/>
          </a:bodyPr>
          <a:lstStyle/>
          <a:p>
            <a:pPr>
              <a:lnSpc>
                <a:spcPct val="150000"/>
              </a:lnSpc>
            </a:pP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总分</a:t>
            </a:r>
            <a:r>
              <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110</a:t>
            </a:r>
          </a:p>
          <a:p>
            <a:pPr>
              <a:lnSpc>
                <a:spcPct val="150000"/>
              </a:lnSpc>
            </a:pPr>
            <a:endPar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cxnSp>
        <p:nvCxnSpPr>
          <p:cNvPr id="13" name="直线连接符 12">
            <a:extLst>
              <a:ext uri="{FF2B5EF4-FFF2-40B4-BE49-F238E27FC236}">
                <a16:creationId xmlns:a16="http://schemas.microsoft.com/office/drawing/2014/main" id="{2E412AFC-C287-FF4A-B7B0-65E3F25EF90B}"/>
              </a:ext>
            </a:extLst>
          </p:cNvPr>
          <p:cNvCxnSpPr>
            <a:cxnSpLocks/>
          </p:cNvCxnSpPr>
          <p:nvPr/>
        </p:nvCxnSpPr>
        <p:spPr>
          <a:xfrm>
            <a:off x="952507" y="3614006"/>
            <a:ext cx="10232564"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线连接符 13">
            <a:extLst>
              <a:ext uri="{FF2B5EF4-FFF2-40B4-BE49-F238E27FC236}">
                <a16:creationId xmlns:a16="http://schemas.microsoft.com/office/drawing/2014/main" id="{CBD698BA-A12F-7A4F-8185-AD228F11FD73}"/>
              </a:ext>
            </a:extLst>
          </p:cNvPr>
          <p:cNvCxnSpPr>
            <a:cxnSpLocks/>
          </p:cNvCxnSpPr>
          <p:nvPr/>
        </p:nvCxnSpPr>
        <p:spPr>
          <a:xfrm>
            <a:off x="979718" y="5133395"/>
            <a:ext cx="10232564"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92E2AF84-01CC-2F46-95FA-E2F0F25BE755}"/>
              </a:ext>
            </a:extLst>
          </p:cNvPr>
          <p:cNvCxnSpPr>
            <a:cxnSpLocks/>
          </p:cNvCxnSpPr>
          <p:nvPr/>
        </p:nvCxnSpPr>
        <p:spPr>
          <a:xfrm>
            <a:off x="952507" y="6522974"/>
            <a:ext cx="10232564"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2" name="图片 1">
            <a:extLst>
              <a:ext uri="{FF2B5EF4-FFF2-40B4-BE49-F238E27FC236}">
                <a16:creationId xmlns:a16="http://schemas.microsoft.com/office/drawing/2014/main" id="{94AD2222-65EA-FB49-9414-489B212BB89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150709" y="2525319"/>
            <a:ext cx="5843627" cy="3784915"/>
          </a:xfrm>
          <a:prstGeom prst="rect">
            <a:avLst/>
          </a:prstGeom>
          <a:ln>
            <a:solidFill>
              <a:srgbClr val="C00000"/>
            </a:solidFill>
          </a:ln>
        </p:spPr>
      </p:pic>
      <p:cxnSp>
        <p:nvCxnSpPr>
          <p:cNvPr id="16" name="直线连接符 15">
            <a:extLst>
              <a:ext uri="{FF2B5EF4-FFF2-40B4-BE49-F238E27FC236}">
                <a16:creationId xmlns:a16="http://schemas.microsoft.com/office/drawing/2014/main" id="{D1726CC4-4E4F-5B40-A720-13BA790FBA08}"/>
              </a:ext>
            </a:extLst>
          </p:cNvPr>
          <p:cNvCxnSpPr>
            <a:cxnSpLocks/>
          </p:cNvCxnSpPr>
          <p:nvPr/>
        </p:nvCxnSpPr>
        <p:spPr>
          <a:xfrm>
            <a:off x="952507" y="2793013"/>
            <a:ext cx="10232564"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94619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20AA3AF4-0FB6-CC44-BC81-7C2324E34F6B}"/>
              </a:ext>
            </a:extLst>
          </p:cNvPr>
          <p:cNvSpPr/>
          <p:nvPr/>
        </p:nvSpPr>
        <p:spPr>
          <a:xfrm>
            <a:off x="473535" y="1444665"/>
            <a:ext cx="11004232" cy="5212992"/>
          </a:xfrm>
          <a:prstGeom prst="rect">
            <a:avLst/>
          </a:prstGeom>
          <a:solidFill>
            <a:srgbClr val="E8F0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文本框 2">
            <a:extLst>
              <a:ext uri="{FF2B5EF4-FFF2-40B4-BE49-F238E27FC236}">
                <a16:creationId xmlns:a16="http://schemas.microsoft.com/office/drawing/2014/main" id="{0E5813FD-F670-0541-A189-8575FD6E6004}"/>
              </a:ext>
            </a:extLst>
          </p:cNvPr>
          <p:cNvSpPr txBox="1"/>
          <p:nvPr/>
        </p:nvSpPr>
        <p:spPr>
          <a:xfrm>
            <a:off x="473535" y="355774"/>
            <a:ext cx="4942702" cy="338554"/>
          </a:xfrm>
          <a:prstGeom prst="rect">
            <a:avLst/>
          </a:prstGeom>
          <a:noFill/>
        </p:spPr>
        <p:txBody>
          <a:bodyPr wrap="square" rtlCol="0">
            <a:spAutoFit/>
          </a:bodyPr>
          <a:lstStyle/>
          <a:p>
            <a:r>
              <a:rPr kumimoji="1" lang="zh-CN" altLang="en-US"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题型拆分：</a:t>
            </a:r>
          </a:p>
        </p:txBody>
      </p:sp>
      <p:sp>
        <p:nvSpPr>
          <p:cNvPr id="4" name="文本框 3">
            <a:extLst>
              <a:ext uri="{FF2B5EF4-FFF2-40B4-BE49-F238E27FC236}">
                <a16:creationId xmlns:a16="http://schemas.microsoft.com/office/drawing/2014/main" id="{3F1FD399-1222-574D-A538-12F5D4CA656F}"/>
              </a:ext>
            </a:extLst>
          </p:cNvPr>
          <p:cNvSpPr txBox="1"/>
          <p:nvPr/>
        </p:nvSpPr>
        <p:spPr>
          <a:xfrm>
            <a:off x="342860" y="634087"/>
            <a:ext cx="9354349" cy="364972"/>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kumimoji="1" lang="zh-CN" altLang="en-US" sz="1400" dirty="0">
                <a:solidFill>
                  <a:schemeClr val="tx1">
                    <a:lumMod val="50000"/>
                    <a:lumOff val="50000"/>
                  </a:schemeClr>
                </a:solidFill>
                <a:highlight>
                  <a:srgbClr val="FFFF00"/>
                </a:highlight>
                <a:latin typeface="KaiTi" panose="02010609060101010101" pitchFamily="49" charset="-122"/>
                <a:ea typeface="KaiTi" panose="02010609060101010101" pitchFamily="49" charset="-122"/>
              </a:rPr>
              <a:t>中考物理题型分布</a:t>
            </a:r>
            <a:r>
              <a:rPr kumimoji="1" lang="en-US" altLang="zh-CN" sz="1400" dirty="0">
                <a:solidFill>
                  <a:schemeClr val="tx1">
                    <a:lumMod val="50000"/>
                    <a:lumOff val="50000"/>
                  </a:schemeClr>
                </a:solidFill>
                <a:highlight>
                  <a:srgbClr val="FFFF00"/>
                </a:highlight>
                <a:latin typeface="KaiTi" panose="02010609060101010101" pitchFamily="49" charset="-122"/>
                <a:ea typeface="KaiTi" panose="02010609060101010101" pitchFamily="49" charset="-122"/>
              </a:rPr>
              <a:t>/</a:t>
            </a:r>
            <a:r>
              <a:rPr kumimoji="1" lang="zh-CN" altLang="en-US" sz="1400" dirty="0">
                <a:solidFill>
                  <a:schemeClr val="tx1">
                    <a:lumMod val="50000"/>
                    <a:lumOff val="50000"/>
                  </a:schemeClr>
                </a:solidFill>
                <a:highlight>
                  <a:srgbClr val="FFFF00"/>
                </a:highlight>
                <a:latin typeface="KaiTi" panose="02010609060101010101" pitchFamily="49" charset="-122"/>
                <a:ea typeface="KaiTi" panose="02010609060101010101" pitchFamily="49" charset="-122"/>
              </a:rPr>
              <a:t>高考物理题型分布</a:t>
            </a:r>
            <a:endParaRPr kumimoji="1" lang="en-US" altLang="zh-CN" sz="1400" dirty="0">
              <a:solidFill>
                <a:schemeClr val="tx1">
                  <a:lumMod val="50000"/>
                  <a:lumOff val="50000"/>
                </a:schemeClr>
              </a:solidFill>
              <a:highlight>
                <a:srgbClr val="FFFF00"/>
              </a:highlight>
              <a:latin typeface="KaiTi" panose="02010609060101010101" pitchFamily="49" charset="-122"/>
              <a:ea typeface="KaiTi" panose="02010609060101010101" pitchFamily="49" charset="-122"/>
            </a:endParaRPr>
          </a:p>
        </p:txBody>
      </p:sp>
      <p:sp>
        <p:nvSpPr>
          <p:cNvPr id="6" name="文本框 5">
            <a:extLst>
              <a:ext uri="{FF2B5EF4-FFF2-40B4-BE49-F238E27FC236}">
                <a16:creationId xmlns:a16="http://schemas.microsoft.com/office/drawing/2014/main" id="{E7A5BADC-33FC-E246-9FEE-FC425A5D8254}"/>
              </a:ext>
            </a:extLst>
          </p:cNvPr>
          <p:cNvSpPr txBox="1"/>
          <p:nvPr/>
        </p:nvSpPr>
        <p:spPr>
          <a:xfrm>
            <a:off x="473535" y="943330"/>
            <a:ext cx="9354349" cy="376834"/>
          </a:xfrm>
          <a:prstGeom prst="rect">
            <a:avLst/>
          </a:prstGeom>
          <a:noFill/>
        </p:spPr>
        <p:txBody>
          <a:bodyPr wrap="square" rtlCol="0">
            <a:spAutoFit/>
          </a:bodyPr>
          <a:lstStyle/>
          <a:p>
            <a:pPr>
              <a:lnSpc>
                <a:spcPct val="150000"/>
              </a:lnSpc>
            </a:pPr>
            <a:r>
              <a:rPr kumimoji="1" lang="zh-CN" altLang="en-US" sz="1400" dirty="0">
                <a:solidFill>
                  <a:srgbClr val="A41AD4"/>
                </a:solidFill>
                <a:latin typeface="Times New Roman" panose="02020603050405020304" pitchFamily="18" charset="0"/>
                <a:ea typeface="KaiTi" panose="02010609060101010101" pitchFamily="49" charset="-122"/>
                <a:cs typeface="Times New Roman" panose="02020603050405020304" pitchFamily="18" charset="0"/>
              </a:rPr>
              <a:t>高考物理（以全国</a:t>
            </a:r>
            <a:r>
              <a:rPr kumimoji="1" lang="en-US" altLang="zh-CN" sz="1400" dirty="0">
                <a:solidFill>
                  <a:srgbClr val="A41AD4"/>
                </a:solidFill>
                <a:latin typeface="Times New Roman" panose="02020603050405020304" pitchFamily="18" charset="0"/>
                <a:ea typeface="KaiTi" panose="02010609060101010101" pitchFamily="49" charset="-122"/>
                <a:cs typeface="Times New Roman" panose="02020603050405020304" pitchFamily="18" charset="0"/>
              </a:rPr>
              <a:t>2024</a:t>
            </a:r>
            <a:r>
              <a:rPr kumimoji="1" lang="zh-CN" altLang="en-US" sz="1400" dirty="0">
                <a:solidFill>
                  <a:srgbClr val="A41AD4"/>
                </a:solidFill>
                <a:latin typeface="Times New Roman" panose="02020603050405020304" pitchFamily="18" charset="0"/>
                <a:ea typeface="KaiTi" panose="02010609060101010101" pitchFamily="49" charset="-122"/>
                <a:cs typeface="Times New Roman" panose="02020603050405020304" pitchFamily="18" charset="0"/>
              </a:rPr>
              <a:t>新课标卷为例）</a:t>
            </a:r>
            <a:r>
              <a:rPr kumimoji="1" lang="en-US" altLang="zh-CN" sz="1400" dirty="0">
                <a:solidFill>
                  <a:srgbClr val="A41AD4"/>
                </a:solidFill>
                <a:latin typeface="Times New Roman" panose="02020603050405020304" pitchFamily="18" charset="0"/>
                <a:ea typeface="KaiTi" panose="02010609060101010101" pitchFamily="49" charset="-122"/>
                <a:cs typeface="Times New Roman" panose="02020603050405020304" pitchFamily="18" charset="0"/>
              </a:rPr>
              <a:t>:</a:t>
            </a:r>
          </a:p>
        </p:txBody>
      </p:sp>
      <p:sp>
        <p:nvSpPr>
          <p:cNvPr id="8" name="文本框 7">
            <a:extLst>
              <a:ext uri="{FF2B5EF4-FFF2-40B4-BE49-F238E27FC236}">
                <a16:creationId xmlns:a16="http://schemas.microsoft.com/office/drawing/2014/main" id="{54C44233-82F4-CE4A-8CCA-D646FFF28422}"/>
              </a:ext>
            </a:extLst>
          </p:cNvPr>
          <p:cNvSpPr txBox="1"/>
          <p:nvPr/>
        </p:nvSpPr>
        <p:spPr>
          <a:xfrm>
            <a:off x="952507" y="1416955"/>
            <a:ext cx="9354349" cy="1305678"/>
          </a:xfrm>
          <a:prstGeom prst="rect">
            <a:avLst/>
          </a:prstGeom>
          <a:noFill/>
        </p:spPr>
        <p:txBody>
          <a:bodyPr wrap="square" rtlCol="0">
            <a:spAutoFit/>
          </a:bodyPr>
          <a:lstStyle/>
          <a:p>
            <a:pPr>
              <a:lnSpc>
                <a:spcPct val="150000"/>
              </a:lnSpc>
            </a:pP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选择</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sym typeface="Wingdings" pitchFamily="2" charset="2"/>
              </a:rPr>
              <a:t>（</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sym typeface="Wingdings" pitchFamily="2" charset="2"/>
              </a:rPr>
              <a:t>48</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sym typeface="Wingdings" pitchFamily="2" charset="2"/>
              </a:rPr>
              <a:t>分）</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选择（</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6</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8=48</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单选：基础概念</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计算（</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5</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-30</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计算（</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3</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=18</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endPar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9" name="文本框 8">
            <a:extLst>
              <a:ext uri="{FF2B5EF4-FFF2-40B4-BE49-F238E27FC236}">
                <a16:creationId xmlns:a16="http://schemas.microsoft.com/office/drawing/2014/main" id="{E8FEC2B9-1CD0-9442-8204-4225AF92BF4A}"/>
              </a:ext>
            </a:extLst>
          </p:cNvPr>
          <p:cNvSpPr txBox="1"/>
          <p:nvPr/>
        </p:nvSpPr>
        <p:spPr>
          <a:xfrm>
            <a:off x="952507" y="2669692"/>
            <a:ext cx="9354349" cy="1023101"/>
          </a:xfrm>
          <a:prstGeom prst="rect">
            <a:avLst/>
          </a:prstGeom>
          <a:noFill/>
        </p:spPr>
        <p:txBody>
          <a:bodyPr wrap="square" rtlCol="0">
            <a:spAutoFit/>
          </a:bodyPr>
          <a:lstStyle/>
          <a:p>
            <a:pPr>
              <a:lnSpc>
                <a:spcPct val="150000"/>
              </a:lnSpc>
            </a:pP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sym typeface="Wingdings" pitchFamily="2" charset="2"/>
              </a:rPr>
              <a:t>实验（</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sym typeface="Wingdings" pitchFamily="2" charset="2"/>
              </a:rPr>
              <a:t>15</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sym typeface="Wingdings" pitchFamily="2" charset="2"/>
              </a:rPr>
              <a:t>分）</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实验（</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6+9=15</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10" name="文本框 9">
            <a:extLst>
              <a:ext uri="{FF2B5EF4-FFF2-40B4-BE49-F238E27FC236}">
                <a16:creationId xmlns:a16="http://schemas.microsoft.com/office/drawing/2014/main" id="{05A5FF36-7DEE-564D-A769-4C8C32AD7436}"/>
              </a:ext>
            </a:extLst>
          </p:cNvPr>
          <p:cNvSpPr txBox="1"/>
          <p:nvPr/>
        </p:nvSpPr>
        <p:spPr>
          <a:xfrm>
            <a:off x="952507" y="3827475"/>
            <a:ext cx="9354349" cy="1490344"/>
          </a:xfrm>
          <a:prstGeom prst="rect">
            <a:avLst/>
          </a:prstGeom>
          <a:noFill/>
        </p:spPr>
        <p:txBody>
          <a:bodyPr wrap="square" rtlCol="0">
            <a:spAutoFit/>
          </a:bodyPr>
          <a:lstStyle/>
          <a:p>
            <a:pPr>
              <a:lnSpc>
                <a:spcPct val="150000"/>
              </a:lnSpc>
            </a:pP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计算大题（</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47</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大题（</a:t>
            </a:r>
            <a:r>
              <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12</a:t>
            </a: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选修部分（</a:t>
            </a:r>
            <a:r>
              <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15</a:t>
            </a: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计算压轴（</a:t>
            </a:r>
            <a:r>
              <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20</a:t>
            </a: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endPar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11" name="文本框 10">
            <a:extLst>
              <a:ext uri="{FF2B5EF4-FFF2-40B4-BE49-F238E27FC236}">
                <a16:creationId xmlns:a16="http://schemas.microsoft.com/office/drawing/2014/main" id="{F46B5722-2F93-B44C-AE67-32E9B04802D0}"/>
              </a:ext>
            </a:extLst>
          </p:cNvPr>
          <p:cNvSpPr txBox="1"/>
          <p:nvPr/>
        </p:nvSpPr>
        <p:spPr>
          <a:xfrm>
            <a:off x="952507" y="5290535"/>
            <a:ext cx="9354349" cy="613181"/>
          </a:xfrm>
          <a:prstGeom prst="rect">
            <a:avLst/>
          </a:prstGeom>
          <a:noFill/>
        </p:spPr>
        <p:txBody>
          <a:bodyPr wrap="square" rtlCol="0">
            <a:spAutoFit/>
          </a:bodyPr>
          <a:lstStyle/>
          <a:p>
            <a:pPr>
              <a:lnSpc>
                <a:spcPct val="150000"/>
              </a:lnSpc>
            </a:pP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总分</a:t>
            </a:r>
            <a:r>
              <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110</a:t>
            </a:r>
          </a:p>
          <a:p>
            <a:pPr>
              <a:lnSpc>
                <a:spcPct val="150000"/>
              </a:lnSpc>
            </a:pPr>
            <a:endPar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cxnSp>
        <p:nvCxnSpPr>
          <p:cNvPr id="13" name="直线连接符 12">
            <a:extLst>
              <a:ext uri="{FF2B5EF4-FFF2-40B4-BE49-F238E27FC236}">
                <a16:creationId xmlns:a16="http://schemas.microsoft.com/office/drawing/2014/main" id="{2E412AFC-C287-FF4A-B7B0-65E3F25EF90B}"/>
              </a:ext>
            </a:extLst>
          </p:cNvPr>
          <p:cNvCxnSpPr>
            <a:cxnSpLocks/>
          </p:cNvCxnSpPr>
          <p:nvPr/>
        </p:nvCxnSpPr>
        <p:spPr>
          <a:xfrm>
            <a:off x="952507" y="3614006"/>
            <a:ext cx="10232564"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线连接符 13">
            <a:extLst>
              <a:ext uri="{FF2B5EF4-FFF2-40B4-BE49-F238E27FC236}">
                <a16:creationId xmlns:a16="http://schemas.microsoft.com/office/drawing/2014/main" id="{CBD698BA-A12F-7A4F-8185-AD228F11FD73}"/>
              </a:ext>
            </a:extLst>
          </p:cNvPr>
          <p:cNvCxnSpPr>
            <a:cxnSpLocks/>
          </p:cNvCxnSpPr>
          <p:nvPr/>
        </p:nvCxnSpPr>
        <p:spPr>
          <a:xfrm>
            <a:off x="979718" y="5133395"/>
            <a:ext cx="10232564"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92E2AF84-01CC-2F46-95FA-E2F0F25BE755}"/>
              </a:ext>
            </a:extLst>
          </p:cNvPr>
          <p:cNvCxnSpPr>
            <a:cxnSpLocks/>
          </p:cNvCxnSpPr>
          <p:nvPr/>
        </p:nvCxnSpPr>
        <p:spPr>
          <a:xfrm>
            <a:off x="952507" y="6522974"/>
            <a:ext cx="10232564"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5589715F-2B07-C040-B152-D7E21F3E0E89}"/>
              </a:ext>
            </a:extLst>
          </p:cNvPr>
          <p:cNvSpPr txBox="1"/>
          <p:nvPr/>
        </p:nvSpPr>
        <p:spPr>
          <a:xfrm>
            <a:off x="7325451" y="1869884"/>
            <a:ext cx="3914042" cy="374590"/>
          </a:xfrm>
          <a:prstGeom prst="rect">
            <a:avLst/>
          </a:prstGeom>
          <a:noFill/>
        </p:spPr>
        <p:txBody>
          <a:bodyPr wrap="square" rtlCol="0">
            <a:spAutoFit/>
          </a:bodyPr>
          <a:lstStyle/>
          <a:p>
            <a:pPr>
              <a:lnSpc>
                <a:spcPct val="150000"/>
              </a:lnSpc>
            </a:pP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基础概念</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计算（占</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30+15=45</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2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p:txBody>
      </p:sp>
      <p:cxnSp>
        <p:nvCxnSpPr>
          <p:cNvPr id="12" name="直线箭头连接符 11">
            <a:extLst>
              <a:ext uri="{FF2B5EF4-FFF2-40B4-BE49-F238E27FC236}">
                <a16:creationId xmlns:a16="http://schemas.microsoft.com/office/drawing/2014/main" id="{88A7AF64-91B2-1C4F-B74B-6161FBD033CB}"/>
              </a:ext>
            </a:extLst>
          </p:cNvPr>
          <p:cNvCxnSpPr/>
          <p:nvPr/>
        </p:nvCxnSpPr>
        <p:spPr>
          <a:xfrm flipV="1">
            <a:off x="5975651" y="2057179"/>
            <a:ext cx="1349800" cy="1261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线箭头连接符 17">
            <a:extLst>
              <a:ext uri="{FF2B5EF4-FFF2-40B4-BE49-F238E27FC236}">
                <a16:creationId xmlns:a16="http://schemas.microsoft.com/office/drawing/2014/main" id="{2E6B0E99-933B-E542-809E-C9541C6212C7}"/>
              </a:ext>
            </a:extLst>
          </p:cNvPr>
          <p:cNvCxnSpPr>
            <a:cxnSpLocks/>
          </p:cNvCxnSpPr>
          <p:nvPr/>
        </p:nvCxnSpPr>
        <p:spPr>
          <a:xfrm flipV="1">
            <a:off x="5975651" y="2191228"/>
            <a:ext cx="1349800" cy="89226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线箭头连接符 19">
            <a:extLst>
              <a:ext uri="{FF2B5EF4-FFF2-40B4-BE49-F238E27FC236}">
                <a16:creationId xmlns:a16="http://schemas.microsoft.com/office/drawing/2014/main" id="{290279E3-EF77-1742-9A90-D3EB71542B56}"/>
              </a:ext>
            </a:extLst>
          </p:cNvPr>
          <p:cNvCxnSpPr>
            <a:cxnSpLocks/>
          </p:cNvCxnSpPr>
          <p:nvPr/>
        </p:nvCxnSpPr>
        <p:spPr>
          <a:xfrm>
            <a:off x="5975651" y="2190060"/>
            <a:ext cx="1349800" cy="921143"/>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1B29430E-4090-754F-B177-936880028387}"/>
              </a:ext>
            </a:extLst>
          </p:cNvPr>
          <p:cNvSpPr txBox="1"/>
          <p:nvPr/>
        </p:nvSpPr>
        <p:spPr>
          <a:xfrm>
            <a:off x="7325451" y="2861114"/>
            <a:ext cx="3914042" cy="374590"/>
          </a:xfrm>
          <a:prstGeom prst="rect">
            <a:avLst/>
          </a:prstGeom>
          <a:noFill/>
        </p:spPr>
        <p:txBody>
          <a:bodyPr wrap="square" rtlCol="0">
            <a:spAutoFit/>
          </a:bodyPr>
          <a:lstStyle/>
          <a:p>
            <a:pPr>
              <a:lnSpc>
                <a:spcPct val="150000"/>
              </a:lnSpc>
            </a:pP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熟练题型</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计算（占</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18</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2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p:txBody>
      </p:sp>
      <p:cxnSp>
        <p:nvCxnSpPr>
          <p:cNvPr id="23" name="直线箭头连接符 22">
            <a:extLst>
              <a:ext uri="{FF2B5EF4-FFF2-40B4-BE49-F238E27FC236}">
                <a16:creationId xmlns:a16="http://schemas.microsoft.com/office/drawing/2014/main" id="{76127709-0C28-444D-AA22-17C055C8BDEF}"/>
              </a:ext>
            </a:extLst>
          </p:cNvPr>
          <p:cNvCxnSpPr>
            <a:cxnSpLocks/>
          </p:cNvCxnSpPr>
          <p:nvPr/>
        </p:nvCxnSpPr>
        <p:spPr>
          <a:xfrm flipV="1">
            <a:off x="5975651" y="4308520"/>
            <a:ext cx="1349800" cy="21273"/>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线箭头连接符 25">
            <a:extLst>
              <a:ext uri="{FF2B5EF4-FFF2-40B4-BE49-F238E27FC236}">
                <a16:creationId xmlns:a16="http://schemas.microsoft.com/office/drawing/2014/main" id="{0D0CDE9D-C948-314F-89EB-802A1BF39815}"/>
              </a:ext>
            </a:extLst>
          </p:cNvPr>
          <p:cNvCxnSpPr>
            <a:cxnSpLocks/>
          </p:cNvCxnSpPr>
          <p:nvPr/>
        </p:nvCxnSpPr>
        <p:spPr>
          <a:xfrm flipV="1">
            <a:off x="5975651" y="4357503"/>
            <a:ext cx="1349800" cy="256302"/>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线箭头连接符 28">
            <a:extLst>
              <a:ext uri="{FF2B5EF4-FFF2-40B4-BE49-F238E27FC236}">
                <a16:creationId xmlns:a16="http://schemas.microsoft.com/office/drawing/2014/main" id="{5A7F7BFD-B675-E247-B1B3-19E0F4E3505E}"/>
              </a:ext>
            </a:extLst>
          </p:cNvPr>
          <p:cNvCxnSpPr>
            <a:cxnSpLocks/>
          </p:cNvCxnSpPr>
          <p:nvPr/>
        </p:nvCxnSpPr>
        <p:spPr>
          <a:xfrm flipV="1">
            <a:off x="5975651" y="4849383"/>
            <a:ext cx="1349800" cy="21273"/>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866BBF45-CE8B-1E42-93DE-7E3798E8F9D2}"/>
              </a:ext>
            </a:extLst>
          </p:cNvPr>
          <p:cNvSpPr txBox="1"/>
          <p:nvPr/>
        </p:nvSpPr>
        <p:spPr>
          <a:xfrm>
            <a:off x="7325451" y="4071287"/>
            <a:ext cx="3914042" cy="374590"/>
          </a:xfrm>
          <a:prstGeom prst="rect">
            <a:avLst/>
          </a:prstGeom>
          <a:noFill/>
        </p:spPr>
        <p:txBody>
          <a:bodyPr wrap="square" rtlCol="0">
            <a:spAutoFit/>
          </a:bodyPr>
          <a:lstStyle/>
          <a:p>
            <a:pPr>
              <a:lnSpc>
                <a:spcPct val="150000"/>
              </a:lnSpc>
            </a:pP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基础概念</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计算（占</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12+15=27</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2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31" name="文本框 30">
            <a:extLst>
              <a:ext uri="{FF2B5EF4-FFF2-40B4-BE49-F238E27FC236}">
                <a16:creationId xmlns:a16="http://schemas.microsoft.com/office/drawing/2014/main" id="{003C9F77-0BD3-5F48-ABCE-6706C38C0A42}"/>
              </a:ext>
            </a:extLst>
          </p:cNvPr>
          <p:cNvSpPr txBox="1"/>
          <p:nvPr/>
        </p:nvSpPr>
        <p:spPr>
          <a:xfrm>
            <a:off x="7325451" y="4620809"/>
            <a:ext cx="3914042" cy="374590"/>
          </a:xfrm>
          <a:prstGeom prst="rect">
            <a:avLst/>
          </a:prstGeom>
          <a:noFill/>
        </p:spPr>
        <p:txBody>
          <a:bodyPr wrap="square" rtlCol="0">
            <a:spAutoFit/>
          </a:bodyPr>
          <a:lstStyle/>
          <a:p>
            <a:pPr>
              <a:lnSpc>
                <a:spcPct val="150000"/>
              </a:lnSpc>
            </a:pP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熟练题型</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计算（占</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20</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2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32" name="文本框 31">
            <a:extLst>
              <a:ext uri="{FF2B5EF4-FFF2-40B4-BE49-F238E27FC236}">
                <a16:creationId xmlns:a16="http://schemas.microsoft.com/office/drawing/2014/main" id="{0CA3A65F-1A5A-654E-BFAD-30F8D19C28D9}"/>
              </a:ext>
            </a:extLst>
          </p:cNvPr>
          <p:cNvSpPr txBox="1"/>
          <p:nvPr/>
        </p:nvSpPr>
        <p:spPr>
          <a:xfrm>
            <a:off x="5975651" y="5236686"/>
            <a:ext cx="3017149" cy="1211485"/>
          </a:xfrm>
          <a:prstGeom prst="rect">
            <a:avLst/>
          </a:prstGeom>
          <a:solidFill>
            <a:schemeClr val="bg1"/>
          </a:solidFill>
          <a:ln>
            <a:solidFill>
              <a:srgbClr val="A41AD4"/>
            </a:solidFill>
          </a:ln>
        </p:spPr>
        <p:txBody>
          <a:bodyPr wrap="square" rtlCol="0">
            <a:spAutoFit/>
          </a:bodyPr>
          <a:lstStyle/>
          <a:p>
            <a:pPr>
              <a:lnSpc>
                <a:spcPct val="150000"/>
              </a:lnSpc>
            </a:pP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*核心！：</a:t>
            </a:r>
            <a:endPar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pPr marL="171450" indent="-171450">
              <a:lnSpc>
                <a:spcPct val="150000"/>
              </a:lnSpc>
              <a:buFont typeface="Wingdings" pitchFamily="2" charset="2"/>
              <a:buChar char="ü"/>
            </a:pPr>
            <a:r>
              <a:rPr kumimoji="1" lang="zh-CN" altLang="en-US" sz="12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对书上基础知识的理解（</a:t>
            </a:r>
            <a:r>
              <a:rPr kumimoji="1" lang="en-US" altLang="zh-CN" sz="12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65.5%</a:t>
            </a:r>
            <a:r>
              <a:rPr kumimoji="1" lang="zh-CN" altLang="en-US" sz="12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endParaRPr kumimoji="1" lang="en-US" altLang="zh-CN" sz="12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pPr marL="171450" indent="-171450">
              <a:lnSpc>
                <a:spcPct val="150000"/>
              </a:lnSpc>
              <a:buFont typeface="Wingdings" pitchFamily="2" charset="2"/>
              <a:buChar char="ü"/>
            </a:pPr>
            <a:r>
              <a:rPr kumimoji="1" lang="zh-CN" altLang="en-US" sz="12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熟悉分析</a:t>
            </a:r>
            <a:r>
              <a:rPr kumimoji="1" lang="en-US" altLang="zh-CN" sz="12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2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计算题型（</a:t>
            </a:r>
            <a:r>
              <a:rPr kumimoji="1" lang="en-US" altLang="zh-CN" sz="12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34.5%</a:t>
            </a:r>
            <a:r>
              <a:rPr kumimoji="1" lang="zh-CN" altLang="en-US" sz="12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endParaRPr kumimoji="1" lang="en-US" altLang="zh-CN" sz="12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pPr marL="171450" indent="-171450">
              <a:lnSpc>
                <a:spcPct val="150000"/>
              </a:lnSpc>
              <a:buFont typeface="Wingdings" pitchFamily="2" charset="2"/>
              <a:buChar char="ü"/>
            </a:pPr>
            <a:r>
              <a:rPr kumimoji="1" lang="zh-CN" altLang="en-US" sz="12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计算能力</a:t>
            </a:r>
            <a:r>
              <a:rPr kumimoji="1" lang="en-US" altLang="zh-CN" sz="12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2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解题速度（所有题目！）</a:t>
            </a:r>
            <a:endParaRPr kumimoji="1" lang="en-US" altLang="zh-CN" sz="12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5204511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20AA3AF4-0FB6-CC44-BC81-7C2324E34F6B}"/>
              </a:ext>
            </a:extLst>
          </p:cNvPr>
          <p:cNvSpPr/>
          <p:nvPr/>
        </p:nvSpPr>
        <p:spPr>
          <a:xfrm>
            <a:off x="473535" y="1444665"/>
            <a:ext cx="11004232" cy="5212992"/>
          </a:xfrm>
          <a:prstGeom prst="rect">
            <a:avLst/>
          </a:prstGeom>
          <a:solidFill>
            <a:srgbClr val="E8F0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文本框 2">
            <a:extLst>
              <a:ext uri="{FF2B5EF4-FFF2-40B4-BE49-F238E27FC236}">
                <a16:creationId xmlns:a16="http://schemas.microsoft.com/office/drawing/2014/main" id="{0E5813FD-F670-0541-A189-8575FD6E6004}"/>
              </a:ext>
            </a:extLst>
          </p:cNvPr>
          <p:cNvSpPr txBox="1"/>
          <p:nvPr/>
        </p:nvSpPr>
        <p:spPr>
          <a:xfrm>
            <a:off x="473535" y="355774"/>
            <a:ext cx="4942702" cy="338554"/>
          </a:xfrm>
          <a:prstGeom prst="rect">
            <a:avLst/>
          </a:prstGeom>
          <a:noFill/>
        </p:spPr>
        <p:txBody>
          <a:bodyPr wrap="square" rtlCol="0">
            <a:spAutoFit/>
          </a:bodyPr>
          <a:lstStyle/>
          <a:p>
            <a:r>
              <a:rPr kumimoji="1" lang="zh-CN" altLang="en-US"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题型拆分：</a:t>
            </a:r>
          </a:p>
        </p:txBody>
      </p:sp>
      <p:sp>
        <p:nvSpPr>
          <p:cNvPr id="4" name="文本框 3">
            <a:extLst>
              <a:ext uri="{FF2B5EF4-FFF2-40B4-BE49-F238E27FC236}">
                <a16:creationId xmlns:a16="http://schemas.microsoft.com/office/drawing/2014/main" id="{3F1FD399-1222-574D-A538-12F5D4CA656F}"/>
              </a:ext>
            </a:extLst>
          </p:cNvPr>
          <p:cNvSpPr txBox="1"/>
          <p:nvPr/>
        </p:nvSpPr>
        <p:spPr>
          <a:xfrm>
            <a:off x="342860" y="634087"/>
            <a:ext cx="9354349" cy="364972"/>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kumimoji="1" lang="zh-CN" altLang="en-US" sz="1400" dirty="0">
                <a:solidFill>
                  <a:schemeClr val="tx1">
                    <a:lumMod val="50000"/>
                    <a:lumOff val="50000"/>
                  </a:schemeClr>
                </a:solidFill>
                <a:highlight>
                  <a:srgbClr val="FFFF00"/>
                </a:highlight>
                <a:latin typeface="KaiTi" panose="02010609060101010101" pitchFamily="49" charset="-122"/>
                <a:ea typeface="KaiTi" panose="02010609060101010101" pitchFamily="49" charset="-122"/>
              </a:rPr>
              <a:t>中考物理题型分布</a:t>
            </a:r>
            <a:r>
              <a:rPr kumimoji="1" lang="en-US" altLang="zh-CN" sz="1400" dirty="0">
                <a:solidFill>
                  <a:schemeClr val="tx1">
                    <a:lumMod val="50000"/>
                    <a:lumOff val="50000"/>
                  </a:schemeClr>
                </a:solidFill>
                <a:highlight>
                  <a:srgbClr val="FFFF00"/>
                </a:highlight>
                <a:latin typeface="KaiTi" panose="02010609060101010101" pitchFamily="49" charset="-122"/>
                <a:ea typeface="KaiTi" panose="02010609060101010101" pitchFamily="49" charset="-122"/>
              </a:rPr>
              <a:t>/</a:t>
            </a:r>
            <a:r>
              <a:rPr kumimoji="1" lang="zh-CN" altLang="en-US" sz="1400" dirty="0">
                <a:solidFill>
                  <a:schemeClr val="tx1">
                    <a:lumMod val="50000"/>
                    <a:lumOff val="50000"/>
                  </a:schemeClr>
                </a:solidFill>
                <a:highlight>
                  <a:srgbClr val="FFFF00"/>
                </a:highlight>
                <a:latin typeface="KaiTi" panose="02010609060101010101" pitchFamily="49" charset="-122"/>
                <a:ea typeface="KaiTi" panose="02010609060101010101" pitchFamily="49" charset="-122"/>
              </a:rPr>
              <a:t>高考物理题型分布</a:t>
            </a:r>
            <a:endParaRPr kumimoji="1" lang="en-US" altLang="zh-CN" sz="1400" dirty="0">
              <a:solidFill>
                <a:schemeClr val="tx1">
                  <a:lumMod val="50000"/>
                  <a:lumOff val="50000"/>
                </a:schemeClr>
              </a:solidFill>
              <a:highlight>
                <a:srgbClr val="FFFF00"/>
              </a:highlight>
              <a:latin typeface="KaiTi" panose="02010609060101010101" pitchFamily="49" charset="-122"/>
              <a:ea typeface="KaiTi" panose="02010609060101010101" pitchFamily="49" charset="-122"/>
            </a:endParaRPr>
          </a:p>
        </p:txBody>
      </p:sp>
      <p:sp>
        <p:nvSpPr>
          <p:cNvPr id="6" name="文本框 5">
            <a:extLst>
              <a:ext uri="{FF2B5EF4-FFF2-40B4-BE49-F238E27FC236}">
                <a16:creationId xmlns:a16="http://schemas.microsoft.com/office/drawing/2014/main" id="{E7A5BADC-33FC-E246-9FEE-FC425A5D8254}"/>
              </a:ext>
            </a:extLst>
          </p:cNvPr>
          <p:cNvSpPr txBox="1"/>
          <p:nvPr/>
        </p:nvSpPr>
        <p:spPr>
          <a:xfrm>
            <a:off x="473535" y="943330"/>
            <a:ext cx="9354349" cy="376834"/>
          </a:xfrm>
          <a:prstGeom prst="rect">
            <a:avLst/>
          </a:prstGeom>
          <a:noFill/>
        </p:spPr>
        <p:txBody>
          <a:bodyPr wrap="square" rtlCol="0">
            <a:spAutoFit/>
          </a:bodyPr>
          <a:lstStyle/>
          <a:p>
            <a:pPr>
              <a:lnSpc>
                <a:spcPct val="150000"/>
              </a:lnSpc>
            </a:pPr>
            <a:r>
              <a:rPr kumimoji="1" lang="zh-CN" altLang="en-US" sz="1400" dirty="0">
                <a:solidFill>
                  <a:srgbClr val="A41AD4"/>
                </a:solidFill>
                <a:latin typeface="Times New Roman" panose="02020603050405020304" pitchFamily="18" charset="0"/>
                <a:ea typeface="KaiTi" panose="02010609060101010101" pitchFamily="49" charset="-122"/>
                <a:cs typeface="Times New Roman" panose="02020603050405020304" pitchFamily="18" charset="0"/>
              </a:rPr>
              <a:t>高考物理（以新高考地区卷为例）</a:t>
            </a:r>
            <a:r>
              <a:rPr kumimoji="1" lang="en-US" altLang="zh-CN" sz="1400" dirty="0">
                <a:solidFill>
                  <a:srgbClr val="A41AD4"/>
                </a:solidFill>
                <a:latin typeface="Times New Roman" panose="02020603050405020304" pitchFamily="18" charset="0"/>
                <a:ea typeface="KaiTi" panose="02010609060101010101" pitchFamily="49" charset="-122"/>
                <a:cs typeface="Times New Roman" panose="02020603050405020304" pitchFamily="18" charset="0"/>
              </a:rPr>
              <a:t>:</a:t>
            </a:r>
          </a:p>
        </p:txBody>
      </p:sp>
      <p:sp>
        <p:nvSpPr>
          <p:cNvPr id="8" name="文本框 7">
            <a:extLst>
              <a:ext uri="{FF2B5EF4-FFF2-40B4-BE49-F238E27FC236}">
                <a16:creationId xmlns:a16="http://schemas.microsoft.com/office/drawing/2014/main" id="{54C44233-82F4-CE4A-8CCA-D646FFF28422}"/>
              </a:ext>
            </a:extLst>
          </p:cNvPr>
          <p:cNvSpPr txBox="1"/>
          <p:nvPr/>
        </p:nvSpPr>
        <p:spPr>
          <a:xfrm>
            <a:off x="952507" y="1416955"/>
            <a:ext cx="9354349" cy="1305678"/>
          </a:xfrm>
          <a:prstGeom prst="rect">
            <a:avLst/>
          </a:prstGeom>
          <a:noFill/>
        </p:spPr>
        <p:txBody>
          <a:bodyPr wrap="square" rtlCol="0">
            <a:spAutoFit/>
          </a:bodyPr>
          <a:lstStyle/>
          <a:p>
            <a:pPr>
              <a:lnSpc>
                <a:spcPct val="150000"/>
              </a:lnSpc>
            </a:pP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选择</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sym typeface="Wingdings" pitchFamily="2" charset="2"/>
              </a:rPr>
              <a:t>（</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sym typeface="Wingdings" pitchFamily="2" charset="2"/>
              </a:rPr>
              <a:t>43</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sym typeface="Wingdings" pitchFamily="2" charset="2"/>
              </a:rPr>
              <a:t>分）</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单选（</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4</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7=28</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多选（</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3</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6=18</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endPar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10" name="文本框 9">
            <a:extLst>
              <a:ext uri="{FF2B5EF4-FFF2-40B4-BE49-F238E27FC236}">
                <a16:creationId xmlns:a16="http://schemas.microsoft.com/office/drawing/2014/main" id="{05A5FF36-7DEE-564D-A769-4C8C32AD7436}"/>
              </a:ext>
            </a:extLst>
          </p:cNvPr>
          <p:cNvSpPr txBox="1"/>
          <p:nvPr/>
        </p:nvSpPr>
        <p:spPr>
          <a:xfrm>
            <a:off x="952507" y="3182842"/>
            <a:ext cx="9354349" cy="1813510"/>
          </a:xfrm>
          <a:prstGeom prst="rect">
            <a:avLst/>
          </a:prstGeom>
          <a:noFill/>
        </p:spPr>
        <p:txBody>
          <a:bodyPr wrap="square" rtlCol="0">
            <a:spAutoFit/>
          </a:bodyPr>
          <a:lstStyle/>
          <a:p>
            <a:pPr>
              <a:lnSpc>
                <a:spcPct val="150000"/>
              </a:lnSpc>
            </a:pP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实验题（</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16</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a:t>
            </a: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实验（</a:t>
            </a:r>
            <a:r>
              <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7+9</a:t>
            </a: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分</a:t>
            </a:r>
            <a:r>
              <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=16</a:t>
            </a: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endPar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lvl="0">
              <a:lnSpc>
                <a:spcPct val="150000"/>
              </a:lnSpc>
            </a:pP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计算题（</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38</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三道大题（</a:t>
            </a:r>
            <a:r>
              <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9+13+16=38</a:t>
            </a: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endPar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endPar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11" name="文本框 10">
            <a:extLst>
              <a:ext uri="{FF2B5EF4-FFF2-40B4-BE49-F238E27FC236}">
                <a16:creationId xmlns:a16="http://schemas.microsoft.com/office/drawing/2014/main" id="{F46B5722-2F93-B44C-AE67-32E9B04802D0}"/>
              </a:ext>
            </a:extLst>
          </p:cNvPr>
          <p:cNvSpPr txBox="1"/>
          <p:nvPr/>
        </p:nvSpPr>
        <p:spPr>
          <a:xfrm>
            <a:off x="952507" y="5290535"/>
            <a:ext cx="9354349" cy="613181"/>
          </a:xfrm>
          <a:prstGeom prst="rect">
            <a:avLst/>
          </a:prstGeom>
          <a:noFill/>
        </p:spPr>
        <p:txBody>
          <a:bodyPr wrap="square" rtlCol="0">
            <a:spAutoFit/>
          </a:bodyPr>
          <a:lstStyle/>
          <a:p>
            <a:pPr>
              <a:lnSpc>
                <a:spcPct val="150000"/>
              </a:lnSpc>
            </a:pPr>
            <a:r>
              <a:rPr kumimoji="1" lang="zh-CN" altLang="en-US"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总分</a:t>
            </a:r>
            <a:r>
              <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100</a:t>
            </a:r>
          </a:p>
          <a:p>
            <a:pPr>
              <a:lnSpc>
                <a:spcPct val="150000"/>
              </a:lnSpc>
            </a:pPr>
            <a:endParaRPr kumimoji="1" lang="en-US" altLang="zh-CN" sz="12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cxnSp>
        <p:nvCxnSpPr>
          <p:cNvPr id="13" name="直线连接符 12">
            <a:extLst>
              <a:ext uri="{FF2B5EF4-FFF2-40B4-BE49-F238E27FC236}">
                <a16:creationId xmlns:a16="http://schemas.microsoft.com/office/drawing/2014/main" id="{2E412AFC-C287-FF4A-B7B0-65E3F25EF90B}"/>
              </a:ext>
            </a:extLst>
          </p:cNvPr>
          <p:cNvCxnSpPr>
            <a:cxnSpLocks/>
          </p:cNvCxnSpPr>
          <p:nvPr/>
        </p:nvCxnSpPr>
        <p:spPr>
          <a:xfrm>
            <a:off x="952507" y="2969373"/>
            <a:ext cx="10232564"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线连接符 13">
            <a:extLst>
              <a:ext uri="{FF2B5EF4-FFF2-40B4-BE49-F238E27FC236}">
                <a16:creationId xmlns:a16="http://schemas.microsoft.com/office/drawing/2014/main" id="{CBD698BA-A12F-7A4F-8185-AD228F11FD73}"/>
              </a:ext>
            </a:extLst>
          </p:cNvPr>
          <p:cNvCxnSpPr>
            <a:cxnSpLocks/>
          </p:cNvCxnSpPr>
          <p:nvPr/>
        </p:nvCxnSpPr>
        <p:spPr>
          <a:xfrm>
            <a:off x="979718" y="5133395"/>
            <a:ext cx="10232564"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92E2AF84-01CC-2F46-95FA-E2F0F25BE755}"/>
              </a:ext>
            </a:extLst>
          </p:cNvPr>
          <p:cNvCxnSpPr>
            <a:cxnSpLocks/>
          </p:cNvCxnSpPr>
          <p:nvPr/>
        </p:nvCxnSpPr>
        <p:spPr>
          <a:xfrm>
            <a:off x="952507" y="6522974"/>
            <a:ext cx="10232564"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2" name="组合 1">
            <a:extLst>
              <a:ext uri="{FF2B5EF4-FFF2-40B4-BE49-F238E27FC236}">
                <a16:creationId xmlns:a16="http://schemas.microsoft.com/office/drawing/2014/main" id="{7AC72674-A246-F548-9F4F-A20A293FD248}"/>
              </a:ext>
            </a:extLst>
          </p:cNvPr>
          <p:cNvGrpSpPr/>
          <p:nvPr/>
        </p:nvGrpSpPr>
        <p:grpSpPr>
          <a:xfrm>
            <a:off x="3971371" y="1715375"/>
            <a:ext cx="6335485" cy="4595447"/>
            <a:chOff x="3492399" y="216417"/>
            <a:chExt cx="8522559" cy="6181842"/>
          </a:xfrm>
        </p:grpSpPr>
        <p:pic>
          <p:nvPicPr>
            <p:cNvPr id="12" name="图片 11">
              <a:extLst>
                <a:ext uri="{FF2B5EF4-FFF2-40B4-BE49-F238E27FC236}">
                  <a16:creationId xmlns:a16="http://schemas.microsoft.com/office/drawing/2014/main" id="{592C3EF6-FB6D-3E49-9E6E-003E9C3CCA25}"/>
                </a:ext>
              </a:extLst>
            </p:cNvPr>
            <p:cNvPicPr>
              <a:picLocks noChangeAspect="1"/>
            </p:cNvPicPr>
            <p:nvPr/>
          </p:nvPicPr>
          <p:blipFill>
            <a:blip r:embed="rId2"/>
            <a:stretch>
              <a:fillRect/>
            </a:stretch>
          </p:blipFill>
          <p:spPr>
            <a:xfrm>
              <a:off x="3492399" y="441959"/>
              <a:ext cx="6400800" cy="5956300"/>
            </a:xfrm>
            <a:prstGeom prst="rect">
              <a:avLst/>
            </a:prstGeom>
          </p:spPr>
        </p:pic>
        <p:pic>
          <p:nvPicPr>
            <p:cNvPr id="16" name="图片 15">
              <a:extLst>
                <a:ext uri="{FF2B5EF4-FFF2-40B4-BE49-F238E27FC236}">
                  <a16:creationId xmlns:a16="http://schemas.microsoft.com/office/drawing/2014/main" id="{47E26044-2117-4E42-B16E-6E7561554C02}"/>
                </a:ext>
              </a:extLst>
            </p:cNvPr>
            <p:cNvPicPr>
              <a:picLocks noChangeAspect="1"/>
            </p:cNvPicPr>
            <p:nvPr/>
          </p:nvPicPr>
          <p:blipFill>
            <a:blip r:embed="rId3"/>
            <a:stretch>
              <a:fillRect/>
            </a:stretch>
          </p:blipFill>
          <p:spPr>
            <a:xfrm rot="21315555">
              <a:off x="7912858" y="216417"/>
              <a:ext cx="4102100" cy="6070600"/>
            </a:xfrm>
            <a:prstGeom prst="rect">
              <a:avLst/>
            </a:prstGeom>
          </p:spPr>
        </p:pic>
      </p:grpSp>
    </p:spTree>
    <p:extLst>
      <p:ext uri="{BB962C8B-B14F-4D97-AF65-F5344CB8AC3E}">
        <p14:creationId xmlns:p14="http://schemas.microsoft.com/office/powerpoint/2010/main" val="31874856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B63A571E-2F89-F74F-8875-5269527B170A}"/>
              </a:ext>
            </a:extLst>
          </p:cNvPr>
          <p:cNvSpPr/>
          <p:nvPr/>
        </p:nvSpPr>
        <p:spPr>
          <a:xfrm>
            <a:off x="538850" y="3251716"/>
            <a:ext cx="2801524" cy="3146543"/>
          </a:xfrm>
          <a:prstGeom prst="rect">
            <a:avLst/>
          </a:prstGeom>
          <a:solidFill>
            <a:srgbClr val="FCED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文本框 3">
            <a:extLst>
              <a:ext uri="{FF2B5EF4-FFF2-40B4-BE49-F238E27FC236}">
                <a16:creationId xmlns:a16="http://schemas.microsoft.com/office/drawing/2014/main" id="{A6AAE8D3-268D-4C44-AD74-3DB95B19BFCB}"/>
              </a:ext>
            </a:extLst>
          </p:cNvPr>
          <p:cNvSpPr txBox="1"/>
          <p:nvPr/>
        </p:nvSpPr>
        <p:spPr>
          <a:xfrm>
            <a:off x="538850" y="459740"/>
            <a:ext cx="4942702" cy="338554"/>
          </a:xfrm>
          <a:prstGeom prst="rect">
            <a:avLst/>
          </a:prstGeom>
          <a:noFill/>
        </p:spPr>
        <p:txBody>
          <a:bodyPr wrap="square" rtlCol="0">
            <a:spAutoFit/>
          </a:bodyPr>
          <a:lstStyle/>
          <a:p>
            <a:r>
              <a:rPr kumimoji="1" lang="zh-CN" altLang="en-US" sz="1600" b="1" dirty="0">
                <a:solidFill>
                  <a:srgbClr val="C00000"/>
                </a:solidFill>
                <a:latin typeface="KaiTi" panose="02010609060101010101" pitchFamily="49" charset="-122"/>
                <a:ea typeface="KaiTi" panose="02010609060101010101" pitchFamily="49" charset="-122"/>
                <a:cs typeface="Times New Roman" panose="02020603050405020304" pitchFamily="18" charset="0"/>
              </a:rPr>
              <a:t>题型拆解</a:t>
            </a:r>
            <a:r>
              <a:rPr kumimoji="1" lang="en-US" altLang="zh-CN" sz="1600" b="1" dirty="0">
                <a:solidFill>
                  <a:srgbClr val="C00000"/>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b="1" dirty="0">
                <a:solidFill>
                  <a:srgbClr val="C00000"/>
                </a:solidFill>
                <a:latin typeface="KaiTi" panose="02010609060101010101" pitchFamily="49" charset="-122"/>
                <a:ea typeface="KaiTi" panose="02010609060101010101" pitchFamily="49" charset="-122"/>
                <a:cs typeface="Times New Roman" panose="02020603050405020304" pitchFamily="18" charset="0"/>
              </a:rPr>
              <a:t>必拿分部分</a:t>
            </a:r>
          </a:p>
        </p:txBody>
      </p:sp>
      <p:sp>
        <p:nvSpPr>
          <p:cNvPr id="6" name="矩形 5">
            <a:extLst>
              <a:ext uri="{FF2B5EF4-FFF2-40B4-BE49-F238E27FC236}">
                <a16:creationId xmlns:a16="http://schemas.microsoft.com/office/drawing/2014/main" id="{F3F0AD5B-CF0C-9044-84C6-890E3379EA33}"/>
              </a:ext>
            </a:extLst>
          </p:cNvPr>
          <p:cNvSpPr/>
          <p:nvPr/>
        </p:nvSpPr>
        <p:spPr>
          <a:xfrm>
            <a:off x="538850" y="3244334"/>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491CFD39-FC30-324E-BD0A-ACD4C0CF6E63}"/>
              </a:ext>
            </a:extLst>
          </p:cNvPr>
          <p:cNvSpPr txBox="1"/>
          <p:nvPr/>
        </p:nvSpPr>
        <p:spPr>
          <a:xfrm>
            <a:off x="812911" y="3294185"/>
            <a:ext cx="2413899" cy="2893100"/>
          </a:xfrm>
          <a:prstGeom prst="rect">
            <a:avLst/>
          </a:prstGeom>
          <a:noFill/>
        </p:spPr>
        <p:txBody>
          <a:bodyPr wrap="square" rtlCol="0">
            <a:spAutoFit/>
          </a:bodyPr>
          <a:lstStyle/>
          <a:p>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为什么必拿</a:t>
            </a:r>
            <a:r>
              <a:rPr kumimoji="1" lang="en-US" altLang="zh-CN" sz="1400" dirty="0">
                <a:solidFill>
                  <a:srgbClr val="223AAC"/>
                </a:solidFill>
                <a:latin typeface="KaiTi" panose="02010609060101010101" pitchFamily="49" charset="-122"/>
                <a:ea typeface="KaiTi" panose="02010609060101010101" pitchFamily="49" charset="-122"/>
              </a:rPr>
              <a:t>】</a:t>
            </a:r>
          </a:p>
          <a:p>
            <a:endParaRPr kumimoji="1" lang="en-US" altLang="zh-CN" sz="1400" dirty="0">
              <a:solidFill>
                <a:srgbClr val="223AAC"/>
              </a:solidFill>
              <a:latin typeface="KaiTi" panose="02010609060101010101" pitchFamily="49" charset="-122"/>
              <a:ea typeface="KaiTi" panose="02010609060101010101" pitchFamily="49" charset="-122"/>
            </a:endParaRPr>
          </a:p>
          <a:p>
            <a:pPr marL="285750" indent="-285750">
              <a:buFont typeface="Arial" panose="020B0604020202020204" pitchFamily="34" charset="0"/>
              <a:buChar char="•"/>
            </a:pPr>
            <a:r>
              <a:rPr kumimoji="1" lang="zh-CN" altLang="en-US" sz="1400" dirty="0">
                <a:latin typeface="KaiTi" panose="02010609060101010101" pitchFamily="49" charset="-122"/>
                <a:ea typeface="KaiTi" panose="02010609060101010101" pitchFamily="49" charset="-122"/>
              </a:rPr>
              <a:t>选择：</a:t>
            </a:r>
            <a:endParaRPr kumimoji="1" lang="en-US" altLang="zh-CN" sz="1400" dirty="0">
              <a:latin typeface="KaiTi" panose="02010609060101010101" pitchFamily="49" charset="-122"/>
              <a:ea typeface="KaiTi" panose="02010609060101010101" pitchFamily="49" charset="-122"/>
            </a:endParaRPr>
          </a:p>
          <a:p>
            <a:r>
              <a:rPr kumimoji="1" lang="zh-CN" altLang="en-US" sz="1400" dirty="0">
                <a:latin typeface="KaiTi" panose="02010609060101010101" pitchFamily="49" charset="-122"/>
                <a:ea typeface="KaiTi" panose="02010609060101010101" pitchFamily="49" charset="-122"/>
              </a:rPr>
              <a:t>基础概念</a:t>
            </a:r>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基础题型</a:t>
            </a:r>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保证：会做</a:t>
            </a:r>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不算错</a:t>
            </a:r>
            <a:r>
              <a:rPr kumimoji="1" lang="en-US" altLang="zh-CN" sz="1400" dirty="0">
                <a:solidFill>
                  <a:srgbClr val="223AAC"/>
                </a:solidFill>
                <a:latin typeface="KaiTi" panose="02010609060101010101" pitchFamily="49" charset="-122"/>
                <a:ea typeface="KaiTi" panose="02010609060101010101" pitchFamily="49" charset="-122"/>
              </a:rPr>
              <a:t>}</a:t>
            </a:r>
          </a:p>
          <a:p>
            <a:pPr marL="285750" indent="-285750">
              <a:buFont typeface="Arial" panose="020B0604020202020204" pitchFamily="34" charset="0"/>
              <a:buChar char="•"/>
            </a:pPr>
            <a:r>
              <a:rPr kumimoji="1" lang="zh-CN" altLang="en-US" sz="1400" dirty="0">
                <a:latin typeface="KaiTi" panose="02010609060101010101" pitchFamily="49" charset="-122"/>
                <a:ea typeface="KaiTi" panose="02010609060101010101" pitchFamily="49" charset="-122"/>
              </a:rPr>
              <a:t>大题：</a:t>
            </a:r>
            <a:endParaRPr kumimoji="1" lang="en-US" altLang="zh-CN" sz="1400" dirty="0">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基础题型</a:t>
            </a:r>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计算</a:t>
            </a:r>
            <a:endParaRPr kumimoji="1" lang="en-US" altLang="zh-CN" sz="1400" dirty="0">
              <a:solidFill>
                <a:srgbClr val="223AAC"/>
              </a:solidFill>
              <a:latin typeface="KaiTi" panose="02010609060101010101" pitchFamily="49" charset="-122"/>
              <a:ea typeface="KaiTi" panose="02010609060101010101" pitchFamily="49" charset="-122"/>
            </a:endParaRPr>
          </a:p>
          <a:p>
            <a:pPr marL="285750" indent="-285750">
              <a:buFont typeface="Arial" panose="020B0604020202020204" pitchFamily="34" charset="0"/>
              <a:buChar char="•"/>
            </a:pPr>
            <a:r>
              <a:rPr kumimoji="1" lang="zh-CN" altLang="en-US" sz="1400" dirty="0">
                <a:solidFill>
                  <a:srgbClr val="223AAC"/>
                </a:solidFill>
                <a:latin typeface="KaiTi" panose="02010609060101010101" pitchFamily="49" charset="-122"/>
                <a:ea typeface="KaiTi" panose="02010609060101010101" pitchFamily="49" charset="-122"/>
              </a:rPr>
              <a:t>实验：</a:t>
            </a:r>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书上知识点</a:t>
            </a:r>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保证：牢记</a:t>
            </a:r>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不算错</a:t>
            </a:r>
            <a:r>
              <a:rPr kumimoji="1" lang="en-US" altLang="zh-CN" sz="1400" dirty="0">
                <a:solidFill>
                  <a:srgbClr val="223AAC"/>
                </a:solidFill>
                <a:latin typeface="KaiTi" panose="02010609060101010101" pitchFamily="49" charset="-122"/>
                <a:ea typeface="KaiTi" panose="02010609060101010101" pitchFamily="49" charset="-122"/>
              </a:rPr>
              <a:t>}</a:t>
            </a: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b="1" dirty="0">
                <a:solidFill>
                  <a:srgbClr val="223AAC"/>
                </a:solidFill>
                <a:latin typeface="KaiTi" panose="02010609060101010101" pitchFamily="49" charset="-122"/>
                <a:ea typeface="KaiTi" panose="02010609060101010101" pitchFamily="49" charset="-122"/>
              </a:rPr>
              <a:t>可见：掌握「基础」</a:t>
            </a:r>
            <a:r>
              <a:rPr kumimoji="1" lang="en-US" altLang="zh-CN" sz="1400" b="1" dirty="0">
                <a:solidFill>
                  <a:srgbClr val="223AAC"/>
                </a:solidFill>
                <a:latin typeface="KaiTi" panose="02010609060101010101" pitchFamily="49" charset="-122"/>
                <a:ea typeface="KaiTi" panose="02010609060101010101" pitchFamily="49" charset="-122"/>
              </a:rPr>
              <a:t>+</a:t>
            </a:r>
            <a:r>
              <a:rPr kumimoji="1" lang="zh-CN" altLang="en-US" sz="1400" b="1" dirty="0">
                <a:solidFill>
                  <a:srgbClr val="223AAC"/>
                </a:solidFill>
                <a:latin typeface="KaiTi" panose="02010609060101010101" pitchFamily="49" charset="-122"/>
                <a:ea typeface="KaiTi" panose="02010609060101010101" pitchFamily="49" charset="-122"/>
              </a:rPr>
              <a:t>不算错是拿分关键！！！</a:t>
            </a:r>
            <a:endParaRPr kumimoji="1" lang="en-US" altLang="zh-CN" sz="1400" b="1" dirty="0">
              <a:solidFill>
                <a:srgbClr val="223AAC"/>
              </a:solidFill>
              <a:latin typeface="KaiTi" panose="02010609060101010101" pitchFamily="49" charset="-122"/>
              <a:ea typeface="KaiTi" panose="02010609060101010101" pitchFamily="49" charset="-122"/>
            </a:endParaRPr>
          </a:p>
        </p:txBody>
      </p:sp>
      <p:pic>
        <p:nvPicPr>
          <p:cNvPr id="9" name="图片 8">
            <a:extLst>
              <a:ext uri="{FF2B5EF4-FFF2-40B4-BE49-F238E27FC236}">
                <a16:creationId xmlns:a16="http://schemas.microsoft.com/office/drawing/2014/main" id="{EFC4BEED-EF6F-FD4B-A511-F95196C5A0C7}"/>
              </a:ext>
            </a:extLst>
          </p:cNvPr>
          <p:cNvPicPr>
            <a:picLocks noChangeAspect="1"/>
          </p:cNvPicPr>
          <p:nvPr/>
        </p:nvPicPr>
        <p:blipFill>
          <a:blip r:embed="rId2"/>
          <a:stretch>
            <a:fillRect/>
          </a:stretch>
        </p:blipFill>
        <p:spPr>
          <a:xfrm>
            <a:off x="3492399" y="441959"/>
            <a:ext cx="6400800" cy="5956300"/>
          </a:xfrm>
          <a:prstGeom prst="rect">
            <a:avLst/>
          </a:prstGeom>
        </p:spPr>
      </p:pic>
      <p:pic>
        <p:nvPicPr>
          <p:cNvPr id="10" name="图片 9">
            <a:extLst>
              <a:ext uri="{FF2B5EF4-FFF2-40B4-BE49-F238E27FC236}">
                <a16:creationId xmlns:a16="http://schemas.microsoft.com/office/drawing/2014/main" id="{8D38ABA4-BDE0-AB4D-8ACF-D756731612A7}"/>
              </a:ext>
            </a:extLst>
          </p:cNvPr>
          <p:cNvPicPr>
            <a:picLocks noChangeAspect="1"/>
          </p:cNvPicPr>
          <p:nvPr/>
        </p:nvPicPr>
        <p:blipFill>
          <a:blip r:embed="rId3"/>
          <a:stretch>
            <a:fillRect/>
          </a:stretch>
        </p:blipFill>
        <p:spPr>
          <a:xfrm rot="21315555">
            <a:off x="7912858" y="216417"/>
            <a:ext cx="4102100" cy="6070600"/>
          </a:xfrm>
          <a:prstGeom prst="rect">
            <a:avLst/>
          </a:prstGeom>
        </p:spPr>
      </p:pic>
      <p:sp>
        <p:nvSpPr>
          <p:cNvPr id="12" name="文本框 11">
            <a:extLst>
              <a:ext uri="{FF2B5EF4-FFF2-40B4-BE49-F238E27FC236}">
                <a16:creationId xmlns:a16="http://schemas.microsoft.com/office/drawing/2014/main" id="{7A2C5932-94A7-D54C-A5A5-A4540AB83E84}"/>
              </a:ext>
            </a:extLst>
          </p:cNvPr>
          <p:cNvSpPr txBox="1"/>
          <p:nvPr/>
        </p:nvSpPr>
        <p:spPr>
          <a:xfrm>
            <a:off x="538850" y="1090551"/>
            <a:ext cx="9354349" cy="1992661"/>
          </a:xfrm>
          <a:prstGeom prst="rect">
            <a:avLst/>
          </a:prstGeom>
          <a:noFill/>
        </p:spPr>
        <p:txBody>
          <a:bodyPr wrap="square" rtlCol="0">
            <a:spAutoFit/>
          </a:bodyPr>
          <a:lstStyle/>
          <a:p>
            <a:pPr>
              <a:lnSpc>
                <a:spcPct val="150000"/>
              </a:lnSpc>
            </a:pPr>
            <a:r>
              <a:rPr kumimoji="1" lang="zh-CN" altLang="en-US" sz="14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选择题必拿分</a:t>
            </a:r>
            <a:endParaRPr kumimoji="1" lang="en-US" altLang="zh-CN" sz="14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1</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）单选前</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6</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道</a:t>
            </a:r>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2</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）多选前</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2</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道</a:t>
            </a:r>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3</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）实验题</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4</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）大题前两道</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最后一题第一问</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endParaRPr kumimoji="1" lang="en-US" altLang="zh-CN" sz="14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11" name="矩形 10">
            <a:extLst>
              <a:ext uri="{FF2B5EF4-FFF2-40B4-BE49-F238E27FC236}">
                <a16:creationId xmlns:a16="http://schemas.microsoft.com/office/drawing/2014/main" id="{60C4F6CF-8852-1243-9EAD-38FA6EAD2844}"/>
              </a:ext>
            </a:extLst>
          </p:cNvPr>
          <p:cNvSpPr/>
          <p:nvPr/>
        </p:nvSpPr>
        <p:spPr>
          <a:xfrm rot="21193236">
            <a:off x="7918494" y="1924500"/>
            <a:ext cx="1919469" cy="2411003"/>
          </a:xfrm>
          <a:prstGeom prst="rect">
            <a:avLst/>
          </a:prstGeom>
          <a:solidFill>
            <a:srgbClr val="FF0000">
              <a:alpha val="1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矩形 13">
            <a:extLst>
              <a:ext uri="{FF2B5EF4-FFF2-40B4-BE49-F238E27FC236}">
                <a16:creationId xmlns:a16="http://schemas.microsoft.com/office/drawing/2014/main" id="{4607BCC7-EE75-F142-B956-756232249BA2}"/>
              </a:ext>
            </a:extLst>
          </p:cNvPr>
          <p:cNvSpPr/>
          <p:nvPr/>
        </p:nvSpPr>
        <p:spPr>
          <a:xfrm rot="21269699">
            <a:off x="10156445" y="3882392"/>
            <a:ext cx="1919469" cy="2411003"/>
          </a:xfrm>
          <a:prstGeom prst="rect">
            <a:avLst/>
          </a:prstGeom>
          <a:solidFill>
            <a:srgbClr val="FF0000">
              <a:alpha val="1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2071740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6AAE8D3-268D-4C44-AD74-3DB95B19BFCB}"/>
              </a:ext>
            </a:extLst>
          </p:cNvPr>
          <p:cNvSpPr txBox="1"/>
          <p:nvPr/>
        </p:nvSpPr>
        <p:spPr>
          <a:xfrm>
            <a:off x="538850" y="459740"/>
            <a:ext cx="4942702" cy="338554"/>
          </a:xfrm>
          <a:prstGeom prst="rect">
            <a:avLst/>
          </a:prstGeom>
          <a:noFill/>
        </p:spPr>
        <p:txBody>
          <a:bodyPr wrap="square" rtlCol="0">
            <a:spAutoFit/>
          </a:bodyPr>
          <a:lstStyle/>
          <a:p>
            <a:r>
              <a:rPr kumimoji="1" lang="zh-CN" altLang="en-US" sz="1600" b="1" dirty="0">
                <a:solidFill>
                  <a:srgbClr val="C00000"/>
                </a:solidFill>
                <a:latin typeface="KaiTi" panose="02010609060101010101" pitchFamily="49" charset="-122"/>
                <a:ea typeface="KaiTi" panose="02010609060101010101" pitchFamily="49" charset="-122"/>
                <a:cs typeface="Times New Roman" panose="02020603050405020304" pitchFamily="18" charset="0"/>
              </a:rPr>
              <a:t>题型拆解</a:t>
            </a:r>
            <a:r>
              <a:rPr kumimoji="1" lang="en-US" altLang="zh-CN" sz="1600" b="1" dirty="0">
                <a:solidFill>
                  <a:srgbClr val="C00000"/>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b="1" dirty="0">
                <a:solidFill>
                  <a:srgbClr val="C00000"/>
                </a:solidFill>
                <a:latin typeface="KaiTi" panose="02010609060101010101" pitchFamily="49" charset="-122"/>
                <a:ea typeface="KaiTi" panose="02010609060101010101" pitchFamily="49" charset="-122"/>
                <a:cs typeface="Times New Roman" panose="02020603050405020304" pitchFamily="18" charset="0"/>
              </a:rPr>
              <a:t>必拿分部分</a:t>
            </a:r>
          </a:p>
        </p:txBody>
      </p:sp>
      <p:pic>
        <p:nvPicPr>
          <p:cNvPr id="2" name="图片 1">
            <a:extLst>
              <a:ext uri="{FF2B5EF4-FFF2-40B4-BE49-F238E27FC236}">
                <a16:creationId xmlns:a16="http://schemas.microsoft.com/office/drawing/2014/main" id="{734B9F03-1530-A544-84D7-39B5FFAF21F6}"/>
              </a:ext>
            </a:extLst>
          </p:cNvPr>
          <p:cNvPicPr>
            <a:picLocks noChangeAspect="1"/>
          </p:cNvPicPr>
          <p:nvPr/>
        </p:nvPicPr>
        <p:blipFill>
          <a:blip r:embed="rId3"/>
          <a:stretch>
            <a:fillRect/>
          </a:stretch>
        </p:blipFill>
        <p:spPr>
          <a:xfrm>
            <a:off x="3581264" y="431800"/>
            <a:ext cx="4051300" cy="5994400"/>
          </a:xfrm>
          <a:prstGeom prst="rect">
            <a:avLst/>
          </a:prstGeom>
        </p:spPr>
      </p:pic>
      <p:pic>
        <p:nvPicPr>
          <p:cNvPr id="8" name="图片 7">
            <a:extLst>
              <a:ext uri="{FF2B5EF4-FFF2-40B4-BE49-F238E27FC236}">
                <a16:creationId xmlns:a16="http://schemas.microsoft.com/office/drawing/2014/main" id="{F4B79BD8-4227-734D-AAA4-8E485AB517BC}"/>
              </a:ext>
            </a:extLst>
          </p:cNvPr>
          <p:cNvPicPr>
            <a:picLocks noChangeAspect="1"/>
          </p:cNvPicPr>
          <p:nvPr/>
        </p:nvPicPr>
        <p:blipFill>
          <a:blip r:embed="rId4"/>
          <a:stretch>
            <a:fillRect/>
          </a:stretch>
        </p:blipFill>
        <p:spPr>
          <a:xfrm>
            <a:off x="7632564" y="488950"/>
            <a:ext cx="4229100" cy="5880100"/>
          </a:xfrm>
          <a:prstGeom prst="rect">
            <a:avLst/>
          </a:prstGeom>
        </p:spPr>
      </p:pic>
      <p:sp>
        <p:nvSpPr>
          <p:cNvPr id="11" name="文本框 10">
            <a:extLst>
              <a:ext uri="{FF2B5EF4-FFF2-40B4-BE49-F238E27FC236}">
                <a16:creationId xmlns:a16="http://schemas.microsoft.com/office/drawing/2014/main" id="{20A4B796-CB9D-7C47-9997-C4287F0D611D}"/>
              </a:ext>
            </a:extLst>
          </p:cNvPr>
          <p:cNvSpPr txBox="1"/>
          <p:nvPr/>
        </p:nvSpPr>
        <p:spPr>
          <a:xfrm>
            <a:off x="538850" y="1090551"/>
            <a:ext cx="9354349" cy="1992661"/>
          </a:xfrm>
          <a:prstGeom prst="rect">
            <a:avLst/>
          </a:prstGeom>
          <a:noFill/>
        </p:spPr>
        <p:txBody>
          <a:bodyPr wrap="square" rtlCol="0">
            <a:spAutoFit/>
          </a:bodyPr>
          <a:lstStyle/>
          <a:p>
            <a:pPr>
              <a:lnSpc>
                <a:spcPct val="150000"/>
              </a:lnSpc>
            </a:pPr>
            <a:r>
              <a:rPr kumimoji="1" lang="zh-CN" altLang="en-US" sz="14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选择题必拿分</a:t>
            </a:r>
            <a:endParaRPr kumimoji="1" lang="en-US" altLang="zh-CN" sz="14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1</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）单选前</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6</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道</a:t>
            </a:r>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2</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）多选前</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2</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道</a:t>
            </a:r>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3</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）实验题</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4</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）大题前两道</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最后一题第一问</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endParaRPr kumimoji="1" lang="en-US" altLang="zh-CN" sz="14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12" name="矩形 11">
            <a:extLst>
              <a:ext uri="{FF2B5EF4-FFF2-40B4-BE49-F238E27FC236}">
                <a16:creationId xmlns:a16="http://schemas.microsoft.com/office/drawing/2014/main" id="{D464EB43-4F86-A64D-923E-95C80E7331E6}"/>
              </a:ext>
            </a:extLst>
          </p:cNvPr>
          <p:cNvSpPr/>
          <p:nvPr/>
        </p:nvSpPr>
        <p:spPr>
          <a:xfrm>
            <a:off x="9783576" y="4093029"/>
            <a:ext cx="1919469" cy="2183852"/>
          </a:xfrm>
          <a:prstGeom prst="rect">
            <a:avLst/>
          </a:prstGeom>
          <a:solidFill>
            <a:srgbClr val="FF0000">
              <a:alpha val="1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矩形 12">
            <a:extLst>
              <a:ext uri="{FF2B5EF4-FFF2-40B4-BE49-F238E27FC236}">
                <a16:creationId xmlns:a16="http://schemas.microsoft.com/office/drawing/2014/main" id="{FDE41DB8-1E36-544A-AFD4-09398AB86AA6}"/>
              </a:ext>
            </a:extLst>
          </p:cNvPr>
          <p:cNvSpPr/>
          <p:nvPr/>
        </p:nvSpPr>
        <p:spPr>
          <a:xfrm>
            <a:off x="538850" y="3251716"/>
            <a:ext cx="2801524" cy="3146543"/>
          </a:xfrm>
          <a:prstGeom prst="rect">
            <a:avLst/>
          </a:prstGeom>
          <a:solidFill>
            <a:srgbClr val="FCED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矩形 13">
            <a:extLst>
              <a:ext uri="{FF2B5EF4-FFF2-40B4-BE49-F238E27FC236}">
                <a16:creationId xmlns:a16="http://schemas.microsoft.com/office/drawing/2014/main" id="{B43A7CDF-55C2-984F-8F65-E5B6CD7439ED}"/>
              </a:ext>
            </a:extLst>
          </p:cNvPr>
          <p:cNvSpPr/>
          <p:nvPr/>
        </p:nvSpPr>
        <p:spPr>
          <a:xfrm>
            <a:off x="538850" y="3244334"/>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15" name="文本框 14">
            <a:extLst>
              <a:ext uri="{FF2B5EF4-FFF2-40B4-BE49-F238E27FC236}">
                <a16:creationId xmlns:a16="http://schemas.microsoft.com/office/drawing/2014/main" id="{BCE60C25-956F-3344-8ADE-A3AF38C7B016}"/>
              </a:ext>
            </a:extLst>
          </p:cNvPr>
          <p:cNvSpPr txBox="1"/>
          <p:nvPr/>
        </p:nvSpPr>
        <p:spPr>
          <a:xfrm>
            <a:off x="812911" y="3294185"/>
            <a:ext cx="2413899" cy="2893100"/>
          </a:xfrm>
          <a:prstGeom prst="rect">
            <a:avLst/>
          </a:prstGeom>
          <a:noFill/>
        </p:spPr>
        <p:txBody>
          <a:bodyPr wrap="square" rtlCol="0">
            <a:spAutoFit/>
          </a:bodyPr>
          <a:lstStyle/>
          <a:p>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为什么必拿</a:t>
            </a:r>
            <a:r>
              <a:rPr kumimoji="1" lang="en-US" altLang="zh-CN" sz="1400" dirty="0">
                <a:solidFill>
                  <a:srgbClr val="223AAC"/>
                </a:solidFill>
                <a:latin typeface="KaiTi" panose="02010609060101010101" pitchFamily="49" charset="-122"/>
                <a:ea typeface="KaiTi" panose="02010609060101010101" pitchFamily="49" charset="-122"/>
              </a:rPr>
              <a:t>】</a:t>
            </a:r>
          </a:p>
          <a:p>
            <a:endParaRPr kumimoji="1" lang="en-US" altLang="zh-CN" sz="1400" dirty="0">
              <a:solidFill>
                <a:srgbClr val="223AAC"/>
              </a:solidFill>
              <a:latin typeface="KaiTi" panose="02010609060101010101" pitchFamily="49" charset="-122"/>
              <a:ea typeface="KaiTi" panose="02010609060101010101" pitchFamily="49" charset="-122"/>
            </a:endParaRPr>
          </a:p>
          <a:p>
            <a:pPr marL="285750" indent="-285750">
              <a:buFont typeface="Arial" panose="020B0604020202020204" pitchFamily="34" charset="0"/>
              <a:buChar char="•"/>
            </a:pPr>
            <a:r>
              <a:rPr kumimoji="1" lang="zh-CN" altLang="en-US" sz="1400" dirty="0">
                <a:latin typeface="KaiTi" panose="02010609060101010101" pitchFamily="49" charset="-122"/>
                <a:ea typeface="KaiTi" panose="02010609060101010101" pitchFamily="49" charset="-122"/>
              </a:rPr>
              <a:t>选择：</a:t>
            </a:r>
            <a:endParaRPr kumimoji="1" lang="en-US" altLang="zh-CN" sz="1400" dirty="0">
              <a:latin typeface="KaiTi" panose="02010609060101010101" pitchFamily="49" charset="-122"/>
              <a:ea typeface="KaiTi" panose="02010609060101010101" pitchFamily="49" charset="-122"/>
            </a:endParaRPr>
          </a:p>
          <a:p>
            <a:r>
              <a:rPr kumimoji="1" lang="zh-CN" altLang="en-US" sz="1400" dirty="0">
                <a:latin typeface="KaiTi" panose="02010609060101010101" pitchFamily="49" charset="-122"/>
                <a:ea typeface="KaiTi" panose="02010609060101010101" pitchFamily="49" charset="-122"/>
              </a:rPr>
              <a:t>基础概念</a:t>
            </a:r>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基础题型</a:t>
            </a:r>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保证：会做</a:t>
            </a:r>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不算错</a:t>
            </a:r>
            <a:r>
              <a:rPr kumimoji="1" lang="en-US" altLang="zh-CN" sz="1400" dirty="0">
                <a:solidFill>
                  <a:srgbClr val="223AAC"/>
                </a:solidFill>
                <a:latin typeface="KaiTi" panose="02010609060101010101" pitchFamily="49" charset="-122"/>
                <a:ea typeface="KaiTi" panose="02010609060101010101" pitchFamily="49" charset="-122"/>
              </a:rPr>
              <a:t>}</a:t>
            </a:r>
          </a:p>
          <a:p>
            <a:pPr marL="285750" indent="-285750">
              <a:buFont typeface="Arial" panose="020B0604020202020204" pitchFamily="34" charset="0"/>
              <a:buChar char="•"/>
            </a:pPr>
            <a:r>
              <a:rPr kumimoji="1" lang="zh-CN" altLang="en-US" sz="1400" dirty="0">
                <a:latin typeface="KaiTi" panose="02010609060101010101" pitchFamily="49" charset="-122"/>
                <a:ea typeface="KaiTi" panose="02010609060101010101" pitchFamily="49" charset="-122"/>
              </a:rPr>
              <a:t>大题：</a:t>
            </a:r>
            <a:endParaRPr kumimoji="1" lang="en-US" altLang="zh-CN" sz="1400" dirty="0">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基础题型</a:t>
            </a:r>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计算</a:t>
            </a:r>
            <a:endParaRPr kumimoji="1" lang="en-US" altLang="zh-CN" sz="1400" dirty="0">
              <a:solidFill>
                <a:srgbClr val="223AAC"/>
              </a:solidFill>
              <a:latin typeface="KaiTi" panose="02010609060101010101" pitchFamily="49" charset="-122"/>
              <a:ea typeface="KaiTi" panose="02010609060101010101" pitchFamily="49" charset="-122"/>
            </a:endParaRPr>
          </a:p>
          <a:p>
            <a:pPr marL="285750" indent="-285750">
              <a:buFont typeface="Arial" panose="020B0604020202020204" pitchFamily="34" charset="0"/>
              <a:buChar char="•"/>
            </a:pPr>
            <a:r>
              <a:rPr kumimoji="1" lang="zh-CN" altLang="en-US" sz="1400" dirty="0">
                <a:solidFill>
                  <a:srgbClr val="223AAC"/>
                </a:solidFill>
                <a:latin typeface="KaiTi" panose="02010609060101010101" pitchFamily="49" charset="-122"/>
                <a:ea typeface="KaiTi" panose="02010609060101010101" pitchFamily="49" charset="-122"/>
              </a:rPr>
              <a:t>实验：</a:t>
            </a:r>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书上知识点</a:t>
            </a:r>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保证：牢记</a:t>
            </a:r>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不算错</a:t>
            </a:r>
            <a:r>
              <a:rPr kumimoji="1" lang="en-US" altLang="zh-CN" sz="1400" dirty="0">
                <a:solidFill>
                  <a:srgbClr val="223AAC"/>
                </a:solidFill>
                <a:latin typeface="KaiTi" panose="02010609060101010101" pitchFamily="49" charset="-122"/>
                <a:ea typeface="KaiTi" panose="02010609060101010101" pitchFamily="49" charset="-122"/>
              </a:rPr>
              <a:t>}</a:t>
            </a: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b="1" dirty="0">
                <a:solidFill>
                  <a:srgbClr val="223AAC"/>
                </a:solidFill>
                <a:latin typeface="KaiTi" panose="02010609060101010101" pitchFamily="49" charset="-122"/>
                <a:ea typeface="KaiTi" panose="02010609060101010101" pitchFamily="49" charset="-122"/>
              </a:rPr>
              <a:t>可见：掌握「基础」</a:t>
            </a:r>
            <a:r>
              <a:rPr kumimoji="1" lang="en-US" altLang="zh-CN" sz="1400" b="1" dirty="0">
                <a:solidFill>
                  <a:srgbClr val="223AAC"/>
                </a:solidFill>
                <a:latin typeface="KaiTi" panose="02010609060101010101" pitchFamily="49" charset="-122"/>
                <a:ea typeface="KaiTi" panose="02010609060101010101" pitchFamily="49" charset="-122"/>
              </a:rPr>
              <a:t>+</a:t>
            </a:r>
            <a:r>
              <a:rPr kumimoji="1" lang="zh-CN" altLang="en-US" sz="1400" b="1" dirty="0">
                <a:solidFill>
                  <a:srgbClr val="223AAC"/>
                </a:solidFill>
                <a:latin typeface="KaiTi" panose="02010609060101010101" pitchFamily="49" charset="-122"/>
                <a:ea typeface="KaiTi" panose="02010609060101010101" pitchFamily="49" charset="-122"/>
              </a:rPr>
              <a:t>不算错是拿分关键！！！</a:t>
            </a:r>
            <a:endParaRPr kumimoji="1" lang="en-US" altLang="zh-CN" sz="1400" b="1" dirty="0">
              <a:solidFill>
                <a:srgbClr val="223AAC"/>
              </a:solidFill>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12913855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42217" y="946731"/>
            <a:ext cx="9907565" cy="5632311"/>
          </a:xfrm>
          <a:prstGeom prst="rect">
            <a:avLst/>
          </a:prstGeom>
          <a:noFill/>
          <a:ln>
            <a:noFill/>
          </a:ln>
        </p:spPr>
        <p:txBody>
          <a:bodyPr wrap="square" rtlCol="0" anchor="t">
            <a:spAutoFit/>
          </a:bodyPr>
          <a:lstStyle/>
          <a:p>
            <a:pPr algn="ctr"/>
            <a:r>
              <a:rPr lang="en-US" altLang="zh-CN" sz="7200" b="1" dirty="0">
                <a:solidFill>
                  <a:srgbClr val="7030A0"/>
                </a:solidFill>
                <a:effectLst>
                  <a:reflection blurRad="6350" stA="53000" endA="300" endPos="35500" dir="5400000" sy="-90000" algn="bl" rotWithShape="0"/>
                </a:effectLst>
              </a:rPr>
              <a:t>Chapter-5</a:t>
            </a:r>
          </a:p>
          <a:p>
            <a:pPr algn="ctr"/>
            <a:r>
              <a:rPr lang="en-US" altLang="zh-CN" sz="7200" b="1" dirty="0">
                <a:solidFill>
                  <a:srgbClr val="7030A0"/>
                </a:solidFill>
                <a:effectLst>
                  <a:reflection blurRad="6350" stA="53000" endA="300" endPos="35500" dir="5400000" sy="-90000" algn="bl" rotWithShape="0"/>
                </a:effectLst>
              </a:rPr>
              <a:t> </a:t>
            </a:r>
          </a:p>
          <a:p>
            <a:pPr algn="ctr"/>
            <a:r>
              <a:rPr lang="zh-CN" altLang="en-US" sz="7200" b="1" dirty="0">
                <a:solidFill>
                  <a:srgbClr val="7030A0"/>
                </a:solidFill>
                <a:effectLst>
                  <a:reflection blurRad="6350" stA="53000" endA="300" endPos="35500" dir="5400000" sy="-90000" algn="bl" rotWithShape="0"/>
                </a:effectLst>
              </a:rPr>
              <a:t>高中物理</a:t>
            </a:r>
            <a:r>
              <a:rPr lang="en-US" altLang="zh-CN" sz="7200" b="1" dirty="0">
                <a:solidFill>
                  <a:srgbClr val="7030A0"/>
                </a:solidFill>
                <a:effectLst>
                  <a:reflection blurRad="6350" stA="53000" endA="300" endPos="35500" dir="5400000" sy="-90000" algn="bl" rotWithShape="0"/>
                </a:effectLst>
              </a:rPr>
              <a:t>-</a:t>
            </a:r>
            <a:r>
              <a:rPr lang="zh-CN" altLang="en-US" sz="7200" b="1" dirty="0">
                <a:solidFill>
                  <a:srgbClr val="7030A0"/>
                </a:solidFill>
                <a:effectLst>
                  <a:reflection blurRad="6350" stA="53000" endA="300" endPos="35500" dir="5400000" sy="-90000" algn="bl" rotWithShape="0"/>
                </a:effectLst>
              </a:rPr>
              <a:t>最重要的板块：力学与运动类</a:t>
            </a:r>
            <a:r>
              <a:rPr lang="en-US" altLang="zh-CN" sz="7200" b="1" dirty="0">
                <a:solidFill>
                  <a:srgbClr val="7030A0"/>
                </a:solidFill>
                <a:effectLst>
                  <a:reflection blurRad="6350" stA="53000" endA="300" endPos="35500" dir="5400000" sy="-90000" algn="bl" rotWithShape="0"/>
                </a:effectLst>
              </a:rPr>
              <a:t>/</a:t>
            </a:r>
          </a:p>
          <a:p>
            <a:pPr algn="ctr"/>
            <a:r>
              <a:rPr lang="zh-CN" altLang="en-US" sz="7200" b="1" dirty="0">
                <a:solidFill>
                  <a:srgbClr val="7030A0"/>
                </a:solidFill>
                <a:effectLst>
                  <a:reflection blurRad="6350" stA="53000" endA="300" endPos="35500" dir="5400000" sy="-90000" algn="bl" rotWithShape="0"/>
                </a:effectLst>
              </a:rPr>
              <a:t>电场与磁场类题目</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48437175-892E-3F4C-AC0F-E093B6867A88}"/>
              </a:ext>
            </a:extLst>
          </p:cNvPr>
          <p:cNvSpPr/>
          <p:nvPr/>
        </p:nvSpPr>
        <p:spPr>
          <a:xfrm>
            <a:off x="574024" y="1347341"/>
            <a:ext cx="11043316" cy="3353553"/>
          </a:xfrm>
          <a:prstGeom prst="rect">
            <a:avLst/>
          </a:prstGeom>
          <a:solidFill>
            <a:schemeClr val="bg1">
              <a:lumMod val="95000"/>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 name="文本框 3">
            <a:extLst>
              <a:ext uri="{FF2B5EF4-FFF2-40B4-BE49-F238E27FC236}">
                <a16:creationId xmlns:a16="http://schemas.microsoft.com/office/drawing/2014/main" id="{F5FA99D3-4736-A246-A135-8AE4C9927328}"/>
              </a:ext>
            </a:extLst>
          </p:cNvPr>
          <p:cNvSpPr txBox="1"/>
          <p:nvPr/>
        </p:nvSpPr>
        <p:spPr>
          <a:xfrm>
            <a:off x="538850" y="459740"/>
            <a:ext cx="4942702" cy="338554"/>
          </a:xfrm>
          <a:prstGeom prst="rect">
            <a:avLst/>
          </a:prstGeom>
          <a:noFill/>
        </p:spPr>
        <p:txBody>
          <a:bodyPr wrap="square" rtlCol="0">
            <a:spAutoFit/>
          </a:bodyPr>
          <a:lstStyle/>
          <a:p>
            <a:r>
              <a:rPr kumimoji="1" lang="en-US" altLang="zh-CN"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1.</a:t>
            </a:r>
            <a:r>
              <a:rPr kumimoji="1" lang="zh-CN" altLang="en-US"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力与运动板块：</a:t>
            </a:r>
          </a:p>
        </p:txBody>
      </p:sp>
      <p:sp>
        <p:nvSpPr>
          <p:cNvPr id="5" name="矩形 4">
            <a:extLst>
              <a:ext uri="{FF2B5EF4-FFF2-40B4-BE49-F238E27FC236}">
                <a16:creationId xmlns:a16="http://schemas.microsoft.com/office/drawing/2014/main" id="{FF0E6817-B62F-4E44-80B3-EAE331DC2CB9}"/>
              </a:ext>
            </a:extLst>
          </p:cNvPr>
          <p:cNvSpPr/>
          <p:nvPr/>
        </p:nvSpPr>
        <p:spPr>
          <a:xfrm>
            <a:off x="633528" y="1393399"/>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6" name="文本框 5">
            <a:extLst>
              <a:ext uri="{FF2B5EF4-FFF2-40B4-BE49-F238E27FC236}">
                <a16:creationId xmlns:a16="http://schemas.microsoft.com/office/drawing/2014/main" id="{46CA4B85-B5BE-C24B-94A2-47ED81E37822}"/>
              </a:ext>
            </a:extLst>
          </p:cNvPr>
          <p:cNvSpPr txBox="1"/>
          <p:nvPr/>
        </p:nvSpPr>
        <p:spPr>
          <a:xfrm>
            <a:off x="968747" y="1381367"/>
            <a:ext cx="9354349" cy="3283078"/>
          </a:xfrm>
          <a:prstGeom prst="rect">
            <a:avLst/>
          </a:prstGeom>
          <a:noFill/>
        </p:spPr>
        <p:txBody>
          <a:bodyPr wrap="square" rtlCol="0">
            <a:spAutoFit/>
          </a:bodyPr>
          <a:lstStyle/>
          <a:p>
            <a:pPr>
              <a:lnSpc>
                <a:spcPct val="150000"/>
              </a:lnSpc>
            </a:pP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Step1.</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理解所有书上概念</a:t>
            </a:r>
            <a:endPar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具体化理解概念「思维导图」</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u="sng"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所有公式都要能够自己推导！！！</a:t>
            </a:r>
            <a:endParaRPr kumimoji="1" lang="en-US" altLang="zh-CN" sz="1400" u="sng"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Step2.</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解题</a:t>
            </a: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细</a:t>
            </a: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p>
          <a:p>
            <a:pPr>
              <a:lnSpc>
                <a:spcPct val="150000"/>
              </a:lnSpc>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按照「方法」做题</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划分每一步的逻辑</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Step3. {</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模型化</a:t>
            </a: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训练速度</a:t>
            </a: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p>
          <a:p>
            <a:pPr>
              <a:lnSpc>
                <a:spcPct val="150000"/>
              </a:lnSpc>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刷题：</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总结模型！</a:t>
            </a:r>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训练速度：</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1</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）蒙上答案迅速反应步骤</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2</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）总结题目类型</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文本框 6">
            <a:extLst>
              <a:ext uri="{FF2B5EF4-FFF2-40B4-BE49-F238E27FC236}">
                <a16:creationId xmlns:a16="http://schemas.microsoft.com/office/drawing/2014/main" id="{5C0E9FAD-86FB-6444-A3D8-9DEBA4E38E22}"/>
              </a:ext>
            </a:extLst>
          </p:cNvPr>
          <p:cNvSpPr txBox="1"/>
          <p:nvPr/>
        </p:nvSpPr>
        <p:spPr>
          <a:xfrm>
            <a:off x="582977" y="5145112"/>
            <a:ext cx="8263801" cy="738664"/>
          </a:xfrm>
          <a:prstGeom prst="rect">
            <a:avLst/>
          </a:prstGeom>
          <a:noFill/>
        </p:spPr>
        <p:txBody>
          <a:bodyPr wrap="none" rtlCol="0">
            <a:spAutoFit/>
          </a:bodyPr>
          <a:lstStyle/>
          <a:p>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强调！</a:t>
            </a:r>
            <a:r>
              <a:rPr kumimoji="1" lang="en-US" altLang="zh-CN" sz="1400" dirty="0">
                <a:solidFill>
                  <a:srgbClr val="223AAC"/>
                </a:solidFill>
                <a:latin typeface="KaiTi" panose="02010609060101010101" pitchFamily="49" charset="-122"/>
                <a:ea typeface="KaiTi" panose="02010609060101010101" pitchFamily="49" charset="-122"/>
              </a:rPr>
              <a:t>】</a:t>
            </a: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一定要先细做题 「弄懂一道题型」</a:t>
            </a:r>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再加快速度「模版化」，在平常「限时训练」是上分秘诀！！</a:t>
            </a:r>
          </a:p>
        </p:txBody>
      </p:sp>
      <p:cxnSp>
        <p:nvCxnSpPr>
          <p:cNvPr id="8" name="直线连接符 7">
            <a:extLst>
              <a:ext uri="{FF2B5EF4-FFF2-40B4-BE49-F238E27FC236}">
                <a16:creationId xmlns:a16="http://schemas.microsoft.com/office/drawing/2014/main" id="{21482DC0-3144-024F-BF25-1A61FFF454A7}"/>
              </a:ext>
            </a:extLst>
          </p:cNvPr>
          <p:cNvCxnSpPr>
            <a:cxnSpLocks/>
          </p:cNvCxnSpPr>
          <p:nvPr/>
        </p:nvCxnSpPr>
        <p:spPr>
          <a:xfrm>
            <a:off x="582977" y="4980918"/>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9" name="直线连接符 8">
            <a:extLst>
              <a:ext uri="{FF2B5EF4-FFF2-40B4-BE49-F238E27FC236}">
                <a16:creationId xmlns:a16="http://schemas.microsoft.com/office/drawing/2014/main" id="{9A01DCFA-C36E-8142-A5D9-0C121720ED2B}"/>
              </a:ext>
            </a:extLst>
          </p:cNvPr>
          <p:cNvCxnSpPr>
            <a:cxnSpLocks/>
          </p:cNvCxnSpPr>
          <p:nvPr/>
        </p:nvCxnSpPr>
        <p:spPr>
          <a:xfrm>
            <a:off x="582977" y="6163794"/>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65468746-7002-814C-B082-226CCF9BD3C1}"/>
              </a:ext>
            </a:extLst>
          </p:cNvPr>
          <p:cNvSpPr/>
          <p:nvPr/>
        </p:nvSpPr>
        <p:spPr>
          <a:xfrm>
            <a:off x="968747" y="1393400"/>
            <a:ext cx="2959197" cy="197795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21559373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B63A571E-2F89-F74F-8875-5269527B170A}"/>
              </a:ext>
            </a:extLst>
          </p:cNvPr>
          <p:cNvSpPr/>
          <p:nvPr/>
        </p:nvSpPr>
        <p:spPr>
          <a:xfrm>
            <a:off x="609559" y="2737922"/>
            <a:ext cx="2384364" cy="3660337"/>
          </a:xfrm>
          <a:prstGeom prst="rect">
            <a:avLst/>
          </a:prstGeom>
          <a:solidFill>
            <a:srgbClr val="FCED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AD439BBB-1E1D-7344-9A13-86EEDF550E12}"/>
              </a:ext>
            </a:extLst>
          </p:cNvPr>
          <p:cNvSpPr txBox="1"/>
          <p:nvPr/>
        </p:nvSpPr>
        <p:spPr>
          <a:xfrm>
            <a:off x="538850" y="1090551"/>
            <a:ext cx="9354349" cy="1020921"/>
          </a:xfrm>
          <a:prstGeom prst="rect">
            <a:avLst/>
          </a:prstGeom>
          <a:noFill/>
        </p:spPr>
        <p:txBody>
          <a:bodyPr wrap="square" rtlCol="0">
            <a:spAutoFit/>
          </a:bodyPr>
          <a:lstStyle/>
          <a:p>
            <a:pPr>
              <a:lnSpc>
                <a:spcPct val="150000"/>
              </a:lnSpc>
            </a:pP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Step1.</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理解所有书上概念</a:t>
            </a:r>
            <a:endPar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具体化理解概念「思维导图」</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u="sng"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所有公式都要能够自己推导！！！</a:t>
            </a:r>
            <a:endParaRPr kumimoji="1" lang="en-US" altLang="zh-CN" sz="1400" u="sng"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6" name="矩形 5">
            <a:extLst>
              <a:ext uri="{FF2B5EF4-FFF2-40B4-BE49-F238E27FC236}">
                <a16:creationId xmlns:a16="http://schemas.microsoft.com/office/drawing/2014/main" id="{F3F0AD5B-CF0C-9044-84C6-890E3379EA33}"/>
              </a:ext>
            </a:extLst>
          </p:cNvPr>
          <p:cNvSpPr/>
          <p:nvPr/>
        </p:nvSpPr>
        <p:spPr>
          <a:xfrm>
            <a:off x="693629" y="2882386"/>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491CFD39-FC30-324E-BD0A-ACD4C0CF6E63}"/>
              </a:ext>
            </a:extLst>
          </p:cNvPr>
          <p:cNvSpPr txBox="1"/>
          <p:nvPr/>
        </p:nvSpPr>
        <p:spPr>
          <a:xfrm>
            <a:off x="693907" y="3251717"/>
            <a:ext cx="2201693" cy="2677656"/>
          </a:xfrm>
          <a:prstGeom prst="rect">
            <a:avLst/>
          </a:prstGeom>
          <a:noFill/>
        </p:spPr>
        <p:txBody>
          <a:bodyPr wrap="square" rtlCol="0">
            <a:spAutoFit/>
          </a:bodyPr>
          <a:lstStyle/>
          <a:p>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理解概念</a:t>
            </a:r>
            <a:r>
              <a:rPr kumimoji="1" lang="en-US" altLang="zh-CN" sz="1400" dirty="0">
                <a:solidFill>
                  <a:srgbClr val="223AAC"/>
                </a:solidFill>
                <a:latin typeface="KaiTi" panose="02010609060101010101" pitchFamily="49" charset="-122"/>
                <a:ea typeface="KaiTi" panose="02010609060101010101" pitchFamily="49" charset="-122"/>
              </a:rPr>
              <a:t>】</a:t>
            </a: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latin typeface="KaiTi" panose="02010609060101010101" pitchFamily="49" charset="-122"/>
                <a:ea typeface="KaiTi" panose="02010609060101010101" pitchFamily="49" charset="-122"/>
              </a:rPr>
              <a:t>集体化理解概念</a:t>
            </a:r>
            <a:endParaRPr kumimoji="1" lang="en-US" altLang="zh-CN" sz="1400" dirty="0">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*联系生活现象：</a:t>
            </a:r>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离心运动</a:t>
            </a:r>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现象</a:t>
            </a:r>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原理</a:t>
            </a:r>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重点</a:t>
            </a:r>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即：</a:t>
            </a:r>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b="1" dirty="0">
              <a:solidFill>
                <a:srgbClr val="223AAC"/>
              </a:solidFill>
              <a:latin typeface="KaiTi" panose="02010609060101010101" pitchFamily="49" charset="-122"/>
              <a:ea typeface="KaiTi" panose="02010609060101010101" pitchFamily="49" charset="-122"/>
            </a:endParaRPr>
          </a:p>
          <a:p>
            <a:pPr algn="ctr"/>
            <a:r>
              <a:rPr kumimoji="1" lang="en-US" altLang="zh-CN" sz="1400" b="1" dirty="0">
                <a:solidFill>
                  <a:srgbClr val="223AAC"/>
                </a:solidFill>
                <a:latin typeface="KaiTi" panose="02010609060101010101" pitchFamily="49" charset="-122"/>
                <a:ea typeface="KaiTi" panose="02010609060101010101" pitchFamily="49" charset="-122"/>
              </a:rPr>
              <a:t>{</a:t>
            </a:r>
            <a:r>
              <a:rPr kumimoji="1" lang="zh-CN" altLang="en-US" sz="1400" b="1" dirty="0">
                <a:solidFill>
                  <a:srgbClr val="223AAC"/>
                </a:solidFill>
                <a:latin typeface="KaiTi" panose="02010609060101010101" pitchFamily="49" charset="-122"/>
                <a:ea typeface="KaiTi" panose="02010609060101010101" pitchFamily="49" charset="-122"/>
              </a:rPr>
              <a:t>用生活现象理解物理量</a:t>
            </a:r>
            <a:br>
              <a:rPr kumimoji="1" lang="en-US" altLang="zh-CN" sz="1400" b="1" dirty="0">
                <a:solidFill>
                  <a:srgbClr val="223AAC"/>
                </a:solidFill>
                <a:latin typeface="KaiTi" panose="02010609060101010101" pitchFamily="49" charset="-122"/>
                <a:ea typeface="KaiTi" panose="02010609060101010101" pitchFamily="49" charset="-122"/>
              </a:rPr>
            </a:br>
            <a:r>
              <a:rPr kumimoji="1" lang="zh-CN" altLang="en-US" sz="1400" b="1" dirty="0">
                <a:solidFill>
                  <a:srgbClr val="223AAC"/>
                </a:solidFill>
                <a:latin typeface="KaiTi" panose="02010609060101010101" pitchFamily="49" charset="-122"/>
                <a:ea typeface="KaiTi" panose="02010609060101010101" pitchFamily="49" charset="-122"/>
              </a:rPr>
              <a:t>的本质属性</a:t>
            </a:r>
            <a:r>
              <a:rPr kumimoji="1" lang="en-US" altLang="zh-CN" sz="1400" b="1" dirty="0">
                <a:solidFill>
                  <a:srgbClr val="223AAC"/>
                </a:solidFill>
                <a:latin typeface="KaiTi" panose="02010609060101010101" pitchFamily="49" charset="-122"/>
                <a:ea typeface="KaiTi" panose="02010609060101010101" pitchFamily="49" charset="-122"/>
              </a:rPr>
              <a:t>}</a:t>
            </a:r>
            <a:endParaRPr kumimoji="1" lang="en-US" altLang="zh-CN" sz="1400" dirty="0">
              <a:solidFill>
                <a:srgbClr val="223AAC"/>
              </a:solidFill>
              <a:latin typeface="KaiTi" panose="02010609060101010101" pitchFamily="49" charset="-122"/>
              <a:ea typeface="KaiTi" panose="02010609060101010101" pitchFamily="49" charset="-122"/>
            </a:endParaRPr>
          </a:p>
        </p:txBody>
      </p:sp>
      <p:sp>
        <p:nvSpPr>
          <p:cNvPr id="15" name="文本框 14">
            <a:extLst>
              <a:ext uri="{FF2B5EF4-FFF2-40B4-BE49-F238E27FC236}">
                <a16:creationId xmlns:a16="http://schemas.microsoft.com/office/drawing/2014/main" id="{DC4EA1E4-F5BC-F04C-AE1A-903DAA7A7D93}"/>
              </a:ext>
            </a:extLst>
          </p:cNvPr>
          <p:cNvSpPr txBox="1"/>
          <p:nvPr/>
        </p:nvSpPr>
        <p:spPr>
          <a:xfrm>
            <a:off x="538850" y="459740"/>
            <a:ext cx="4942702" cy="338554"/>
          </a:xfrm>
          <a:prstGeom prst="rect">
            <a:avLst/>
          </a:prstGeom>
          <a:noFill/>
        </p:spPr>
        <p:txBody>
          <a:bodyPr wrap="square" rtlCol="0">
            <a:spAutoFit/>
          </a:bodyPr>
          <a:lstStyle/>
          <a:p>
            <a:r>
              <a:rPr kumimoji="1" lang="en-US" altLang="zh-CN"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1.</a:t>
            </a:r>
            <a:r>
              <a:rPr kumimoji="1" lang="zh-CN" altLang="en-US"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力与运动板块：</a:t>
            </a:r>
          </a:p>
        </p:txBody>
      </p:sp>
      <p:pic>
        <p:nvPicPr>
          <p:cNvPr id="2" name="图片 1">
            <a:extLst>
              <a:ext uri="{FF2B5EF4-FFF2-40B4-BE49-F238E27FC236}">
                <a16:creationId xmlns:a16="http://schemas.microsoft.com/office/drawing/2014/main" id="{2A40A1EF-0AA5-AC4A-AEF2-A5AD9764304F}"/>
              </a:ext>
            </a:extLst>
          </p:cNvPr>
          <p:cNvPicPr>
            <a:picLocks noChangeAspect="1"/>
          </p:cNvPicPr>
          <p:nvPr/>
        </p:nvPicPr>
        <p:blipFill>
          <a:blip r:embed="rId2"/>
          <a:stretch>
            <a:fillRect/>
          </a:stretch>
        </p:blipFill>
        <p:spPr>
          <a:xfrm>
            <a:off x="3583379" y="688769"/>
            <a:ext cx="8259011" cy="5709490"/>
          </a:xfrm>
          <a:prstGeom prst="rect">
            <a:avLst/>
          </a:prstGeom>
          <a:ln>
            <a:solidFill>
              <a:srgbClr val="C00000"/>
            </a:solidFill>
          </a:ln>
        </p:spPr>
      </p:pic>
    </p:spTree>
    <p:extLst>
      <p:ext uri="{BB962C8B-B14F-4D97-AF65-F5344CB8AC3E}">
        <p14:creationId xmlns:p14="http://schemas.microsoft.com/office/powerpoint/2010/main" val="11266767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B63A571E-2F89-F74F-8875-5269527B170A}"/>
              </a:ext>
            </a:extLst>
          </p:cNvPr>
          <p:cNvSpPr/>
          <p:nvPr/>
        </p:nvSpPr>
        <p:spPr>
          <a:xfrm>
            <a:off x="609559" y="2737922"/>
            <a:ext cx="2384364" cy="3660337"/>
          </a:xfrm>
          <a:prstGeom prst="rect">
            <a:avLst/>
          </a:prstGeom>
          <a:solidFill>
            <a:srgbClr val="FCED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AD439BBB-1E1D-7344-9A13-86EEDF550E12}"/>
              </a:ext>
            </a:extLst>
          </p:cNvPr>
          <p:cNvSpPr txBox="1"/>
          <p:nvPr/>
        </p:nvSpPr>
        <p:spPr>
          <a:xfrm>
            <a:off x="538850" y="1090551"/>
            <a:ext cx="9354349" cy="1020921"/>
          </a:xfrm>
          <a:prstGeom prst="rect">
            <a:avLst/>
          </a:prstGeom>
          <a:noFill/>
        </p:spPr>
        <p:txBody>
          <a:bodyPr wrap="square" rtlCol="0">
            <a:spAutoFit/>
          </a:bodyPr>
          <a:lstStyle/>
          <a:p>
            <a:pPr>
              <a:lnSpc>
                <a:spcPct val="150000"/>
              </a:lnSpc>
            </a:pP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Step1.</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理解所有书上概念</a:t>
            </a:r>
            <a:endPar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具体化理解概念「思维导图」</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u="sng"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所有公式都要能够自己推导！！！</a:t>
            </a:r>
            <a:endParaRPr kumimoji="1" lang="en-US" altLang="zh-CN" sz="1400" u="sng"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6" name="矩形 5">
            <a:extLst>
              <a:ext uri="{FF2B5EF4-FFF2-40B4-BE49-F238E27FC236}">
                <a16:creationId xmlns:a16="http://schemas.microsoft.com/office/drawing/2014/main" id="{F3F0AD5B-CF0C-9044-84C6-890E3379EA33}"/>
              </a:ext>
            </a:extLst>
          </p:cNvPr>
          <p:cNvSpPr/>
          <p:nvPr/>
        </p:nvSpPr>
        <p:spPr>
          <a:xfrm>
            <a:off x="693629" y="2882386"/>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491CFD39-FC30-324E-BD0A-ACD4C0CF6E63}"/>
              </a:ext>
            </a:extLst>
          </p:cNvPr>
          <p:cNvSpPr txBox="1"/>
          <p:nvPr/>
        </p:nvSpPr>
        <p:spPr>
          <a:xfrm>
            <a:off x="693907" y="3251717"/>
            <a:ext cx="2201693" cy="2677656"/>
          </a:xfrm>
          <a:prstGeom prst="rect">
            <a:avLst/>
          </a:prstGeom>
          <a:noFill/>
        </p:spPr>
        <p:txBody>
          <a:bodyPr wrap="square" rtlCol="0">
            <a:spAutoFit/>
          </a:bodyPr>
          <a:lstStyle/>
          <a:p>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公式推导</a:t>
            </a:r>
            <a:r>
              <a:rPr kumimoji="1" lang="en-US" altLang="zh-CN" sz="1400" dirty="0">
                <a:solidFill>
                  <a:srgbClr val="223AAC"/>
                </a:solidFill>
                <a:latin typeface="KaiTi" panose="02010609060101010101" pitchFamily="49" charset="-122"/>
                <a:ea typeface="KaiTi" panose="02010609060101010101" pitchFamily="49" charset="-122"/>
              </a:rPr>
              <a:t>】</a:t>
            </a:r>
          </a:p>
          <a:p>
            <a:r>
              <a:rPr kumimoji="1" lang="zh-CN" altLang="en-US" sz="1400" dirty="0">
                <a:latin typeface="KaiTi" panose="02010609060101010101" pitchFamily="49" charset="-122"/>
                <a:ea typeface="KaiTi" panose="02010609060101010101" pitchFamily="49" charset="-122"/>
              </a:rPr>
              <a:t>公式的「变体」非常多</a:t>
            </a:r>
            <a:endParaRPr kumimoji="1" lang="en-US" altLang="zh-CN" sz="1400" dirty="0">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*万有引力：</a:t>
            </a:r>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「原理式」</a:t>
            </a:r>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「求解公式」</a:t>
            </a:r>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重点</a:t>
            </a:r>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即：</a:t>
            </a:r>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b="1" dirty="0">
              <a:solidFill>
                <a:srgbClr val="223AAC"/>
              </a:solidFill>
              <a:latin typeface="KaiTi" panose="02010609060101010101" pitchFamily="49" charset="-122"/>
              <a:ea typeface="KaiTi" panose="02010609060101010101" pitchFamily="49" charset="-122"/>
            </a:endParaRPr>
          </a:p>
          <a:p>
            <a:pPr algn="ctr"/>
            <a:r>
              <a:rPr kumimoji="1" lang="en-US" altLang="zh-CN" sz="1400" b="1" dirty="0">
                <a:solidFill>
                  <a:srgbClr val="223AAC"/>
                </a:solidFill>
                <a:latin typeface="KaiTi" panose="02010609060101010101" pitchFamily="49" charset="-122"/>
                <a:ea typeface="KaiTi" panose="02010609060101010101" pitchFamily="49" charset="-122"/>
              </a:rPr>
              <a:t>{</a:t>
            </a:r>
            <a:r>
              <a:rPr kumimoji="1" lang="zh-CN" altLang="en-US" sz="1400" b="1" dirty="0">
                <a:solidFill>
                  <a:srgbClr val="223AAC"/>
                </a:solidFill>
                <a:latin typeface="KaiTi" panose="02010609060101010101" pitchFamily="49" charset="-122"/>
                <a:ea typeface="KaiTi" panose="02010609060101010101" pitchFamily="49" charset="-122"/>
              </a:rPr>
              <a:t>公式一定自己推导一遍</a:t>
            </a:r>
            <a:r>
              <a:rPr kumimoji="1" lang="en-US" altLang="zh-CN" sz="1400" b="1" dirty="0">
                <a:solidFill>
                  <a:srgbClr val="223AAC"/>
                </a:solidFill>
                <a:latin typeface="KaiTi" panose="02010609060101010101" pitchFamily="49" charset="-122"/>
                <a:ea typeface="KaiTi" panose="02010609060101010101" pitchFamily="49" charset="-122"/>
              </a:rPr>
              <a:t>}</a:t>
            </a:r>
          </a:p>
          <a:p>
            <a:pPr algn="ctr"/>
            <a:r>
              <a:rPr kumimoji="1" lang="en-US" altLang="zh-CN" sz="1400" b="1" dirty="0">
                <a:solidFill>
                  <a:srgbClr val="223AAC"/>
                </a:solidFill>
                <a:latin typeface="KaiTi" panose="02010609060101010101" pitchFamily="49" charset="-122"/>
                <a:ea typeface="KaiTi" panose="02010609060101010101" pitchFamily="49" charset="-122"/>
              </a:rPr>
              <a:t>+</a:t>
            </a:r>
          </a:p>
          <a:p>
            <a:pPr algn="ctr"/>
            <a:r>
              <a:rPr kumimoji="1" lang="en-US" altLang="zh-CN" sz="1400" b="1" dirty="0">
                <a:solidFill>
                  <a:srgbClr val="223AAC"/>
                </a:solidFill>
                <a:latin typeface="KaiTi" panose="02010609060101010101" pitchFamily="49" charset="-122"/>
                <a:ea typeface="KaiTi" panose="02010609060101010101" pitchFamily="49" charset="-122"/>
              </a:rPr>
              <a:t>{</a:t>
            </a:r>
            <a:r>
              <a:rPr kumimoji="1" lang="zh-CN" altLang="en-US" sz="1400" b="1" dirty="0">
                <a:solidFill>
                  <a:srgbClr val="223AAC"/>
                </a:solidFill>
                <a:latin typeface="KaiTi" panose="02010609060101010101" pitchFamily="49" charset="-122"/>
                <a:ea typeface="KaiTi" panose="02010609060101010101" pitchFamily="49" charset="-122"/>
              </a:rPr>
              <a:t>记忆变式加快考试速度</a:t>
            </a:r>
            <a:r>
              <a:rPr kumimoji="1" lang="en-US" altLang="zh-CN" sz="1400" b="1" dirty="0">
                <a:solidFill>
                  <a:srgbClr val="223AAC"/>
                </a:solidFill>
                <a:latin typeface="KaiTi" panose="02010609060101010101" pitchFamily="49" charset="-122"/>
                <a:ea typeface="KaiTi" panose="02010609060101010101" pitchFamily="49" charset="-122"/>
              </a:rPr>
              <a:t>}</a:t>
            </a:r>
            <a:endParaRPr kumimoji="1" lang="en-US" altLang="zh-CN" sz="1400" dirty="0">
              <a:solidFill>
                <a:srgbClr val="223AAC"/>
              </a:solidFill>
              <a:latin typeface="KaiTi" panose="02010609060101010101" pitchFamily="49" charset="-122"/>
              <a:ea typeface="KaiTi" panose="02010609060101010101" pitchFamily="49" charset="-122"/>
            </a:endParaRPr>
          </a:p>
        </p:txBody>
      </p:sp>
      <p:sp>
        <p:nvSpPr>
          <p:cNvPr id="15" name="文本框 14">
            <a:extLst>
              <a:ext uri="{FF2B5EF4-FFF2-40B4-BE49-F238E27FC236}">
                <a16:creationId xmlns:a16="http://schemas.microsoft.com/office/drawing/2014/main" id="{DC4EA1E4-F5BC-F04C-AE1A-903DAA7A7D93}"/>
              </a:ext>
            </a:extLst>
          </p:cNvPr>
          <p:cNvSpPr txBox="1"/>
          <p:nvPr/>
        </p:nvSpPr>
        <p:spPr>
          <a:xfrm>
            <a:off x="538850" y="459740"/>
            <a:ext cx="4942702" cy="338554"/>
          </a:xfrm>
          <a:prstGeom prst="rect">
            <a:avLst/>
          </a:prstGeom>
          <a:noFill/>
        </p:spPr>
        <p:txBody>
          <a:bodyPr wrap="square" rtlCol="0">
            <a:spAutoFit/>
          </a:bodyPr>
          <a:lstStyle/>
          <a:p>
            <a:r>
              <a:rPr kumimoji="1" lang="en-US" altLang="zh-CN"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1.</a:t>
            </a:r>
            <a:r>
              <a:rPr kumimoji="1" lang="zh-CN" altLang="en-US"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力与运动板块：</a:t>
            </a:r>
          </a:p>
        </p:txBody>
      </p:sp>
      <p:pic>
        <p:nvPicPr>
          <p:cNvPr id="2" name="图片 1">
            <a:extLst>
              <a:ext uri="{FF2B5EF4-FFF2-40B4-BE49-F238E27FC236}">
                <a16:creationId xmlns:a16="http://schemas.microsoft.com/office/drawing/2014/main" id="{2A40A1EF-0AA5-AC4A-AEF2-A5AD9764304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125544" y="522717"/>
            <a:ext cx="5725267" cy="951713"/>
          </a:xfrm>
          <a:prstGeom prst="rect">
            <a:avLst/>
          </a:prstGeom>
          <a:ln>
            <a:solidFill>
              <a:srgbClr val="C00000"/>
            </a:solidFill>
          </a:ln>
        </p:spPr>
      </p:pic>
      <p:pic>
        <p:nvPicPr>
          <p:cNvPr id="4" name="图片 3">
            <a:extLst>
              <a:ext uri="{FF2B5EF4-FFF2-40B4-BE49-F238E27FC236}">
                <a16:creationId xmlns:a16="http://schemas.microsoft.com/office/drawing/2014/main" id="{E08840BD-1B52-A74B-8245-E461BC4DA3A9}"/>
              </a:ext>
            </a:extLst>
          </p:cNvPr>
          <p:cNvPicPr>
            <a:picLocks noChangeAspect="1"/>
          </p:cNvPicPr>
          <p:nvPr/>
        </p:nvPicPr>
        <p:blipFill>
          <a:blip r:embed="rId3"/>
          <a:stretch>
            <a:fillRect/>
          </a:stretch>
        </p:blipFill>
        <p:spPr>
          <a:xfrm>
            <a:off x="12728062" y="2332862"/>
            <a:ext cx="7029127" cy="4015331"/>
          </a:xfrm>
          <a:prstGeom prst="rect">
            <a:avLst/>
          </a:prstGeom>
          <a:ln>
            <a:solidFill>
              <a:srgbClr val="C00000"/>
            </a:solidFill>
          </a:ln>
        </p:spPr>
      </p:pic>
      <p:grpSp>
        <p:nvGrpSpPr>
          <p:cNvPr id="10" name="组合 9">
            <a:extLst>
              <a:ext uri="{FF2B5EF4-FFF2-40B4-BE49-F238E27FC236}">
                <a16:creationId xmlns:a16="http://schemas.microsoft.com/office/drawing/2014/main" id="{2A3C6990-3B53-AA46-B1D5-3E6C51A97CFB}"/>
              </a:ext>
            </a:extLst>
          </p:cNvPr>
          <p:cNvGrpSpPr/>
          <p:nvPr/>
        </p:nvGrpSpPr>
        <p:grpSpPr>
          <a:xfrm>
            <a:off x="7046965" y="7020245"/>
            <a:ext cx="4763525" cy="4509458"/>
            <a:chOff x="7169501" y="7089361"/>
            <a:chExt cx="4763525" cy="4509458"/>
          </a:xfrm>
        </p:grpSpPr>
        <p:pic>
          <p:nvPicPr>
            <p:cNvPr id="8" name="图片 7">
              <a:extLst>
                <a:ext uri="{FF2B5EF4-FFF2-40B4-BE49-F238E27FC236}">
                  <a16:creationId xmlns:a16="http://schemas.microsoft.com/office/drawing/2014/main" id="{611136F1-FD8F-A640-A6CD-C449DF08AB72}"/>
                </a:ext>
              </a:extLst>
            </p:cNvPr>
            <p:cNvPicPr>
              <a:picLocks noChangeAspect="1"/>
            </p:cNvPicPr>
            <p:nvPr/>
          </p:nvPicPr>
          <p:blipFill>
            <a:blip r:embed="rId4"/>
            <a:stretch>
              <a:fillRect/>
            </a:stretch>
          </p:blipFill>
          <p:spPr>
            <a:xfrm>
              <a:off x="7169502" y="7089361"/>
              <a:ext cx="4763524" cy="3643551"/>
            </a:xfrm>
            <a:prstGeom prst="rect">
              <a:avLst/>
            </a:prstGeom>
          </p:spPr>
        </p:pic>
        <p:pic>
          <p:nvPicPr>
            <p:cNvPr id="9" name="图片 8">
              <a:extLst>
                <a:ext uri="{FF2B5EF4-FFF2-40B4-BE49-F238E27FC236}">
                  <a16:creationId xmlns:a16="http://schemas.microsoft.com/office/drawing/2014/main" id="{59F9CC92-951B-F842-9A0D-A3E173451373}"/>
                </a:ext>
              </a:extLst>
            </p:cNvPr>
            <p:cNvPicPr>
              <a:picLocks noChangeAspect="1"/>
            </p:cNvPicPr>
            <p:nvPr/>
          </p:nvPicPr>
          <p:blipFill>
            <a:blip r:embed="rId5"/>
            <a:stretch>
              <a:fillRect/>
            </a:stretch>
          </p:blipFill>
          <p:spPr>
            <a:xfrm>
              <a:off x="7169501" y="10674767"/>
              <a:ext cx="4763525" cy="924052"/>
            </a:xfrm>
            <a:prstGeom prst="rect">
              <a:avLst/>
            </a:prstGeom>
          </p:spPr>
        </p:pic>
      </p:grpSp>
      <p:pic>
        <p:nvPicPr>
          <p:cNvPr id="11" name="图片 10">
            <a:extLst>
              <a:ext uri="{FF2B5EF4-FFF2-40B4-BE49-F238E27FC236}">
                <a16:creationId xmlns:a16="http://schemas.microsoft.com/office/drawing/2014/main" id="{352A7569-2C36-2F44-B7EB-4158A51915CF}"/>
              </a:ext>
            </a:extLst>
          </p:cNvPr>
          <p:cNvPicPr>
            <a:picLocks noChangeAspect="1"/>
          </p:cNvPicPr>
          <p:nvPr/>
        </p:nvPicPr>
        <p:blipFill>
          <a:blip r:embed="rId6"/>
          <a:stretch>
            <a:fillRect/>
          </a:stretch>
        </p:blipFill>
        <p:spPr>
          <a:xfrm>
            <a:off x="5125545" y="2100880"/>
            <a:ext cx="5725267" cy="4370084"/>
          </a:xfrm>
          <a:prstGeom prst="rect">
            <a:avLst/>
          </a:prstGeom>
          <a:ln>
            <a:solidFill>
              <a:srgbClr val="C00000"/>
            </a:solidFill>
          </a:ln>
        </p:spPr>
      </p:pic>
      <p:cxnSp>
        <p:nvCxnSpPr>
          <p:cNvPr id="14" name="直线箭头连接符 13">
            <a:extLst>
              <a:ext uri="{FF2B5EF4-FFF2-40B4-BE49-F238E27FC236}">
                <a16:creationId xmlns:a16="http://schemas.microsoft.com/office/drawing/2014/main" id="{5B5E0838-599F-1A44-83FD-5F17EEB3DBA9}"/>
              </a:ext>
            </a:extLst>
          </p:cNvPr>
          <p:cNvCxnSpPr>
            <a:stCxn id="2" idx="2"/>
            <a:endCxn id="11" idx="0"/>
          </p:cNvCxnSpPr>
          <p:nvPr/>
        </p:nvCxnSpPr>
        <p:spPr>
          <a:xfrm>
            <a:off x="7988178" y="1474430"/>
            <a:ext cx="1" cy="62645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117115B2-14AD-C54E-9A1A-2DADB64ED336}"/>
              </a:ext>
            </a:extLst>
          </p:cNvPr>
          <p:cNvSpPr txBox="1"/>
          <p:nvPr/>
        </p:nvSpPr>
        <p:spPr>
          <a:xfrm>
            <a:off x="10915755" y="798294"/>
            <a:ext cx="894735" cy="376834"/>
          </a:xfrm>
          <a:prstGeom prst="rect">
            <a:avLst/>
          </a:prstGeom>
          <a:noFill/>
        </p:spPr>
        <p:txBody>
          <a:bodyPr wrap="square" rtlCol="0">
            <a:spAutoFit/>
          </a:bodyPr>
          <a:lstStyle/>
          <a:p>
            <a:pPr>
              <a:lnSpc>
                <a:spcPct val="150000"/>
              </a:lnSpc>
            </a:pP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原理式</a:t>
            </a:r>
            <a:endParaRPr kumimoji="1" lang="en-US" altLang="zh-CN" sz="1400" u="sng"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17" name="文本框 16">
            <a:extLst>
              <a:ext uri="{FF2B5EF4-FFF2-40B4-BE49-F238E27FC236}">
                <a16:creationId xmlns:a16="http://schemas.microsoft.com/office/drawing/2014/main" id="{F178A7E0-2F7F-E24B-A987-C17E8D819F30}"/>
              </a:ext>
            </a:extLst>
          </p:cNvPr>
          <p:cNvSpPr txBox="1"/>
          <p:nvPr/>
        </p:nvSpPr>
        <p:spPr>
          <a:xfrm>
            <a:off x="10915755" y="4152110"/>
            <a:ext cx="894735" cy="374590"/>
          </a:xfrm>
          <a:prstGeom prst="rect">
            <a:avLst/>
          </a:prstGeom>
          <a:noFill/>
        </p:spPr>
        <p:txBody>
          <a:bodyPr wrap="square" rtlCol="0">
            <a:spAutoFit/>
          </a:bodyPr>
          <a:lstStyle/>
          <a:p>
            <a:pPr>
              <a:lnSpc>
                <a:spcPct val="150000"/>
              </a:lnSpc>
            </a:pP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求解公式</a:t>
            </a:r>
            <a:endParaRPr kumimoji="1" lang="en-US" altLang="zh-CN" sz="1400" u="sng"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5866507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B63A571E-2F89-F74F-8875-5269527B170A}"/>
              </a:ext>
            </a:extLst>
          </p:cNvPr>
          <p:cNvSpPr/>
          <p:nvPr/>
        </p:nvSpPr>
        <p:spPr>
          <a:xfrm>
            <a:off x="609559" y="2737922"/>
            <a:ext cx="2384364" cy="3660337"/>
          </a:xfrm>
          <a:prstGeom prst="rect">
            <a:avLst/>
          </a:prstGeom>
          <a:solidFill>
            <a:srgbClr val="FCED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AD439BBB-1E1D-7344-9A13-86EEDF550E12}"/>
              </a:ext>
            </a:extLst>
          </p:cNvPr>
          <p:cNvSpPr txBox="1"/>
          <p:nvPr/>
        </p:nvSpPr>
        <p:spPr>
          <a:xfrm>
            <a:off x="538850" y="1090551"/>
            <a:ext cx="9354349" cy="1020921"/>
          </a:xfrm>
          <a:prstGeom prst="rect">
            <a:avLst/>
          </a:prstGeom>
          <a:noFill/>
        </p:spPr>
        <p:txBody>
          <a:bodyPr wrap="square" rtlCol="0">
            <a:spAutoFit/>
          </a:bodyPr>
          <a:lstStyle/>
          <a:p>
            <a:pPr>
              <a:lnSpc>
                <a:spcPct val="150000"/>
              </a:lnSpc>
            </a:pP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Step1.</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理解所有书上概念</a:t>
            </a:r>
            <a:endPar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具体化理解概念「思维导图」</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u="sng"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所有公式都要能够自己推导！！！</a:t>
            </a:r>
            <a:endParaRPr kumimoji="1" lang="en-US" altLang="zh-CN" sz="1400" u="sng"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6" name="矩形 5">
            <a:extLst>
              <a:ext uri="{FF2B5EF4-FFF2-40B4-BE49-F238E27FC236}">
                <a16:creationId xmlns:a16="http://schemas.microsoft.com/office/drawing/2014/main" id="{F3F0AD5B-CF0C-9044-84C6-890E3379EA33}"/>
              </a:ext>
            </a:extLst>
          </p:cNvPr>
          <p:cNvSpPr/>
          <p:nvPr/>
        </p:nvSpPr>
        <p:spPr>
          <a:xfrm>
            <a:off x="693629" y="2882386"/>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491CFD39-FC30-324E-BD0A-ACD4C0CF6E63}"/>
              </a:ext>
            </a:extLst>
          </p:cNvPr>
          <p:cNvSpPr txBox="1"/>
          <p:nvPr/>
        </p:nvSpPr>
        <p:spPr>
          <a:xfrm>
            <a:off x="693907" y="3251717"/>
            <a:ext cx="2300016" cy="2893100"/>
          </a:xfrm>
          <a:prstGeom prst="rect">
            <a:avLst/>
          </a:prstGeom>
          <a:noFill/>
        </p:spPr>
        <p:txBody>
          <a:bodyPr wrap="square" rtlCol="0">
            <a:spAutoFit/>
          </a:bodyPr>
          <a:lstStyle/>
          <a:p>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二级结论</a:t>
            </a:r>
            <a:r>
              <a:rPr kumimoji="1" lang="en-US" altLang="zh-CN" sz="1400" dirty="0">
                <a:solidFill>
                  <a:srgbClr val="223AAC"/>
                </a:solidFill>
                <a:latin typeface="KaiTi" panose="02010609060101010101" pitchFamily="49" charset="-122"/>
                <a:ea typeface="KaiTi" panose="02010609060101010101" pitchFamily="49" charset="-122"/>
              </a:rPr>
              <a:t>】</a:t>
            </a:r>
          </a:p>
          <a:p>
            <a:r>
              <a:rPr kumimoji="1" lang="zh-CN" altLang="en-US" sz="1400" dirty="0">
                <a:latin typeface="KaiTi" panose="02010609060101010101" pitchFamily="49" charset="-122"/>
                <a:ea typeface="KaiTi" panose="02010609060101010101" pitchFamily="49" charset="-122"/>
              </a:rPr>
              <a:t>「二级结论」加快解题速度！</a:t>
            </a:r>
            <a:endParaRPr kumimoji="1" lang="en-US" altLang="zh-CN" sz="1400" dirty="0">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*平抛运动：</a:t>
            </a:r>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「原理式」</a:t>
            </a:r>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「二级结论」</a:t>
            </a:r>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重点</a:t>
            </a:r>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即：</a:t>
            </a:r>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b="1" dirty="0">
              <a:solidFill>
                <a:srgbClr val="223AAC"/>
              </a:solidFill>
              <a:latin typeface="KaiTi" panose="02010609060101010101" pitchFamily="49" charset="-122"/>
              <a:ea typeface="KaiTi" panose="02010609060101010101" pitchFamily="49" charset="-122"/>
            </a:endParaRPr>
          </a:p>
          <a:p>
            <a:pPr algn="ctr"/>
            <a:r>
              <a:rPr kumimoji="1" lang="en-US" altLang="zh-CN" sz="1400" b="1" dirty="0">
                <a:solidFill>
                  <a:srgbClr val="223AAC"/>
                </a:solidFill>
                <a:latin typeface="KaiTi" panose="02010609060101010101" pitchFamily="49" charset="-122"/>
                <a:ea typeface="KaiTi" panose="02010609060101010101" pitchFamily="49" charset="-122"/>
              </a:rPr>
              <a:t>{</a:t>
            </a:r>
            <a:r>
              <a:rPr kumimoji="1" lang="zh-CN" altLang="en-US" sz="1400" b="1" dirty="0">
                <a:solidFill>
                  <a:srgbClr val="223AAC"/>
                </a:solidFill>
                <a:latin typeface="KaiTi" panose="02010609060101010101" pitchFamily="49" charset="-122"/>
                <a:ea typeface="KaiTi" panose="02010609060101010101" pitchFamily="49" charset="-122"/>
              </a:rPr>
              <a:t>二级结论自己推导一遍</a:t>
            </a:r>
            <a:r>
              <a:rPr kumimoji="1" lang="en-US" altLang="zh-CN" sz="1400" b="1" dirty="0">
                <a:solidFill>
                  <a:srgbClr val="223AAC"/>
                </a:solidFill>
                <a:latin typeface="KaiTi" panose="02010609060101010101" pitchFamily="49" charset="-122"/>
                <a:ea typeface="KaiTi" panose="02010609060101010101" pitchFamily="49" charset="-122"/>
              </a:rPr>
              <a:t>}</a:t>
            </a:r>
          </a:p>
          <a:p>
            <a:pPr algn="ctr"/>
            <a:r>
              <a:rPr kumimoji="1" lang="en-US" altLang="zh-CN" sz="1400" b="1" dirty="0">
                <a:solidFill>
                  <a:srgbClr val="223AAC"/>
                </a:solidFill>
                <a:latin typeface="KaiTi" panose="02010609060101010101" pitchFamily="49" charset="-122"/>
                <a:ea typeface="KaiTi" panose="02010609060101010101" pitchFamily="49" charset="-122"/>
              </a:rPr>
              <a:t>+</a:t>
            </a:r>
          </a:p>
          <a:p>
            <a:pPr algn="ctr"/>
            <a:r>
              <a:rPr kumimoji="1" lang="en-US" altLang="zh-CN" sz="1400" b="1" dirty="0">
                <a:solidFill>
                  <a:srgbClr val="223AAC"/>
                </a:solidFill>
                <a:latin typeface="KaiTi" panose="02010609060101010101" pitchFamily="49" charset="-122"/>
                <a:ea typeface="KaiTi" panose="02010609060101010101" pitchFamily="49" charset="-122"/>
              </a:rPr>
              <a:t>{</a:t>
            </a:r>
            <a:r>
              <a:rPr kumimoji="1" lang="zh-CN" altLang="en-US" sz="1400" b="1" dirty="0">
                <a:solidFill>
                  <a:srgbClr val="223AAC"/>
                </a:solidFill>
                <a:latin typeface="KaiTi" panose="02010609060101010101" pitchFamily="49" charset="-122"/>
                <a:ea typeface="KaiTi" panose="02010609060101010101" pitchFamily="49" charset="-122"/>
              </a:rPr>
              <a:t>记忆加快考试速度</a:t>
            </a:r>
            <a:r>
              <a:rPr kumimoji="1" lang="en-US" altLang="zh-CN" sz="1400" b="1" dirty="0">
                <a:solidFill>
                  <a:srgbClr val="223AAC"/>
                </a:solidFill>
                <a:latin typeface="KaiTi" panose="02010609060101010101" pitchFamily="49" charset="-122"/>
                <a:ea typeface="KaiTi" panose="02010609060101010101" pitchFamily="49" charset="-122"/>
              </a:rPr>
              <a:t>}</a:t>
            </a:r>
            <a:endParaRPr kumimoji="1" lang="en-US" altLang="zh-CN" sz="1400" dirty="0">
              <a:solidFill>
                <a:srgbClr val="223AAC"/>
              </a:solidFill>
              <a:latin typeface="KaiTi" panose="02010609060101010101" pitchFamily="49" charset="-122"/>
              <a:ea typeface="KaiTi" panose="02010609060101010101" pitchFamily="49" charset="-122"/>
            </a:endParaRPr>
          </a:p>
        </p:txBody>
      </p:sp>
      <p:sp>
        <p:nvSpPr>
          <p:cNvPr id="15" name="文本框 14">
            <a:extLst>
              <a:ext uri="{FF2B5EF4-FFF2-40B4-BE49-F238E27FC236}">
                <a16:creationId xmlns:a16="http://schemas.microsoft.com/office/drawing/2014/main" id="{DC4EA1E4-F5BC-F04C-AE1A-903DAA7A7D93}"/>
              </a:ext>
            </a:extLst>
          </p:cNvPr>
          <p:cNvSpPr txBox="1"/>
          <p:nvPr/>
        </p:nvSpPr>
        <p:spPr>
          <a:xfrm>
            <a:off x="538850" y="459740"/>
            <a:ext cx="4942702" cy="338554"/>
          </a:xfrm>
          <a:prstGeom prst="rect">
            <a:avLst/>
          </a:prstGeom>
          <a:noFill/>
        </p:spPr>
        <p:txBody>
          <a:bodyPr wrap="square" rtlCol="0">
            <a:spAutoFit/>
          </a:bodyPr>
          <a:lstStyle/>
          <a:p>
            <a:r>
              <a:rPr kumimoji="1" lang="en-US" altLang="zh-CN"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1.</a:t>
            </a:r>
            <a:r>
              <a:rPr kumimoji="1" lang="zh-CN" altLang="en-US"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力与运动板块：</a:t>
            </a:r>
          </a:p>
        </p:txBody>
      </p:sp>
      <p:pic>
        <p:nvPicPr>
          <p:cNvPr id="4" name="图片 3">
            <a:extLst>
              <a:ext uri="{FF2B5EF4-FFF2-40B4-BE49-F238E27FC236}">
                <a16:creationId xmlns:a16="http://schemas.microsoft.com/office/drawing/2014/main" id="{E08840BD-1B52-A74B-8245-E461BC4DA3A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208288" y="2789351"/>
            <a:ext cx="2947583" cy="924732"/>
          </a:xfrm>
          <a:prstGeom prst="rect">
            <a:avLst/>
          </a:prstGeom>
          <a:ln>
            <a:solidFill>
              <a:srgbClr val="C00000"/>
            </a:solidFill>
          </a:ln>
        </p:spPr>
      </p:pic>
      <p:pic>
        <p:nvPicPr>
          <p:cNvPr id="9" name="图片 8">
            <a:extLst>
              <a:ext uri="{FF2B5EF4-FFF2-40B4-BE49-F238E27FC236}">
                <a16:creationId xmlns:a16="http://schemas.microsoft.com/office/drawing/2014/main" id="{5B1B70A9-2806-2C44-89D3-E0BE0141494B}"/>
              </a:ext>
            </a:extLst>
          </p:cNvPr>
          <p:cNvPicPr>
            <a:picLocks noChangeAspect="1"/>
          </p:cNvPicPr>
          <p:nvPr/>
        </p:nvPicPr>
        <p:blipFill>
          <a:blip r:embed="rId3"/>
          <a:stretch>
            <a:fillRect/>
          </a:stretch>
        </p:blipFill>
        <p:spPr>
          <a:xfrm>
            <a:off x="7979690" y="798294"/>
            <a:ext cx="3773590" cy="1074901"/>
          </a:xfrm>
          <a:prstGeom prst="rect">
            <a:avLst/>
          </a:prstGeom>
          <a:ln>
            <a:solidFill>
              <a:srgbClr val="C00000"/>
            </a:solidFill>
          </a:ln>
        </p:spPr>
      </p:pic>
      <p:pic>
        <p:nvPicPr>
          <p:cNvPr id="10" name="图片 9">
            <a:extLst>
              <a:ext uri="{FF2B5EF4-FFF2-40B4-BE49-F238E27FC236}">
                <a16:creationId xmlns:a16="http://schemas.microsoft.com/office/drawing/2014/main" id="{48A97ACB-8D7D-4147-A3EC-7F769308757B}"/>
              </a:ext>
            </a:extLst>
          </p:cNvPr>
          <p:cNvPicPr>
            <a:picLocks noChangeAspect="1"/>
          </p:cNvPicPr>
          <p:nvPr/>
        </p:nvPicPr>
        <p:blipFill>
          <a:blip r:embed="rId4"/>
          <a:stretch>
            <a:fillRect/>
          </a:stretch>
        </p:blipFill>
        <p:spPr>
          <a:xfrm>
            <a:off x="7983713" y="2045973"/>
            <a:ext cx="3766979" cy="4352286"/>
          </a:xfrm>
          <a:prstGeom prst="rect">
            <a:avLst/>
          </a:prstGeom>
          <a:ln>
            <a:solidFill>
              <a:srgbClr val="C00000"/>
            </a:solidFill>
          </a:ln>
        </p:spPr>
      </p:pic>
      <p:cxnSp>
        <p:nvCxnSpPr>
          <p:cNvPr id="13" name="直线箭头连接符 12">
            <a:extLst>
              <a:ext uri="{FF2B5EF4-FFF2-40B4-BE49-F238E27FC236}">
                <a16:creationId xmlns:a16="http://schemas.microsoft.com/office/drawing/2014/main" id="{D1EB9A05-B1F0-9941-B85B-B98EB6796A98}"/>
              </a:ext>
            </a:extLst>
          </p:cNvPr>
          <p:cNvCxnSpPr>
            <a:stCxn id="4" idx="3"/>
            <a:endCxn id="9" idx="1"/>
          </p:cNvCxnSpPr>
          <p:nvPr/>
        </p:nvCxnSpPr>
        <p:spPr>
          <a:xfrm flipV="1">
            <a:off x="7155871" y="1335745"/>
            <a:ext cx="823819" cy="1915972"/>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线箭头连接符 15">
            <a:extLst>
              <a:ext uri="{FF2B5EF4-FFF2-40B4-BE49-F238E27FC236}">
                <a16:creationId xmlns:a16="http://schemas.microsoft.com/office/drawing/2014/main" id="{0184BD38-CAB9-C642-AA2E-1FF132218FCC}"/>
              </a:ext>
            </a:extLst>
          </p:cNvPr>
          <p:cNvCxnSpPr>
            <a:cxnSpLocks/>
            <a:stCxn id="4" idx="3"/>
            <a:endCxn id="10" idx="1"/>
          </p:cNvCxnSpPr>
          <p:nvPr/>
        </p:nvCxnSpPr>
        <p:spPr>
          <a:xfrm>
            <a:off x="7155871" y="3251717"/>
            <a:ext cx="827842" cy="970399"/>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49376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B63A571E-2F89-F74F-8875-5269527B170A}"/>
              </a:ext>
            </a:extLst>
          </p:cNvPr>
          <p:cNvSpPr/>
          <p:nvPr/>
        </p:nvSpPr>
        <p:spPr>
          <a:xfrm>
            <a:off x="609559" y="2737922"/>
            <a:ext cx="2384364" cy="3660337"/>
          </a:xfrm>
          <a:prstGeom prst="rect">
            <a:avLst/>
          </a:prstGeom>
          <a:solidFill>
            <a:srgbClr val="FCED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AD439BBB-1E1D-7344-9A13-86EEDF550E12}"/>
              </a:ext>
            </a:extLst>
          </p:cNvPr>
          <p:cNvSpPr txBox="1"/>
          <p:nvPr/>
        </p:nvSpPr>
        <p:spPr>
          <a:xfrm>
            <a:off x="538850" y="1090551"/>
            <a:ext cx="9354349" cy="1020921"/>
          </a:xfrm>
          <a:prstGeom prst="rect">
            <a:avLst/>
          </a:prstGeom>
          <a:noFill/>
        </p:spPr>
        <p:txBody>
          <a:bodyPr wrap="square" rtlCol="0">
            <a:spAutoFit/>
          </a:bodyPr>
          <a:lstStyle/>
          <a:p>
            <a:pPr>
              <a:lnSpc>
                <a:spcPct val="150000"/>
              </a:lnSpc>
            </a:pP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Step1.</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理解所有书上概念</a:t>
            </a:r>
            <a:endPar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具体化理解概念「思维导图」</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u="sng"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所有公式都要能够自己推导！！！</a:t>
            </a:r>
            <a:endParaRPr kumimoji="1" lang="en-US" altLang="zh-CN" sz="1400" u="sng"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6" name="矩形 5">
            <a:extLst>
              <a:ext uri="{FF2B5EF4-FFF2-40B4-BE49-F238E27FC236}">
                <a16:creationId xmlns:a16="http://schemas.microsoft.com/office/drawing/2014/main" id="{F3F0AD5B-CF0C-9044-84C6-890E3379EA33}"/>
              </a:ext>
            </a:extLst>
          </p:cNvPr>
          <p:cNvSpPr/>
          <p:nvPr/>
        </p:nvSpPr>
        <p:spPr>
          <a:xfrm>
            <a:off x="693629" y="2882386"/>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491CFD39-FC30-324E-BD0A-ACD4C0CF6E63}"/>
              </a:ext>
            </a:extLst>
          </p:cNvPr>
          <p:cNvSpPr txBox="1"/>
          <p:nvPr/>
        </p:nvSpPr>
        <p:spPr>
          <a:xfrm>
            <a:off x="693907" y="3251717"/>
            <a:ext cx="2201693" cy="2677656"/>
          </a:xfrm>
          <a:prstGeom prst="rect">
            <a:avLst/>
          </a:prstGeom>
          <a:noFill/>
        </p:spPr>
        <p:txBody>
          <a:bodyPr wrap="square" rtlCol="0">
            <a:spAutoFit/>
          </a:bodyPr>
          <a:lstStyle/>
          <a:p>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理解概念</a:t>
            </a:r>
            <a:r>
              <a:rPr kumimoji="1" lang="en-US" altLang="zh-CN" sz="1400" dirty="0">
                <a:solidFill>
                  <a:srgbClr val="223AAC"/>
                </a:solidFill>
                <a:latin typeface="KaiTi" panose="02010609060101010101" pitchFamily="49" charset="-122"/>
                <a:ea typeface="KaiTi" panose="02010609060101010101" pitchFamily="49" charset="-122"/>
              </a:rPr>
              <a:t>】</a:t>
            </a: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latin typeface="KaiTi" panose="02010609060101010101" pitchFamily="49" charset="-122"/>
                <a:ea typeface="KaiTi" panose="02010609060101010101" pitchFamily="49" charset="-122"/>
              </a:rPr>
              <a:t>画图</a:t>
            </a:r>
            <a:r>
              <a:rPr kumimoji="1" lang="en-US" altLang="zh-CN" sz="1400" dirty="0">
                <a:latin typeface="KaiTi" panose="02010609060101010101" pitchFamily="49" charset="-122"/>
                <a:ea typeface="KaiTi" panose="02010609060101010101" pitchFamily="49" charset="-122"/>
              </a:rPr>
              <a:t>+</a:t>
            </a:r>
            <a:r>
              <a:rPr kumimoji="1" lang="zh-CN" altLang="en-US" sz="1400" dirty="0">
                <a:latin typeface="KaiTi" panose="02010609060101010101" pitchFamily="49" charset="-122"/>
                <a:ea typeface="KaiTi" panose="02010609060101010101" pitchFamily="49" charset="-122"/>
              </a:rPr>
              <a:t>理解所有物理量</a:t>
            </a:r>
            <a:endParaRPr kumimoji="1" lang="en-US" altLang="zh-CN" sz="1400" dirty="0">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*联系：</a:t>
            </a:r>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en-US" altLang="zh-CN" sz="1400" dirty="0">
                <a:solidFill>
                  <a:srgbClr val="223AAC"/>
                </a:solidFill>
                <a:latin typeface="KaiTi" panose="02010609060101010101" pitchFamily="49" charset="-122"/>
                <a:ea typeface="KaiTi" panose="02010609060101010101" pitchFamily="49" charset="-122"/>
              </a:rPr>
              <a:t>x</a:t>
            </a:r>
            <a:r>
              <a:rPr kumimoji="1" lang="zh-CN" altLang="en-US" sz="1400" dirty="0">
                <a:solidFill>
                  <a:srgbClr val="223AAC"/>
                </a:solidFill>
                <a:latin typeface="KaiTi" panose="02010609060101010101" pitchFamily="49" charset="-122"/>
                <a:ea typeface="KaiTi" panose="02010609060101010101" pitchFamily="49" charset="-122"/>
              </a:rPr>
              <a:t>位移</a:t>
            </a:r>
            <a:r>
              <a:rPr kumimoji="1" lang="en-US" altLang="zh-CN" sz="1400" dirty="0">
                <a:solidFill>
                  <a:srgbClr val="223AAC"/>
                </a:solidFill>
                <a:latin typeface="KaiTi" panose="02010609060101010101" pitchFamily="49" charset="-122"/>
                <a:ea typeface="KaiTi" panose="02010609060101010101" pitchFamily="49" charset="-122"/>
              </a:rPr>
              <a:t>-t</a:t>
            </a:r>
            <a:r>
              <a:rPr kumimoji="1" lang="zh-CN" altLang="en-US" sz="1400" dirty="0">
                <a:solidFill>
                  <a:srgbClr val="223AAC"/>
                </a:solidFill>
                <a:latin typeface="KaiTi" panose="02010609060101010101" pitchFamily="49" charset="-122"/>
                <a:ea typeface="KaiTi" panose="02010609060101010101" pitchFamily="49" charset="-122"/>
              </a:rPr>
              <a:t>时间</a:t>
            </a:r>
            <a:r>
              <a:rPr kumimoji="1" lang="en-US" altLang="zh-CN" sz="1400" dirty="0">
                <a:solidFill>
                  <a:srgbClr val="223AAC"/>
                </a:solidFill>
                <a:latin typeface="KaiTi" panose="02010609060101010101" pitchFamily="49" charset="-122"/>
                <a:ea typeface="KaiTi" panose="02010609060101010101" pitchFamily="49" charset="-122"/>
              </a:rPr>
              <a:t>-v</a:t>
            </a:r>
            <a:r>
              <a:rPr kumimoji="1" lang="zh-CN" altLang="en-US" sz="1400" dirty="0">
                <a:solidFill>
                  <a:srgbClr val="223AAC"/>
                </a:solidFill>
                <a:latin typeface="KaiTi" panose="02010609060101010101" pitchFamily="49" charset="-122"/>
                <a:ea typeface="KaiTi" panose="02010609060101010101" pitchFamily="49" charset="-122"/>
              </a:rPr>
              <a:t>速度</a:t>
            </a:r>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重点</a:t>
            </a:r>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即：</a:t>
            </a:r>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b="1" dirty="0">
              <a:solidFill>
                <a:srgbClr val="223AAC"/>
              </a:solidFill>
              <a:latin typeface="KaiTi" panose="02010609060101010101" pitchFamily="49" charset="-122"/>
              <a:ea typeface="KaiTi" panose="02010609060101010101" pitchFamily="49" charset="-122"/>
            </a:endParaRPr>
          </a:p>
          <a:p>
            <a:pPr algn="ctr"/>
            <a:r>
              <a:rPr kumimoji="1" lang="en-US" altLang="zh-CN" sz="1400" b="1" dirty="0">
                <a:solidFill>
                  <a:srgbClr val="223AAC"/>
                </a:solidFill>
                <a:latin typeface="KaiTi" panose="02010609060101010101" pitchFamily="49" charset="-122"/>
                <a:ea typeface="KaiTi" panose="02010609060101010101" pitchFamily="49" charset="-122"/>
              </a:rPr>
              <a:t>{</a:t>
            </a:r>
            <a:r>
              <a:rPr kumimoji="1" lang="zh-CN" altLang="en-US" sz="1400" b="1" dirty="0">
                <a:solidFill>
                  <a:srgbClr val="223AAC"/>
                </a:solidFill>
                <a:latin typeface="KaiTi" panose="02010609060101010101" pitchFamily="49" charset="-122"/>
                <a:ea typeface="KaiTi" panose="02010609060101010101" pitchFamily="49" charset="-122"/>
              </a:rPr>
              <a:t>用图像理解物理量的</a:t>
            </a:r>
            <a:br>
              <a:rPr kumimoji="1" lang="en-US" altLang="zh-CN" sz="1400" b="1" dirty="0">
                <a:solidFill>
                  <a:srgbClr val="223AAC"/>
                </a:solidFill>
                <a:latin typeface="KaiTi" panose="02010609060101010101" pitchFamily="49" charset="-122"/>
                <a:ea typeface="KaiTi" panose="02010609060101010101" pitchFamily="49" charset="-122"/>
              </a:rPr>
            </a:br>
            <a:r>
              <a:rPr kumimoji="1" lang="zh-CN" altLang="en-US" sz="1400" b="1" dirty="0">
                <a:solidFill>
                  <a:srgbClr val="223AAC"/>
                </a:solidFill>
                <a:latin typeface="KaiTi" panose="02010609060101010101" pitchFamily="49" charset="-122"/>
                <a:ea typeface="KaiTi" panose="02010609060101010101" pitchFamily="49" charset="-122"/>
              </a:rPr>
              <a:t>数学联系</a:t>
            </a:r>
            <a:r>
              <a:rPr kumimoji="1" lang="en-US" altLang="zh-CN" sz="1400" b="1" dirty="0">
                <a:solidFill>
                  <a:srgbClr val="223AAC"/>
                </a:solidFill>
                <a:latin typeface="KaiTi" panose="02010609060101010101" pitchFamily="49" charset="-122"/>
                <a:ea typeface="KaiTi" panose="02010609060101010101" pitchFamily="49" charset="-122"/>
              </a:rPr>
              <a:t>}</a:t>
            </a:r>
            <a:endParaRPr kumimoji="1" lang="en-US" altLang="zh-CN" sz="1400" dirty="0">
              <a:solidFill>
                <a:srgbClr val="223AAC"/>
              </a:solidFill>
              <a:latin typeface="KaiTi" panose="02010609060101010101" pitchFamily="49" charset="-122"/>
              <a:ea typeface="KaiTi" panose="02010609060101010101" pitchFamily="49" charset="-122"/>
            </a:endParaRPr>
          </a:p>
        </p:txBody>
      </p:sp>
      <p:pic>
        <p:nvPicPr>
          <p:cNvPr id="11" name="图片 10">
            <a:extLst>
              <a:ext uri="{FF2B5EF4-FFF2-40B4-BE49-F238E27FC236}">
                <a16:creationId xmlns:a16="http://schemas.microsoft.com/office/drawing/2014/main" id="{F3AF9D8E-242A-514B-91D3-8A653C4732CD}"/>
              </a:ext>
            </a:extLst>
          </p:cNvPr>
          <p:cNvPicPr>
            <a:picLocks noChangeAspect="1"/>
          </p:cNvPicPr>
          <p:nvPr/>
        </p:nvPicPr>
        <p:blipFill>
          <a:blip r:embed="rId2"/>
          <a:stretch>
            <a:fillRect/>
          </a:stretch>
        </p:blipFill>
        <p:spPr>
          <a:xfrm>
            <a:off x="3942277" y="629016"/>
            <a:ext cx="7330774" cy="5790977"/>
          </a:xfrm>
          <a:prstGeom prst="rect">
            <a:avLst/>
          </a:prstGeom>
          <a:ln>
            <a:solidFill>
              <a:srgbClr val="C00000"/>
            </a:solidFill>
          </a:ln>
        </p:spPr>
      </p:pic>
      <p:sp>
        <p:nvSpPr>
          <p:cNvPr id="15" name="文本框 14">
            <a:extLst>
              <a:ext uri="{FF2B5EF4-FFF2-40B4-BE49-F238E27FC236}">
                <a16:creationId xmlns:a16="http://schemas.microsoft.com/office/drawing/2014/main" id="{DC4EA1E4-F5BC-F04C-AE1A-903DAA7A7D93}"/>
              </a:ext>
            </a:extLst>
          </p:cNvPr>
          <p:cNvSpPr txBox="1"/>
          <p:nvPr/>
        </p:nvSpPr>
        <p:spPr>
          <a:xfrm>
            <a:off x="538850" y="459740"/>
            <a:ext cx="4942702" cy="338554"/>
          </a:xfrm>
          <a:prstGeom prst="rect">
            <a:avLst/>
          </a:prstGeom>
          <a:noFill/>
        </p:spPr>
        <p:txBody>
          <a:bodyPr wrap="square" rtlCol="0">
            <a:spAutoFit/>
          </a:bodyPr>
          <a:lstStyle/>
          <a:p>
            <a:r>
              <a:rPr kumimoji="1" lang="en-US" altLang="zh-CN"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1.</a:t>
            </a:r>
            <a:r>
              <a:rPr kumimoji="1" lang="zh-CN" altLang="en-US"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力与运动板块：</a:t>
            </a:r>
          </a:p>
        </p:txBody>
      </p:sp>
    </p:spTree>
    <p:extLst>
      <p:ext uri="{BB962C8B-B14F-4D97-AF65-F5344CB8AC3E}">
        <p14:creationId xmlns:p14="http://schemas.microsoft.com/office/powerpoint/2010/main" val="4923969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B63A571E-2F89-F74F-8875-5269527B170A}"/>
              </a:ext>
            </a:extLst>
          </p:cNvPr>
          <p:cNvSpPr/>
          <p:nvPr/>
        </p:nvSpPr>
        <p:spPr>
          <a:xfrm>
            <a:off x="609559" y="2737922"/>
            <a:ext cx="2384364" cy="3660337"/>
          </a:xfrm>
          <a:prstGeom prst="rect">
            <a:avLst/>
          </a:prstGeom>
          <a:solidFill>
            <a:srgbClr val="FCED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AD439BBB-1E1D-7344-9A13-86EEDF550E12}"/>
              </a:ext>
            </a:extLst>
          </p:cNvPr>
          <p:cNvSpPr txBox="1"/>
          <p:nvPr/>
        </p:nvSpPr>
        <p:spPr>
          <a:xfrm>
            <a:off x="538850" y="1090551"/>
            <a:ext cx="9354349" cy="1020921"/>
          </a:xfrm>
          <a:prstGeom prst="rect">
            <a:avLst/>
          </a:prstGeom>
          <a:noFill/>
        </p:spPr>
        <p:txBody>
          <a:bodyPr wrap="square" rtlCol="0">
            <a:spAutoFit/>
          </a:bodyPr>
          <a:lstStyle/>
          <a:p>
            <a:pPr>
              <a:lnSpc>
                <a:spcPct val="150000"/>
              </a:lnSpc>
            </a:pP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Step2.</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解题</a:t>
            </a: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细</a:t>
            </a: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p>
          <a:p>
            <a:pPr>
              <a:lnSpc>
                <a:spcPct val="150000"/>
              </a:lnSpc>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按照「方法」做题</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划分每一步的逻辑</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6" name="矩形 5">
            <a:extLst>
              <a:ext uri="{FF2B5EF4-FFF2-40B4-BE49-F238E27FC236}">
                <a16:creationId xmlns:a16="http://schemas.microsoft.com/office/drawing/2014/main" id="{F3F0AD5B-CF0C-9044-84C6-890E3379EA33}"/>
              </a:ext>
            </a:extLst>
          </p:cNvPr>
          <p:cNvSpPr/>
          <p:nvPr/>
        </p:nvSpPr>
        <p:spPr>
          <a:xfrm>
            <a:off x="693629" y="2882386"/>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491CFD39-FC30-324E-BD0A-ACD4C0CF6E63}"/>
              </a:ext>
            </a:extLst>
          </p:cNvPr>
          <p:cNvSpPr txBox="1"/>
          <p:nvPr/>
        </p:nvSpPr>
        <p:spPr>
          <a:xfrm>
            <a:off x="693907" y="3251717"/>
            <a:ext cx="2201693" cy="3108543"/>
          </a:xfrm>
          <a:prstGeom prst="rect">
            <a:avLst/>
          </a:prstGeom>
          <a:noFill/>
        </p:spPr>
        <p:txBody>
          <a:bodyPr wrap="square" rtlCol="0">
            <a:spAutoFit/>
          </a:bodyPr>
          <a:lstStyle/>
          <a:p>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细</a:t>
            </a:r>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做题</a:t>
            </a:r>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latin typeface="KaiTi" panose="02010609060101010101" pitchFamily="49" charset="-122"/>
                <a:ea typeface="KaiTi" panose="02010609060101010101" pitchFamily="49" charset="-122"/>
              </a:rPr>
              <a:t>划分每一步的逻辑</a:t>
            </a:r>
            <a:endParaRPr kumimoji="1" lang="en-US" altLang="zh-CN" sz="1400" dirty="0">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*求摩擦力的步骤：</a:t>
            </a:r>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判断有无相对滑动</a:t>
            </a:r>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判断是否平衡</a:t>
            </a:r>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利用不同公式求解</a:t>
            </a:r>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重点</a:t>
            </a:r>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即：</a:t>
            </a:r>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b="1" dirty="0">
              <a:solidFill>
                <a:srgbClr val="223AAC"/>
              </a:solidFill>
              <a:latin typeface="KaiTi" panose="02010609060101010101" pitchFamily="49" charset="-122"/>
              <a:ea typeface="KaiTi" panose="02010609060101010101" pitchFamily="49" charset="-122"/>
            </a:endParaRPr>
          </a:p>
          <a:p>
            <a:pPr algn="ctr"/>
            <a:r>
              <a:rPr kumimoji="1" lang="en-US" altLang="zh-CN" sz="1400" b="1" dirty="0">
                <a:solidFill>
                  <a:srgbClr val="223AAC"/>
                </a:solidFill>
                <a:latin typeface="KaiTi" panose="02010609060101010101" pitchFamily="49" charset="-122"/>
                <a:ea typeface="KaiTi" panose="02010609060101010101" pitchFamily="49" charset="-122"/>
              </a:rPr>
              <a:t>{</a:t>
            </a:r>
            <a:r>
              <a:rPr kumimoji="1" lang="zh-CN" altLang="en-US" sz="1400" b="1" dirty="0">
                <a:solidFill>
                  <a:srgbClr val="223AAC"/>
                </a:solidFill>
                <a:latin typeface="KaiTi" panose="02010609060101010101" pitchFamily="49" charset="-122"/>
                <a:ea typeface="KaiTi" panose="02010609060101010101" pitchFamily="49" charset="-122"/>
              </a:rPr>
              <a:t>用“树”形思维，</a:t>
            </a:r>
            <a:br>
              <a:rPr kumimoji="1" lang="en-US" altLang="zh-CN" sz="1400" b="1" dirty="0">
                <a:solidFill>
                  <a:srgbClr val="223AAC"/>
                </a:solidFill>
                <a:latin typeface="KaiTi" panose="02010609060101010101" pitchFamily="49" charset="-122"/>
                <a:ea typeface="KaiTi" panose="02010609060101010101" pitchFamily="49" charset="-122"/>
              </a:rPr>
            </a:br>
            <a:r>
              <a:rPr kumimoji="1" lang="zh-CN" altLang="en-US" sz="1400" b="1" dirty="0">
                <a:solidFill>
                  <a:srgbClr val="223AAC"/>
                </a:solidFill>
                <a:latin typeface="KaiTi" panose="02010609060101010101" pitchFamily="49" charset="-122"/>
                <a:ea typeface="KaiTi" panose="02010609060101010101" pitchFamily="49" charset="-122"/>
              </a:rPr>
              <a:t>记牢做题流程</a:t>
            </a:r>
            <a:r>
              <a:rPr kumimoji="1" lang="en-US" altLang="zh-CN" sz="1400" b="1" dirty="0">
                <a:solidFill>
                  <a:srgbClr val="223AAC"/>
                </a:solidFill>
                <a:latin typeface="KaiTi" panose="02010609060101010101" pitchFamily="49" charset="-122"/>
                <a:ea typeface="KaiTi" panose="02010609060101010101" pitchFamily="49" charset="-122"/>
              </a:rPr>
              <a:t>}</a:t>
            </a:r>
            <a:endParaRPr kumimoji="1" lang="en-US" altLang="zh-CN" sz="1400" dirty="0">
              <a:solidFill>
                <a:srgbClr val="223AAC"/>
              </a:solidFill>
              <a:latin typeface="KaiTi" panose="02010609060101010101" pitchFamily="49" charset="-122"/>
              <a:ea typeface="KaiTi" panose="02010609060101010101" pitchFamily="49" charset="-122"/>
            </a:endParaRPr>
          </a:p>
        </p:txBody>
      </p:sp>
      <p:sp>
        <p:nvSpPr>
          <p:cNvPr id="15" name="文本框 14">
            <a:extLst>
              <a:ext uri="{FF2B5EF4-FFF2-40B4-BE49-F238E27FC236}">
                <a16:creationId xmlns:a16="http://schemas.microsoft.com/office/drawing/2014/main" id="{DC4EA1E4-F5BC-F04C-AE1A-903DAA7A7D93}"/>
              </a:ext>
            </a:extLst>
          </p:cNvPr>
          <p:cNvSpPr txBox="1"/>
          <p:nvPr/>
        </p:nvSpPr>
        <p:spPr>
          <a:xfrm>
            <a:off x="538850" y="459740"/>
            <a:ext cx="4942702" cy="338554"/>
          </a:xfrm>
          <a:prstGeom prst="rect">
            <a:avLst/>
          </a:prstGeom>
          <a:noFill/>
        </p:spPr>
        <p:txBody>
          <a:bodyPr wrap="square" rtlCol="0">
            <a:spAutoFit/>
          </a:bodyPr>
          <a:lstStyle/>
          <a:p>
            <a:r>
              <a:rPr kumimoji="1" lang="en-US" altLang="zh-CN"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1.</a:t>
            </a:r>
            <a:r>
              <a:rPr kumimoji="1" lang="zh-CN" altLang="en-US"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力与运动板块：</a:t>
            </a:r>
          </a:p>
        </p:txBody>
      </p:sp>
      <p:pic>
        <p:nvPicPr>
          <p:cNvPr id="9" name="图片 8" descr="图片包含 文本&#10;&#10;描述已自动生成">
            <a:extLst>
              <a:ext uri="{FF2B5EF4-FFF2-40B4-BE49-F238E27FC236}">
                <a16:creationId xmlns:a16="http://schemas.microsoft.com/office/drawing/2014/main" id="{3085AC70-0D52-E542-A429-515FF708E8A5}"/>
              </a:ext>
            </a:extLst>
          </p:cNvPr>
          <p:cNvPicPr>
            <a:picLocks noChangeAspect="1"/>
          </p:cNvPicPr>
          <p:nvPr/>
        </p:nvPicPr>
        <p:blipFill rotWithShape="1">
          <a:blip r:embed="rId2">
            <a:extLst>
              <a:ext uri="{28A0092B-C50C-407E-A947-70E740481C1C}">
                <a14:useLocalDpi xmlns:a14="http://schemas.microsoft.com/office/drawing/2010/main" val="0"/>
              </a:ext>
            </a:extLst>
          </a:blip>
          <a:srcRect l="53491" t="43530" r="2572" b="45352"/>
          <a:stretch/>
        </p:blipFill>
        <p:spPr>
          <a:xfrm>
            <a:off x="4072600" y="666986"/>
            <a:ext cx="5275699" cy="2888972"/>
          </a:xfrm>
          <a:prstGeom prst="rect">
            <a:avLst/>
          </a:prstGeom>
          <a:ln>
            <a:solidFill>
              <a:srgbClr val="C00000"/>
            </a:solidFill>
          </a:ln>
        </p:spPr>
      </p:pic>
      <p:pic>
        <p:nvPicPr>
          <p:cNvPr id="10" name="图片 9">
            <a:extLst>
              <a:ext uri="{FF2B5EF4-FFF2-40B4-BE49-F238E27FC236}">
                <a16:creationId xmlns:a16="http://schemas.microsoft.com/office/drawing/2014/main" id="{47D2ADEB-3904-5445-BDF3-2E244CA4FD84}"/>
              </a:ext>
            </a:extLst>
          </p:cNvPr>
          <p:cNvPicPr>
            <a:picLocks noChangeAspect="1"/>
          </p:cNvPicPr>
          <p:nvPr/>
        </p:nvPicPr>
        <p:blipFill>
          <a:blip r:embed="rId3"/>
          <a:stretch>
            <a:fillRect/>
          </a:stretch>
        </p:blipFill>
        <p:spPr>
          <a:xfrm>
            <a:off x="4072600" y="3772393"/>
            <a:ext cx="5275699" cy="2837493"/>
          </a:xfrm>
          <a:prstGeom prst="rect">
            <a:avLst/>
          </a:prstGeom>
          <a:ln>
            <a:solidFill>
              <a:srgbClr val="C00000"/>
            </a:solidFill>
          </a:ln>
        </p:spPr>
      </p:pic>
      <p:sp>
        <p:nvSpPr>
          <p:cNvPr id="13" name="文本框 12">
            <a:extLst>
              <a:ext uri="{FF2B5EF4-FFF2-40B4-BE49-F238E27FC236}">
                <a16:creationId xmlns:a16="http://schemas.microsoft.com/office/drawing/2014/main" id="{5CC52FF8-78ED-3343-975C-15C27B9D6EBD}"/>
              </a:ext>
            </a:extLst>
          </p:cNvPr>
          <p:cNvSpPr txBox="1"/>
          <p:nvPr/>
        </p:nvSpPr>
        <p:spPr>
          <a:xfrm>
            <a:off x="9601201" y="1065992"/>
            <a:ext cx="2209290" cy="374590"/>
          </a:xfrm>
          <a:prstGeom prst="rect">
            <a:avLst/>
          </a:prstGeom>
          <a:noFill/>
        </p:spPr>
        <p:txBody>
          <a:bodyPr wrap="square" rtlCol="0">
            <a:spAutoFit/>
          </a:bodyPr>
          <a:lstStyle/>
          <a:p>
            <a:pPr>
              <a:lnSpc>
                <a:spcPct val="150000"/>
              </a:lnSpc>
            </a:pPr>
            <a:r>
              <a:rPr kumimoji="1" lang="zh-CN" altLang="en-US" sz="1400" b="1" u="sng"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判断接触面有无相对滑动</a:t>
            </a:r>
            <a:endParaRPr kumimoji="1" lang="en-US" altLang="zh-CN" sz="1400" u="sng"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14" name="文本框 13">
            <a:extLst>
              <a:ext uri="{FF2B5EF4-FFF2-40B4-BE49-F238E27FC236}">
                <a16:creationId xmlns:a16="http://schemas.microsoft.com/office/drawing/2014/main" id="{7D13CCBB-2997-EC4E-8982-C13A89864F14}"/>
              </a:ext>
            </a:extLst>
          </p:cNvPr>
          <p:cNvSpPr txBox="1"/>
          <p:nvPr/>
        </p:nvSpPr>
        <p:spPr>
          <a:xfrm>
            <a:off x="9465276" y="4194320"/>
            <a:ext cx="2842053" cy="374654"/>
          </a:xfrm>
          <a:prstGeom prst="rect">
            <a:avLst/>
          </a:prstGeom>
          <a:noFill/>
        </p:spPr>
        <p:txBody>
          <a:bodyPr wrap="square" rtlCol="0">
            <a:spAutoFit/>
          </a:bodyPr>
          <a:lstStyle/>
          <a:p>
            <a:pPr>
              <a:lnSpc>
                <a:spcPct val="150000"/>
              </a:lnSpc>
            </a:pPr>
            <a:r>
              <a:rPr kumimoji="1" lang="zh-CN" altLang="en-US" sz="14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传送带问题：判断加速度</a:t>
            </a:r>
            <a:r>
              <a:rPr kumimoji="1" lang="en-US" altLang="zh-CN" sz="14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a:t>
            </a:r>
            <a:r>
              <a:rPr kumimoji="1" lang="zh-CN" altLang="en-US" sz="14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的方向</a:t>
            </a:r>
            <a:endParaRPr kumimoji="1" lang="en-US" altLang="zh-CN" sz="1400" u="sng"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16" name="文本框 15">
            <a:extLst>
              <a:ext uri="{FF2B5EF4-FFF2-40B4-BE49-F238E27FC236}">
                <a16:creationId xmlns:a16="http://schemas.microsoft.com/office/drawing/2014/main" id="{76EBA20D-E85A-EB4F-9512-8DD1CD2F67FC}"/>
              </a:ext>
            </a:extLst>
          </p:cNvPr>
          <p:cNvSpPr txBox="1"/>
          <p:nvPr/>
        </p:nvSpPr>
        <p:spPr>
          <a:xfrm>
            <a:off x="9601200" y="2029139"/>
            <a:ext cx="2590800" cy="374590"/>
          </a:xfrm>
          <a:prstGeom prst="rect">
            <a:avLst/>
          </a:prstGeom>
          <a:noFill/>
        </p:spPr>
        <p:txBody>
          <a:bodyPr wrap="square" rtlCol="0">
            <a:spAutoFit/>
          </a:bodyPr>
          <a:lstStyle/>
          <a:p>
            <a:pPr>
              <a:lnSpc>
                <a:spcPct val="150000"/>
              </a:lnSpc>
            </a:pPr>
            <a:r>
              <a:rPr kumimoji="1" lang="zh-CN" altLang="en-US" sz="1400" b="1" u="sng"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决定不同的求摩擦力的方式</a:t>
            </a:r>
            <a:endParaRPr kumimoji="1" lang="en-US" altLang="zh-CN" sz="1400" u="sng"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cxnSp>
        <p:nvCxnSpPr>
          <p:cNvPr id="17" name="直线箭头连接符 16">
            <a:extLst>
              <a:ext uri="{FF2B5EF4-FFF2-40B4-BE49-F238E27FC236}">
                <a16:creationId xmlns:a16="http://schemas.microsoft.com/office/drawing/2014/main" id="{C7B10630-1DF6-4346-AF97-8ABC93F2C8BE}"/>
              </a:ext>
            </a:extLst>
          </p:cNvPr>
          <p:cNvCxnSpPr/>
          <p:nvPr/>
        </p:nvCxnSpPr>
        <p:spPr>
          <a:xfrm>
            <a:off x="10705846" y="1511904"/>
            <a:ext cx="0" cy="517235"/>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线箭头连接符 17">
            <a:extLst>
              <a:ext uri="{FF2B5EF4-FFF2-40B4-BE49-F238E27FC236}">
                <a16:creationId xmlns:a16="http://schemas.microsoft.com/office/drawing/2014/main" id="{F33E359A-EDC6-7E49-BCC1-673E709CBBB3}"/>
              </a:ext>
            </a:extLst>
          </p:cNvPr>
          <p:cNvCxnSpPr/>
          <p:nvPr/>
        </p:nvCxnSpPr>
        <p:spPr>
          <a:xfrm>
            <a:off x="10705846" y="4673904"/>
            <a:ext cx="0" cy="517235"/>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3BFCCA40-DD9D-834E-868A-61518DFABE3A}"/>
              </a:ext>
            </a:extLst>
          </p:cNvPr>
          <p:cNvSpPr txBox="1"/>
          <p:nvPr/>
        </p:nvSpPr>
        <p:spPr>
          <a:xfrm>
            <a:off x="9465276" y="564295"/>
            <a:ext cx="2590800" cy="374654"/>
          </a:xfrm>
          <a:prstGeom prst="rect">
            <a:avLst/>
          </a:prstGeom>
          <a:noFill/>
        </p:spPr>
        <p:txBody>
          <a:bodyPr wrap="square" rtlCol="0">
            <a:spAutoFit/>
          </a:bodyPr>
          <a:lstStyle/>
          <a:p>
            <a:pPr>
              <a:lnSpc>
                <a:spcPct val="150000"/>
              </a:lnSpc>
            </a:pPr>
            <a:r>
              <a:rPr kumimoji="1" lang="en-US" altLang="zh-CN" sz="1400" b="1" u="sng"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1</a:t>
            </a:r>
            <a:r>
              <a:rPr kumimoji="1" lang="zh-CN" altLang="en-US" sz="1400" b="1" u="sng"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）顺：从分析求计算结果</a:t>
            </a:r>
            <a:endParaRPr kumimoji="1" lang="en-US" altLang="zh-CN" sz="1400" u="sng"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21" name="文本框 20">
            <a:extLst>
              <a:ext uri="{FF2B5EF4-FFF2-40B4-BE49-F238E27FC236}">
                <a16:creationId xmlns:a16="http://schemas.microsoft.com/office/drawing/2014/main" id="{9F3A1D3D-193F-8247-9FA4-4FC61BEB1EC8}"/>
              </a:ext>
            </a:extLst>
          </p:cNvPr>
          <p:cNvSpPr txBox="1"/>
          <p:nvPr/>
        </p:nvSpPr>
        <p:spPr>
          <a:xfrm>
            <a:off x="9465276" y="3632403"/>
            <a:ext cx="2590800" cy="374654"/>
          </a:xfrm>
          <a:prstGeom prst="rect">
            <a:avLst/>
          </a:prstGeom>
          <a:noFill/>
        </p:spPr>
        <p:txBody>
          <a:bodyPr wrap="square" rtlCol="0">
            <a:spAutoFit/>
          </a:bodyPr>
          <a:lstStyle/>
          <a:p>
            <a:pPr>
              <a:lnSpc>
                <a:spcPct val="150000"/>
              </a:lnSpc>
            </a:pPr>
            <a:r>
              <a:rPr kumimoji="1" lang="en-US" altLang="zh-CN" sz="1400" b="1" u="sng"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2</a:t>
            </a:r>
            <a:r>
              <a:rPr kumimoji="1" lang="zh-CN" altLang="en-US" sz="1400" b="1" u="sng"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）逆：从现象推受力与运动</a:t>
            </a:r>
            <a:endParaRPr kumimoji="1" lang="en-US" altLang="zh-CN" sz="1400" u="sng"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23" name="文本框 22">
            <a:extLst>
              <a:ext uri="{FF2B5EF4-FFF2-40B4-BE49-F238E27FC236}">
                <a16:creationId xmlns:a16="http://schemas.microsoft.com/office/drawing/2014/main" id="{E0C37C3F-44AE-A348-AC0D-CA0ADF18929A}"/>
              </a:ext>
            </a:extLst>
          </p:cNvPr>
          <p:cNvSpPr txBox="1"/>
          <p:nvPr/>
        </p:nvSpPr>
        <p:spPr>
          <a:xfrm>
            <a:off x="9465276" y="5235731"/>
            <a:ext cx="2590800" cy="700000"/>
          </a:xfrm>
          <a:prstGeom prst="rect">
            <a:avLst/>
          </a:prstGeom>
          <a:noFill/>
        </p:spPr>
        <p:txBody>
          <a:bodyPr wrap="square" rtlCol="0">
            <a:spAutoFit/>
          </a:bodyPr>
          <a:lstStyle/>
          <a:p>
            <a:pPr>
              <a:lnSpc>
                <a:spcPct val="150000"/>
              </a:lnSpc>
            </a:pPr>
            <a:r>
              <a:rPr kumimoji="1" lang="zh-CN" altLang="en-US" sz="1400" b="1" u="sng"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判断相对传送带速度</a:t>
            </a:r>
            <a:r>
              <a:rPr kumimoji="1" lang="en-US" altLang="zh-CN" sz="1400" b="1" u="sng"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sym typeface="Wingdings" pitchFamily="2" charset="2"/>
              </a:rPr>
              <a:t></a:t>
            </a:r>
          </a:p>
          <a:p>
            <a:pPr>
              <a:lnSpc>
                <a:spcPct val="150000"/>
              </a:lnSpc>
            </a:pPr>
            <a:r>
              <a:rPr kumimoji="1" lang="zh-CN" altLang="en-US" sz="1400" b="1" u="sng"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sym typeface="Wingdings" pitchFamily="2" charset="2"/>
              </a:rPr>
              <a:t>判断</a:t>
            </a:r>
            <a:r>
              <a:rPr kumimoji="1" lang="en-US" altLang="zh-CN" sz="1400" b="1" u="sng"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sym typeface="Wingdings" pitchFamily="2" charset="2"/>
              </a:rPr>
              <a:t>a</a:t>
            </a:r>
            <a:r>
              <a:rPr kumimoji="1" lang="zh-CN" altLang="en-US" sz="1400" b="1" u="sng"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sym typeface="Wingdings" pitchFamily="2" charset="2"/>
              </a:rPr>
              <a:t>的方向</a:t>
            </a:r>
            <a:endParaRPr kumimoji="1" lang="en-US" altLang="zh-CN" sz="1400" u="sng"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42907938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48437175-892E-3F4C-AC0F-E093B6867A88}"/>
              </a:ext>
            </a:extLst>
          </p:cNvPr>
          <p:cNvSpPr/>
          <p:nvPr/>
        </p:nvSpPr>
        <p:spPr>
          <a:xfrm>
            <a:off x="574024" y="1347341"/>
            <a:ext cx="11043316" cy="3353553"/>
          </a:xfrm>
          <a:prstGeom prst="rect">
            <a:avLst/>
          </a:prstGeom>
          <a:solidFill>
            <a:schemeClr val="bg1">
              <a:lumMod val="95000"/>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 name="文本框 3">
            <a:extLst>
              <a:ext uri="{FF2B5EF4-FFF2-40B4-BE49-F238E27FC236}">
                <a16:creationId xmlns:a16="http://schemas.microsoft.com/office/drawing/2014/main" id="{F5FA99D3-4736-A246-A135-8AE4C9927328}"/>
              </a:ext>
            </a:extLst>
          </p:cNvPr>
          <p:cNvSpPr txBox="1"/>
          <p:nvPr/>
        </p:nvSpPr>
        <p:spPr>
          <a:xfrm>
            <a:off x="538850" y="459740"/>
            <a:ext cx="4942702" cy="338554"/>
          </a:xfrm>
          <a:prstGeom prst="rect">
            <a:avLst/>
          </a:prstGeom>
          <a:noFill/>
        </p:spPr>
        <p:txBody>
          <a:bodyPr wrap="square" rtlCol="0">
            <a:spAutoFit/>
          </a:bodyPr>
          <a:lstStyle/>
          <a:p>
            <a:r>
              <a:rPr kumimoji="1" lang="en-US" altLang="zh-CN"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2.</a:t>
            </a:r>
            <a:r>
              <a:rPr kumimoji="1" lang="zh-CN" altLang="en-US"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电与磁场板块：</a:t>
            </a:r>
          </a:p>
        </p:txBody>
      </p:sp>
      <p:sp>
        <p:nvSpPr>
          <p:cNvPr id="5" name="矩形 4">
            <a:extLst>
              <a:ext uri="{FF2B5EF4-FFF2-40B4-BE49-F238E27FC236}">
                <a16:creationId xmlns:a16="http://schemas.microsoft.com/office/drawing/2014/main" id="{FF0E6817-B62F-4E44-80B3-EAE331DC2CB9}"/>
              </a:ext>
            </a:extLst>
          </p:cNvPr>
          <p:cNvSpPr/>
          <p:nvPr/>
        </p:nvSpPr>
        <p:spPr>
          <a:xfrm>
            <a:off x="633528" y="1393399"/>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6" name="文本框 5">
            <a:extLst>
              <a:ext uri="{FF2B5EF4-FFF2-40B4-BE49-F238E27FC236}">
                <a16:creationId xmlns:a16="http://schemas.microsoft.com/office/drawing/2014/main" id="{46CA4B85-B5BE-C24B-94A2-47ED81E37822}"/>
              </a:ext>
            </a:extLst>
          </p:cNvPr>
          <p:cNvSpPr txBox="1"/>
          <p:nvPr/>
        </p:nvSpPr>
        <p:spPr>
          <a:xfrm>
            <a:off x="968747" y="1381367"/>
            <a:ext cx="9354349" cy="3283078"/>
          </a:xfrm>
          <a:prstGeom prst="rect">
            <a:avLst/>
          </a:prstGeom>
          <a:noFill/>
        </p:spPr>
        <p:txBody>
          <a:bodyPr wrap="square" rtlCol="0">
            <a:spAutoFit/>
          </a:bodyPr>
          <a:lstStyle/>
          <a:p>
            <a:pPr>
              <a:lnSpc>
                <a:spcPct val="150000"/>
              </a:lnSpc>
            </a:pP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Step1.</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用动力学分析受力</a:t>
            </a:r>
            <a:endPar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类比「动力学」理解概念「思维导图」</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u="sng"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所有定理都要能够理解透彻！！！</a:t>
            </a:r>
            <a:endParaRPr kumimoji="1" lang="en-US" altLang="zh-CN" sz="1400" u="sng"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Step2.</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分析运动轨迹</a:t>
            </a:r>
            <a:endPar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按照「受力分析」</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「运动分析」做题</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画出轨迹，形象思考</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Step3. {</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模型化</a:t>
            </a: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训练速度</a:t>
            </a: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p>
          <a:p>
            <a:pPr>
              <a:lnSpc>
                <a:spcPct val="150000"/>
              </a:lnSpc>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刷题：</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总结模型！</a:t>
            </a:r>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训练速度：</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1</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）蒙上答案迅速反应步骤</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2</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）总结题目类型</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文本框 6">
            <a:extLst>
              <a:ext uri="{FF2B5EF4-FFF2-40B4-BE49-F238E27FC236}">
                <a16:creationId xmlns:a16="http://schemas.microsoft.com/office/drawing/2014/main" id="{5C0E9FAD-86FB-6444-A3D8-9DEBA4E38E22}"/>
              </a:ext>
            </a:extLst>
          </p:cNvPr>
          <p:cNvSpPr txBox="1"/>
          <p:nvPr/>
        </p:nvSpPr>
        <p:spPr>
          <a:xfrm>
            <a:off x="582977" y="5145112"/>
            <a:ext cx="8622873" cy="738664"/>
          </a:xfrm>
          <a:prstGeom prst="rect">
            <a:avLst/>
          </a:prstGeom>
          <a:noFill/>
        </p:spPr>
        <p:txBody>
          <a:bodyPr wrap="none" rtlCol="0">
            <a:spAutoFit/>
          </a:bodyPr>
          <a:lstStyle/>
          <a:p>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强调！</a:t>
            </a:r>
            <a:r>
              <a:rPr kumimoji="1" lang="en-US" altLang="zh-CN" sz="1400" dirty="0">
                <a:solidFill>
                  <a:srgbClr val="223AAC"/>
                </a:solidFill>
                <a:latin typeface="KaiTi" panose="02010609060101010101" pitchFamily="49" charset="-122"/>
                <a:ea typeface="KaiTi" panose="02010609060101010101" pitchFamily="49" charset="-122"/>
              </a:rPr>
              <a:t>】</a:t>
            </a: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一定图形化 「分析清楚运动与受力」</a:t>
            </a:r>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再加快速度「模版化」，在平常「限时训练」是上分秘诀！！</a:t>
            </a:r>
          </a:p>
        </p:txBody>
      </p:sp>
      <p:cxnSp>
        <p:nvCxnSpPr>
          <p:cNvPr id="8" name="直线连接符 7">
            <a:extLst>
              <a:ext uri="{FF2B5EF4-FFF2-40B4-BE49-F238E27FC236}">
                <a16:creationId xmlns:a16="http://schemas.microsoft.com/office/drawing/2014/main" id="{21482DC0-3144-024F-BF25-1A61FFF454A7}"/>
              </a:ext>
            </a:extLst>
          </p:cNvPr>
          <p:cNvCxnSpPr>
            <a:cxnSpLocks/>
          </p:cNvCxnSpPr>
          <p:nvPr/>
        </p:nvCxnSpPr>
        <p:spPr>
          <a:xfrm>
            <a:off x="582977" y="4980918"/>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9" name="直线连接符 8">
            <a:extLst>
              <a:ext uri="{FF2B5EF4-FFF2-40B4-BE49-F238E27FC236}">
                <a16:creationId xmlns:a16="http://schemas.microsoft.com/office/drawing/2014/main" id="{9A01DCFA-C36E-8142-A5D9-0C121720ED2B}"/>
              </a:ext>
            </a:extLst>
          </p:cNvPr>
          <p:cNvCxnSpPr>
            <a:cxnSpLocks/>
          </p:cNvCxnSpPr>
          <p:nvPr/>
        </p:nvCxnSpPr>
        <p:spPr>
          <a:xfrm>
            <a:off x="582977" y="6163794"/>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F87F4392-D34D-8046-BA22-C58CB05FEAA4}"/>
              </a:ext>
            </a:extLst>
          </p:cNvPr>
          <p:cNvSpPr/>
          <p:nvPr/>
        </p:nvSpPr>
        <p:spPr>
          <a:xfrm>
            <a:off x="968747" y="1393400"/>
            <a:ext cx="3171738" cy="197795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27643348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B63A571E-2F89-F74F-8875-5269527B170A}"/>
              </a:ext>
            </a:extLst>
          </p:cNvPr>
          <p:cNvSpPr/>
          <p:nvPr/>
        </p:nvSpPr>
        <p:spPr>
          <a:xfrm>
            <a:off x="609559" y="2737922"/>
            <a:ext cx="2384364" cy="3660337"/>
          </a:xfrm>
          <a:prstGeom prst="rect">
            <a:avLst/>
          </a:prstGeom>
          <a:solidFill>
            <a:srgbClr val="FCED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AD439BBB-1E1D-7344-9A13-86EEDF550E12}"/>
              </a:ext>
            </a:extLst>
          </p:cNvPr>
          <p:cNvSpPr txBox="1"/>
          <p:nvPr/>
        </p:nvSpPr>
        <p:spPr>
          <a:xfrm>
            <a:off x="538850" y="1090551"/>
            <a:ext cx="9354349" cy="1020921"/>
          </a:xfrm>
          <a:prstGeom prst="rect">
            <a:avLst/>
          </a:prstGeom>
          <a:noFill/>
        </p:spPr>
        <p:txBody>
          <a:bodyPr wrap="square" rtlCol="0">
            <a:spAutoFit/>
          </a:bodyPr>
          <a:lstStyle/>
          <a:p>
            <a:pPr>
              <a:lnSpc>
                <a:spcPct val="150000"/>
              </a:lnSpc>
            </a:pP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Step1.</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用动力学分析受力</a:t>
            </a:r>
            <a:endPar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类比「动力学」理解概念「思维导图」</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u="sng"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所有定理都要能够理解透彻！！！</a:t>
            </a:r>
            <a:endParaRPr kumimoji="1" lang="en-US" altLang="zh-CN" sz="1400" u="sng"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6" name="矩形 5">
            <a:extLst>
              <a:ext uri="{FF2B5EF4-FFF2-40B4-BE49-F238E27FC236}">
                <a16:creationId xmlns:a16="http://schemas.microsoft.com/office/drawing/2014/main" id="{F3F0AD5B-CF0C-9044-84C6-890E3379EA33}"/>
              </a:ext>
            </a:extLst>
          </p:cNvPr>
          <p:cNvSpPr/>
          <p:nvPr/>
        </p:nvSpPr>
        <p:spPr>
          <a:xfrm>
            <a:off x="693629" y="2882386"/>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491CFD39-FC30-324E-BD0A-ACD4C0CF6E63}"/>
              </a:ext>
            </a:extLst>
          </p:cNvPr>
          <p:cNvSpPr txBox="1"/>
          <p:nvPr/>
        </p:nvSpPr>
        <p:spPr>
          <a:xfrm>
            <a:off x="693907" y="3251717"/>
            <a:ext cx="2201693" cy="2893100"/>
          </a:xfrm>
          <a:prstGeom prst="rect">
            <a:avLst/>
          </a:prstGeom>
          <a:noFill/>
        </p:spPr>
        <p:txBody>
          <a:bodyPr wrap="square" rtlCol="0">
            <a:spAutoFit/>
          </a:bodyPr>
          <a:lstStyle/>
          <a:p>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理解概念</a:t>
            </a:r>
            <a:r>
              <a:rPr kumimoji="1" lang="en-US" altLang="zh-CN" sz="1400" dirty="0">
                <a:solidFill>
                  <a:srgbClr val="223AAC"/>
                </a:solidFill>
                <a:latin typeface="KaiTi" panose="02010609060101010101" pitchFamily="49" charset="-122"/>
                <a:ea typeface="KaiTi" panose="02010609060101010101" pitchFamily="49" charset="-122"/>
              </a:rPr>
              <a:t>】</a:t>
            </a: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latin typeface="KaiTi" panose="02010609060101010101" pitchFamily="49" charset="-122"/>
                <a:ea typeface="KaiTi" panose="02010609060101010101" pitchFamily="49" charset="-122"/>
              </a:rPr>
              <a:t>在运动学分析基础上</a:t>
            </a:r>
            <a:endParaRPr kumimoji="1" lang="en-US" altLang="zh-CN" sz="1400" dirty="0">
              <a:latin typeface="KaiTi" panose="02010609060101010101" pitchFamily="49" charset="-122"/>
              <a:ea typeface="KaiTi" panose="02010609060101010101" pitchFamily="49" charset="-122"/>
            </a:endParaRPr>
          </a:p>
          <a:p>
            <a:r>
              <a:rPr kumimoji="1" lang="en-US" altLang="zh-CN" sz="1400" dirty="0">
                <a:latin typeface="KaiTi" panose="02010609060101010101" pitchFamily="49" charset="-122"/>
                <a:ea typeface="KaiTi" panose="02010609060101010101" pitchFamily="49" charset="-122"/>
              </a:rPr>
              <a:t>+</a:t>
            </a:r>
            <a:r>
              <a:rPr kumimoji="1" lang="zh-CN" altLang="en-US" sz="1400" dirty="0">
                <a:latin typeface="KaiTi" panose="02010609060101010101" pitchFamily="49" charset="-122"/>
                <a:ea typeface="KaiTi" panose="02010609060101010101" pitchFamily="49" charset="-122"/>
              </a:rPr>
              <a:t>「电</a:t>
            </a:r>
            <a:r>
              <a:rPr kumimoji="1" lang="en-US" altLang="zh-CN" sz="1400" dirty="0">
                <a:latin typeface="KaiTi" panose="02010609060101010101" pitchFamily="49" charset="-122"/>
                <a:ea typeface="KaiTi" panose="02010609060101010101" pitchFamily="49" charset="-122"/>
              </a:rPr>
              <a:t>/</a:t>
            </a:r>
            <a:r>
              <a:rPr kumimoji="1" lang="zh-CN" altLang="en-US" sz="1400" dirty="0">
                <a:latin typeface="KaiTi" panose="02010609060101010101" pitchFamily="49" charset="-122"/>
                <a:ea typeface="KaiTi" panose="02010609060101010101" pitchFamily="49" charset="-122"/>
              </a:rPr>
              <a:t>磁场」中受力</a:t>
            </a:r>
            <a:endParaRPr kumimoji="1" lang="en-US" altLang="zh-CN" sz="1400" dirty="0">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*注意：</a:t>
            </a:r>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分清受力方向！</a:t>
            </a:r>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重点</a:t>
            </a:r>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即：</a:t>
            </a:r>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b="1" dirty="0">
              <a:solidFill>
                <a:srgbClr val="223AAC"/>
              </a:solidFill>
              <a:latin typeface="KaiTi" panose="02010609060101010101" pitchFamily="49" charset="-122"/>
              <a:ea typeface="KaiTi" panose="02010609060101010101" pitchFamily="49" charset="-122"/>
            </a:endParaRPr>
          </a:p>
          <a:p>
            <a:pPr algn="ctr"/>
            <a:r>
              <a:rPr kumimoji="1" lang="en-US" altLang="zh-CN" sz="1400" b="1" dirty="0">
                <a:solidFill>
                  <a:srgbClr val="223AAC"/>
                </a:solidFill>
                <a:latin typeface="KaiTi" panose="02010609060101010101" pitchFamily="49" charset="-122"/>
                <a:ea typeface="KaiTi" panose="02010609060101010101" pitchFamily="49" charset="-122"/>
              </a:rPr>
              <a:t>{</a:t>
            </a:r>
            <a:r>
              <a:rPr kumimoji="1" lang="zh-CN" altLang="en-US" sz="1400" b="1" dirty="0">
                <a:solidFill>
                  <a:srgbClr val="223AAC"/>
                </a:solidFill>
                <a:latin typeface="KaiTi" panose="02010609060101010101" pitchFamily="49" charset="-122"/>
                <a:ea typeface="KaiTi" panose="02010609060101010101" pitchFamily="49" charset="-122"/>
              </a:rPr>
              <a:t>用类比方式理解电、</a:t>
            </a:r>
            <a:br>
              <a:rPr kumimoji="1" lang="en-US" altLang="zh-CN" sz="1400" b="1" dirty="0">
                <a:solidFill>
                  <a:srgbClr val="223AAC"/>
                </a:solidFill>
                <a:latin typeface="KaiTi" panose="02010609060101010101" pitchFamily="49" charset="-122"/>
                <a:ea typeface="KaiTi" panose="02010609060101010101" pitchFamily="49" charset="-122"/>
              </a:rPr>
            </a:br>
            <a:r>
              <a:rPr kumimoji="1" lang="zh-CN" altLang="en-US" sz="1400" b="1" dirty="0">
                <a:solidFill>
                  <a:srgbClr val="223AAC"/>
                </a:solidFill>
                <a:latin typeface="KaiTi" panose="02010609060101010101" pitchFamily="49" charset="-122"/>
                <a:ea typeface="KaiTi" panose="02010609060101010101" pitchFamily="49" charset="-122"/>
              </a:rPr>
              <a:t>磁场中受力的属性</a:t>
            </a:r>
            <a:r>
              <a:rPr kumimoji="1" lang="en-US" altLang="zh-CN" sz="1400" b="1" dirty="0">
                <a:solidFill>
                  <a:srgbClr val="223AAC"/>
                </a:solidFill>
                <a:latin typeface="KaiTi" panose="02010609060101010101" pitchFamily="49" charset="-122"/>
                <a:ea typeface="KaiTi" panose="02010609060101010101" pitchFamily="49" charset="-122"/>
              </a:rPr>
              <a:t>}</a:t>
            </a:r>
            <a:endParaRPr kumimoji="1" lang="en-US" altLang="zh-CN" sz="1400" dirty="0">
              <a:solidFill>
                <a:srgbClr val="223AAC"/>
              </a:solidFill>
              <a:latin typeface="KaiTi" panose="02010609060101010101" pitchFamily="49" charset="-122"/>
              <a:ea typeface="KaiTi" panose="02010609060101010101" pitchFamily="49" charset="-122"/>
            </a:endParaRPr>
          </a:p>
        </p:txBody>
      </p:sp>
      <p:sp>
        <p:nvSpPr>
          <p:cNvPr id="9" name="文本框 8">
            <a:extLst>
              <a:ext uri="{FF2B5EF4-FFF2-40B4-BE49-F238E27FC236}">
                <a16:creationId xmlns:a16="http://schemas.microsoft.com/office/drawing/2014/main" id="{2E10A8CE-824B-2545-8131-7DC747CB935A}"/>
              </a:ext>
            </a:extLst>
          </p:cNvPr>
          <p:cNvSpPr txBox="1"/>
          <p:nvPr/>
        </p:nvSpPr>
        <p:spPr>
          <a:xfrm>
            <a:off x="538850" y="459740"/>
            <a:ext cx="4942702" cy="338554"/>
          </a:xfrm>
          <a:prstGeom prst="rect">
            <a:avLst/>
          </a:prstGeom>
          <a:noFill/>
        </p:spPr>
        <p:txBody>
          <a:bodyPr wrap="square" rtlCol="0">
            <a:spAutoFit/>
          </a:bodyPr>
          <a:lstStyle/>
          <a:p>
            <a:r>
              <a:rPr kumimoji="1" lang="en-US" altLang="zh-CN"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2.</a:t>
            </a:r>
            <a:r>
              <a:rPr kumimoji="1" lang="zh-CN" altLang="en-US"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电与磁场板块：</a:t>
            </a:r>
          </a:p>
        </p:txBody>
      </p:sp>
      <p:pic>
        <p:nvPicPr>
          <p:cNvPr id="4" name="图片 3">
            <a:extLst>
              <a:ext uri="{FF2B5EF4-FFF2-40B4-BE49-F238E27FC236}">
                <a16:creationId xmlns:a16="http://schemas.microsoft.com/office/drawing/2014/main" id="{F56A213D-A054-1C49-9747-56AC7B93AD1E}"/>
              </a:ext>
            </a:extLst>
          </p:cNvPr>
          <p:cNvPicPr>
            <a:picLocks noChangeAspect="1"/>
          </p:cNvPicPr>
          <p:nvPr/>
        </p:nvPicPr>
        <p:blipFill rotWithShape="1">
          <a:blip r:embed="rId3"/>
          <a:srcRect b="70972"/>
          <a:stretch/>
        </p:blipFill>
        <p:spPr>
          <a:xfrm>
            <a:off x="4786313" y="629017"/>
            <a:ext cx="2527300" cy="1570486"/>
          </a:xfrm>
          <a:prstGeom prst="rect">
            <a:avLst/>
          </a:prstGeom>
          <a:ln>
            <a:solidFill>
              <a:srgbClr val="C00000"/>
            </a:solidFill>
          </a:ln>
        </p:spPr>
      </p:pic>
      <p:pic>
        <p:nvPicPr>
          <p:cNvPr id="11" name="图片 10">
            <a:extLst>
              <a:ext uri="{FF2B5EF4-FFF2-40B4-BE49-F238E27FC236}">
                <a16:creationId xmlns:a16="http://schemas.microsoft.com/office/drawing/2014/main" id="{CACDE05C-8955-6B41-8AE4-3F2FA8E4840E}"/>
              </a:ext>
            </a:extLst>
          </p:cNvPr>
          <p:cNvPicPr>
            <a:picLocks noChangeAspect="1"/>
          </p:cNvPicPr>
          <p:nvPr/>
        </p:nvPicPr>
        <p:blipFill rotWithShape="1">
          <a:blip r:embed="rId3"/>
          <a:srcRect t="32803" b="36712"/>
          <a:stretch/>
        </p:blipFill>
        <p:spPr>
          <a:xfrm>
            <a:off x="4786313" y="2579642"/>
            <a:ext cx="2527300" cy="1649287"/>
          </a:xfrm>
          <a:prstGeom prst="rect">
            <a:avLst/>
          </a:prstGeom>
          <a:ln>
            <a:solidFill>
              <a:srgbClr val="C00000"/>
            </a:solidFill>
          </a:ln>
        </p:spPr>
      </p:pic>
      <p:pic>
        <p:nvPicPr>
          <p:cNvPr id="12" name="图片 11">
            <a:extLst>
              <a:ext uri="{FF2B5EF4-FFF2-40B4-BE49-F238E27FC236}">
                <a16:creationId xmlns:a16="http://schemas.microsoft.com/office/drawing/2014/main" id="{CFA20222-2E86-094A-811B-51FB7A4675E1}"/>
              </a:ext>
            </a:extLst>
          </p:cNvPr>
          <p:cNvPicPr>
            <a:picLocks noChangeAspect="1"/>
          </p:cNvPicPr>
          <p:nvPr/>
        </p:nvPicPr>
        <p:blipFill rotWithShape="1">
          <a:blip r:embed="rId3"/>
          <a:srcRect t="71663"/>
          <a:stretch/>
        </p:blipFill>
        <p:spPr>
          <a:xfrm>
            <a:off x="4786313" y="4568090"/>
            <a:ext cx="2527300" cy="1533098"/>
          </a:xfrm>
          <a:prstGeom prst="rect">
            <a:avLst/>
          </a:prstGeom>
          <a:ln>
            <a:solidFill>
              <a:srgbClr val="C00000"/>
            </a:solidFill>
          </a:ln>
        </p:spPr>
      </p:pic>
      <p:sp>
        <p:nvSpPr>
          <p:cNvPr id="10" name="矩形 9">
            <a:extLst>
              <a:ext uri="{FF2B5EF4-FFF2-40B4-BE49-F238E27FC236}">
                <a16:creationId xmlns:a16="http://schemas.microsoft.com/office/drawing/2014/main" id="{B21D13D5-261A-294C-8D87-F05BACB2822E}"/>
              </a:ext>
            </a:extLst>
          </p:cNvPr>
          <p:cNvSpPr/>
          <p:nvPr/>
        </p:nvSpPr>
        <p:spPr>
          <a:xfrm>
            <a:off x="7928475" y="1389262"/>
            <a:ext cx="3929448" cy="954107"/>
          </a:xfrm>
          <a:prstGeom prst="rect">
            <a:avLst/>
          </a:prstGeom>
        </p:spPr>
        <p:txBody>
          <a:bodyPr wrap="square">
            <a:spAutoFit/>
          </a:bodyPr>
          <a:lstStyle/>
          <a:p>
            <a:r>
              <a:rPr lang="zh-CN" altLang="en-US" sz="1400" dirty="0">
                <a:solidFill>
                  <a:schemeClr val="tx1">
                    <a:lumMod val="50000"/>
                    <a:lumOff val="50000"/>
                  </a:schemeClr>
                </a:solidFill>
                <a:latin typeface="KaiTi" panose="02010609060101010101" pitchFamily="49" charset="-122"/>
                <a:ea typeface="KaiTi" panose="02010609060101010101" pitchFamily="49" charset="-122"/>
              </a:rPr>
              <a:t>第一步:隔离法，对 P、</a:t>
            </a:r>
            <a:r>
              <a:rPr lang="en-US" altLang="zh-CN" sz="1400" dirty="0">
                <a:solidFill>
                  <a:schemeClr val="tx1">
                    <a:lumMod val="50000"/>
                    <a:lumOff val="50000"/>
                  </a:schemeClr>
                </a:solidFill>
                <a:latin typeface="KaiTi" panose="02010609060101010101" pitchFamily="49" charset="-122"/>
                <a:ea typeface="KaiTi" panose="02010609060101010101" pitchFamily="49" charset="-122"/>
              </a:rPr>
              <a:t>Q</a:t>
            </a:r>
            <a:r>
              <a:rPr lang="zh-CN" altLang="en-US" sz="1400" dirty="0">
                <a:solidFill>
                  <a:schemeClr val="tx1">
                    <a:lumMod val="50000"/>
                    <a:lumOff val="50000"/>
                  </a:schemeClr>
                </a:solidFill>
                <a:latin typeface="KaiTi" panose="02010609060101010101" pitchFamily="49" charset="-122"/>
                <a:ea typeface="KaiTi" panose="02010609060101010101" pitchFamily="49" charset="-122"/>
              </a:rPr>
              <a:t>单独分析，排除 P、Q 带同种电荷的情况假设P、Q都带正电荷，则</a:t>
            </a:r>
            <a:r>
              <a:rPr lang="en-US" altLang="zh-CN" sz="1400" dirty="0">
                <a:solidFill>
                  <a:schemeClr val="tx1">
                    <a:lumMod val="50000"/>
                    <a:lumOff val="50000"/>
                  </a:schemeClr>
                </a:solidFill>
                <a:latin typeface="KaiTi" panose="02010609060101010101" pitchFamily="49" charset="-122"/>
                <a:ea typeface="KaiTi" panose="02010609060101010101" pitchFamily="49" charset="-122"/>
              </a:rPr>
              <a:t>Q</a:t>
            </a:r>
            <a:r>
              <a:rPr lang="zh-CN" altLang="en-US" sz="1400" dirty="0">
                <a:solidFill>
                  <a:schemeClr val="tx1">
                    <a:lumMod val="50000"/>
                    <a:lumOff val="50000"/>
                  </a:schemeClr>
                </a:solidFill>
                <a:latin typeface="KaiTi" panose="02010609060101010101" pitchFamily="49" charset="-122"/>
                <a:ea typeface="KaiTi" panose="02010609060101010101" pitchFamily="49" charset="-122"/>
              </a:rPr>
              <a:t>会受两个向右的力(电场力和同种电荷之间的斥力)，细线不会竖直。</a:t>
            </a:r>
          </a:p>
        </p:txBody>
      </p:sp>
      <p:sp>
        <p:nvSpPr>
          <p:cNvPr id="13" name="矩形 12">
            <a:extLst>
              <a:ext uri="{FF2B5EF4-FFF2-40B4-BE49-F238E27FC236}">
                <a16:creationId xmlns:a16="http://schemas.microsoft.com/office/drawing/2014/main" id="{3D27BFE8-2896-5F41-B4A0-4314C5F60CF2}"/>
              </a:ext>
            </a:extLst>
          </p:cNvPr>
          <p:cNvSpPr/>
          <p:nvPr/>
        </p:nvSpPr>
        <p:spPr>
          <a:xfrm>
            <a:off x="7928475" y="3105834"/>
            <a:ext cx="3929448" cy="523220"/>
          </a:xfrm>
          <a:prstGeom prst="rect">
            <a:avLst/>
          </a:prstGeom>
        </p:spPr>
        <p:txBody>
          <a:bodyPr wrap="square">
            <a:spAutoFit/>
          </a:bodyPr>
          <a:lstStyle/>
          <a:p>
            <a:r>
              <a:rPr lang="zh-CN" altLang="en-US" sz="1400" dirty="0">
                <a:solidFill>
                  <a:schemeClr val="tx1">
                    <a:lumMod val="50000"/>
                    <a:lumOff val="50000"/>
                  </a:schemeClr>
                </a:solidFill>
                <a:latin typeface="KaiTi" panose="02010609060101010101" pitchFamily="49" charset="-122"/>
                <a:ea typeface="KaiTi" panose="02010609060101010101" pitchFamily="49" charset="-122"/>
              </a:rPr>
              <a:t>假设P、</a:t>
            </a:r>
            <a:r>
              <a:rPr lang="en-US" altLang="zh-CN" sz="1400" dirty="0">
                <a:solidFill>
                  <a:schemeClr val="tx1">
                    <a:lumMod val="50000"/>
                    <a:lumOff val="50000"/>
                  </a:schemeClr>
                </a:solidFill>
                <a:latin typeface="KaiTi" panose="02010609060101010101" pitchFamily="49" charset="-122"/>
                <a:ea typeface="KaiTi" panose="02010609060101010101" pitchFamily="49" charset="-122"/>
              </a:rPr>
              <a:t>Q</a:t>
            </a:r>
            <a:r>
              <a:rPr lang="zh-CN" altLang="en-US" sz="1400" dirty="0">
                <a:solidFill>
                  <a:schemeClr val="tx1">
                    <a:lumMod val="50000"/>
                    <a:lumOff val="50000"/>
                  </a:schemeClr>
                </a:solidFill>
                <a:latin typeface="KaiTi" panose="02010609060101010101" pitchFamily="49" charset="-122"/>
                <a:ea typeface="KaiTi" panose="02010609060101010101" pitchFamily="49" charset="-122"/>
              </a:rPr>
              <a:t>都带负电荷，则P会受两个向左的力，细线不会坚直，所以P、Q必带异种电荷。</a:t>
            </a:r>
          </a:p>
        </p:txBody>
      </p:sp>
      <p:sp>
        <p:nvSpPr>
          <p:cNvPr id="16" name="矩形 15">
            <a:extLst>
              <a:ext uri="{FF2B5EF4-FFF2-40B4-BE49-F238E27FC236}">
                <a16:creationId xmlns:a16="http://schemas.microsoft.com/office/drawing/2014/main" id="{ED087019-2635-9F4D-8569-8D4E001377AD}"/>
              </a:ext>
            </a:extLst>
          </p:cNvPr>
          <p:cNvSpPr/>
          <p:nvPr/>
        </p:nvSpPr>
        <p:spPr>
          <a:xfrm>
            <a:off x="7928475" y="5073029"/>
            <a:ext cx="3929448" cy="738664"/>
          </a:xfrm>
          <a:prstGeom prst="rect">
            <a:avLst/>
          </a:prstGeom>
        </p:spPr>
        <p:txBody>
          <a:bodyPr wrap="square">
            <a:spAutoFit/>
          </a:bodyPr>
          <a:lstStyle/>
          <a:p>
            <a:r>
              <a:rPr lang="zh-CN" altLang="en-US" sz="1400" dirty="0">
                <a:solidFill>
                  <a:schemeClr val="tx1">
                    <a:lumMod val="50000"/>
                    <a:lumOff val="50000"/>
                  </a:schemeClr>
                </a:solidFill>
                <a:latin typeface="KaiTi" panose="02010609060101010101" pitchFamily="49" charset="-122"/>
                <a:ea typeface="KaiTi" panose="02010609060101010101" pitchFamily="49" charset="-122"/>
              </a:rPr>
              <a:t>第二步</a:t>
            </a:r>
            <a:r>
              <a:rPr lang="en-US" altLang="zh-CN" sz="1400" dirty="0">
                <a:solidFill>
                  <a:schemeClr val="tx1">
                    <a:lumMod val="50000"/>
                    <a:lumOff val="50000"/>
                  </a:schemeClr>
                </a:solidFill>
                <a:latin typeface="KaiTi" panose="02010609060101010101" pitchFamily="49" charset="-122"/>
                <a:ea typeface="KaiTi" panose="02010609060101010101" pitchFamily="49" charset="-122"/>
              </a:rPr>
              <a:t>:</a:t>
            </a:r>
            <a:r>
              <a:rPr lang="zh-CN" altLang="en-US" sz="1400" dirty="0">
                <a:solidFill>
                  <a:schemeClr val="tx1">
                    <a:lumMod val="50000"/>
                    <a:lumOff val="50000"/>
                  </a:schemeClr>
                </a:solidFill>
                <a:latin typeface="KaiTi" panose="02010609060101010101" pitchFamily="49" charset="-122"/>
                <a:ea typeface="KaiTi" panose="02010609060101010101" pitchFamily="49" charset="-122"/>
              </a:rPr>
              <a:t>隔离法，进一步判断</a:t>
            </a:r>
            <a:r>
              <a:rPr lang="fr-FR" altLang="zh-CN" sz="1400" dirty="0">
                <a:solidFill>
                  <a:schemeClr val="tx1">
                    <a:lumMod val="50000"/>
                    <a:lumOff val="50000"/>
                  </a:schemeClr>
                </a:solidFill>
                <a:latin typeface="KaiTi" panose="02010609060101010101" pitchFamily="49" charset="-122"/>
                <a:ea typeface="KaiTi" panose="02010609060101010101" pitchFamily="49" charset="-122"/>
              </a:rPr>
              <a:t>P</a:t>
            </a:r>
            <a:r>
              <a:rPr lang="zh-CN" altLang="fr-FR" sz="1400" dirty="0">
                <a:solidFill>
                  <a:schemeClr val="tx1">
                    <a:lumMod val="50000"/>
                    <a:lumOff val="50000"/>
                  </a:schemeClr>
                </a:solidFill>
                <a:latin typeface="KaiTi" panose="02010609060101010101" pitchFamily="49" charset="-122"/>
                <a:ea typeface="KaiTi" panose="02010609060101010101" pitchFamily="49" charset="-122"/>
              </a:rPr>
              <a:t>、</a:t>
            </a:r>
            <a:r>
              <a:rPr lang="fr-FR" altLang="zh-CN" sz="1400" dirty="0">
                <a:solidFill>
                  <a:schemeClr val="tx1">
                    <a:lumMod val="50000"/>
                    <a:lumOff val="50000"/>
                  </a:schemeClr>
                </a:solidFill>
                <a:latin typeface="KaiTi" panose="02010609060101010101" pitchFamily="49" charset="-122"/>
                <a:ea typeface="KaiTi" panose="02010609060101010101" pitchFamily="49" charset="-122"/>
              </a:rPr>
              <a:t>Q</a:t>
            </a:r>
            <a:r>
              <a:rPr lang="zh-CN" altLang="en-US" sz="1400" dirty="0">
                <a:solidFill>
                  <a:schemeClr val="tx1">
                    <a:lumMod val="50000"/>
                    <a:lumOff val="50000"/>
                  </a:schemeClr>
                </a:solidFill>
                <a:latin typeface="KaiTi" panose="02010609060101010101" pitchFamily="49" charset="-122"/>
                <a:ea typeface="KaiTi" panose="02010609060101010101" pitchFamily="49" charset="-122"/>
              </a:rPr>
              <a:t>哪个为正，哪个为负，若</a:t>
            </a:r>
            <a:r>
              <a:rPr lang="en-US" altLang="zh-CN" sz="1400" dirty="0">
                <a:solidFill>
                  <a:schemeClr val="tx1">
                    <a:lumMod val="50000"/>
                    <a:lumOff val="50000"/>
                  </a:schemeClr>
                </a:solidFill>
                <a:latin typeface="KaiTi" panose="02010609060101010101" pitchFamily="49" charset="-122"/>
                <a:ea typeface="KaiTi" panose="02010609060101010101" pitchFamily="49" charset="-122"/>
              </a:rPr>
              <a:t>Q</a:t>
            </a:r>
            <a:r>
              <a:rPr lang="zh-CN" altLang="en-US" sz="1400" dirty="0">
                <a:solidFill>
                  <a:schemeClr val="tx1">
                    <a:lumMod val="50000"/>
                    <a:lumOff val="50000"/>
                  </a:schemeClr>
                </a:solidFill>
                <a:latin typeface="KaiTi" panose="02010609060101010101" pitchFamily="49" charset="-122"/>
                <a:ea typeface="KaiTi" panose="02010609060101010101" pitchFamily="49" charset="-122"/>
              </a:rPr>
              <a:t>带负电，</a:t>
            </a:r>
            <a:r>
              <a:rPr lang="en-US" altLang="zh-CN" sz="1400" dirty="0">
                <a:solidFill>
                  <a:schemeClr val="tx1">
                    <a:lumMod val="50000"/>
                    <a:lumOff val="50000"/>
                  </a:schemeClr>
                </a:solidFill>
                <a:latin typeface="KaiTi" panose="02010609060101010101" pitchFamily="49" charset="-122"/>
                <a:ea typeface="KaiTi" panose="02010609060101010101" pitchFamily="49" charset="-122"/>
              </a:rPr>
              <a:t>Q</a:t>
            </a:r>
            <a:r>
              <a:rPr lang="zh-CN" altLang="en-US" sz="1400" dirty="0">
                <a:solidFill>
                  <a:schemeClr val="tx1">
                    <a:lumMod val="50000"/>
                    <a:lumOff val="50000"/>
                  </a:schemeClr>
                </a:solidFill>
                <a:latin typeface="KaiTi" panose="02010609060101010101" pitchFamily="49" charset="-122"/>
                <a:ea typeface="KaiTi" panose="02010609060101010101" pitchFamily="49" charset="-122"/>
              </a:rPr>
              <a:t>带正电，将</a:t>
            </a:r>
            <a:r>
              <a:rPr lang="fr-FR" altLang="zh-CN" sz="1400" dirty="0">
                <a:solidFill>
                  <a:schemeClr val="tx1">
                    <a:lumMod val="50000"/>
                    <a:lumOff val="50000"/>
                  </a:schemeClr>
                </a:solidFill>
                <a:latin typeface="KaiTi" panose="02010609060101010101" pitchFamily="49" charset="-122"/>
                <a:ea typeface="KaiTi" panose="02010609060101010101" pitchFamily="49" charset="-122"/>
              </a:rPr>
              <a:t>P</a:t>
            </a:r>
            <a:r>
              <a:rPr lang="zh-CN" altLang="fr-FR" sz="1400" dirty="0">
                <a:solidFill>
                  <a:schemeClr val="tx1">
                    <a:lumMod val="50000"/>
                    <a:lumOff val="50000"/>
                  </a:schemeClr>
                </a:solidFill>
                <a:latin typeface="KaiTi" panose="02010609060101010101" pitchFamily="49" charset="-122"/>
                <a:ea typeface="KaiTi" panose="02010609060101010101" pitchFamily="49" charset="-122"/>
              </a:rPr>
              <a:t>、</a:t>
            </a:r>
            <a:r>
              <a:rPr lang="en-US" altLang="zh-CN" sz="1400" dirty="0">
                <a:solidFill>
                  <a:schemeClr val="tx1">
                    <a:lumMod val="50000"/>
                    <a:lumOff val="50000"/>
                  </a:schemeClr>
                </a:solidFill>
                <a:latin typeface="KaiTi" panose="02010609060101010101" pitchFamily="49" charset="-122"/>
                <a:ea typeface="KaiTi" panose="02010609060101010101" pitchFamily="49" charset="-122"/>
              </a:rPr>
              <a:t>Q</a:t>
            </a:r>
            <a:r>
              <a:rPr lang="zh-CN" altLang="en-US" sz="1400" dirty="0">
                <a:solidFill>
                  <a:schemeClr val="tx1">
                    <a:lumMod val="50000"/>
                    <a:lumOff val="50000"/>
                  </a:schemeClr>
                </a:solidFill>
                <a:latin typeface="KaiTi" panose="02010609060101010101" pitchFamily="49" charset="-122"/>
                <a:ea typeface="KaiTi" panose="02010609060101010101" pitchFamily="49" charset="-122"/>
              </a:rPr>
              <a:t>隔离进行受力分析，恰能满足题意。</a:t>
            </a:r>
          </a:p>
        </p:txBody>
      </p:sp>
      <p:cxnSp>
        <p:nvCxnSpPr>
          <p:cNvPr id="17" name="直线箭头连接符 16">
            <a:extLst>
              <a:ext uri="{FF2B5EF4-FFF2-40B4-BE49-F238E27FC236}">
                <a16:creationId xmlns:a16="http://schemas.microsoft.com/office/drawing/2014/main" id="{90159D6A-FDA5-1645-B64F-A8488ECEE953}"/>
              </a:ext>
            </a:extLst>
          </p:cNvPr>
          <p:cNvCxnSpPr/>
          <p:nvPr/>
        </p:nvCxnSpPr>
        <p:spPr>
          <a:xfrm>
            <a:off x="9791446" y="2237065"/>
            <a:ext cx="0" cy="517235"/>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线箭头连接符 17">
            <a:extLst>
              <a:ext uri="{FF2B5EF4-FFF2-40B4-BE49-F238E27FC236}">
                <a16:creationId xmlns:a16="http://schemas.microsoft.com/office/drawing/2014/main" id="{64205190-6D91-A945-8B37-D624FA74A6AD}"/>
              </a:ext>
            </a:extLst>
          </p:cNvPr>
          <p:cNvCxnSpPr/>
          <p:nvPr/>
        </p:nvCxnSpPr>
        <p:spPr>
          <a:xfrm>
            <a:off x="9791446" y="4145459"/>
            <a:ext cx="0" cy="517235"/>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2C63A3D4-E05B-FB4E-9B53-42C5A427AEF7}"/>
              </a:ext>
            </a:extLst>
          </p:cNvPr>
          <p:cNvSpPr/>
          <p:nvPr/>
        </p:nvSpPr>
        <p:spPr>
          <a:xfrm>
            <a:off x="7928475" y="649113"/>
            <a:ext cx="3929448" cy="523220"/>
          </a:xfrm>
          <a:prstGeom prst="rect">
            <a:avLst/>
          </a:prstGeom>
        </p:spPr>
        <p:txBody>
          <a:bodyPr wrap="square">
            <a:spAutoFit/>
          </a:bodyPr>
          <a:lstStyle/>
          <a:p>
            <a:r>
              <a:rPr lang="zh-CN" altLang="en-US" sz="1400" dirty="0">
                <a:solidFill>
                  <a:srgbClr val="C00000"/>
                </a:solidFill>
                <a:latin typeface="KaiTi" panose="02010609060101010101" pitchFamily="49" charset="-122"/>
                <a:ea typeface="KaiTi" panose="02010609060101010101" pitchFamily="49" charset="-122"/>
              </a:rPr>
              <a:t>已知：两悬挂小球的线竖直</a:t>
            </a:r>
            <a:r>
              <a:rPr lang="en-US" altLang="zh-CN" sz="1400" dirty="0">
                <a:solidFill>
                  <a:srgbClr val="C00000"/>
                </a:solidFill>
                <a:latin typeface="KaiTi" panose="02010609060101010101" pitchFamily="49" charset="-122"/>
                <a:ea typeface="KaiTi" panose="02010609060101010101" pitchFamily="49" charset="-122"/>
              </a:rPr>
              <a:t>——</a:t>
            </a:r>
          </a:p>
          <a:p>
            <a:r>
              <a:rPr lang="zh-CN" altLang="en-US" sz="1400" dirty="0">
                <a:solidFill>
                  <a:srgbClr val="C00000"/>
                </a:solidFill>
                <a:latin typeface="KaiTi" panose="02010609060101010101" pitchFamily="49" charset="-122"/>
                <a:ea typeface="KaiTi" panose="02010609060101010101" pitchFamily="49" charset="-122"/>
              </a:rPr>
              <a:t>问小球各自带正电荷</a:t>
            </a:r>
            <a:r>
              <a:rPr lang="en-US" altLang="zh-CN" sz="1400" dirty="0">
                <a:solidFill>
                  <a:srgbClr val="C00000"/>
                </a:solidFill>
                <a:latin typeface="KaiTi" panose="02010609060101010101" pitchFamily="49" charset="-122"/>
                <a:ea typeface="KaiTi" panose="02010609060101010101" pitchFamily="49" charset="-122"/>
              </a:rPr>
              <a:t>/</a:t>
            </a:r>
            <a:r>
              <a:rPr lang="zh-CN" altLang="en-US" sz="1400" dirty="0">
                <a:solidFill>
                  <a:srgbClr val="C00000"/>
                </a:solidFill>
                <a:latin typeface="KaiTi" panose="02010609060101010101" pitchFamily="49" charset="-122"/>
                <a:ea typeface="KaiTi" panose="02010609060101010101" pitchFamily="49" charset="-122"/>
              </a:rPr>
              <a:t>负电荷情况？</a:t>
            </a:r>
          </a:p>
        </p:txBody>
      </p:sp>
    </p:spTree>
    <p:extLst>
      <p:ext uri="{BB962C8B-B14F-4D97-AF65-F5344CB8AC3E}">
        <p14:creationId xmlns:p14="http://schemas.microsoft.com/office/powerpoint/2010/main" val="12726664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B63A571E-2F89-F74F-8875-5269527B170A}"/>
              </a:ext>
            </a:extLst>
          </p:cNvPr>
          <p:cNvSpPr/>
          <p:nvPr/>
        </p:nvSpPr>
        <p:spPr>
          <a:xfrm>
            <a:off x="609559" y="2737922"/>
            <a:ext cx="2384364" cy="3660337"/>
          </a:xfrm>
          <a:prstGeom prst="rect">
            <a:avLst/>
          </a:prstGeom>
          <a:solidFill>
            <a:srgbClr val="FCED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AD439BBB-1E1D-7344-9A13-86EEDF550E12}"/>
              </a:ext>
            </a:extLst>
          </p:cNvPr>
          <p:cNvSpPr txBox="1"/>
          <p:nvPr/>
        </p:nvSpPr>
        <p:spPr>
          <a:xfrm>
            <a:off x="538850" y="1090551"/>
            <a:ext cx="9354349" cy="1020921"/>
          </a:xfrm>
          <a:prstGeom prst="rect">
            <a:avLst/>
          </a:prstGeom>
          <a:noFill/>
        </p:spPr>
        <p:txBody>
          <a:bodyPr wrap="square" rtlCol="0">
            <a:spAutoFit/>
          </a:bodyPr>
          <a:lstStyle/>
          <a:p>
            <a:pPr>
              <a:lnSpc>
                <a:spcPct val="150000"/>
              </a:lnSpc>
            </a:pP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Step1.</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用动力学分析受力</a:t>
            </a:r>
            <a:endPar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类比「动力学」理解概念「思维导图」</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u="sng"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所有定理都要能够理解透彻！！！</a:t>
            </a:r>
            <a:endParaRPr kumimoji="1" lang="en-US" altLang="zh-CN" sz="1400" u="sng"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6" name="矩形 5">
            <a:extLst>
              <a:ext uri="{FF2B5EF4-FFF2-40B4-BE49-F238E27FC236}">
                <a16:creationId xmlns:a16="http://schemas.microsoft.com/office/drawing/2014/main" id="{F3F0AD5B-CF0C-9044-84C6-890E3379EA33}"/>
              </a:ext>
            </a:extLst>
          </p:cNvPr>
          <p:cNvSpPr/>
          <p:nvPr/>
        </p:nvSpPr>
        <p:spPr>
          <a:xfrm>
            <a:off x="693629" y="2882386"/>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491CFD39-FC30-324E-BD0A-ACD4C0CF6E63}"/>
              </a:ext>
            </a:extLst>
          </p:cNvPr>
          <p:cNvSpPr txBox="1"/>
          <p:nvPr/>
        </p:nvSpPr>
        <p:spPr>
          <a:xfrm>
            <a:off x="693907" y="3251717"/>
            <a:ext cx="2201693" cy="2893100"/>
          </a:xfrm>
          <a:prstGeom prst="rect">
            <a:avLst/>
          </a:prstGeom>
          <a:noFill/>
        </p:spPr>
        <p:txBody>
          <a:bodyPr wrap="square" rtlCol="0">
            <a:spAutoFit/>
          </a:bodyPr>
          <a:lstStyle/>
          <a:p>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图像化概念</a:t>
            </a:r>
            <a:r>
              <a:rPr kumimoji="1" lang="en-US" altLang="zh-CN" sz="1400" dirty="0">
                <a:solidFill>
                  <a:srgbClr val="223AAC"/>
                </a:solidFill>
                <a:latin typeface="KaiTi" panose="02010609060101010101" pitchFamily="49" charset="-122"/>
                <a:ea typeface="KaiTi" panose="02010609060101010101" pitchFamily="49" charset="-122"/>
              </a:rPr>
              <a:t>】</a:t>
            </a: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latin typeface="KaiTi" panose="02010609060101010101" pitchFamily="49" charset="-122"/>
                <a:ea typeface="KaiTi" panose="02010609060101010101" pitchFamily="49" charset="-122"/>
              </a:rPr>
              <a:t>清晰运用表格比较，</a:t>
            </a:r>
            <a:endParaRPr kumimoji="1" lang="en-US" altLang="zh-CN" sz="1400" dirty="0">
              <a:latin typeface="KaiTi" panose="02010609060101010101" pitchFamily="49" charset="-122"/>
              <a:ea typeface="KaiTi" panose="02010609060101010101" pitchFamily="49" charset="-122"/>
            </a:endParaRPr>
          </a:p>
          <a:p>
            <a:r>
              <a:rPr kumimoji="1" lang="zh-CN" altLang="en-US" sz="1400" dirty="0">
                <a:latin typeface="KaiTi" panose="02010609060101010101" pitchFamily="49" charset="-122"/>
                <a:ea typeface="KaiTi" panose="02010609060101010101" pitchFamily="49" charset="-122"/>
              </a:rPr>
              <a:t>形象化「用左右手表示」</a:t>
            </a:r>
            <a:endParaRPr kumimoji="1" lang="en-US" altLang="zh-CN" sz="1400" dirty="0">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*注意：</a:t>
            </a:r>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分清每种图磁场方向！</a:t>
            </a:r>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重点</a:t>
            </a:r>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即：</a:t>
            </a:r>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b="1" dirty="0">
              <a:solidFill>
                <a:srgbClr val="223AAC"/>
              </a:solidFill>
              <a:latin typeface="KaiTi" panose="02010609060101010101" pitchFamily="49" charset="-122"/>
              <a:ea typeface="KaiTi" panose="02010609060101010101" pitchFamily="49" charset="-122"/>
            </a:endParaRPr>
          </a:p>
          <a:p>
            <a:pPr algn="ctr"/>
            <a:r>
              <a:rPr kumimoji="1" lang="en-US" altLang="zh-CN" sz="1400" b="1" dirty="0">
                <a:solidFill>
                  <a:srgbClr val="223AAC"/>
                </a:solidFill>
                <a:latin typeface="KaiTi" panose="02010609060101010101" pitchFamily="49" charset="-122"/>
                <a:ea typeface="KaiTi" panose="02010609060101010101" pitchFamily="49" charset="-122"/>
              </a:rPr>
              <a:t>{</a:t>
            </a:r>
            <a:r>
              <a:rPr kumimoji="1" lang="zh-CN" altLang="en-US" sz="1400" b="1" dirty="0">
                <a:solidFill>
                  <a:srgbClr val="223AAC"/>
                </a:solidFill>
                <a:latin typeface="KaiTi" panose="02010609060101010101" pitchFamily="49" charset="-122"/>
                <a:ea typeface="KaiTi" panose="02010609060101010101" pitchFamily="49" charset="-122"/>
              </a:rPr>
              <a:t>用形象化表示电、磁场关系</a:t>
            </a:r>
            <a:r>
              <a:rPr kumimoji="1" lang="en-US" altLang="zh-CN" sz="1400" b="1" dirty="0">
                <a:solidFill>
                  <a:srgbClr val="223AAC"/>
                </a:solidFill>
                <a:latin typeface="KaiTi" panose="02010609060101010101" pitchFamily="49" charset="-122"/>
                <a:ea typeface="KaiTi" panose="02010609060101010101" pitchFamily="49" charset="-122"/>
              </a:rPr>
              <a:t>}</a:t>
            </a:r>
            <a:endParaRPr kumimoji="1" lang="en-US" altLang="zh-CN" sz="1400" dirty="0">
              <a:solidFill>
                <a:srgbClr val="223AAC"/>
              </a:solidFill>
              <a:latin typeface="KaiTi" panose="02010609060101010101" pitchFamily="49" charset="-122"/>
              <a:ea typeface="KaiTi" panose="02010609060101010101" pitchFamily="49" charset="-122"/>
            </a:endParaRPr>
          </a:p>
        </p:txBody>
      </p:sp>
      <p:sp>
        <p:nvSpPr>
          <p:cNvPr id="9" name="文本框 8">
            <a:extLst>
              <a:ext uri="{FF2B5EF4-FFF2-40B4-BE49-F238E27FC236}">
                <a16:creationId xmlns:a16="http://schemas.microsoft.com/office/drawing/2014/main" id="{2E10A8CE-824B-2545-8131-7DC747CB935A}"/>
              </a:ext>
            </a:extLst>
          </p:cNvPr>
          <p:cNvSpPr txBox="1"/>
          <p:nvPr/>
        </p:nvSpPr>
        <p:spPr>
          <a:xfrm>
            <a:off x="538850" y="459740"/>
            <a:ext cx="4942702" cy="338554"/>
          </a:xfrm>
          <a:prstGeom prst="rect">
            <a:avLst/>
          </a:prstGeom>
          <a:noFill/>
        </p:spPr>
        <p:txBody>
          <a:bodyPr wrap="square" rtlCol="0">
            <a:spAutoFit/>
          </a:bodyPr>
          <a:lstStyle/>
          <a:p>
            <a:r>
              <a:rPr kumimoji="1" lang="en-US" altLang="zh-CN"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2.</a:t>
            </a:r>
            <a:r>
              <a:rPr kumimoji="1" lang="zh-CN" altLang="en-US"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电与磁场板块：</a:t>
            </a:r>
          </a:p>
        </p:txBody>
      </p:sp>
      <p:graphicFrame>
        <p:nvGraphicFramePr>
          <p:cNvPr id="2" name="表格 1">
            <a:extLst>
              <a:ext uri="{FF2B5EF4-FFF2-40B4-BE49-F238E27FC236}">
                <a16:creationId xmlns:a16="http://schemas.microsoft.com/office/drawing/2014/main" id="{28F4C3E7-C61B-9847-B6D2-7CED0D33C307}"/>
              </a:ext>
            </a:extLst>
          </p:cNvPr>
          <p:cNvGraphicFramePr>
            <a:graphicFrameLocks noGrp="1"/>
          </p:cNvGraphicFramePr>
          <p:nvPr>
            <p:extLst>
              <p:ext uri="{D42A27DB-BD31-4B8C-83A1-F6EECF244321}">
                <p14:modId xmlns:p14="http://schemas.microsoft.com/office/powerpoint/2010/main" val="529978069"/>
              </p:ext>
            </p:extLst>
          </p:nvPr>
        </p:nvGraphicFramePr>
        <p:xfrm>
          <a:off x="5046127" y="1518417"/>
          <a:ext cx="6321287" cy="2931160"/>
        </p:xfrm>
        <a:graphic>
          <a:graphicData uri="http://schemas.openxmlformats.org/drawingml/2006/table">
            <a:tbl>
              <a:tblPr firstRow="1" bandRow="1">
                <a:tableStyleId>{5202B0CA-FC54-4496-8BCA-5EF66A818D29}</a:tableStyleId>
              </a:tblPr>
              <a:tblGrid>
                <a:gridCol w="1517444">
                  <a:extLst>
                    <a:ext uri="{9D8B030D-6E8A-4147-A177-3AD203B41FA5}">
                      <a16:colId xmlns:a16="http://schemas.microsoft.com/office/drawing/2014/main" val="1028509554"/>
                    </a:ext>
                  </a:extLst>
                </a:gridCol>
                <a:gridCol w="3294782">
                  <a:extLst>
                    <a:ext uri="{9D8B030D-6E8A-4147-A177-3AD203B41FA5}">
                      <a16:colId xmlns:a16="http://schemas.microsoft.com/office/drawing/2014/main" val="1647882252"/>
                    </a:ext>
                  </a:extLst>
                </a:gridCol>
                <a:gridCol w="1509061">
                  <a:extLst>
                    <a:ext uri="{9D8B030D-6E8A-4147-A177-3AD203B41FA5}">
                      <a16:colId xmlns:a16="http://schemas.microsoft.com/office/drawing/2014/main" val="69948066"/>
                    </a:ext>
                  </a:extLst>
                </a:gridCol>
              </a:tblGrid>
              <a:tr h="370840">
                <a:tc>
                  <a:txBody>
                    <a:bodyPr/>
                    <a:lstStyle/>
                    <a:p>
                      <a:r>
                        <a:rPr lang="zh-CN" altLang="en-US" dirty="0">
                          <a:solidFill>
                            <a:schemeClr val="tx1">
                              <a:lumMod val="50000"/>
                              <a:lumOff val="50000"/>
                            </a:schemeClr>
                          </a:solidFill>
                          <a:latin typeface="KaiTi" panose="02010609060101010101" pitchFamily="49" charset="-122"/>
                          <a:ea typeface="KaiTi" panose="02010609060101010101" pitchFamily="49" charset="-122"/>
                        </a:rPr>
                        <a:t>名称</a:t>
                      </a:r>
                    </a:p>
                  </a:txBody>
                  <a:tcP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solidFill>
                      <a:schemeClr val="bg1"/>
                    </a:solidFill>
                  </a:tcPr>
                </a:tc>
                <a:tc>
                  <a:txBody>
                    <a:bodyPr/>
                    <a:lstStyle/>
                    <a:p>
                      <a:r>
                        <a:rPr lang="zh-CN" altLang="en-US" dirty="0">
                          <a:solidFill>
                            <a:schemeClr val="tx1">
                              <a:lumMod val="50000"/>
                              <a:lumOff val="50000"/>
                            </a:schemeClr>
                          </a:solidFill>
                          <a:latin typeface="KaiTi" panose="02010609060101010101" pitchFamily="49" charset="-122"/>
                          <a:ea typeface="KaiTi" panose="02010609060101010101" pitchFamily="49" charset="-122"/>
                        </a:rPr>
                        <a:t>用途</a:t>
                      </a:r>
                    </a:p>
                  </a:txBody>
                  <a:tcP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solidFill>
                      <a:schemeClr val="bg1"/>
                    </a:solidFill>
                  </a:tcPr>
                </a:tc>
                <a:tc>
                  <a:txBody>
                    <a:bodyPr/>
                    <a:lstStyle/>
                    <a:p>
                      <a:r>
                        <a:rPr lang="zh-CN" altLang="en-US" dirty="0">
                          <a:solidFill>
                            <a:schemeClr val="tx1">
                              <a:lumMod val="50000"/>
                              <a:lumOff val="50000"/>
                            </a:schemeClr>
                          </a:solidFill>
                          <a:latin typeface="KaiTi" panose="02010609060101010101" pitchFamily="49" charset="-122"/>
                          <a:ea typeface="KaiTi" panose="02010609060101010101" pitchFamily="49" charset="-122"/>
                        </a:rPr>
                        <a:t>选用原则</a:t>
                      </a:r>
                    </a:p>
                  </a:txBody>
                  <a:tcP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solidFill>
                      <a:schemeClr val="bg1"/>
                    </a:solidFill>
                  </a:tcPr>
                </a:tc>
                <a:extLst>
                  <a:ext uri="{0D108BD9-81ED-4DB2-BD59-A6C34878D82A}">
                    <a16:rowId xmlns:a16="http://schemas.microsoft.com/office/drawing/2014/main" val="3192639176"/>
                  </a:ext>
                </a:extLst>
              </a:tr>
              <a:tr h="370840">
                <a:tc>
                  <a:txBody>
                    <a:bodyPr/>
                    <a:lstStyle/>
                    <a:p>
                      <a:r>
                        <a:rPr lang="zh-CN" altLang="en-US" dirty="0">
                          <a:solidFill>
                            <a:srgbClr val="C00000"/>
                          </a:solidFill>
                          <a:latin typeface="KaiTi" panose="02010609060101010101" pitchFamily="49" charset="-122"/>
                          <a:ea typeface="KaiTi" panose="02010609060101010101" pitchFamily="49" charset="-122"/>
                        </a:rPr>
                        <a:t>安培定则</a:t>
                      </a:r>
                    </a:p>
                  </a:txBody>
                  <a:tcP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solidFill>
                      <a:schemeClr val="bg1"/>
                    </a:solidFill>
                  </a:tcPr>
                </a:tc>
                <a:tc>
                  <a:txBody>
                    <a:bodyPr/>
                    <a:lstStyle/>
                    <a:p>
                      <a:r>
                        <a:rPr lang="zh-CN" altLang="en-US" dirty="0">
                          <a:solidFill>
                            <a:schemeClr val="tx1">
                              <a:lumMod val="50000"/>
                              <a:lumOff val="50000"/>
                            </a:schemeClr>
                          </a:solidFill>
                          <a:latin typeface="KaiTi" panose="02010609060101010101" pitchFamily="49" charset="-122"/>
                          <a:ea typeface="KaiTi" panose="02010609060101010101" pitchFamily="49" charset="-122"/>
                        </a:rPr>
                        <a:t>判断电流产生的磁场</a:t>
                      </a:r>
                    </a:p>
                    <a:p>
                      <a:r>
                        <a:rPr lang="en-US" altLang="zh-CN" dirty="0">
                          <a:solidFill>
                            <a:schemeClr val="tx1">
                              <a:lumMod val="50000"/>
                              <a:lumOff val="50000"/>
                            </a:schemeClr>
                          </a:solidFill>
                          <a:latin typeface="KaiTi" panose="02010609060101010101" pitchFamily="49" charset="-122"/>
                          <a:ea typeface="KaiTi" panose="02010609060101010101" pitchFamily="49" charset="-122"/>
                        </a:rPr>
                        <a:t>(</a:t>
                      </a:r>
                      <a:r>
                        <a:rPr lang="zh-CN" altLang="en-US" dirty="0">
                          <a:solidFill>
                            <a:schemeClr val="tx1">
                              <a:lumMod val="50000"/>
                              <a:lumOff val="50000"/>
                            </a:schemeClr>
                          </a:solidFill>
                          <a:latin typeface="KaiTi" panose="02010609060101010101" pitchFamily="49" charset="-122"/>
                          <a:ea typeface="KaiTi" panose="02010609060101010101" pitchFamily="49" charset="-122"/>
                        </a:rPr>
                        <a:t>方向</a:t>
                      </a:r>
                      <a:r>
                        <a:rPr lang="en-US" altLang="zh-CN" dirty="0">
                          <a:solidFill>
                            <a:schemeClr val="tx1">
                              <a:lumMod val="50000"/>
                              <a:lumOff val="50000"/>
                            </a:schemeClr>
                          </a:solidFill>
                          <a:latin typeface="KaiTi" panose="02010609060101010101" pitchFamily="49" charset="-122"/>
                          <a:ea typeface="KaiTi" panose="02010609060101010101" pitchFamily="49" charset="-122"/>
                        </a:rPr>
                        <a:t>)</a:t>
                      </a:r>
                      <a:r>
                        <a:rPr lang="zh-CN" altLang="en-US" dirty="0">
                          <a:solidFill>
                            <a:schemeClr val="tx1">
                              <a:lumMod val="50000"/>
                              <a:lumOff val="50000"/>
                            </a:schemeClr>
                          </a:solidFill>
                          <a:latin typeface="KaiTi" panose="02010609060101010101" pitchFamily="49" charset="-122"/>
                          <a:ea typeface="KaiTi" panose="02010609060101010101" pitchFamily="49" charset="-122"/>
                        </a:rPr>
                        <a:t>分布</a:t>
                      </a:r>
                    </a:p>
                  </a:txBody>
                  <a:tcP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solidFill>
                      <a:schemeClr val="bg1"/>
                    </a:solidFill>
                  </a:tcPr>
                </a:tc>
                <a:tc>
                  <a:txBody>
                    <a:bodyPr/>
                    <a:lstStyle/>
                    <a:p>
                      <a:r>
                        <a:rPr lang="zh-CN" altLang="en-US" dirty="0">
                          <a:solidFill>
                            <a:schemeClr val="tx1">
                              <a:lumMod val="50000"/>
                              <a:lumOff val="50000"/>
                            </a:schemeClr>
                          </a:solidFill>
                          <a:latin typeface="KaiTi" panose="02010609060101010101" pitchFamily="49" charset="-122"/>
                          <a:ea typeface="KaiTi" panose="02010609060101010101" pitchFamily="49" charset="-122"/>
                        </a:rPr>
                        <a:t>因电生磁</a:t>
                      </a:r>
                    </a:p>
                  </a:txBody>
                  <a:tcP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solidFill>
                      <a:schemeClr val="bg1"/>
                    </a:solidFill>
                  </a:tcPr>
                </a:tc>
                <a:extLst>
                  <a:ext uri="{0D108BD9-81ED-4DB2-BD59-A6C34878D82A}">
                    <a16:rowId xmlns:a16="http://schemas.microsoft.com/office/drawing/2014/main" val="2127140531"/>
                  </a:ext>
                </a:extLst>
              </a:tr>
              <a:tr h="370840">
                <a:tc>
                  <a:txBody>
                    <a:bodyPr/>
                    <a:lstStyle/>
                    <a:p>
                      <a:r>
                        <a:rPr lang="zh-CN" altLang="en-US" dirty="0">
                          <a:solidFill>
                            <a:srgbClr val="C00000"/>
                          </a:solidFill>
                          <a:latin typeface="KaiTi" panose="02010609060101010101" pitchFamily="49" charset="-122"/>
                          <a:ea typeface="KaiTi" panose="02010609060101010101" pitchFamily="49" charset="-122"/>
                        </a:rPr>
                        <a:t>左手定则</a:t>
                      </a:r>
                    </a:p>
                  </a:txBody>
                  <a:tcP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solidFill>
                      <a:schemeClr val="bg1"/>
                    </a:solidFill>
                  </a:tcPr>
                </a:tc>
                <a:tc>
                  <a:txBody>
                    <a:bodyPr/>
                    <a:lstStyle/>
                    <a:p>
                      <a:r>
                        <a:rPr lang="zh-CN" altLang="en-US" dirty="0">
                          <a:solidFill>
                            <a:schemeClr val="tx1">
                              <a:lumMod val="50000"/>
                              <a:lumOff val="50000"/>
                            </a:schemeClr>
                          </a:solidFill>
                          <a:latin typeface="KaiTi" panose="02010609060101010101" pitchFamily="49" charset="-122"/>
                          <a:ea typeface="KaiTi" panose="02010609060101010101" pitchFamily="49" charset="-122"/>
                        </a:rPr>
                        <a:t>判断通电导线、运动电荷所受磁场力的方向</a:t>
                      </a:r>
                    </a:p>
                  </a:txBody>
                  <a:tcP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solidFill>
                      <a:schemeClr val="bg1"/>
                    </a:solidFill>
                  </a:tcPr>
                </a:tc>
                <a:tc>
                  <a:txBody>
                    <a:bodyPr/>
                    <a:lstStyle/>
                    <a:p>
                      <a:r>
                        <a:rPr lang="zh-CN" altLang="en-US" dirty="0">
                          <a:solidFill>
                            <a:schemeClr val="tx1">
                              <a:lumMod val="50000"/>
                              <a:lumOff val="50000"/>
                            </a:schemeClr>
                          </a:solidFill>
                          <a:latin typeface="KaiTi" panose="02010609060101010101" pitchFamily="49" charset="-122"/>
                          <a:ea typeface="KaiTi" panose="02010609060101010101" pitchFamily="49" charset="-122"/>
                        </a:rPr>
                        <a:t>因电受力</a:t>
                      </a:r>
                    </a:p>
                  </a:txBody>
                  <a:tcP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solidFill>
                      <a:schemeClr val="bg1"/>
                    </a:solidFill>
                  </a:tcPr>
                </a:tc>
                <a:extLst>
                  <a:ext uri="{0D108BD9-81ED-4DB2-BD59-A6C34878D82A}">
                    <a16:rowId xmlns:a16="http://schemas.microsoft.com/office/drawing/2014/main" val="2833134094"/>
                  </a:ext>
                </a:extLst>
              </a:tr>
              <a:tr h="370840">
                <a:tc>
                  <a:txBody>
                    <a:bodyPr/>
                    <a:lstStyle/>
                    <a:p>
                      <a:r>
                        <a:rPr lang="zh-CN" altLang="en-US" dirty="0">
                          <a:solidFill>
                            <a:srgbClr val="C00000"/>
                          </a:solidFill>
                          <a:latin typeface="KaiTi" panose="02010609060101010101" pitchFamily="49" charset="-122"/>
                          <a:ea typeface="KaiTi" panose="02010609060101010101" pitchFamily="49" charset="-122"/>
                        </a:rPr>
                        <a:t>右手定则</a:t>
                      </a:r>
                    </a:p>
                  </a:txBody>
                  <a:tcP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solidFill>
                      <a:schemeClr val="bg1"/>
                    </a:solidFill>
                  </a:tcPr>
                </a:tc>
                <a:tc>
                  <a:txBody>
                    <a:bodyPr/>
                    <a:lstStyle/>
                    <a:p>
                      <a:r>
                        <a:rPr lang="zh-CN" altLang="en-US" dirty="0">
                          <a:solidFill>
                            <a:schemeClr val="tx1">
                              <a:lumMod val="50000"/>
                              <a:lumOff val="50000"/>
                            </a:schemeClr>
                          </a:solidFill>
                          <a:latin typeface="KaiTi" panose="02010609060101010101" pitchFamily="49" charset="-122"/>
                          <a:ea typeface="KaiTi" panose="02010609060101010101" pitchFamily="49" charset="-122"/>
                        </a:rPr>
                        <a:t>判断导体切割磁感线产生的感应电流方向或电源正负极</a:t>
                      </a:r>
                    </a:p>
                  </a:txBody>
                  <a:tcP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solidFill>
                      <a:schemeClr val="bg1"/>
                    </a:solidFill>
                  </a:tcPr>
                </a:tc>
                <a:tc>
                  <a:txBody>
                    <a:bodyPr/>
                    <a:lstStyle/>
                    <a:p>
                      <a:r>
                        <a:rPr lang="zh-CN" altLang="en-US" dirty="0">
                          <a:solidFill>
                            <a:schemeClr val="tx1">
                              <a:lumMod val="50000"/>
                              <a:lumOff val="50000"/>
                            </a:schemeClr>
                          </a:solidFill>
                          <a:latin typeface="KaiTi" panose="02010609060101010101" pitchFamily="49" charset="-122"/>
                          <a:ea typeface="KaiTi" panose="02010609060101010101" pitchFamily="49" charset="-122"/>
                        </a:rPr>
                        <a:t>因动生电</a:t>
                      </a:r>
                    </a:p>
                  </a:txBody>
                  <a:tcP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solidFill>
                      <a:schemeClr val="bg1"/>
                    </a:solidFill>
                  </a:tcPr>
                </a:tc>
                <a:extLst>
                  <a:ext uri="{0D108BD9-81ED-4DB2-BD59-A6C34878D82A}">
                    <a16:rowId xmlns:a16="http://schemas.microsoft.com/office/drawing/2014/main" val="3288485014"/>
                  </a:ext>
                </a:extLst>
              </a:tr>
              <a:tr h="370840">
                <a:tc>
                  <a:txBody>
                    <a:bodyPr/>
                    <a:lstStyle/>
                    <a:p>
                      <a:r>
                        <a:rPr lang="zh-CN" altLang="en-US" dirty="0">
                          <a:solidFill>
                            <a:srgbClr val="C00000"/>
                          </a:solidFill>
                          <a:latin typeface="KaiTi" panose="02010609060101010101" pitchFamily="49" charset="-122"/>
                          <a:ea typeface="KaiTi" panose="02010609060101010101" pitchFamily="49" charset="-122"/>
                        </a:rPr>
                        <a:t>楞次定律</a:t>
                      </a:r>
                    </a:p>
                  </a:txBody>
                  <a:tcP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solidFill>
                      <a:schemeClr val="bg1"/>
                    </a:solidFill>
                  </a:tcPr>
                </a:tc>
                <a:tc>
                  <a:txBody>
                    <a:bodyPr/>
                    <a:lstStyle/>
                    <a:p>
                      <a:r>
                        <a:rPr lang="zh-CN" altLang="en-US" dirty="0">
                          <a:solidFill>
                            <a:schemeClr val="tx1">
                              <a:lumMod val="50000"/>
                              <a:lumOff val="50000"/>
                            </a:schemeClr>
                          </a:solidFill>
                          <a:latin typeface="KaiTi" panose="02010609060101010101" pitchFamily="49" charset="-122"/>
                          <a:ea typeface="KaiTi" panose="02010609060101010101" pitchFamily="49" charset="-122"/>
                        </a:rPr>
                        <a:t>判断因回路磁通量改变而产生的感应电流方向</a:t>
                      </a:r>
                    </a:p>
                  </a:txBody>
                  <a:tcP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solidFill>
                      <a:schemeClr val="bg1"/>
                    </a:solidFill>
                  </a:tcPr>
                </a:tc>
                <a:tc>
                  <a:txBody>
                    <a:bodyPr/>
                    <a:lstStyle/>
                    <a:p>
                      <a:r>
                        <a:rPr lang="zh-CN" altLang="en-US" dirty="0">
                          <a:solidFill>
                            <a:schemeClr val="tx1">
                              <a:lumMod val="50000"/>
                              <a:lumOff val="50000"/>
                            </a:schemeClr>
                          </a:solidFill>
                          <a:latin typeface="KaiTi" panose="02010609060101010101" pitchFamily="49" charset="-122"/>
                          <a:ea typeface="KaiTi" panose="02010609060101010101" pitchFamily="49" charset="-122"/>
                        </a:rPr>
                        <a:t>因磁通量变化生电</a:t>
                      </a:r>
                    </a:p>
                  </a:txBody>
                  <a:tcP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solidFill>
                      <a:schemeClr val="bg1"/>
                    </a:solidFill>
                  </a:tcPr>
                </a:tc>
                <a:extLst>
                  <a:ext uri="{0D108BD9-81ED-4DB2-BD59-A6C34878D82A}">
                    <a16:rowId xmlns:a16="http://schemas.microsoft.com/office/drawing/2014/main" val="3726543091"/>
                  </a:ext>
                </a:extLst>
              </a:tr>
            </a:tbl>
          </a:graphicData>
        </a:graphic>
      </p:graphicFrame>
      <p:sp>
        <p:nvSpPr>
          <p:cNvPr id="10" name="矩形 9">
            <a:extLst>
              <a:ext uri="{FF2B5EF4-FFF2-40B4-BE49-F238E27FC236}">
                <a16:creationId xmlns:a16="http://schemas.microsoft.com/office/drawing/2014/main" id="{591B0D2A-017D-A94E-8730-7E7C6B0306BA}"/>
              </a:ext>
            </a:extLst>
          </p:cNvPr>
          <p:cNvSpPr/>
          <p:nvPr/>
        </p:nvSpPr>
        <p:spPr>
          <a:xfrm>
            <a:off x="5046127" y="1064511"/>
            <a:ext cx="3929448" cy="338554"/>
          </a:xfrm>
          <a:prstGeom prst="rect">
            <a:avLst/>
          </a:prstGeom>
        </p:spPr>
        <p:txBody>
          <a:bodyPr wrap="square">
            <a:spAutoFit/>
          </a:bodyPr>
          <a:lstStyle/>
          <a:p>
            <a:pPr marL="285750" indent="-285750">
              <a:buFont typeface="Arial" panose="020B0604020202020204" pitchFamily="34" charset="0"/>
              <a:buChar char="•"/>
            </a:pPr>
            <a:r>
              <a:rPr lang="zh-CN" altLang="en-US" sz="1600" dirty="0">
                <a:solidFill>
                  <a:srgbClr val="C00000"/>
                </a:solidFill>
                <a:latin typeface="KaiTi" panose="02010609060101010101" pitchFamily="49" charset="-122"/>
                <a:ea typeface="KaiTi" panose="02010609060101010101" pitchFamily="49" charset="-122"/>
              </a:rPr>
              <a:t>“三个定则”“一个定律”的比较</a:t>
            </a:r>
          </a:p>
        </p:txBody>
      </p:sp>
      <p:sp>
        <p:nvSpPr>
          <p:cNvPr id="4" name="文本框 3">
            <a:extLst>
              <a:ext uri="{FF2B5EF4-FFF2-40B4-BE49-F238E27FC236}">
                <a16:creationId xmlns:a16="http://schemas.microsoft.com/office/drawing/2014/main" id="{C08D71B0-5910-4046-A583-75CC749A9AE4}"/>
              </a:ext>
            </a:extLst>
          </p:cNvPr>
          <p:cNvSpPr txBox="1"/>
          <p:nvPr/>
        </p:nvSpPr>
        <p:spPr>
          <a:xfrm>
            <a:off x="5046128" y="5060598"/>
            <a:ext cx="6321287" cy="1200329"/>
          </a:xfrm>
          <a:prstGeom prst="rect">
            <a:avLst/>
          </a:prstGeom>
          <a:noFill/>
        </p:spPr>
        <p:txBody>
          <a:bodyPr wrap="square" rtlCol="0">
            <a:spAutoFit/>
          </a:bodyPr>
          <a:lstStyle/>
          <a:p>
            <a:r>
              <a:rPr kumimoji="1" lang="zh-CN" altLang="en-US" dirty="0">
                <a:latin typeface="KaiTi" panose="02010609060101010101" pitchFamily="49" charset="-122"/>
                <a:ea typeface="KaiTi" panose="02010609060101010101" pitchFamily="49" charset="-122"/>
              </a:rPr>
              <a:t>注</a:t>
            </a:r>
            <a:r>
              <a:rPr kumimoji="1" lang="en-US" altLang="zh-CN" dirty="0">
                <a:latin typeface="KaiTi" panose="02010609060101010101" pitchFamily="49" charset="-122"/>
                <a:ea typeface="KaiTi" panose="02010609060101010101" pitchFamily="49" charset="-122"/>
              </a:rPr>
              <a:t>:</a:t>
            </a:r>
            <a:r>
              <a:rPr kumimoji="1" lang="zh-CN" altLang="en-US" dirty="0">
                <a:latin typeface="KaiTi" panose="02010609060101010101" pitchFamily="49" charset="-122"/>
                <a:ea typeface="KaiTi" panose="02010609060101010101" pitchFamily="49" charset="-122"/>
              </a:rPr>
              <a:t>简记口诀“左力右电”</a:t>
            </a:r>
          </a:p>
          <a:p>
            <a:r>
              <a:rPr kumimoji="1" lang="zh-CN" altLang="en-US" dirty="0">
                <a:latin typeface="KaiTi" panose="02010609060101010101" pitchFamily="49" charset="-122"/>
                <a:ea typeface="KaiTi" panose="02010609060101010101" pitchFamily="49" charset="-122"/>
              </a:rPr>
              <a:t>①当需要判断</a:t>
            </a:r>
            <a:r>
              <a:rPr kumimoji="1" lang="zh-CN" altLang="en-US" dirty="0">
                <a:solidFill>
                  <a:srgbClr val="C00000"/>
                </a:solidFill>
                <a:latin typeface="KaiTi" panose="02010609060101010101" pitchFamily="49" charset="-122"/>
                <a:ea typeface="KaiTi" panose="02010609060101010101" pitchFamily="49" charset="-122"/>
              </a:rPr>
              <a:t>与力有关</a:t>
            </a:r>
            <a:r>
              <a:rPr kumimoji="1" lang="zh-CN" altLang="en-US" dirty="0">
                <a:latin typeface="KaiTi" panose="02010609060101010101" pitchFamily="49" charset="-122"/>
                <a:ea typeface="KaiTi" panose="02010609060101010101" pitchFamily="49" charset="-122"/>
              </a:rPr>
              <a:t>的物理量</a:t>
            </a:r>
            <a:r>
              <a:rPr kumimoji="1" lang="en-US" altLang="zh-CN" dirty="0">
                <a:latin typeface="KaiTi" panose="02010609060101010101" pitchFamily="49" charset="-122"/>
                <a:ea typeface="KaiTi" panose="02010609060101010101" pitchFamily="49" charset="-122"/>
              </a:rPr>
              <a:t>(</a:t>
            </a:r>
            <a:r>
              <a:rPr kumimoji="1" lang="zh-CN" altLang="en-US" dirty="0">
                <a:latin typeface="KaiTi" panose="02010609060101010101" pitchFamily="49" charset="-122"/>
                <a:ea typeface="KaiTi" panose="02010609060101010101" pitchFamily="49" charset="-122"/>
              </a:rPr>
              <a:t>导线受力</a:t>
            </a:r>
            <a:r>
              <a:rPr kumimoji="1" lang="en-US" altLang="zh-CN" dirty="0">
                <a:latin typeface="KaiTi" panose="02010609060101010101" pitchFamily="49" charset="-122"/>
                <a:ea typeface="KaiTi" panose="02010609060101010101" pitchFamily="49" charset="-122"/>
              </a:rPr>
              <a:t>)</a:t>
            </a:r>
            <a:r>
              <a:rPr kumimoji="1" lang="zh-CN" altLang="en-US" dirty="0">
                <a:latin typeface="KaiTi" panose="02010609060101010101" pitchFamily="49" charset="-122"/>
                <a:ea typeface="KaiTi" panose="02010609060101010101" pitchFamily="49" charset="-122"/>
              </a:rPr>
              <a:t>的方向时</a:t>
            </a:r>
            <a:r>
              <a:rPr kumimoji="1" lang="en-US" altLang="zh-CN" dirty="0">
                <a:latin typeface="KaiTi" panose="02010609060101010101" pitchFamily="49" charset="-122"/>
                <a:ea typeface="KaiTi" panose="02010609060101010101" pitchFamily="49" charset="-122"/>
              </a:rPr>
              <a:t>,</a:t>
            </a:r>
            <a:r>
              <a:rPr kumimoji="1" lang="zh-CN" altLang="en-US" dirty="0">
                <a:solidFill>
                  <a:srgbClr val="C00000"/>
                </a:solidFill>
                <a:latin typeface="KaiTi" panose="02010609060101010101" pitchFamily="49" charset="-122"/>
                <a:ea typeface="KaiTi" panose="02010609060101010101" pitchFamily="49" charset="-122"/>
              </a:rPr>
              <a:t>用左手</a:t>
            </a:r>
            <a:r>
              <a:rPr kumimoji="1" lang="zh-CN" altLang="en-US" dirty="0">
                <a:latin typeface="KaiTi" panose="02010609060101010101" pitchFamily="49" charset="-122"/>
                <a:ea typeface="KaiTi" panose="02010609060101010101" pitchFamily="49" charset="-122"/>
              </a:rPr>
              <a:t>。</a:t>
            </a:r>
          </a:p>
          <a:p>
            <a:r>
              <a:rPr kumimoji="1" lang="zh-CN" altLang="en-US" dirty="0">
                <a:latin typeface="KaiTi" panose="02010609060101010101" pitchFamily="49" charset="-122"/>
                <a:ea typeface="KaiTi" panose="02010609060101010101" pitchFamily="49" charset="-122"/>
              </a:rPr>
              <a:t>②当需要判断</a:t>
            </a:r>
            <a:r>
              <a:rPr kumimoji="1" lang="zh-CN" altLang="en-US" dirty="0">
                <a:solidFill>
                  <a:srgbClr val="C00000"/>
                </a:solidFill>
                <a:latin typeface="KaiTi" panose="02010609060101010101" pitchFamily="49" charset="-122"/>
                <a:ea typeface="KaiTi" panose="02010609060101010101" pitchFamily="49" charset="-122"/>
              </a:rPr>
              <a:t>与电有关</a:t>
            </a:r>
            <a:r>
              <a:rPr kumimoji="1" lang="zh-CN" altLang="en-US" dirty="0">
                <a:latin typeface="KaiTi" panose="02010609060101010101" pitchFamily="49" charset="-122"/>
                <a:ea typeface="KaiTi" panose="02010609060101010101" pitchFamily="49" charset="-122"/>
              </a:rPr>
              <a:t>的物理量</a:t>
            </a:r>
            <a:r>
              <a:rPr kumimoji="1" lang="en-US" altLang="zh-CN" dirty="0">
                <a:latin typeface="KaiTi" panose="02010609060101010101" pitchFamily="49" charset="-122"/>
                <a:ea typeface="KaiTi" panose="02010609060101010101" pitchFamily="49" charset="-122"/>
              </a:rPr>
              <a:t>(</a:t>
            </a:r>
            <a:r>
              <a:rPr kumimoji="1" lang="zh-CN" altLang="en-US" dirty="0">
                <a:latin typeface="KaiTi" panose="02010609060101010101" pitchFamily="49" charset="-122"/>
                <a:ea typeface="KaiTi" panose="02010609060101010101" pitchFamily="49" charset="-122"/>
              </a:rPr>
              <a:t>感应电流方向、感生电场等</a:t>
            </a:r>
            <a:r>
              <a:rPr kumimoji="1" lang="en-US" altLang="zh-CN" dirty="0">
                <a:latin typeface="KaiTi" panose="02010609060101010101" pitchFamily="49" charset="-122"/>
                <a:ea typeface="KaiTi" panose="02010609060101010101" pitchFamily="49" charset="-122"/>
              </a:rPr>
              <a:t>)</a:t>
            </a:r>
            <a:r>
              <a:rPr kumimoji="1" lang="zh-CN" altLang="en-US" dirty="0">
                <a:latin typeface="KaiTi" panose="02010609060101010101" pitchFamily="49" charset="-122"/>
                <a:ea typeface="KaiTi" panose="02010609060101010101" pitchFamily="49" charset="-122"/>
              </a:rPr>
              <a:t>的方向时，</a:t>
            </a:r>
            <a:r>
              <a:rPr kumimoji="1" lang="zh-CN" altLang="en-US" dirty="0">
                <a:solidFill>
                  <a:srgbClr val="C00000"/>
                </a:solidFill>
                <a:latin typeface="KaiTi" panose="02010609060101010101" pitchFamily="49" charset="-122"/>
                <a:ea typeface="KaiTi" panose="02010609060101010101" pitchFamily="49" charset="-122"/>
              </a:rPr>
              <a:t>用右手</a:t>
            </a:r>
            <a:r>
              <a:rPr kumimoji="1" lang="zh-CN" altLang="en-US" dirty="0">
                <a:latin typeface="KaiTi" panose="02010609060101010101" pitchFamily="49" charset="-122"/>
                <a:ea typeface="KaiTi" panose="02010609060101010101" pitchFamily="49" charset="-122"/>
              </a:rPr>
              <a:t>。</a:t>
            </a:r>
          </a:p>
        </p:txBody>
      </p:sp>
      <p:cxnSp>
        <p:nvCxnSpPr>
          <p:cNvPr id="11" name="直线箭头连接符 10">
            <a:extLst>
              <a:ext uri="{FF2B5EF4-FFF2-40B4-BE49-F238E27FC236}">
                <a16:creationId xmlns:a16="http://schemas.microsoft.com/office/drawing/2014/main" id="{602C9D9B-6026-724B-A112-623DBBE3F89E}"/>
              </a:ext>
            </a:extLst>
          </p:cNvPr>
          <p:cNvCxnSpPr/>
          <p:nvPr/>
        </p:nvCxnSpPr>
        <p:spPr>
          <a:xfrm>
            <a:off x="7922890" y="4543363"/>
            <a:ext cx="0" cy="517235"/>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89260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B63A571E-2F89-F74F-8875-5269527B170A}"/>
              </a:ext>
            </a:extLst>
          </p:cNvPr>
          <p:cNvSpPr/>
          <p:nvPr/>
        </p:nvSpPr>
        <p:spPr>
          <a:xfrm>
            <a:off x="609559" y="2737922"/>
            <a:ext cx="2384364" cy="3660337"/>
          </a:xfrm>
          <a:prstGeom prst="rect">
            <a:avLst/>
          </a:prstGeom>
          <a:solidFill>
            <a:srgbClr val="FCED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AD439BBB-1E1D-7344-9A13-86EEDF550E12}"/>
              </a:ext>
            </a:extLst>
          </p:cNvPr>
          <p:cNvSpPr txBox="1"/>
          <p:nvPr/>
        </p:nvSpPr>
        <p:spPr>
          <a:xfrm>
            <a:off x="399702" y="1102985"/>
            <a:ext cx="9354349" cy="1020921"/>
          </a:xfrm>
          <a:prstGeom prst="rect">
            <a:avLst/>
          </a:prstGeom>
          <a:noFill/>
        </p:spPr>
        <p:txBody>
          <a:bodyPr wrap="square" rtlCol="0">
            <a:spAutoFit/>
          </a:bodyPr>
          <a:lstStyle/>
          <a:p>
            <a:pPr>
              <a:lnSpc>
                <a:spcPct val="150000"/>
              </a:lnSpc>
            </a:pP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Step1.</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用动力学分析受力</a:t>
            </a:r>
            <a:endPar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类比「动力学」理解概念「思维导图」</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u="sng"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所有定理都要能够理解透彻！！！</a:t>
            </a:r>
            <a:endParaRPr kumimoji="1" lang="en-US" altLang="zh-CN" sz="1400" u="sng"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6" name="矩形 5">
            <a:extLst>
              <a:ext uri="{FF2B5EF4-FFF2-40B4-BE49-F238E27FC236}">
                <a16:creationId xmlns:a16="http://schemas.microsoft.com/office/drawing/2014/main" id="{F3F0AD5B-CF0C-9044-84C6-890E3379EA33}"/>
              </a:ext>
            </a:extLst>
          </p:cNvPr>
          <p:cNvSpPr/>
          <p:nvPr/>
        </p:nvSpPr>
        <p:spPr>
          <a:xfrm>
            <a:off x="693629" y="2882386"/>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491CFD39-FC30-324E-BD0A-ACD4C0CF6E63}"/>
              </a:ext>
            </a:extLst>
          </p:cNvPr>
          <p:cNvSpPr txBox="1"/>
          <p:nvPr/>
        </p:nvSpPr>
        <p:spPr>
          <a:xfrm>
            <a:off x="693907" y="3251717"/>
            <a:ext cx="2201693" cy="2893100"/>
          </a:xfrm>
          <a:prstGeom prst="rect">
            <a:avLst/>
          </a:prstGeom>
          <a:noFill/>
        </p:spPr>
        <p:txBody>
          <a:bodyPr wrap="square" rtlCol="0">
            <a:spAutoFit/>
          </a:bodyPr>
          <a:lstStyle/>
          <a:p>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图像化概念</a:t>
            </a:r>
            <a:r>
              <a:rPr kumimoji="1" lang="en-US" altLang="zh-CN" sz="1400" dirty="0">
                <a:solidFill>
                  <a:srgbClr val="223AAC"/>
                </a:solidFill>
                <a:latin typeface="KaiTi" panose="02010609060101010101" pitchFamily="49" charset="-122"/>
                <a:ea typeface="KaiTi" panose="02010609060101010101" pitchFamily="49" charset="-122"/>
              </a:rPr>
              <a:t>】</a:t>
            </a: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latin typeface="KaiTi" panose="02010609060101010101" pitchFamily="49" charset="-122"/>
                <a:ea typeface="KaiTi" panose="02010609060101010101" pitchFamily="49" charset="-122"/>
              </a:rPr>
              <a:t>清晰运用安培定则，</a:t>
            </a:r>
            <a:endParaRPr kumimoji="1" lang="en-US" altLang="zh-CN" sz="1400" dirty="0">
              <a:latin typeface="KaiTi" panose="02010609060101010101" pitchFamily="49" charset="-122"/>
              <a:ea typeface="KaiTi" panose="02010609060101010101" pitchFamily="49" charset="-122"/>
            </a:endParaRPr>
          </a:p>
          <a:p>
            <a:r>
              <a:rPr kumimoji="1" lang="zh-CN" altLang="en-US" sz="1400" dirty="0">
                <a:latin typeface="KaiTi" panose="02010609060101010101" pitchFamily="49" charset="-122"/>
                <a:ea typeface="KaiTi" panose="02010609060101010101" pitchFamily="49" charset="-122"/>
              </a:rPr>
              <a:t>形象化「画图」</a:t>
            </a:r>
            <a:endParaRPr kumimoji="1" lang="en-US" altLang="zh-CN" sz="1400" dirty="0">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*注意：</a:t>
            </a:r>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分清每种图磁场方向！</a:t>
            </a:r>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重点</a:t>
            </a:r>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即：</a:t>
            </a:r>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b="1" dirty="0">
              <a:solidFill>
                <a:srgbClr val="223AAC"/>
              </a:solidFill>
              <a:latin typeface="KaiTi" panose="02010609060101010101" pitchFamily="49" charset="-122"/>
              <a:ea typeface="KaiTi" panose="02010609060101010101" pitchFamily="49" charset="-122"/>
            </a:endParaRPr>
          </a:p>
          <a:p>
            <a:pPr algn="ctr"/>
            <a:r>
              <a:rPr kumimoji="1" lang="en-US" altLang="zh-CN" sz="1400" b="1" dirty="0">
                <a:solidFill>
                  <a:srgbClr val="223AAC"/>
                </a:solidFill>
                <a:latin typeface="KaiTi" panose="02010609060101010101" pitchFamily="49" charset="-122"/>
                <a:ea typeface="KaiTi" panose="02010609060101010101" pitchFamily="49" charset="-122"/>
              </a:rPr>
              <a:t>{</a:t>
            </a:r>
            <a:r>
              <a:rPr kumimoji="1" lang="zh-CN" altLang="en-US" sz="1400" b="1" dirty="0">
                <a:solidFill>
                  <a:srgbClr val="223AAC"/>
                </a:solidFill>
                <a:latin typeface="KaiTi" panose="02010609060101010101" pitchFamily="49" charset="-122"/>
                <a:ea typeface="KaiTi" panose="02010609060101010101" pitchFamily="49" charset="-122"/>
              </a:rPr>
              <a:t>用形象化「画图」表示电、磁场关系</a:t>
            </a:r>
            <a:r>
              <a:rPr kumimoji="1" lang="en-US" altLang="zh-CN" sz="1400" b="1" dirty="0">
                <a:solidFill>
                  <a:srgbClr val="223AAC"/>
                </a:solidFill>
                <a:latin typeface="KaiTi" panose="02010609060101010101" pitchFamily="49" charset="-122"/>
                <a:ea typeface="KaiTi" panose="02010609060101010101" pitchFamily="49" charset="-122"/>
              </a:rPr>
              <a:t>}</a:t>
            </a:r>
            <a:endParaRPr kumimoji="1" lang="en-US" altLang="zh-CN" sz="1400" dirty="0">
              <a:solidFill>
                <a:srgbClr val="223AAC"/>
              </a:solidFill>
              <a:latin typeface="KaiTi" panose="02010609060101010101" pitchFamily="49" charset="-122"/>
              <a:ea typeface="KaiTi" panose="02010609060101010101" pitchFamily="49" charset="-122"/>
            </a:endParaRPr>
          </a:p>
        </p:txBody>
      </p:sp>
      <p:sp>
        <p:nvSpPr>
          <p:cNvPr id="9" name="文本框 8">
            <a:extLst>
              <a:ext uri="{FF2B5EF4-FFF2-40B4-BE49-F238E27FC236}">
                <a16:creationId xmlns:a16="http://schemas.microsoft.com/office/drawing/2014/main" id="{2E10A8CE-824B-2545-8131-7DC747CB935A}"/>
              </a:ext>
            </a:extLst>
          </p:cNvPr>
          <p:cNvSpPr txBox="1"/>
          <p:nvPr/>
        </p:nvSpPr>
        <p:spPr>
          <a:xfrm>
            <a:off x="538850" y="459740"/>
            <a:ext cx="4942702" cy="338554"/>
          </a:xfrm>
          <a:prstGeom prst="rect">
            <a:avLst/>
          </a:prstGeom>
          <a:noFill/>
        </p:spPr>
        <p:txBody>
          <a:bodyPr wrap="square" rtlCol="0">
            <a:spAutoFit/>
          </a:bodyPr>
          <a:lstStyle/>
          <a:p>
            <a:r>
              <a:rPr kumimoji="1" lang="en-US" altLang="zh-CN"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2.</a:t>
            </a:r>
            <a:r>
              <a:rPr kumimoji="1" lang="zh-CN" altLang="en-US"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电与磁场板块：</a:t>
            </a:r>
          </a:p>
        </p:txBody>
      </p:sp>
      <p:graphicFrame>
        <p:nvGraphicFramePr>
          <p:cNvPr id="10" name="表格 9">
            <a:extLst>
              <a:ext uri="{FF2B5EF4-FFF2-40B4-BE49-F238E27FC236}">
                <a16:creationId xmlns:a16="http://schemas.microsoft.com/office/drawing/2014/main" id="{E83D6088-9C7C-4148-8723-4DA73687C240}"/>
              </a:ext>
            </a:extLst>
          </p:cNvPr>
          <p:cNvGraphicFramePr>
            <a:graphicFrameLocks noGrp="1"/>
          </p:cNvGraphicFramePr>
          <p:nvPr>
            <p:extLst>
              <p:ext uri="{D42A27DB-BD31-4B8C-83A1-F6EECF244321}">
                <p14:modId xmlns:p14="http://schemas.microsoft.com/office/powerpoint/2010/main" val="1335865893"/>
              </p:ext>
            </p:extLst>
          </p:nvPr>
        </p:nvGraphicFramePr>
        <p:xfrm>
          <a:off x="3597643" y="1228725"/>
          <a:ext cx="8418146" cy="5169535"/>
        </p:xfrm>
        <a:graphic>
          <a:graphicData uri="http://schemas.openxmlformats.org/drawingml/2006/table">
            <a:tbl>
              <a:tblPr firstRow="1" bandRow="1">
                <a:tableStyleId>{5202B0CA-FC54-4496-8BCA-5EF66A818D29}</a:tableStyleId>
              </a:tblPr>
              <a:tblGrid>
                <a:gridCol w="590328">
                  <a:extLst>
                    <a:ext uri="{9D8B030D-6E8A-4147-A177-3AD203B41FA5}">
                      <a16:colId xmlns:a16="http://schemas.microsoft.com/office/drawing/2014/main" val="2953084116"/>
                    </a:ext>
                  </a:extLst>
                </a:gridCol>
                <a:gridCol w="2513264">
                  <a:extLst>
                    <a:ext uri="{9D8B030D-6E8A-4147-A177-3AD203B41FA5}">
                      <a16:colId xmlns:a16="http://schemas.microsoft.com/office/drawing/2014/main" val="1028509554"/>
                    </a:ext>
                  </a:extLst>
                </a:gridCol>
                <a:gridCol w="2821759">
                  <a:extLst>
                    <a:ext uri="{9D8B030D-6E8A-4147-A177-3AD203B41FA5}">
                      <a16:colId xmlns:a16="http://schemas.microsoft.com/office/drawing/2014/main" val="1647882252"/>
                    </a:ext>
                  </a:extLst>
                </a:gridCol>
                <a:gridCol w="2492795">
                  <a:extLst>
                    <a:ext uri="{9D8B030D-6E8A-4147-A177-3AD203B41FA5}">
                      <a16:colId xmlns:a16="http://schemas.microsoft.com/office/drawing/2014/main" val="69948066"/>
                    </a:ext>
                  </a:extLst>
                </a:gridCol>
              </a:tblGrid>
              <a:tr h="388047">
                <a:tc>
                  <a:txBody>
                    <a:bodyPr/>
                    <a:lstStyle/>
                    <a:p>
                      <a:endParaRPr lang="zh-CN" altLang="en-US" dirty="0">
                        <a:solidFill>
                          <a:schemeClr val="tx1">
                            <a:lumMod val="50000"/>
                            <a:lumOff val="50000"/>
                          </a:schemeClr>
                        </a:solidFill>
                        <a:latin typeface="KaiTi" panose="02010609060101010101" pitchFamily="49" charset="-122"/>
                        <a:ea typeface="KaiTi" panose="02010609060101010101" pitchFamily="49" charset="-122"/>
                      </a:endParaRPr>
                    </a:p>
                  </a:txBody>
                  <a:tcP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solidFill>
                      <a:schemeClr val="bg1"/>
                    </a:solidFill>
                  </a:tcPr>
                </a:tc>
                <a:tc>
                  <a:txBody>
                    <a:bodyPr/>
                    <a:lstStyle/>
                    <a:p>
                      <a:r>
                        <a:rPr lang="zh-CN" altLang="en-US" dirty="0">
                          <a:solidFill>
                            <a:srgbClr val="C00000"/>
                          </a:solidFill>
                          <a:latin typeface="KaiTi" panose="02010609060101010101" pitchFamily="49" charset="-122"/>
                          <a:ea typeface="KaiTi" panose="02010609060101010101" pitchFamily="49" charset="-122"/>
                        </a:rPr>
                        <a:t>通电直导线的磁场</a:t>
                      </a:r>
                    </a:p>
                  </a:txBody>
                  <a:tcP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solidFill>
                      <a:schemeClr val="bg1"/>
                    </a:solidFill>
                  </a:tcPr>
                </a:tc>
                <a:tc>
                  <a:txBody>
                    <a:bodyPr/>
                    <a:lstStyle/>
                    <a:p>
                      <a:r>
                        <a:rPr lang="zh-CN" altLang="en-US" dirty="0">
                          <a:solidFill>
                            <a:srgbClr val="C00000"/>
                          </a:solidFill>
                          <a:latin typeface="KaiTi" panose="02010609060101010101" pitchFamily="49" charset="-122"/>
                          <a:ea typeface="KaiTi" panose="02010609060101010101" pitchFamily="49" charset="-122"/>
                        </a:rPr>
                        <a:t>通电螺线管的磁场</a:t>
                      </a:r>
                    </a:p>
                  </a:txBody>
                  <a:tcP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solidFill>
                      <a:schemeClr val="bg1"/>
                    </a:solidFill>
                  </a:tcPr>
                </a:tc>
                <a:tc>
                  <a:txBody>
                    <a:bodyPr/>
                    <a:lstStyle/>
                    <a:p>
                      <a:r>
                        <a:rPr lang="zh-CN" altLang="en-US" dirty="0">
                          <a:solidFill>
                            <a:srgbClr val="C00000"/>
                          </a:solidFill>
                          <a:latin typeface="KaiTi" panose="02010609060101010101" pitchFamily="49" charset="-122"/>
                          <a:ea typeface="KaiTi" panose="02010609060101010101" pitchFamily="49" charset="-122"/>
                        </a:rPr>
                        <a:t>环形电流的磁场</a:t>
                      </a:r>
                    </a:p>
                  </a:txBody>
                  <a:tcP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solidFill>
                      <a:schemeClr val="bg1"/>
                    </a:solidFill>
                  </a:tcPr>
                </a:tc>
                <a:extLst>
                  <a:ext uri="{0D108BD9-81ED-4DB2-BD59-A6C34878D82A}">
                    <a16:rowId xmlns:a16="http://schemas.microsoft.com/office/drawing/2014/main" val="3192639176"/>
                  </a:ext>
                </a:extLst>
              </a:tr>
              <a:tr h="1241173">
                <a:tc>
                  <a:txBody>
                    <a:bodyPr/>
                    <a:lstStyle/>
                    <a:p>
                      <a:r>
                        <a:rPr lang="zh-CN" altLang="en-US" dirty="0">
                          <a:solidFill>
                            <a:srgbClr val="C00000"/>
                          </a:solidFill>
                          <a:latin typeface="KaiTi" panose="02010609060101010101" pitchFamily="49" charset="-122"/>
                          <a:ea typeface="KaiTi" panose="02010609060101010101" pitchFamily="49" charset="-122"/>
                        </a:rPr>
                        <a:t>特点</a:t>
                      </a:r>
                    </a:p>
                  </a:txBody>
                  <a:tcP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solidFill>
                      <a:schemeClr val="bg1"/>
                    </a:solidFill>
                  </a:tcPr>
                </a:tc>
                <a:tc>
                  <a:txBody>
                    <a:bodyPr/>
                    <a:lstStyle/>
                    <a:p>
                      <a:r>
                        <a:rPr lang="zh-CN" altLang="en-US" dirty="0">
                          <a:solidFill>
                            <a:schemeClr val="tx1">
                              <a:lumMod val="50000"/>
                              <a:lumOff val="50000"/>
                            </a:schemeClr>
                          </a:solidFill>
                          <a:latin typeface="KaiTi" panose="02010609060101010101" pitchFamily="49" charset="-122"/>
                          <a:ea typeface="KaiTi" panose="02010609060101010101" pitchFamily="49" charset="-122"/>
                        </a:rPr>
                        <a:t>无磁极，非匀强，距导线越远磁场越弱</a:t>
                      </a:r>
                    </a:p>
                  </a:txBody>
                  <a:tcP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solidFill>
                      <a:schemeClr val="bg1"/>
                    </a:solidFill>
                  </a:tcPr>
                </a:tc>
                <a:tc>
                  <a:txBody>
                    <a:bodyPr/>
                    <a:lstStyle/>
                    <a:p>
                      <a:r>
                        <a:rPr lang="zh-CN" altLang="en-US" dirty="0">
                          <a:solidFill>
                            <a:schemeClr val="tx1">
                              <a:lumMod val="50000"/>
                              <a:lumOff val="50000"/>
                            </a:schemeClr>
                          </a:solidFill>
                          <a:latin typeface="KaiTi" panose="02010609060101010101" pitchFamily="49" charset="-122"/>
                          <a:ea typeface="KaiTi" panose="02010609060101010101" pitchFamily="49" charset="-122"/>
                        </a:rPr>
                        <a:t>两侧是</a:t>
                      </a:r>
                      <a:r>
                        <a:rPr lang="fr-FR" altLang="zh-CN" dirty="0">
                          <a:solidFill>
                            <a:schemeClr val="tx1">
                              <a:lumMod val="50000"/>
                              <a:lumOff val="50000"/>
                            </a:schemeClr>
                          </a:solidFill>
                          <a:latin typeface="KaiTi" panose="02010609060101010101" pitchFamily="49" charset="-122"/>
                          <a:ea typeface="KaiTi" panose="02010609060101010101" pitchFamily="49" charset="-122"/>
                        </a:rPr>
                        <a:t>N</a:t>
                      </a:r>
                      <a:r>
                        <a:rPr lang="zh-CN" altLang="en-US" dirty="0">
                          <a:solidFill>
                            <a:schemeClr val="tx1">
                              <a:lumMod val="50000"/>
                              <a:lumOff val="50000"/>
                            </a:schemeClr>
                          </a:solidFill>
                          <a:latin typeface="KaiTi" panose="02010609060101010101" pitchFamily="49" charset="-122"/>
                          <a:ea typeface="KaiTi" panose="02010609060101010101" pitchFamily="49" charset="-122"/>
                        </a:rPr>
                        <a:t>极和</a:t>
                      </a:r>
                      <a:r>
                        <a:rPr lang="fr-FR" altLang="zh-CN" dirty="0">
                          <a:solidFill>
                            <a:schemeClr val="tx1">
                              <a:lumMod val="50000"/>
                              <a:lumOff val="50000"/>
                            </a:schemeClr>
                          </a:solidFill>
                          <a:latin typeface="KaiTi" panose="02010609060101010101" pitchFamily="49" charset="-122"/>
                          <a:ea typeface="KaiTi" panose="02010609060101010101" pitchFamily="49" charset="-122"/>
                        </a:rPr>
                        <a:t>S</a:t>
                      </a:r>
                      <a:r>
                        <a:rPr lang="zh-CN" altLang="en-US" dirty="0">
                          <a:solidFill>
                            <a:schemeClr val="tx1">
                              <a:lumMod val="50000"/>
                              <a:lumOff val="50000"/>
                            </a:schemeClr>
                          </a:solidFill>
                          <a:latin typeface="KaiTi" panose="02010609060101010101" pitchFamily="49" charset="-122"/>
                          <a:ea typeface="KaiTi" panose="02010609060101010101" pitchFamily="49" charset="-122"/>
                        </a:rPr>
                        <a:t>极</a:t>
                      </a:r>
                      <a:r>
                        <a:rPr lang="en-US" altLang="zh-CN" dirty="0">
                          <a:solidFill>
                            <a:schemeClr val="tx1">
                              <a:lumMod val="50000"/>
                              <a:lumOff val="50000"/>
                            </a:schemeClr>
                          </a:solidFill>
                          <a:latin typeface="KaiTi" panose="02010609060101010101" pitchFamily="49" charset="-122"/>
                          <a:ea typeface="KaiTi" panose="02010609060101010101" pitchFamily="49" charset="-122"/>
                        </a:rPr>
                        <a:t>,</a:t>
                      </a:r>
                      <a:r>
                        <a:rPr lang="zh-CN" altLang="en-US" dirty="0">
                          <a:solidFill>
                            <a:schemeClr val="tx1">
                              <a:lumMod val="50000"/>
                              <a:lumOff val="50000"/>
                            </a:schemeClr>
                          </a:solidFill>
                          <a:latin typeface="KaiTi" panose="02010609060101010101" pitchFamily="49" charset="-122"/>
                          <a:ea typeface="KaiTi" panose="02010609060101010101" pitchFamily="49" charset="-122"/>
                        </a:rPr>
                        <a:t>与条形磁体的磁场类似，管内可近似看作匀强磁场，管外是非匀强磁场</a:t>
                      </a:r>
                    </a:p>
                  </a:txBody>
                  <a:tcP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solidFill>
                      <a:schemeClr val="bg1"/>
                    </a:solidFill>
                  </a:tcPr>
                </a:tc>
                <a:tc>
                  <a:txBody>
                    <a:bodyPr/>
                    <a:lstStyle/>
                    <a:p>
                      <a:r>
                        <a:rPr lang="zh-CN" altLang="en-US" dirty="0">
                          <a:solidFill>
                            <a:schemeClr val="tx1">
                              <a:lumMod val="50000"/>
                              <a:lumOff val="50000"/>
                            </a:schemeClr>
                          </a:solidFill>
                          <a:latin typeface="KaiTi" panose="02010609060101010101" pitchFamily="49" charset="-122"/>
                          <a:ea typeface="KaiTi" panose="02010609060101010101" pitchFamily="49" charset="-122"/>
                        </a:rPr>
                        <a:t>两侧是 </a:t>
                      </a:r>
                      <a:r>
                        <a:rPr lang="fr-FR" altLang="zh-CN" dirty="0">
                          <a:solidFill>
                            <a:schemeClr val="tx1">
                              <a:lumMod val="50000"/>
                              <a:lumOff val="50000"/>
                            </a:schemeClr>
                          </a:solidFill>
                          <a:latin typeface="KaiTi" panose="02010609060101010101" pitchFamily="49" charset="-122"/>
                          <a:ea typeface="KaiTi" panose="02010609060101010101" pitchFamily="49" charset="-122"/>
                        </a:rPr>
                        <a:t>N</a:t>
                      </a:r>
                      <a:r>
                        <a:rPr lang="zh-CN" altLang="en-US" dirty="0">
                          <a:solidFill>
                            <a:schemeClr val="tx1">
                              <a:lumMod val="50000"/>
                              <a:lumOff val="50000"/>
                            </a:schemeClr>
                          </a:solidFill>
                          <a:latin typeface="KaiTi" panose="02010609060101010101" pitchFamily="49" charset="-122"/>
                          <a:ea typeface="KaiTi" panose="02010609060101010101" pitchFamily="49" charset="-122"/>
                        </a:rPr>
                        <a:t>极和</a:t>
                      </a:r>
                      <a:r>
                        <a:rPr lang="fr-FR" altLang="zh-CN" dirty="0">
                          <a:solidFill>
                            <a:schemeClr val="tx1">
                              <a:lumMod val="50000"/>
                              <a:lumOff val="50000"/>
                            </a:schemeClr>
                          </a:solidFill>
                          <a:latin typeface="KaiTi" panose="02010609060101010101" pitchFamily="49" charset="-122"/>
                          <a:ea typeface="KaiTi" panose="02010609060101010101" pitchFamily="49" charset="-122"/>
                        </a:rPr>
                        <a:t>S</a:t>
                      </a:r>
                      <a:r>
                        <a:rPr lang="zh-CN" altLang="en-US" dirty="0">
                          <a:solidFill>
                            <a:schemeClr val="tx1">
                              <a:lumMod val="50000"/>
                              <a:lumOff val="50000"/>
                            </a:schemeClr>
                          </a:solidFill>
                          <a:latin typeface="KaiTi" panose="02010609060101010101" pitchFamily="49" charset="-122"/>
                          <a:ea typeface="KaiTi" panose="02010609060101010101" pitchFamily="49" charset="-122"/>
                        </a:rPr>
                        <a:t>极，圆环内侧，离圆环越近，磁场越强</a:t>
                      </a:r>
                      <a:r>
                        <a:rPr lang="en-US" altLang="zh-CN" dirty="0">
                          <a:solidFill>
                            <a:schemeClr val="tx1">
                              <a:lumMod val="50000"/>
                              <a:lumOff val="50000"/>
                            </a:schemeClr>
                          </a:solidFill>
                          <a:latin typeface="KaiTi" panose="02010609060101010101" pitchFamily="49" charset="-122"/>
                          <a:ea typeface="KaiTi" panose="02010609060101010101" pitchFamily="49" charset="-122"/>
                        </a:rPr>
                        <a:t>;</a:t>
                      </a:r>
                      <a:r>
                        <a:rPr lang="zh-CN" altLang="en-US" dirty="0">
                          <a:solidFill>
                            <a:schemeClr val="tx1">
                              <a:lumMod val="50000"/>
                              <a:lumOff val="50000"/>
                            </a:schemeClr>
                          </a:solidFill>
                          <a:latin typeface="KaiTi" panose="02010609060101010101" pitchFamily="49" charset="-122"/>
                          <a:ea typeface="KaiTi" panose="02010609060101010101" pitchFamily="49" charset="-122"/>
                        </a:rPr>
                        <a:t>圆环外侧，离圆环越远，磁场越弱</a:t>
                      </a:r>
                    </a:p>
                  </a:txBody>
                  <a:tcP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solidFill>
                      <a:schemeClr val="bg1"/>
                    </a:solidFill>
                  </a:tcPr>
                </a:tc>
                <a:extLst>
                  <a:ext uri="{0D108BD9-81ED-4DB2-BD59-A6C34878D82A}">
                    <a16:rowId xmlns:a16="http://schemas.microsoft.com/office/drawing/2014/main" val="2127140531"/>
                  </a:ext>
                </a:extLst>
              </a:tr>
              <a:tr h="1241173">
                <a:tc>
                  <a:txBody>
                    <a:bodyPr/>
                    <a:lstStyle/>
                    <a:p>
                      <a:r>
                        <a:rPr lang="zh-CN" altLang="en-US" dirty="0">
                          <a:solidFill>
                            <a:srgbClr val="C00000"/>
                          </a:solidFill>
                          <a:latin typeface="KaiTi" panose="02010609060101010101" pitchFamily="49" charset="-122"/>
                          <a:ea typeface="KaiTi" panose="02010609060101010101" pitchFamily="49" charset="-122"/>
                        </a:rPr>
                        <a:t>安培定则</a:t>
                      </a:r>
                    </a:p>
                  </a:txBody>
                  <a:tcP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solidFill>
                      <a:schemeClr val="bg1"/>
                    </a:solidFill>
                  </a:tcPr>
                </a:tc>
                <a:tc>
                  <a:txBody>
                    <a:bodyPr/>
                    <a:lstStyle/>
                    <a:p>
                      <a:endParaRPr lang="zh-CN" altLang="en-US" dirty="0">
                        <a:solidFill>
                          <a:srgbClr val="C00000"/>
                        </a:solidFill>
                        <a:latin typeface="KaiTi" panose="02010609060101010101" pitchFamily="49" charset="-122"/>
                        <a:ea typeface="KaiTi" panose="02010609060101010101" pitchFamily="49" charset="-122"/>
                      </a:endParaRPr>
                    </a:p>
                  </a:txBody>
                  <a:tcP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solidFill>
                      <a:schemeClr val="bg1"/>
                    </a:solidFill>
                  </a:tcPr>
                </a:tc>
                <a:tc>
                  <a:txBody>
                    <a:bodyPr/>
                    <a:lstStyle/>
                    <a:p>
                      <a:endParaRPr lang="zh-CN" altLang="en-US" dirty="0">
                        <a:solidFill>
                          <a:schemeClr val="tx1">
                            <a:lumMod val="50000"/>
                            <a:lumOff val="50000"/>
                          </a:schemeClr>
                        </a:solidFill>
                        <a:latin typeface="KaiTi" panose="02010609060101010101" pitchFamily="49" charset="-122"/>
                        <a:ea typeface="KaiTi" panose="02010609060101010101" pitchFamily="49" charset="-122"/>
                      </a:endParaRPr>
                    </a:p>
                  </a:txBody>
                  <a:tcP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solidFill>
                      <a:schemeClr val="bg1"/>
                    </a:solidFill>
                  </a:tcPr>
                </a:tc>
                <a:tc>
                  <a:txBody>
                    <a:bodyPr/>
                    <a:lstStyle/>
                    <a:p>
                      <a:endParaRPr lang="zh-CN" altLang="en-US" dirty="0">
                        <a:solidFill>
                          <a:schemeClr val="tx1">
                            <a:lumMod val="50000"/>
                            <a:lumOff val="50000"/>
                          </a:schemeClr>
                        </a:solidFill>
                        <a:latin typeface="KaiTi" panose="02010609060101010101" pitchFamily="49" charset="-122"/>
                        <a:ea typeface="KaiTi" panose="02010609060101010101" pitchFamily="49" charset="-122"/>
                      </a:endParaRPr>
                    </a:p>
                  </a:txBody>
                  <a:tcP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solidFill>
                      <a:schemeClr val="bg1"/>
                    </a:solidFill>
                  </a:tcPr>
                </a:tc>
                <a:extLst>
                  <a:ext uri="{0D108BD9-81ED-4DB2-BD59-A6C34878D82A}">
                    <a16:rowId xmlns:a16="http://schemas.microsoft.com/office/drawing/2014/main" val="2833134094"/>
                  </a:ext>
                </a:extLst>
              </a:tr>
              <a:tr h="1149571">
                <a:tc>
                  <a:txBody>
                    <a:bodyPr/>
                    <a:lstStyle/>
                    <a:p>
                      <a:r>
                        <a:rPr lang="zh-CN" altLang="en-US" dirty="0">
                          <a:solidFill>
                            <a:srgbClr val="C00000"/>
                          </a:solidFill>
                          <a:latin typeface="KaiTi" panose="02010609060101010101" pitchFamily="49" charset="-122"/>
                          <a:ea typeface="KaiTi" panose="02010609060101010101" pitchFamily="49" charset="-122"/>
                        </a:rPr>
                        <a:t>立体图</a:t>
                      </a:r>
                    </a:p>
                  </a:txBody>
                  <a:tcP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solidFill>
                      <a:schemeClr val="bg1"/>
                    </a:solidFill>
                  </a:tcPr>
                </a:tc>
                <a:tc>
                  <a:txBody>
                    <a:bodyPr/>
                    <a:lstStyle/>
                    <a:p>
                      <a:endParaRPr lang="zh-CN" altLang="en-US" dirty="0">
                        <a:solidFill>
                          <a:srgbClr val="C00000"/>
                        </a:solidFill>
                        <a:latin typeface="KaiTi" panose="02010609060101010101" pitchFamily="49" charset="-122"/>
                        <a:ea typeface="KaiTi" panose="02010609060101010101" pitchFamily="49" charset="-122"/>
                      </a:endParaRPr>
                    </a:p>
                  </a:txBody>
                  <a:tcP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solidFill>
                      <a:schemeClr val="bg1"/>
                    </a:solidFill>
                  </a:tcPr>
                </a:tc>
                <a:tc>
                  <a:txBody>
                    <a:bodyPr/>
                    <a:lstStyle/>
                    <a:p>
                      <a:endParaRPr lang="zh-CN" altLang="en-US" dirty="0">
                        <a:solidFill>
                          <a:schemeClr val="tx1">
                            <a:lumMod val="50000"/>
                            <a:lumOff val="50000"/>
                          </a:schemeClr>
                        </a:solidFill>
                        <a:latin typeface="KaiTi" panose="02010609060101010101" pitchFamily="49" charset="-122"/>
                        <a:ea typeface="KaiTi" panose="02010609060101010101" pitchFamily="49" charset="-122"/>
                      </a:endParaRPr>
                    </a:p>
                  </a:txBody>
                  <a:tcP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solidFill>
                      <a:schemeClr val="bg1"/>
                    </a:solidFill>
                  </a:tcPr>
                </a:tc>
                <a:tc>
                  <a:txBody>
                    <a:bodyPr/>
                    <a:lstStyle/>
                    <a:p>
                      <a:endParaRPr lang="zh-CN" altLang="en-US" dirty="0">
                        <a:solidFill>
                          <a:schemeClr val="tx1">
                            <a:lumMod val="50000"/>
                            <a:lumOff val="50000"/>
                          </a:schemeClr>
                        </a:solidFill>
                        <a:latin typeface="KaiTi" panose="02010609060101010101" pitchFamily="49" charset="-122"/>
                        <a:ea typeface="KaiTi" panose="02010609060101010101" pitchFamily="49" charset="-122"/>
                      </a:endParaRPr>
                    </a:p>
                  </a:txBody>
                  <a:tcP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solidFill>
                      <a:schemeClr val="bg1"/>
                    </a:solidFill>
                  </a:tcPr>
                </a:tc>
                <a:extLst>
                  <a:ext uri="{0D108BD9-81ED-4DB2-BD59-A6C34878D82A}">
                    <a16:rowId xmlns:a16="http://schemas.microsoft.com/office/drawing/2014/main" val="3288485014"/>
                  </a:ext>
                </a:extLst>
              </a:tr>
              <a:tr h="1149571">
                <a:tc>
                  <a:txBody>
                    <a:bodyPr/>
                    <a:lstStyle/>
                    <a:p>
                      <a:r>
                        <a:rPr lang="zh-CN" altLang="en-US" dirty="0">
                          <a:solidFill>
                            <a:srgbClr val="C00000"/>
                          </a:solidFill>
                          <a:latin typeface="KaiTi" panose="02010609060101010101" pitchFamily="49" charset="-122"/>
                          <a:ea typeface="KaiTi" panose="02010609060101010101" pitchFamily="49" charset="-122"/>
                        </a:rPr>
                        <a:t>截面图</a:t>
                      </a:r>
                    </a:p>
                  </a:txBody>
                  <a:tcP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solidFill>
                      <a:schemeClr val="bg1"/>
                    </a:solidFill>
                  </a:tcPr>
                </a:tc>
                <a:tc>
                  <a:txBody>
                    <a:bodyPr/>
                    <a:lstStyle/>
                    <a:p>
                      <a:endParaRPr lang="zh-CN" altLang="en-US" dirty="0">
                        <a:solidFill>
                          <a:srgbClr val="C00000"/>
                        </a:solidFill>
                        <a:latin typeface="KaiTi" panose="02010609060101010101" pitchFamily="49" charset="-122"/>
                        <a:ea typeface="KaiTi" panose="02010609060101010101" pitchFamily="49" charset="-122"/>
                      </a:endParaRPr>
                    </a:p>
                  </a:txBody>
                  <a:tcP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solidFill>
                      <a:schemeClr val="bg1"/>
                    </a:solidFill>
                  </a:tcPr>
                </a:tc>
                <a:tc>
                  <a:txBody>
                    <a:bodyPr/>
                    <a:lstStyle/>
                    <a:p>
                      <a:endParaRPr lang="zh-CN" altLang="en-US" dirty="0">
                        <a:solidFill>
                          <a:schemeClr val="tx1">
                            <a:lumMod val="50000"/>
                            <a:lumOff val="50000"/>
                          </a:schemeClr>
                        </a:solidFill>
                        <a:latin typeface="KaiTi" panose="02010609060101010101" pitchFamily="49" charset="-122"/>
                        <a:ea typeface="KaiTi" panose="02010609060101010101" pitchFamily="49" charset="-122"/>
                      </a:endParaRPr>
                    </a:p>
                  </a:txBody>
                  <a:tcP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solidFill>
                      <a:schemeClr val="bg1"/>
                    </a:solidFill>
                  </a:tcPr>
                </a:tc>
                <a:tc>
                  <a:txBody>
                    <a:bodyPr/>
                    <a:lstStyle/>
                    <a:p>
                      <a:endParaRPr lang="zh-CN" altLang="en-US" dirty="0">
                        <a:solidFill>
                          <a:schemeClr val="tx1">
                            <a:lumMod val="50000"/>
                            <a:lumOff val="50000"/>
                          </a:schemeClr>
                        </a:solidFill>
                        <a:latin typeface="KaiTi" panose="02010609060101010101" pitchFamily="49" charset="-122"/>
                        <a:ea typeface="KaiTi" panose="02010609060101010101" pitchFamily="49" charset="-122"/>
                      </a:endParaRPr>
                    </a:p>
                  </a:txBody>
                  <a:tcPr>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lgDash"/>
                      <a:round/>
                      <a:headEnd type="none" w="med" len="med"/>
                      <a:tailEnd type="none" w="med" len="med"/>
                    </a:lnT>
                    <a:lnB w="12700" cap="flat" cmpd="sng" algn="ctr">
                      <a:solidFill>
                        <a:schemeClr val="tx1"/>
                      </a:solidFill>
                      <a:prstDash val="lgDash"/>
                      <a:round/>
                      <a:headEnd type="none" w="med" len="med"/>
                      <a:tailEnd type="none" w="med" len="med"/>
                    </a:lnB>
                    <a:solidFill>
                      <a:schemeClr val="bg1"/>
                    </a:solidFill>
                  </a:tcPr>
                </a:tc>
                <a:extLst>
                  <a:ext uri="{0D108BD9-81ED-4DB2-BD59-A6C34878D82A}">
                    <a16:rowId xmlns:a16="http://schemas.microsoft.com/office/drawing/2014/main" val="3726543091"/>
                  </a:ext>
                </a:extLst>
              </a:tr>
            </a:tbl>
          </a:graphicData>
        </a:graphic>
      </p:graphicFrame>
      <p:pic>
        <p:nvPicPr>
          <p:cNvPr id="2" name="图片 1">
            <a:extLst>
              <a:ext uri="{FF2B5EF4-FFF2-40B4-BE49-F238E27FC236}">
                <a16:creationId xmlns:a16="http://schemas.microsoft.com/office/drawing/2014/main" id="{A4AC531A-2D02-EF49-A840-49CCBF8C56F8}"/>
              </a:ext>
            </a:extLst>
          </p:cNvPr>
          <p:cNvPicPr>
            <a:picLocks noChangeAspect="1"/>
          </p:cNvPicPr>
          <p:nvPr/>
        </p:nvPicPr>
        <p:blipFill>
          <a:blip r:embed="rId3"/>
          <a:stretch>
            <a:fillRect/>
          </a:stretch>
        </p:blipFill>
        <p:spPr>
          <a:xfrm>
            <a:off x="4538313" y="2882386"/>
            <a:ext cx="1610527" cy="1142218"/>
          </a:xfrm>
          <a:prstGeom prst="rect">
            <a:avLst/>
          </a:prstGeom>
        </p:spPr>
      </p:pic>
      <p:pic>
        <p:nvPicPr>
          <p:cNvPr id="4" name="图片 3">
            <a:extLst>
              <a:ext uri="{FF2B5EF4-FFF2-40B4-BE49-F238E27FC236}">
                <a16:creationId xmlns:a16="http://schemas.microsoft.com/office/drawing/2014/main" id="{3F4A5305-847F-7049-BE05-573B02008902}"/>
              </a:ext>
            </a:extLst>
          </p:cNvPr>
          <p:cNvPicPr>
            <a:picLocks noChangeAspect="1"/>
          </p:cNvPicPr>
          <p:nvPr/>
        </p:nvPicPr>
        <p:blipFill>
          <a:blip r:embed="rId4"/>
          <a:stretch>
            <a:fillRect/>
          </a:stretch>
        </p:blipFill>
        <p:spPr>
          <a:xfrm>
            <a:off x="7096491" y="2984760"/>
            <a:ext cx="1866900" cy="901700"/>
          </a:xfrm>
          <a:prstGeom prst="rect">
            <a:avLst/>
          </a:prstGeom>
        </p:spPr>
      </p:pic>
      <p:pic>
        <p:nvPicPr>
          <p:cNvPr id="11" name="图片 10">
            <a:extLst>
              <a:ext uri="{FF2B5EF4-FFF2-40B4-BE49-F238E27FC236}">
                <a16:creationId xmlns:a16="http://schemas.microsoft.com/office/drawing/2014/main" id="{B4C6E759-6819-0D42-A968-AA487FC66FC6}"/>
              </a:ext>
            </a:extLst>
          </p:cNvPr>
          <p:cNvPicPr>
            <a:picLocks noChangeAspect="1"/>
          </p:cNvPicPr>
          <p:nvPr/>
        </p:nvPicPr>
        <p:blipFill>
          <a:blip r:embed="rId5"/>
          <a:stretch>
            <a:fillRect/>
          </a:stretch>
        </p:blipFill>
        <p:spPr>
          <a:xfrm>
            <a:off x="10034733" y="3020109"/>
            <a:ext cx="1435100" cy="889000"/>
          </a:xfrm>
          <a:prstGeom prst="rect">
            <a:avLst/>
          </a:prstGeom>
        </p:spPr>
      </p:pic>
      <p:pic>
        <p:nvPicPr>
          <p:cNvPr id="12" name="图片 11">
            <a:extLst>
              <a:ext uri="{FF2B5EF4-FFF2-40B4-BE49-F238E27FC236}">
                <a16:creationId xmlns:a16="http://schemas.microsoft.com/office/drawing/2014/main" id="{D03C2A50-0327-2D43-84A8-22CE3A9ED55C}"/>
              </a:ext>
            </a:extLst>
          </p:cNvPr>
          <p:cNvPicPr>
            <a:picLocks noChangeAspect="1"/>
          </p:cNvPicPr>
          <p:nvPr/>
        </p:nvPicPr>
        <p:blipFill>
          <a:blip r:embed="rId6"/>
          <a:stretch>
            <a:fillRect/>
          </a:stretch>
        </p:blipFill>
        <p:spPr>
          <a:xfrm>
            <a:off x="4676288" y="4187995"/>
            <a:ext cx="1334578" cy="948543"/>
          </a:xfrm>
          <a:prstGeom prst="rect">
            <a:avLst/>
          </a:prstGeom>
        </p:spPr>
      </p:pic>
      <p:pic>
        <p:nvPicPr>
          <p:cNvPr id="13" name="图片 12">
            <a:extLst>
              <a:ext uri="{FF2B5EF4-FFF2-40B4-BE49-F238E27FC236}">
                <a16:creationId xmlns:a16="http://schemas.microsoft.com/office/drawing/2014/main" id="{F09E20C8-5AE9-004B-BACF-6F4EDB9C957A}"/>
              </a:ext>
            </a:extLst>
          </p:cNvPr>
          <p:cNvPicPr>
            <a:picLocks noChangeAspect="1"/>
          </p:cNvPicPr>
          <p:nvPr/>
        </p:nvPicPr>
        <p:blipFill>
          <a:blip r:embed="rId7"/>
          <a:stretch>
            <a:fillRect/>
          </a:stretch>
        </p:blipFill>
        <p:spPr>
          <a:xfrm>
            <a:off x="7067915" y="4116166"/>
            <a:ext cx="1968500" cy="1092200"/>
          </a:xfrm>
          <a:prstGeom prst="rect">
            <a:avLst/>
          </a:prstGeom>
        </p:spPr>
      </p:pic>
      <p:pic>
        <p:nvPicPr>
          <p:cNvPr id="14" name="图片 13">
            <a:extLst>
              <a:ext uri="{FF2B5EF4-FFF2-40B4-BE49-F238E27FC236}">
                <a16:creationId xmlns:a16="http://schemas.microsoft.com/office/drawing/2014/main" id="{FB49B99C-7D07-784B-8B0C-55AE7A6D464A}"/>
              </a:ext>
            </a:extLst>
          </p:cNvPr>
          <p:cNvPicPr>
            <a:picLocks noChangeAspect="1"/>
          </p:cNvPicPr>
          <p:nvPr/>
        </p:nvPicPr>
        <p:blipFill>
          <a:blip r:embed="rId8"/>
          <a:stretch>
            <a:fillRect/>
          </a:stretch>
        </p:blipFill>
        <p:spPr>
          <a:xfrm>
            <a:off x="10085533" y="4211416"/>
            <a:ext cx="1333500" cy="901700"/>
          </a:xfrm>
          <a:prstGeom prst="rect">
            <a:avLst/>
          </a:prstGeom>
        </p:spPr>
      </p:pic>
      <p:pic>
        <p:nvPicPr>
          <p:cNvPr id="15" name="图片 14">
            <a:extLst>
              <a:ext uri="{FF2B5EF4-FFF2-40B4-BE49-F238E27FC236}">
                <a16:creationId xmlns:a16="http://schemas.microsoft.com/office/drawing/2014/main" id="{E6FE7E27-EEBA-534A-BFAF-CE0D1150B3EE}"/>
              </a:ext>
            </a:extLst>
          </p:cNvPr>
          <p:cNvPicPr>
            <a:picLocks noChangeAspect="1"/>
          </p:cNvPicPr>
          <p:nvPr/>
        </p:nvPicPr>
        <p:blipFill>
          <a:blip r:embed="rId9"/>
          <a:stretch>
            <a:fillRect/>
          </a:stretch>
        </p:blipFill>
        <p:spPr>
          <a:xfrm>
            <a:off x="4733440" y="5315878"/>
            <a:ext cx="1195875" cy="996562"/>
          </a:xfrm>
          <a:prstGeom prst="rect">
            <a:avLst/>
          </a:prstGeom>
        </p:spPr>
      </p:pic>
      <p:pic>
        <p:nvPicPr>
          <p:cNvPr id="16" name="图片 15">
            <a:extLst>
              <a:ext uri="{FF2B5EF4-FFF2-40B4-BE49-F238E27FC236}">
                <a16:creationId xmlns:a16="http://schemas.microsoft.com/office/drawing/2014/main" id="{31CEA5FC-1B9B-B04F-BAE6-E8AFAFFDB6BE}"/>
              </a:ext>
            </a:extLst>
          </p:cNvPr>
          <p:cNvPicPr>
            <a:picLocks noChangeAspect="1"/>
          </p:cNvPicPr>
          <p:nvPr/>
        </p:nvPicPr>
        <p:blipFill>
          <a:blip r:embed="rId10"/>
          <a:stretch>
            <a:fillRect/>
          </a:stretch>
        </p:blipFill>
        <p:spPr>
          <a:xfrm>
            <a:off x="7345189" y="5330166"/>
            <a:ext cx="1435049" cy="996562"/>
          </a:xfrm>
          <a:prstGeom prst="rect">
            <a:avLst/>
          </a:prstGeom>
        </p:spPr>
      </p:pic>
      <p:pic>
        <p:nvPicPr>
          <p:cNvPr id="17" name="图片 16">
            <a:extLst>
              <a:ext uri="{FF2B5EF4-FFF2-40B4-BE49-F238E27FC236}">
                <a16:creationId xmlns:a16="http://schemas.microsoft.com/office/drawing/2014/main" id="{6E9E618A-FA78-FE44-B35C-3000E46CDF0F}"/>
              </a:ext>
            </a:extLst>
          </p:cNvPr>
          <p:cNvPicPr>
            <a:picLocks noChangeAspect="1"/>
          </p:cNvPicPr>
          <p:nvPr/>
        </p:nvPicPr>
        <p:blipFill>
          <a:blip r:embed="rId11"/>
          <a:stretch>
            <a:fillRect/>
          </a:stretch>
        </p:blipFill>
        <p:spPr>
          <a:xfrm>
            <a:off x="10085533" y="5299018"/>
            <a:ext cx="1435049" cy="1023668"/>
          </a:xfrm>
          <a:prstGeom prst="rect">
            <a:avLst/>
          </a:prstGeom>
        </p:spPr>
      </p:pic>
    </p:spTree>
    <p:extLst>
      <p:ext uri="{BB962C8B-B14F-4D97-AF65-F5344CB8AC3E}">
        <p14:creationId xmlns:p14="http://schemas.microsoft.com/office/powerpoint/2010/main" val="40634945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B63A571E-2F89-F74F-8875-5269527B170A}"/>
              </a:ext>
            </a:extLst>
          </p:cNvPr>
          <p:cNvSpPr/>
          <p:nvPr/>
        </p:nvSpPr>
        <p:spPr>
          <a:xfrm>
            <a:off x="609559" y="2737922"/>
            <a:ext cx="2384364" cy="3660337"/>
          </a:xfrm>
          <a:prstGeom prst="rect">
            <a:avLst/>
          </a:prstGeom>
          <a:solidFill>
            <a:srgbClr val="FCED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AD439BBB-1E1D-7344-9A13-86EEDF550E12}"/>
              </a:ext>
            </a:extLst>
          </p:cNvPr>
          <p:cNvSpPr txBox="1"/>
          <p:nvPr/>
        </p:nvSpPr>
        <p:spPr>
          <a:xfrm>
            <a:off x="538850" y="1090551"/>
            <a:ext cx="9354349" cy="1020921"/>
          </a:xfrm>
          <a:prstGeom prst="rect">
            <a:avLst/>
          </a:prstGeom>
          <a:noFill/>
        </p:spPr>
        <p:txBody>
          <a:bodyPr wrap="square" rtlCol="0">
            <a:spAutoFit/>
          </a:bodyPr>
          <a:lstStyle/>
          <a:p>
            <a:pPr>
              <a:lnSpc>
                <a:spcPct val="150000"/>
              </a:lnSpc>
            </a:pP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Step2.</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分析运动轨迹</a:t>
            </a:r>
            <a:endPar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按照「受力分析」</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「运动分析」做题</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画出轨迹，形象思考</a:t>
            </a:r>
            <a:endParaRPr kumimoji="1" lang="en-US" altLang="zh-CN" sz="1400" u="sng"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6" name="矩形 5">
            <a:extLst>
              <a:ext uri="{FF2B5EF4-FFF2-40B4-BE49-F238E27FC236}">
                <a16:creationId xmlns:a16="http://schemas.microsoft.com/office/drawing/2014/main" id="{F3F0AD5B-CF0C-9044-84C6-890E3379EA33}"/>
              </a:ext>
            </a:extLst>
          </p:cNvPr>
          <p:cNvSpPr/>
          <p:nvPr/>
        </p:nvSpPr>
        <p:spPr>
          <a:xfrm>
            <a:off x="693629" y="2882386"/>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491CFD39-FC30-324E-BD0A-ACD4C0CF6E63}"/>
              </a:ext>
            </a:extLst>
          </p:cNvPr>
          <p:cNvSpPr txBox="1"/>
          <p:nvPr/>
        </p:nvSpPr>
        <p:spPr>
          <a:xfrm>
            <a:off x="693907" y="3251717"/>
            <a:ext cx="2201693" cy="2893100"/>
          </a:xfrm>
          <a:prstGeom prst="rect">
            <a:avLst/>
          </a:prstGeom>
          <a:noFill/>
        </p:spPr>
        <p:txBody>
          <a:bodyPr wrap="square" rtlCol="0">
            <a:spAutoFit/>
          </a:bodyPr>
          <a:lstStyle/>
          <a:p>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理解概念</a:t>
            </a:r>
            <a:r>
              <a:rPr kumimoji="1" lang="en-US" altLang="zh-CN" sz="1400" dirty="0">
                <a:solidFill>
                  <a:srgbClr val="223AAC"/>
                </a:solidFill>
                <a:latin typeface="KaiTi" panose="02010609060101010101" pitchFamily="49" charset="-122"/>
                <a:ea typeface="KaiTi" panose="02010609060101010101" pitchFamily="49" charset="-122"/>
              </a:rPr>
              <a:t>】</a:t>
            </a: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latin typeface="KaiTi" panose="02010609060101010101" pitchFamily="49" charset="-122"/>
                <a:ea typeface="KaiTi" panose="02010609060101010101" pitchFamily="49" charset="-122"/>
              </a:rPr>
              <a:t>在运动学分析基础上</a:t>
            </a:r>
            <a:endParaRPr kumimoji="1" lang="en-US" altLang="zh-CN" sz="1400" dirty="0">
              <a:latin typeface="KaiTi" panose="02010609060101010101" pitchFamily="49" charset="-122"/>
              <a:ea typeface="KaiTi" panose="02010609060101010101" pitchFamily="49" charset="-122"/>
            </a:endParaRPr>
          </a:p>
          <a:p>
            <a:r>
              <a:rPr kumimoji="1" lang="en-US" altLang="zh-CN" sz="1400" dirty="0">
                <a:latin typeface="KaiTi" panose="02010609060101010101" pitchFamily="49" charset="-122"/>
                <a:ea typeface="KaiTi" panose="02010609060101010101" pitchFamily="49" charset="-122"/>
              </a:rPr>
              <a:t>+</a:t>
            </a:r>
            <a:r>
              <a:rPr kumimoji="1" lang="zh-CN" altLang="en-US" sz="1400" dirty="0">
                <a:latin typeface="KaiTi" panose="02010609060101010101" pitchFamily="49" charset="-122"/>
                <a:ea typeface="KaiTi" panose="02010609060101010101" pitchFamily="49" charset="-122"/>
              </a:rPr>
              <a:t>「电</a:t>
            </a:r>
            <a:r>
              <a:rPr kumimoji="1" lang="en-US" altLang="zh-CN" sz="1400" dirty="0">
                <a:latin typeface="KaiTi" panose="02010609060101010101" pitchFamily="49" charset="-122"/>
                <a:ea typeface="KaiTi" panose="02010609060101010101" pitchFamily="49" charset="-122"/>
              </a:rPr>
              <a:t>/</a:t>
            </a:r>
            <a:r>
              <a:rPr kumimoji="1" lang="zh-CN" altLang="en-US" sz="1400" dirty="0">
                <a:latin typeface="KaiTi" panose="02010609060101010101" pitchFamily="49" charset="-122"/>
                <a:ea typeface="KaiTi" panose="02010609060101010101" pitchFamily="49" charset="-122"/>
              </a:rPr>
              <a:t>磁场」中受力</a:t>
            </a:r>
            <a:endParaRPr kumimoji="1" lang="en-US" altLang="zh-CN" sz="1400" dirty="0">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*注意：</a:t>
            </a:r>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画出每个阶段运动过程！</a:t>
            </a:r>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重点</a:t>
            </a:r>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即：</a:t>
            </a:r>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b="1" dirty="0">
              <a:solidFill>
                <a:srgbClr val="223AAC"/>
              </a:solidFill>
              <a:latin typeface="KaiTi" panose="02010609060101010101" pitchFamily="49" charset="-122"/>
              <a:ea typeface="KaiTi" panose="02010609060101010101" pitchFamily="49" charset="-122"/>
            </a:endParaRPr>
          </a:p>
          <a:p>
            <a:pPr algn="ctr"/>
            <a:r>
              <a:rPr kumimoji="1" lang="en-US" altLang="zh-CN" sz="1400" b="1" dirty="0">
                <a:solidFill>
                  <a:srgbClr val="223AAC"/>
                </a:solidFill>
                <a:latin typeface="KaiTi" panose="02010609060101010101" pitchFamily="49" charset="-122"/>
                <a:ea typeface="KaiTi" panose="02010609060101010101" pitchFamily="49" charset="-122"/>
              </a:rPr>
              <a:t>{</a:t>
            </a:r>
            <a:r>
              <a:rPr kumimoji="1" lang="zh-CN" altLang="en-US" sz="1400" b="1" dirty="0">
                <a:solidFill>
                  <a:srgbClr val="223AAC"/>
                </a:solidFill>
                <a:latin typeface="KaiTi" panose="02010609060101010101" pitchFamily="49" charset="-122"/>
                <a:ea typeface="KaiTi" panose="02010609060101010101" pitchFamily="49" charset="-122"/>
              </a:rPr>
              <a:t>力学</a:t>
            </a:r>
            <a:r>
              <a:rPr kumimoji="1" lang="en-US" altLang="zh-CN" sz="1400" b="1" dirty="0">
                <a:solidFill>
                  <a:srgbClr val="223AAC"/>
                </a:solidFill>
                <a:latin typeface="KaiTi" panose="02010609060101010101" pitchFamily="49" charset="-122"/>
                <a:ea typeface="KaiTi" panose="02010609060101010101" pitchFamily="49" charset="-122"/>
              </a:rPr>
              <a:t>+</a:t>
            </a:r>
            <a:r>
              <a:rPr kumimoji="1" lang="zh-CN" altLang="en-US" sz="1400" b="1" dirty="0">
                <a:solidFill>
                  <a:srgbClr val="223AAC"/>
                </a:solidFill>
                <a:latin typeface="KaiTi" panose="02010609060101010101" pitchFamily="49" charset="-122"/>
                <a:ea typeface="KaiTi" panose="02010609060101010101" pitchFamily="49" charset="-122"/>
              </a:rPr>
              <a:t>运动分析</a:t>
            </a:r>
            <a:r>
              <a:rPr kumimoji="1" lang="en-US" altLang="zh-CN" sz="1400" b="1" dirty="0">
                <a:solidFill>
                  <a:srgbClr val="223AAC"/>
                </a:solidFill>
                <a:latin typeface="KaiTi" panose="02010609060101010101" pitchFamily="49" charset="-122"/>
                <a:ea typeface="KaiTi" panose="02010609060101010101" pitchFamily="49" charset="-122"/>
              </a:rPr>
              <a:t>=</a:t>
            </a:r>
          </a:p>
          <a:p>
            <a:pPr algn="ctr"/>
            <a:r>
              <a:rPr kumimoji="1" lang="zh-CN" altLang="en-US" sz="1400" b="1" dirty="0">
                <a:solidFill>
                  <a:srgbClr val="223AAC"/>
                </a:solidFill>
                <a:latin typeface="KaiTi" panose="02010609060101010101" pitchFamily="49" charset="-122"/>
                <a:ea typeface="KaiTi" panose="02010609060101010101" pitchFamily="49" charset="-122"/>
              </a:rPr>
              <a:t>每个阶段运动情况清晰！</a:t>
            </a:r>
            <a:r>
              <a:rPr kumimoji="1" lang="en-US" altLang="zh-CN" sz="1400" b="1" dirty="0">
                <a:solidFill>
                  <a:srgbClr val="223AAC"/>
                </a:solidFill>
                <a:latin typeface="KaiTi" panose="02010609060101010101" pitchFamily="49" charset="-122"/>
                <a:ea typeface="KaiTi" panose="02010609060101010101" pitchFamily="49" charset="-122"/>
              </a:rPr>
              <a:t>}</a:t>
            </a:r>
            <a:endParaRPr kumimoji="1" lang="en-US" altLang="zh-CN" sz="1400" dirty="0">
              <a:solidFill>
                <a:srgbClr val="223AAC"/>
              </a:solidFill>
              <a:latin typeface="KaiTi" panose="02010609060101010101" pitchFamily="49" charset="-122"/>
              <a:ea typeface="KaiTi" panose="02010609060101010101" pitchFamily="49" charset="-122"/>
            </a:endParaRPr>
          </a:p>
        </p:txBody>
      </p:sp>
      <p:sp>
        <p:nvSpPr>
          <p:cNvPr id="9" name="文本框 8">
            <a:extLst>
              <a:ext uri="{FF2B5EF4-FFF2-40B4-BE49-F238E27FC236}">
                <a16:creationId xmlns:a16="http://schemas.microsoft.com/office/drawing/2014/main" id="{2E10A8CE-824B-2545-8131-7DC747CB935A}"/>
              </a:ext>
            </a:extLst>
          </p:cNvPr>
          <p:cNvSpPr txBox="1"/>
          <p:nvPr/>
        </p:nvSpPr>
        <p:spPr>
          <a:xfrm>
            <a:off x="538850" y="459740"/>
            <a:ext cx="4942702" cy="338554"/>
          </a:xfrm>
          <a:prstGeom prst="rect">
            <a:avLst/>
          </a:prstGeom>
          <a:noFill/>
        </p:spPr>
        <p:txBody>
          <a:bodyPr wrap="square" rtlCol="0">
            <a:spAutoFit/>
          </a:bodyPr>
          <a:lstStyle/>
          <a:p>
            <a:r>
              <a:rPr kumimoji="1" lang="en-US" altLang="zh-CN"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2.</a:t>
            </a:r>
            <a:r>
              <a:rPr kumimoji="1" lang="zh-CN" altLang="en-US"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电与磁场板块：</a:t>
            </a:r>
          </a:p>
        </p:txBody>
      </p:sp>
      <p:pic>
        <p:nvPicPr>
          <p:cNvPr id="2" name="图片 1">
            <a:extLst>
              <a:ext uri="{FF2B5EF4-FFF2-40B4-BE49-F238E27FC236}">
                <a16:creationId xmlns:a16="http://schemas.microsoft.com/office/drawing/2014/main" id="{B3B19F43-5E4B-1B43-B4ED-15686E16E13F}"/>
              </a:ext>
            </a:extLst>
          </p:cNvPr>
          <p:cNvPicPr>
            <a:picLocks noChangeAspect="1"/>
          </p:cNvPicPr>
          <p:nvPr/>
        </p:nvPicPr>
        <p:blipFill rotWithShape="1">
          <a:blip r:embed="rId2"/>
          <a:srcRect l="54938" t="4446"/>
          <a:stretch/>
        </p:blipFill>
        <p:spPr>
          <a:xfrm>
            <a:off x="8337111" y="2737922"/>
            <a:ext cx="3395641" cy="2422762"/>
          </a:xfrm>
          <a:prstGeom prst="rect">
            <a:avLst/>
          </a:prstGeom>
          <a:ln>
            <a:solidFill>
              <a:srgbClr val="C00000"/>
            </a:solidFill>
          </a:ln>
        </p:spPr>
      </p:pic>
      <p:pic>
        <p:nvPicPr>
          <p:cNvPr id="11" name="图片 10">
            <a:extLst>
              <a:ext uri="{FF2B5EF4-FFF2-40B4-BE49-F238E27FC236}">
                <a16:creationId xmlns:a16="http://schemas.microsoft.com/office/drawing/2014/main" id="{1EA812ED-A698-9843-9A29-A6E896543999}"/>
              </a:ext>
            </a:extLst>
          </p:cNvPr>
          <p:cNvPicPr>
            <a:picLocks noChangeAspect="1"/>
          </p:cNvPicPr>
          <p:nvPr/>
        </p:nvPicPr>
        <p:blipFill rotWithShape="1">
          <a:blip r:embed="rId2"/>
          <a:srcRect l="11728" t="35290" r="57757" b="1"/>
          <a:stretch/>
        </p:blipFill>
        <p:spPr>
          <a:xfrm>
            <a:off x="4754494" y="2737922"/>
            <a:ext cx="3395641" cy="2422762"/>
          </a:xfrm>
          <a:prstGeom prst="rect">
            <a:avLst/>
          </a:prstGeom>
          <a:ln>
            <a:solidFill>
              <a:srgbClr val="C00000"/>
            </a:solidFill>
          </a:ln>
        </p:spPr>
      </p:pic>
      <p:sp>
        <p:nvSpPr>
          <p:cNvPr id="4" name="矩形 3">
            <a:extLst>
              <a:ext uri="{FF2B5EF4-FFF2-40B4-BE49-F238E27FC236}">
                <a16:creationId xmlns:a16="http://schemas.microsoft.com/office/drawing/2014/main" id="{B900A0AD-44AC-EB4A-BFD5-209352B29D47}"/>
              </a:ext>
            </a:extLst>
          </p:cNvPr>
          <p:cNvSpPr/>
          <p:nvPr/>
        </p:nvSpPr>
        <p:spPr>
          <a:xfrm>
            <a:off x="4677420" y="1236937"/>
            <a:ext cx="4621543" cy="923330"/>
          </a:xfrm>
          <a:prstGeom prst="rect">
            <a:avLst/>
          </a:prstGeom>
        </p:spPr>
        <p:txBody>
          <a:bodyPr wrap="square">
            <a:spAutoFit/>
          </a:bodyPr>
          <a:lstStyle/>
          <a:p>
            <a:r>
              <a:rPr lang="en-US" altLang="zh-CN" dirty="0">
                <a:latin typeface="KaiTi" panose="02010609060101010101" pitchFamily="49" charset="-122"/>
                <a:ea typeface="KaiTi" panose="02010609060101010101" pitchFamily="49" charset="-122"/>
              </a:rPr>
              <a:t>e.g. </a:t>
            </a:r>
            <a:r>
              <a:rPr lang="zh-CN" altLang="en-US" dirty="0">
                <a:latin typeface="KaiTi" panose="02010609060101010101" pitchFamily="49" charset="-122"/>
                <a:ea typeface="KaiTi" panose="02010609060101010101" pitchFamily="49" charset="-122"/>
              </a:rPr>
              <a:t>质谱仪</a:t>
            </a:r>
          </a:p>
          <a:p>
            <a:r>
              <a:rPr lang="zh-CN" altLang="en-US" dirty="0">
                <a:latin typeface="KaiTi" panose="02010609060101010101" pitchFamily="49" charset="-122"/>
                <a:ea typeface="KaiTi" panose="02010609060101010101" pitchFamily="49" charset="-122"/>
              </a:rPr>
              <a:t>(1)作用:测量带电粒子的质量和分离同位素。</a:t>
            </a:r>
            <a:endParaRPr lang="en-US" altLang="zh-CN" dirty="0">
              <a:latin typeface="KaiTi" panose="02010609060101010101" pitchFamily="49" charset="-122"/>
              <a:ea typeface="KaiTi" panose="02010609060101010101" pitchFamily="49" charset="-122"/>
            </a:endParaRPr>
          </a:p>
          <a:p>
            <a:r>
              <a:rPr lang="zh-CN" altLang="en-US" dirty="0">
                <a:latin typeface="KaiTi" panose="02010609060101010101" pitchFamily="49" charset="-122"/>
                <a:ea typeface="KaiTi" panose="02010609060101010101" pitchFamily="49" charset="-122"/>
              </a:rPr>
              <a:t>(2)原理：</a:t>
            </a:r>
          </a:p>
        </p:txBody>
      </p:sp>
      <p:cxnSp>
        <p:nvCxnSpPr>
          <p:cNvPr id="12" name="直线箭头连接符 11">
            <a:extLst>
              <a:ext uri="{FF2B5EF4-FFF2-40B4-BE49-F238E27FC236}">
                <a16:creationId xmlns:a16="http://schemas.microsoft.com/office/drawing/2014/main" id="{C64A557F-E9BB-5545-9B19-EF3D18199199}"/>
              </a:ext>
            </a:extLst>
          </p:cNvPr>
          <p:cNvCxnSpPr/>
          <p:nvPr/>
        </p:nvCxnSpPr>
        <p:spPr>
          <a:xfrm>
            <a:off x="6319583" y="2111472"/>
            <a:ext cx="0" cy="517235"/>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线箭头连接符 12">
            <a:extLst>
              <a:ext uri="{FF2B5EF4-FFF2-40B4-BE49-F238E27FC236}">
                <a16:creationId xmlns:a16="http://schemas.microsoft.com/office/drawing/2014/main" id="{8551B064-1729-E547-BFC1-6B0581F4F50A}"/>
              </a:ext>
            </a:extLst>
          </p:cNvPr>
          <p:cNvCxnSpPr/>
          <p:nvPr/>
        </p:nvCxnSpPr>
        <p:spPr>
          <a:xfrm>
            <a:off x="6319583" y="5292822"/>
            <a:ext cx="0" cy="517235"/>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E21122C4-A7E4-E747-8AAE-5741EBD829B2}"/>
              </a:ext>
            </a:extLst>
          </p:cNvPr>
          <p:cNvSpPr/>
          <p:nvPr/>
        </p:nvSpPr>
        <p:spPr>
          <a:xfrm>
            <a:off x="4677420" y="5810057"/>
            <a:ext cx="4621543" cy="369332"/>
          </a:xfrm>
          <a:prstGeom prst="rect">
            <a:avLst/>
          </a:prstGeom>
        </p:spPr>
        <p:txBody>
          <a:bodyPr wrap="square">
            <a:spAutoFit/>
          </a:bodyPr>
          <a:lstStyle/>
          <a:p>
            <a:r>
              <a:rPr lang="en-US" altLang="zh-CN" dirty="0">
                <a:latin typeface="KaiTi" panose="02010609060101010101" pitchFamily="49" charset="-122"/>
                <a:ea typeface="KaiTi" panose="02010609060101010101" pitchFamily="49" charset="-122"/>
              </a:rPr>
              <a:t>【</a:t>
            </a:r>
            <a:r>
              <a:rPr lang="zh-CN" altLang="en-US" dirty="0">
                <a:latin typeface="KaiTi" panose="02010609060101010101" pitchFamily="49" charset="-122"/>
                <a:ea typeface="KaiTi" panose="02010609060101010101" pitchFamily="49" charset="-122"/>
              </a:rPr>
              <a:t>加速电场</a:t>
            </a:r>
            <a:r>
              <a:rPr lang="en-US" altLang="zh-CN" dirty="0">
                <a:latin typeface="KaiTi" panose="02010609060101010101" pitchFamily="49" charset="-122"/>
                <a:ea typeface="KaiTi" panose="02010609060101010101" pitchFamily="49" charset="-122"/>
              </a:rPr>
              <a:t>-</a:t>
            </a:r>
            <a:r>
              <a:rPr lang="zh-CN" altLang="en-US" dirty="0">
                <a:latin typeface="KaiTi" panose="02010609060101010101" pitchFamily="49" charset="-122"/>
                <a:ea typeface="KaiTi" panose="02010609060101010101" pitchFamily="49" charset="-122"/>
              </a:rPr>
              <a:t>匀变速直线</a:t>
            </a:r>
            <a:r>
              <a:rPr lang="en-US" altLang="zh-CN" dirty="0">
                <a:latin typeface="KaiTi" panose="02010609060101010101" pitchFamily="49" charset="-122"/>
                <a:ea typeface="KaiTi" panose="02010609060101010101" pitchFamily="49" charset="-122"/>
              </a:rPr>
              <a:t>】+【</a:t>
            </a:r>
            <a:r>
              <a:rPr lang="zh-CN" altLang="en-US" dirty="0">
                <a:latin typeface="KaiTi" panose="02010609060101010101" pitchFamily="49" charset="-122"/>
                <a:ea typeface="KaiTi" panose="02010609060101010101" pitchFamily="49" charset="-122"/>
              </a:rPr>
              <a:t>磁场</a:t>
            </a:r>
            <a:r>
              <a:rPr lang="en-US" altLang="zh-CN" dirty="0">
                <a:latin typeface="KaiTi" panose="02010609060101010101" pitchFamily="49" charset="-122"/>
                <a:ea typeface="KaiTi" panose="02010609060101010101" pitchFamily="49" charset="-122"/>
              </a:rPr>
              <a:t>-</a:t>
            </a:r>
            <a:r>
              <a:rPr lang="zh-CN" altLang="en-US" dirty="0">
                <a:latin typeface="KaiTi" panose="02010609060101010101" pitchFamily="49" charset="-122"/>
                <a:ea typeface="KaiTi" panose="02010609060101010101" pitchFamily="49" charset="-122"/>
              </a:rPr>
              <a:t>类圆周</a:t>
            </a:r>
            <a:r>
              <a:rPr lang="en-US" altLang="zh-CN" dirty="0">
                <a:latin typeface="KaiTi" panose="02010609060101010101" pitchFamily="49" charset="-122"/>
                <a:ea typeface="KaiTi" panose="02010609060101010101" pitchFamily="49" charset="-122"/>
              </a:rPr>
              <a:t>】</a:t>
            </a:r>
            <a:endParaRPr lang="zh-CN" altLang="en-US"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24350661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33689" y="1590675"/>
            <a:ext cx="9924621" cy="4524315"/>
          </a:xfrm>
          <a:prstGeom prst="rect">
            <a:avLst/>
          </a:prstGeom>
          <a:noFill/>
          <a:ln>
            <a:noFill/>
          </a:ln>
        </p:spPr>
        <p:txBody>
          <a:bodyPr wrap="square" rtlCol="0" anchor="t">
            <a:spAutoFit/>
          </a:bodyPr>
          <a:lstStyle/>
          <a:p>
            <a:pPr algn="ctr"/>
            <a:r>
              <a:rPr lang="en-US" altLang="zh-CN" sz="7200" b="1" dirty="0">
                <a:solidFill>
                  <a:srgbClr val="7030A0"/>
                </a:solidFill>
                <a:effectLst>
                  <a:reflection blurRad="6350" stA="53000" endA="300" endPos="35500" dir="5400000" sy="-90000" algn="bl" rotWithShape="0"/>
                </a:effectLst>
              </a:rPr>
              <a:t>Chapter-6</a:t>
            </a:r>
          </a:p>
          <a:p>
            <a:pPr algn="ctr"/>
            <a:r>
              <a:rPr lang="en-US" altLang="zh-CN" sz="7200" b="1" dirty="0">
                <a:solidFill>
                  <a:srgbClr val="7030A0"/>
                </a:solidFill>
                <a:effectLst>
                  <a:reflection blurRad="6350" stA="53000" endA="300" endPos="35500" dir="5400000" sy="-90000" algn="bl" rotWithShape="0"/>
                </a:effectLst>
              </a:rPr>
              <a:t> </a:t>
            </a:r>
          </a:p>
          <a:p>
            <a:pPr algn="ctr"/>
            <a:r>
              <a:rPr lang="zh-CN" altLang="en-US" sz="7200" b="1" dirty="0">
                <a:solidFill>
                  <a:srgbClr val="7030A0"/>
                </a:solidFill>
                <a:effectLst>
                  <a:reflection blurRad="6350" stA="53000" endA="300" endPos="35500" dir="5400000" sy="-90000" algn="bl" rotWithShape="0"/>
                </a:effectLst>
              </a:rPr>
              <a:t>初中物理</a:t>
            </a:r>
            <a:r>
              <a:rPr lang="en-US" altLang="zh-CN" sz="7200" b="1" dirty="0">
                <a:solidFill>
                  <a:srgbClr val="7030A0"/>
                </a:solidFill>
                <a:effectLst>
                  <a:reflection blurRad="6350" stA="53000" endA="300" endPos="35500" dir="5400000" sy="-90000" algn="bl" rotWithShape="0"/>
                </a:effectLst>
              </a:rPr>
              <a:t>-</a:t>
            </a:r>
            <a:r>
              <a:rPr lang="zh-CN" altLang="en-US" sz="7200" b="1" dirty="0">
                <a:solidFill>
                  <a:srgbClr val="7030A0"/>
                </a:solidFill>
                <a:effectLst>
                  <a:reflection blurRad="6350" stA="53000" endA="300" endPos="35500" dir="5400000" sy="-90000" algn="bl" rotWithShape="0"/>
                </a:effectLst>
              </a:rPr>
              <a:t>最重要的板块：</a:t>
            </a:r>
            <a:r>
              <a:rPr lang="en-US" altLang="zh-CN" sz="7200" b="1" dirty="0">
                <a:solidFill>
                  <a:srgbClr val="7030A0"/>
                </a:solidFill>
                <a:effectLst>
                  <a:reflection blurRad="6350" stA="53000" endA="300" endPos="35500" dir="5400000" sy="-90000" algn="bl" rotWithShape="0"/>
                </a:effectLst>
              </a:rPr>
              <a:t>9</a:t>
            </a:r>
            <a:r>
              <a:rPr lang="zh-CN" altLang="en-US" sz="7200" b="1" dirty="0">
                <a:solidFill>
                  <a:srgbClr val="7030A0"/>
                </a:solidFill>
                <a:effectLst>
                  <a:reflection blurRad="6350" stA="53000" endA="300" endPos="35500" dir="5400000" sy="-90000" algn="bl" rotWithShape="0"/>
                </a:effectLst>
              </a:rPr>
              <a:t>个模块</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23EA399C-7DF0-2640-8EAD-1D6AA1817B54}"/>
              </a:ext>
            </a:extLst>
          </p:cNvPr>
          <p:cNvSpPr/>
          <p:nvPr/>
        </p:nvSpPr>
        <p:spPr>
          <a:xfrm>
            <a:off x="417830" y="3445362"/>
            <a:ext cx="11356340" cy="2402308"/>
          </a:xfrm>
          <a:prstGeom prst="rect">
            <a:avLst/>
          </a:prstGeom>
          <a:solidFill>
            <a:srgbClr val="EBFF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文本框 2">
            <a:extLst>
              <a:ext uri="{FF2B5EF4-FFF2-40B4-BE49-F238E27FC236}">
                <a16:creationId xmlns:a16="http://schemas.microsoft.com/office/drawing/2014/main" id="{3F150AB8-D8D1-1542-AD12-C7B5ACDB517E}"/>
              </a:ext>
            </a:extLst>
          </p:cNvPr>
          <p:cNvSpPr txBox="1"/>
          <p:nvPr/>
        </p:nvSpPr>
        <p:spPr>
          <a:xfrm>
            <a:off x="417830" y="748030"/>
            <a:ext cx="4942702" cy="307777"/>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中考题型？</a:t>
            </a:r>
          </a:p>
        </p:txBody>
      </p:sp>
      <p:sp>
        <p:nvSpPr>
          <p:cNvPr id="4" name="文本框 3">
            <a:extLst>
              <a:ext uri="{FF2B5EF4-FFF2-40B4-BE49-F238E27FC236}">
                <a16:creationId xmlns:a16="http://schemas.microsoft.com/office/drawing/2014/main" id="{2A995DB2-C901-AD41-8949-4826090408EB}"/>
              </a:ext>
            </a:extLst>
          </p:cNvPr>
          <p:cNvSpPr txBox="1"/>
          <p:nvPr/>
        </p:nvSpPr>
        <p:spPr>
          <a:xfrm>
            <a:off x="417830" y="1055807"/>
            <a:ext cx="9503133" cy="1881284"/>
          </a:xfrm>
          <a:prstGeom prst="rect">
            <a:avLst/>
          </a:prstGeom>
          <a:noFill/>
        </p:spPr>
        <p:txBody>
          <a:bodyPr wrap="square" rtlCol="0">
            <a:spAutoFit/>
          </a:bodyPr>
          <a:lstStyle/>
          <a:p>
            <a:pPr>
              <a:lnSpc>
                <a:spcPct val="150000"/>
              </a:lnSpc>
            </a:pPr>
            <a:r>
              <a:rPr kumimoji="1" lang="zh-CN" altLang="en-US" sz="1600" dirty="0">
                <a:latin typeface="KaiTi" panose="02010609060101010101" pitchFamily="49" charset="-122"/>
                <a:ea typeface="KaiTi" panose="02010609060101010101" pitchFamily="49" charset="-122"/>
              </a:rPr>
              <a:t>据中考试卷命题规律：</a:t>
            </a:r>
            <a:endParaRPr kumimoji="1" lang="en-US" altLang="zh-CN" sz="1600" dirty="0">
              <a:latin typeface="KaiTi" panose="02010609060101010101" pitchFamily="49" charset="-122"/>
              <a:ea typeface="KaiTi" panose="02010609060101010101" pitchFamily="49" charset="-122"/>
            </a:endParaRPr>
          </a:p>
          <a:p>
            <a:pPr>
              <a:lnSpc>
                <a:spcPct val="150000"/>
              </a:lnSpc>
            </a:pPr>
            <a:r>
              <a:rPr kumimoji="1" lang="en-US" altLang="zh-CN" sz="1600" dirty="0">
                <a:solidFill>
                  <a:srgbClr val="223AAC"/>
                </a:solidFill>
                <a:latin typeface="KaiTi" panose="02010609060101010101" pitchFamily="49" charset="-122"/>
                <a:ea typeface="KaiTi" panose="02010609060101010101" pitchFamily="49" charset="-122"/>
              </a:rPr>
              <a:t>【</a:t>
            </a:r>
            <a:r>
              <a:rPr kumimoji="1" lang="zh-CN" altLang="en-US" sz="1600" dirty="0">
                <a:solidFill>
                  <a:srgbClr val="223AAC"/>
                </a:solidFill>
                <a:latin typeface="KaiTi" panose="02010609060101010101" pitchFamily="49" charset="-122"/>
                <a:ea typeface="KaiTi" panose="02010609060101010101" pitchFamily="49" charset="-122"/>
              </a:rPr>
              <a:t>简单∶中档∶难档 </a:t>
            </a:r>
            <a:r>
              <a:rPr kumimoji="1" lang="en-US" altLang="zh-CN" sz="1600" dirty="0">
                <a:solidFill>
                  <a:srgbClr val="223AAC"/>
                </a:solidFill>
                <a:latin typeface="KaiTi" panose="02010609060101010101" pitchFamily="49" charset="-122"/>
                <a:ea typeface="KaiTi" panose="02010609060101010101" pitchFamily="49" charset="-122"/>
              </a:rPr>
              <a:t>= 5∶4∶1】</a:t>
            </a:r>
            <a:r>
              <a:rPr kumimoji="1" lang="zh-CN" altLang="en-US" sz="1600" dirty="0">
                <a:latin typeface="KaiTi" panose="02010609060101010101" pitchFamily="49" charset="-122"/>
                <a:ea typeface="KaiTi" panose="02010609060101010101" pitchFamily="49" charset="-122"/>
              </a:rPr>
              <a:t>的比例： </a:t>
            </a:r>
          </a:p>
          <a:p>
            <a:pPr>
              <a:lnSpc>
                <a:spcPct val="150000"/>
              </a:lnSpc>
            </a:pPr>
            <a:r>
              <a:rPr kumimoji="1" lang="en-US" altLang="zh-CN" sz="1600" dirty="0">
                <a:highlight>
                  <a:srgbClr val="FDF5D6"/>
                </a:highlight>
                <a:latin typeface="KaiTi" panose="02010609060101010101" pitchFamily="49" charset="-122"/>
                <a:ea typeface="KaiTi" panose="02010609060101010101" pitchFamily="49" charset="-122"/>
              </a:rPr>
              <a:t>50 </a:t>
            </a:r>
            <a:r>
              <a:rPr kumimoji="1" lang="zh-CN" altLang="en-US" sz="1600" dirty="0">
                <a:highlight>
                  <a:srgbClr val="FDF5D6"/>
                </a:highlight>
                <a:latin typeface="KaiTi" panose="02010609060101010101" pitchFamily="49" charset="-122"/>
                <a:ea typeface="KaiTi" panose="02010609060101010101" pitchFamily="49" charset="-122"/>
              </a:rPr>
              <a:t>分以下：优先学习简单题型，之后再去攻克中档题及难题； </a:t>
            </a:r>
          </a:p>
          <a:p>
            <a:pPr>
              <a:lnSpc>
                <a:spcPct val="150000"/>
              </a:lnSpc>
            </a:pPr>
            <a:r>
              <a:rPr kumimoji="1" lang="en-US" altLang="zh-CN" sz="1600" dirty="0">
                <a:highlight>
                  <a:srgbClr val="FDF5D6"/>
                </a:highlight>
                <a:latin typeface="KaiTi" panose="02010609060101010101" pitchFamily="49" charset="-122"/>
                <a:ea typeface="KaiTi" panose="02010609060101010101" pitchFamily="49" charset="-122"/>
              </a:rPr>
              <a:t>50~80 </a:t>
            </a:r>
            <a:r>
              <a:rPr kumimoji="1" lang="zh-CN" altLang="en-US" sz="1600" dirty="0">
                <a:highlight>
                  <a:srgbClr val="FDF5D6"/>
                </a:highlight>
                <a:latin typeface="KaiTi" panose="02010609060101010101" pitchFamily="49" charset="-122"/>
                <a:ea typeface="KaiTi" panose="02010609060101010101" pitchFamily="49" charset="-122"/>
              </a:rPr>
              <a:t>分：优先学习简单题和中档题，之后再去攻克难题； </a:t>
            </a:r>
          </a:p>
          <a:p>
            <a:pPr>
              <a:lnSpc>
                <a:spcPct val="150000"/>
              </a:lnSpc>
            </a:pPr>
            <a:r>
              <a:rPr kumimoji="1" lang="en-US" altLang="zh-CN" sz="1600" dirty="0">
                <a:highlight>
                  <a:srgbClr val="FDF5D6"/>
                </a:highlight>
                <a:latin typeface="KaiTi" panose="02010609060101010101" pitchFamily="49" charset="-122"/>
                <a:ea typeface="KaiTi" panose="02010609060101010101" pitchFamily="49" charset="-122"/>
              </a:rPr>
              <a:t>85 </a:t>
            </a:r>
            <a:r>
              <a:rPr kumimoji="1" lang="zh-CN" altLang="en-US" sz="1600" dirty="0">
                <a:highlight>
                  <a:srgbClr val="FDF5D6"/>
                </a:highlight>
                <a:latin typeface="KaiTi" panose="02010609060101010101" pitchFamily="49" charset="-122"/>
                <a:ea typeface="KaiTi" panose="02010609060101010101" pitchFamily="49" charset="-122"/>
              </a:rPr>
              <a:t>分以上：确保中低档题没问题的前提下，攻克难题。 </a:t>
            </a:r>
          </a:p>
        </p:txBody>
      </p:sp>
      <p:cxnSp>
        <p:nvCxnSpPr>
          <p:cNvPr id="7" name="直线连接符 6">
            <a:extLst>
              <a:ext uri="{FF2B5EF4-FFF2-40B4-BE49-F238E27FC236}">
                <a16:creationId xmlns:a16="http://schemas.microsoft.com/office/drawing/2014/main" id="{B47786F8-6C85-3C46-95ED-567BE89F2562}"/>
              </a:ext>
            </a:extLst>
          </p:cNvPr>
          <p:cNvCxnSpPr>
            <a:cxnSpLocks/>
          </p:cNvCxnSpPr>
          <p:nvPr/>
        </p:nvCxnSpPr>
        <p:spPr>
          <a:xfrm>
            <a:off x="582977" y="700757"/>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8" name="直线连接符 7">
            <a:extLst>
              <a:ext uri="{FF2B5EF4-FFF2-40B4-BE49-F238E27FC236}">
                <a16:creationId xmlns:a16="http://schemas.microsoft.com/office/drawing/2014/main" id="{2587DEE8-447E-D04E-98FA-D7B7A6720502}"/>
              </a:ext>
            </a:extLst>
          </p:cNvPr>
          <p:cNvCxnSpPr>
            <a:cxnSpLocks/>
          </p:cNvCxnSpPr>
          <p:nvPr/>
        </p:nvCxnSpPr>
        <p:spPr>
          <a:xfrm>
            <a:off x="575980" y="6079573"/>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9" name="直线连接符 8">
            <a:extLst>
              <a:ext uri="{FF2B5EF4-FFF2-40B4-BE49-F238E27FC236}">
                <a16:creationId xmlns:a16="http://schemas.microsoft.com/office/drawing/2014/main" id="{CED2EFBB-D731-FB45-B41D-D90FE0FB084E}"/>
              </a:ext>
            </a:extLst>
          </p:cNvPr>
          <p:cNvCxnSpPr>
            <a:cxnSpLocks/>
          </p:cNvCxnSpPr>
          <p:nvPr/>
        </p:nvCxnSpPr>
        <p:spPr>
          <a:xfrm>
            <a:off x="575980" y="3056973"/>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E1D35ACD-135F-314A-9F1E-FE71E76D5812}"/>
              </a:ext>
            </a:extLst>
          </p:cNvPr>
          <p:cNvSpPr txBox="1"/>
          <p:nvPr/>
        </p:nvSpPr>
        <p:spPr>
          <a:xfrm>
            <a:off x="417830" y="3705874"/>
            <a:ext cx="9503133" cy="1511952"/>
          </a:xfrm>
          <a:prstGeom prst="rect">
            <a:avLst/>
          </a:prstGeom>
          <a:noFill/>
        </p:spPr>
        <p:txBody>
          <a:bodyPr wrap="square" rtlCol="0">
            <a:spAutoFit/>
          </a:bodyPr>
          <a:lstStyle/>
          <a:p>
            <a:pPr>
              <a:lnSpc>
                <a:spcPct val="150000"/>
              </a:lnSpc>
            </a:pPr>
            <a:r>
              <a:rPr kumimoji="1" lang="en-US" altLang="zh-CN" sz="1600" dirty="0">
                <a:latin typeface="KaiTi" panose="02010609060101010101" pitchFamily="49" charset="-122"/>
                <a:ea typeface="KaiTi" panose="02010609060101010101" pitchFamily="49" charset="-122"/>
              </a:rPr>
              <a:t>2</a:t>
            </a:r>
            <a:r>
              <a:rPr kumimoji="1" lang="zh-CN" altLang="en-US" sz="1600" dirty="0">
                <a:latin typeface="KaiTi" panose="02010609060101010101" pitchFamily="49" charset="-122"/>
                <a:ea typeface="KaiTi" panose="02010609060101010101" pitchFamily="49" charset="-122"/>
              </a:rPr>
              <a:t>）题型：</a:t>
            </a:r>
            <a:endParaRPr kumimoji="1" lang="en-US" altLang="zh-CN" sz="1600" dirty="0">
              <a:latin typeface="KaiTi" panose="02010609060101010101" pitchFamily="49" charset="-122"/>
              <a:ea typeface="KaiTi" panose="02010609060101010101" pitchFamily="49" charset="-122"/>
            </a:endParaRPr>
          </a:p>
          <a:p>
            <a:pPr>
              <a:lnSpc>
                <a:spcPct val="150000"/>
              </a:lnSpc>
            </a:pPr>
            <a:r>
              <a:rPr kumimoji="1" lang="zh-CN" altLang="en-US" sz="1600" dirty="0">
                <a:latin typeface="KaiTi" panose="02010609060101010101" pitchFamily="49" charset="-122"/>
                <a:ea typeface="KaiTi" panose="02010609060101010101" pitchFamily="49" charset="-122"/>
              </a:rPr>
              <a:t>简单题，共 </a:t>
            </a:r>
            <a:r>
              <a:rPr kumimoji="1" lang="en-US" altLang="zh-CN" sz="1600" dirty="0">
                <a:latin typeface="KaiTi" panose="02010609060101010101" pitchFamily="49" charset="-122"/>
                <a:ea typeface="KaiTi" panose="02010609060101010101" pitchFamily="49" charset="-122"/>
              </a:rPr>
              <a:t>33 </a:t>
            </a:r>
            <a:r>
              <a:rPr kumimoji="1" lang="zh-CN" altLang="en-US" sz="1600" dirty="0">
                <a:latin typeface="KaiTi" panose="02010609060101010101" pitchFamily="49" charset="-122"/>
                <a:ea typeface="KaiTi" panose="02010609060101010101" pitchFamily="49" charset="-122"/>
              </a:rPr>
              <a:t>个题型，</a:t>
            </a:r>
            <a:r>
              <a:rPr kumimoji="1" lang="en-US" altLang="zh-CN" sz="1600" dirty="0">
                <a:latin typeface="KaiTi" panose="02010609060101010101" pitchFamily="49" charset="-122"/>
                <a:ea typeface="KaiTi" panose="02010609060101010101" pitchFamily="49" charset="-122"/>
              </a:rPr>
              <a:t>48 </a:t>
            </a:r>
            <a:r>
              <a:rPr kumimoji="1" lang="zh-CN" altLang="en-US" sz="1600" dirty="0">
                <a:latin typeface="KaiTi" panose="02010609060101010101" pitchFamily="49" charset="-122"/>
                <a:ea typeface="KaiTi" panose="02010609060101010101" pitchFamily="49" charset="-122"/>
              </a:rPr>
              <a:t>道母题，分值占比 </a:t>
            </a:r>
            <a:r>
              <a:rPr kumimoji="1" lang="en-US" altLang="zh-CN" sz="1600" dirty="0">
                <a:latin typeface="KaiTi" panose="02010609060101010101" pitchFamily="49" charset="-122"/>
                <a:ea typeface="KaiTi" panose="02010609060101010101" pitchFamily="49" charset="-122"/>
              </a:rPr>
              <a:t>50% </a:t>
            </a:r>
          </a:p>
          <a:p>
            <a:pPr>
              <a:lnSpc>
                <a:spcPct val="150000"/>
              </a:lnSpc>
            </a:pPr>
            <a:r>
              <a:rPr kumimoji="1" lang="zh-CN" altLang="en-US" sz="1600" dirty="0">
                <a:latin typeface="KaiTi" panose="02010609060101010101" pitchFamily="49" charset="-122"/>
                <a:ea typeface="KaiTi" panose="02010609060101010101" pitchFamily="49" charset="-122"/>
              </a:rPr>
              <a:t>中档题，共 </a:t>
            </a:r>
            <a:r>
              <a:rPr kumimoji="1" lang="en-US" altLang="zh-CN" sz="1600" dirty="0">
                <a:latin typeface="KaiTi" panose="02010609060101010101" pitchFamily="49" charset="-122"/>
                <a:ea typeface="KaiTi" panose="02010609060101010101" pitchFamily="49" charset="-122"/>
              </a:rPr>
              <a:t>42 </a:t>
            </a:r>
            <a:r>
              <a:rPr kumimoji="1" lang="zh-CN" altLang="en-US" sz="1600" dirty="0">
                <a:latin typeface="KaiTi" panose="02010609060101010101" pitchFamily="49" charset="-122"/>
                <a:ea typeface="KaiTi" panose="02010609060101010101" pitchFamily="49" charset="-122"/>
              </a:rPr>
              <a:t>个题型，</a:t>
            </a:r>
            <a:r>
              <a:rPr kumimoji="1" lang="en-US" altLang="zh-CN" sz="1600" dirty="0">
                <a:latin typeface="KaiTi" panose="02010609060101010101" pitchFamily="49" charset="-122"/>
                <a:ea typeface="KaiTi" panose="02010609060101010101" pitchFamily="49" charset="-122"/>
              </a:rPr>
              <a:t>58 </a:t>
            </a:r>
            <a:r>
              <a:rPr kumimoji="1" lang="zh-CN" altLang="en-US" sz="1600" dirty="0">
                <a:latin typeface="KaiTi" panose="02010609060101010101" pitchFamily="49" charset="-122"/>
                <a:ea typeface="KaiTi" panose="02010609060101010101" pitchFamily="49" charset="-122"/>
              </a:rPr>
              <a:t>道母题，分值占比 </a:t>
            </a:r>
            <a:r>
              <a:rPr kumimoji="1" lang="en-US" altLang="zh-CN" sz="1600" dirty="0">
                <a:latin typeface="KaiTi" panose="02010609060101010101" pitchFamily="49" charset="-122"/>
                <a:ea typeface="KaiTi" panose="02010609060101010101" pitchFamily="49" charset="-122"/>
              </a:rPr>
              <a:t>40% </a:t>
            </a:r>
          </a:p>
          <a:p>
            <a:pPr>
              <a:lnSpc>
                <a:spcPct val="150000"/>
              </a:lnSpc>
            </a:pPr>
            <a:r>
              <a:rPr kumimoji="1" lang="zh-CN" altLang="en-US" sz="1600" dirty="0">
                <a:latin typeface="KaiTi" panose="02010609060101010101" pitchFamily="49" charset="-122"/>
                <a:ea typeface="KaiTi" panose="02010609060101010101" pitchFamily="49" charset="-122"/>
              </a:rPr>
              <a:t>难题，共 </a:t>
            </a:r>
            <a:r>
              <a:rPr kumimoji="1" lang="en-US" altLang="zh-CN" sz="1600" dirty="0">
                <a:latin typeface="KaiTi" panose="02010609060101010101" pitchFamily="49" charset="-122"/>
                <a:ea typeface="KaiTi" panose="02010609060101010101" pitchFamily="49" charset="-122"/>
              </a:rPr>
              <a:t>9 </a:t>
            </a:r>
            <a:r>
              <a:rPr kumimoji="1" lang="zh-CN" altLang="en-US" sz="1600" dirty="0">
                <a:latin typeface="KaiTi" panose="02010609060101010101" pitchFamily="49" charset="-122"/>
                <a:ea typeface="KaiTi" panose="02010609060101010101" pitchFamily="49" charset="-122"/>
              </a:rPr>
              <a:t>个题型，</a:t>
            </a:r>
            <a:r>
              <a:rPr kumimoji="1" lang="en-US" altLang="zh-CN" sz="1600" dirty="0">
                <a:latin typeface="KaiTi" panose="02010609060101010101" pitchFamily="49" charset="-122"/>
                <a:ea typeface="KaiTi" panose="02010609060101010101" pitchFamily="49" charset="-122"/>
              </a:rPr>
              <a:t>19 </a:t>
            </a:r>
            <a:r>
              <a:rPr kumimoji="1" lang="zh-CN" altLang="en-US" sz="1600" dirty="0">
                <a:latin typeface="KaiTi" panose="02010609060101010101" pitchFamily="49" charset="-122"/>
                <a:ea typeface="KaiTi" panose="02010609060101010101" pitchFamily="49" charset="-122"/>
              </a:rPr>
              <a:t>道母题，分值占比 </a:t>
            </a:r>
            <a:r>
              <a:rPr kumimoji="1" lang="en-US" altLang="zh-CN" sz="1600" dirty="0">
                <a:latin typeface="KaiTi" panose="02010609060101010101" pitchFamily="49" charset="-122"/>
                <a:ea typeface="KaiTi" panose="02010609060101010101" pitchFamily="49" charset="-122"/>
              </a:rPr>
              <a:t>10%</a:t>
            </a:r>
          </a:p>
        </p:txBody>
      </p:sp>
      <p:sp>
        <p:nvSpPr>
          <p:cNvPr id="2" name="矩形 1">
            <a:extLst>
              <a:ext uri="{FF2B5EF4-FFF2-40B4-BE49-F238E27FC236}">
                <a16:creationId xmlns:a16="http://schemas.microsoft.com/office/drawing/2014/main" id="{1F074ED7-038E-2D4E-B52F-D93359A88F67}"/>
              </a:ext>
            </a:extLst>
          </p:cNvPr>
          <p:cNvSpPr/>
          <p:nvPr/>
        </p:nvSpPr>
        <p:spPr>
          <a:xfrm>
            <a:off x="6096000" y="4277184"/>
            <a:ext cx="5453448" cy="738664"/>
          </a:xfrm>
          <a:prstGeom prst="rect">
            <a:avLst/>
          </a:prstGeom>
          <a:solidFill>
            <a:schemeClr val="bg1"/>
          </a:solidFill>
          <a:ln>
            <a:solidFill>
              <a:srgbClr val="A41AD4"/>
            </a:solidFill>
          </a:ln>
        </p:spPr>
        <p:txBody>
          <a:bodyPr wrap="square">
            <a:spAutoFit/>
          </a:bodyPr>
          <a:lstStyle/>
          <a:p>
            <a:r>
              <a:rPr lang="en-US" altLang="zh-CN" sz="1400" b="1" dirty="0">
                <a:solidFill>
                  <a:srgbClr val="223AAC"/>
                </a:solidFill>
                <a:latin typeface="TimesNewRomanPS-BoldMT"/>
              </a:rPr>
              <a:t>1. </a:t>
            </a:r>
            <a:r>
              <a:rPr lang="zh-CN" altLang="en-US" sz="1400" b="1" dirty="0">
                <a:solidFill>
                  <a:srgbClr val="223AAC"/>
                </a:solidFill>
                <a:latin typeface="楷体" panose="02010609060101010101" pitchFamily="49" charset="-122"/>
                <a:ea typeface="楷体" panose="02010609060101010101" pitchFamily="49" charset="-122"/>
              </a:rPr>
              <a:t>选择填空看题 </a:t>
            </a:r>
            <a:r>
              <a:rPr lang="en-US" altLang="zh-CN" sz="1400" b="1" dirty="0">
                <a:solidFill>
                  <a:srgbClr val="223AAC"/>
                </a:solidFill>
                <a:latin typeface="TimesNewRomanPS-BoldMT"/>
              </a:rPr>
              <a:t>15 </a:t>
            </a:r>
            <a:r>
              <a:rPr lang="zh-CN" altLang="en-US" sz="1400" b="1" dirty="0">
                <a:solidFill>
                  <a:srgbClr val="223AAC"/>
                </a:solidFill>
                <a:latin typeface="楷体" panose="02010609060101010101" pitchFamily="49" charset="-122"/>
                <a:ea typeface="楷体" panose="02010609060101010101" pitchFamily="49" charset="-122"/>
              </a:rPr>
              <a:t>秒没思路，记为不会； </a:t>
            </a:r>
            <a:endParaRPr lang="zh-CN" altLang="en-US" sz="1400" dirty="0">
              <a:solidFill>
                <a:srgbClr val="223AAC"/>
              </a:solidFill>
            </a:endParaRPr>
          </a:p>
          <a:p>
            <a:r>
              <a:rPr lang="en-US" altLang="zh-CN" sz="1400" b="1" dirty="0">
                <a:solidFill>
                  <a:srgbClr val="223AAC"/>
                </a:solidFill>
                <a:latin typeface="TimesNewRomanPS-BoldMT"/>
              </a:rPr>
              <a:t>2. </a:t>
            </a:r>
            <a:r>
              <a:rPr lang="zh-CN" altLang="en-US" sz="1400" b="1" dirty="0">
                <a:solidFill>
                  <a:srgbClr val="223AAC"/>
                </a:solidFill>
                <a:latin typeface="楷体" panose="02010609060101010101" pitchFamily="49" charset="-122"/>
                <a:ea typeface="楷体" panose="02010609060101010101" pitchFamily="49" charset="-122"/>
              </a:rPr>
              <a:t>简答题看题 </a:t>
            </a:r>
            <a:r>
              <a:rPr lang="en-US" altLang="zh-CN" sz="1400" b="1" dirty="0">
                <a:solidFill>
                  <a:srgbClr val="223AAC"/>
                </a:solidFill>
                <a:latin typeface="TimesNewRomanPS-BoldMT"/>
              </a:rPr>
              <a:t>30 </a:t>
            </a:r>
            <a:r>
              <a:rPr lang="zh-CN" altLang="en-US" sz="1400" b="1" dirty="0">
                <a:solidFill>
                  <a:srgbClr val="223AAC"/>
                </a:solidFill>
                <a:latin typeface="楷体" panose="02010609060101010101" pitchFamily="49" charset="-122"/>
                <a:ea typeface="楷体" panose="02010609060101010101" pitchFamily="49" charset="-122"/>
              </a:rPr>
              <a:t>秒没思路，记为不会； </a:t>
            </a:r>
            <a:endParaRPr lang="zh-CN" altLang="en-US" sz="1400" dirty="0">
              <a:solidFill>
                <a:srgbClr val="223AAC"/>
              </a:solidFill>
            </a:endParaRPr>
          </a:p>
          <a:p>
            <a:r>
              <a:rPr lang="en-US" altLang="zh-CN" sz="1400" b="1" dirty="0">
                <a:solidFill>
                  <a:srgbClr val="223AAC"/>
                </a:solidFill>
                <a:latin typeface="TimesNewRomanPS-BoldMT"/>
              </a:rPr>
              <a:t>3. </a:t>
            </a:r>
            <a:r>
              <a:rPr lang="zh-CN" altLang="en-US" sz="1400" b="1" dirty="0">
                <a:solidFill>
                  <a:srgbClr val="223AAC"/>
                </a:solidFill>
                <a:latin typeface="楷体" panose="02010609060101010101" pitchFamily="49" charset="-122"/>
                <a:ea typeface="楷体" panose="02010609060101010101" pitchFamily="49" charset="-122"/>
              </a:rPr>
              <a:t>题目有思路，方法比较复杂，且没把握能做对，记为不会。</a:t>
            </a:r>
            <a:endParaRPr lang="zh-CN" altLang="en-US" sz="1400" dirty="0">
              <a:solidFill>
                <a:srgbClr val="223AAC"/>
              </a:solidFill>
            </a:endParaRPr>
          </a:p>
        </p:txBody>
      </p:sp>
    </p:spTree>
    <p:extLst>
      <p:ext uri="{BB962C8B-B14F-4D97-AF65-F5344CB8AC3E}">
        <p14:creationId xmlns:p14="http://schemas.microsoft.com/office/powerpoint/2010/main" val="42166851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F595439-DC2D-814E-A9B9-7FC87B21C31C}"/>
              </a:ext>
            </a:extLst>
          </p:cNvPr>
          <p:cNvSpPr txBox="1"/>
          <p:nvPr/>
        </p:nvSpPr>
        <p:spPr>
          <a:xfrm>
            <a:off x="417830" y="748030"/>
            <a:ext cx="4942702" cy="2031325"/>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1——</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声</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2——</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密度</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3——</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光</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4——</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热</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5——</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力</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6——</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电</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7——</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磁</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8——</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作图</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9——</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设计实验</a:t>
            </a:r>
          </a:p>
        </p:txBody>
      </p:sp>
      <p:sp>
        <p:nvSpPr>
          <p:cNvPr id="5" name="矩形 4">
            <a:extLst>
              <a:ext uri="{FF2B5EF4-FFF2-40B4-BE49-F238E27FC236}">
                <a16:creationId xmlns:a16="http://schemas.microsoft.com/office/drawing/2014/main" id="{48A01008-C526-154C-9A89-2460719D1A35}"/>
              </a:ext>
            </a:extLst>
          </p:cNvPr>
          <p:cNvSpPr/>
          <p:nvPr/>
        </p:nvSpPr>
        <p:spPr>
          <a:xfrm>
            <a:off x="417830" y="2821759"/>
            <a:ext cx="11177270" cy="3553641"/>
          </a:xfrm>
          <a:prstGeom prst="rect">
            <a:avLst/>
          </a:prstGeom>
          <a:solidFill>
            <a:srgbClr val="E8F0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3B27CFF8-40B3-3A40-9872-17E184753673}"/>
              </a:ext>
            </a:extLst>
          </p:cNvPr>
          <p:cNvSpPr/>
          <p:nvPr/>
        </p:nvSpPr>
        <p:spPr>
          <a:xfrm>
            <a:off x="693629" y="2882386"/>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A573DF6B-D1C2-994B-83B9-DB30AB109901}"/>
              </a:ext>
            </a:extLst>
          </p:cNvPr>
          <p:cNvSpPr txBox="1"/>
          <p:nvPr/>
        </p:nvSpPr>
        <p:spPr>
          <a:xfrm>
            <a:off x="693908" y="3251717"/>
            <a:ext cx="6773286" cy="2862322"/>
          </a:xfrm>
          <a:prstGeom prst="rect">
            <a:avLst/>
          </a:prstGeom>
          <a:noFill/>
        </p:spPr>
        <p:txBody>
          <a:bodyPr wrap="square" rtlCol="0">
            <a:spAutoFit/>
          </a:bodyPr>
          <a:lstStyle/>
          <a:p>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声</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】4</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种题型</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声音的产生与传播</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音调、响度和音色</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3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声音的利用</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4</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 噪声的防治</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重视基础概念（*生活化理解）</a:t>
            </a:r>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｜｜往往考：选择、填空</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r>
              <a:rPr lang="en-US" altLang="zh-CN" sz="12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e.g.</a:t>
            </a:r>
            <a:r>
              <a:rPr lang="zh-CN" altLang="en-US" sz="12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音调、响度、音色的生活化理解</a:t>
            </a:r>
            <a:endParaRPr kumimoji="1" lang="en-US" altLang="zh-CN" sz="1200" b="1" dirty="0">
              <a:solidFill>
                <a:srgbClr val="A41AD4"/>
              </a:solidFill>
              <a:latin typeface="KaiTi" panose="02010609060101010101" pitchFamily="49" charset="-122"/>
              <a:ea typeface="KaiTi" panose="02010609060101010101" pitchFamily="49" charset="-122"/>
              <a:cs typeface="Times New Roman" panose="02020603050405020304" pitchFamily="18" charset="0"/>
            </a:endParaRPr>
          </a:p>
        </p:txBody>
      </p:sp>
      <p:sp>
        <p:nvSpPr>
          <p:cNvPr id="2" name="矩形 1">
            <a:extLst>
              <a:ext uri="{FF2B5EF4-FFF2-40B4-BE49-F238E27FC236}">
                <a16:creationId xmlns:a16="http://schemas.microsoft.com/office/drawing/2014/main" id="{6062C0DD-F18A-494E-B6D2-F7DF2CAB57A2}"/>
              </a:ext>
            </a:extLst>
          </p:cNvPr>
          <p:cNvSpPr/>
          <p:nvPr/>
        </p:nvSpPr>
        <p:spPr>
          <a:xfrm>
            <a:off x="5177825" y="3251716"/>
            <a:ext cx="6096000" cy="923330"/>
          </a:xfrm>
          <a:prstGeom prst="rect">
            <a:avLst/>
          </a:prstGeom>
          <a:solidFill>
            <a:schemeClr val="bg1"/>
          </a:solidFill>
          <a:ln>
            <a:solidFill>
              <a:srgbClr val="A41AD4"/>
            </a:solidFill>
          </a:ln>
        </p:spPr>
        <p:txBody>
          <a:bodyPr>
            <a:spAutoFit/>
          </a:bodyPr>
          <a:lstStyle/>
          <a:p>
            <a:r>
              <a:rPr lang="zh-CN" altLang="en-US" b="1" dirty="0">
                <a:solidFill>
                  <a:schemeClr val="tx1">
                    <a:lumMod val="50000"/>
                    <a:lumOff val="50000"/>
                  </a:schemeClr>
                </a:solidFill>
                <a:latin typeface="楷体" panose="02010609060101010101" pitchFamily="49" charset="-122"/>
                <a:ea typeface="楷体" panose="02010609060101010101" pitchFamily="49" charset="-122"/>
              </a:rPr>
              <a:t>例：</a:t>
            </a:r>
            <a:r>
              <a:rPr lang="zh-CN" altLang="en-US" dirty="0">
                <a:solidFill>
                  <a:schemeClr val="tx1">
                    <a:lumMod val="50000"/>
                    <a:lumOff val="50000"/>
                  </a:schemeClr>
                </a:solidFill>
                <a:latin typeface="楷体" panose="02010609060101010101" pitchFamily="49" charset="-122"/>
                <a:ea typeface="楷体" panose="02010609060101010101" pitchFamily="49" charset="-122"/>
              </a:rPr>
              <a:t>两个女高音唱歌时，这里的</a:t>
            </a:r>
            <a:r>
              <a:rPr lang="zh-CN" altLang="en-US" dirty="0">
                <a:solidFill>
                  <a:schemeClr val="tx1">
                    <a:lumMod val="50000"/>
                    <a:lumOff val="50000"/>
                  </a:schemeClr>
                </a:solidFill>
                <a:latin typeface="Times New Roman" panose="02020603050405020304" pitchFamily="18" charset="0"/>
              </a:rPr>
              <a:t>“</a:t>
            </a:r>
            <a:r>
              <a:rPr lang="zh-CN" altLang="en-US" dirty="0">
                <a:solidFill>
                  <a:schemeClr val="tx1">
                    <a:lumMod val="50000"/>
                    <a:lumOff val="50000"/>
                  </a:schemeClr>
                </a:solidFill>
                <a:latin typeface="楷体" panose="02010609060101010101" pitchFamily="49" charset="-122"/>
                <a:ea typeface="楷体" panose="02010609060101010101" pitchFamily="49" charset="-122"/>
              </a:rPr>
              <a:t>高</a:t>
            </a:r>
            <a:r>
              <a:rPr lang="zh-CN" altLang="en-US" dirty="0">
                <a:solidFill>
                  <a:schemeClr val="tx1">
                    <a:lumMod val="50000"/>
                    <a:lumOff val="50000"/>
                  </a:schemeClr>
                </a:solidFill>
                <a:latin typeface="Times New Roman" panose="02020603050405020304" pitchFamily="18" charset="0"/>
              </a:rPr>
              <a:t>”</a:t>
            </a:r>
            <a:r>
              <a:rPr lang="zh-CN" altLang="en-US" dirty="0">
                <a:solidFill>
                  <a:schemeClr val="tx1">
                    <a:lumMod val="50000"/>
                    <a:lumOff val="50000"/>
                  </a:schemeClr>
                </a:solidFill>
                <a:latin typeface="楷体" panose="02010609060101010101" pitchFamily="49" charset="-122"/>
                <a:ea typeface="楷体" panose="02010609060101010101" pitchFamily="49" charset="-122"/>
              </a:rPr>
              <a:t>指的是</a:t>
            </a:r>
            <a:r>
              <a:rPr lang="en-US" altLang="zh-CN" dirty="0">
                <a:solidFill>
                  <a:schemeClr val="tx1">
                    <a:lumMod val="50000"/>
                    <a:lumOff val="50000"/>
                  </a:schemeClr>
                </a:solidFill>
                <a:latin typeface="Times New Roman" panose="02020603050405020304" pitchFamily="18" charset="0"/>
              </a:rPr>
              <a:t>______</a:t>
            </a:r>
            <a:r>
              <a:rPr lang="zh-CN" altLang="en-US" dirty="0">
                <a:solidFill>
                  <a:schemeClr val="tx1">
                    <a:lumMod val="50000"/>
                    <a:lumOff val="50000"/>
                  </a:schemeClr>
                </a:solidFill>
                <a:latin typeface="楷体" panose="02010609060101010101" pitchFamily="49" charset="-122"/>
                <a:ea typeface="楷体" panose="02010609060101010101" pitchFamily="49" charset="-122"/>
              </a:rPr>
              <a:t>高，观众听到的声音强度不同，是因为声音的</a:t>
            </a:r>
            <a:r>
              <a:rPr lang="en-US" altLang="zh-CN" dirty="0">
                <a:solidFill>
                  <a:schemeClr val="tx1">
                    <a:lumMod val="50000"/>
                    <a:lumOff val="50000"/>
                  </a:schemeClr>
                </a:solidFill>
                <a:latin typeface="Times New Roman" panose="02020603050405020304" pitchFamily="18" charset="0"/>
              </a:rPr>
              <a:t>________</a:t>
            </a:r>
            <a:r>
              <a:rPr lang="zh-CN" altLang="en-US" dirty="0">
                <a:solidFill>
                  <a:schemeClr val="tx1">
                    <a:lumMod val="50000"/>
                    <a:lumOff val="50000"/>
                  </a:schemeClr>
                </a:solidFill>
                <a:latin typeface="楷体" panose="02010609060101010101" pitchFamily="49" charset="-122"/>
                <a:ea typeface="楷体" panose="02010609060101010101" pitchFamily="49" charset="-122"/>
              </a:rPr>
              <a:t>不同，能分辨出不同的歌手，是因为她们的</a:t>
            </a:r>
            <a:r>
              <a:rPr lang="en-US" altLang="zh-CN" dirty="0">
                <a:solidFill>
                  <a:schemeClr val="tx1">
                    <a:lumMod val="50000"/>
                    <a:lumOff val="50000"/>
                  </a:schemeClr>
                </a:solidFill>
                <a:latin typeface="Times New Roman" panose="02020603050405020304" pitchFamily="18" charset="0"/>
              </a:rPr>
              <a:t>_______</a:t>
            </a:r>
            <a:r>
              <a:rPr lang="zh-CN" altLang="en-US" dirty="0">
                <a:solidFill>
                  <a:schemeClr val="tx1">
                    <a:lumMod val="50000"/>
                    <a:lumOff val="50000"/>
                  </a:schemeClr>
                </a:solidFill>
                <a:latin typeface="楷体" panose="02010609060101010101" pitchFamily="49" charset="-122"/>
                <a:ea typeface="楷体" panose="02010609060101010101" pitchFamily="49" charset="-122"/>
              </a:rPr>
              <a:t>不同。</a:t>
            </a:r>
            <a:endParaRPr lang="zh-CN" altLang="en-US" dirty="0">
              <a:solidFill>
                <a:schemeClr val="tx1">
                  <a:lumMod val="50000"/>
                  <a:lumOff val="50000"/>
                </a:schemeClr>
              </a:solidFill>
            </a:endParaRPr>
          </a:p>
        </p:txBody>
      </p:sp>
      <p:sp>
        <p:nvSpPr>
          <p:cNvPr id="9" name="矩形 8">
            <a:extLst>
              <a:ext uri="{FF2B5EF4-FFF2-40B4-BE49-F238E27FC236}">
                <a16:creationId xmlns:a16="http://schemas.microsoft.com/office/drawing/2014/main" id="{3DA9D5CE-2BF0-4343-8F06-9D4EB04216CD}"/>
              </a:ext>
            </a:extLst>
          </p:cNvPr>
          <p:cNvSpPr/>
          <p:nvPr/>
        </p:nvSpPr>
        <p:spPr>
          <a:xfrm>
            <a:off x="5177825" y="4896951"/>
            <a:ext cx="6096000" cy="1200329"/>
          </a:xfrm>
          <a:prstGeom prst="rect">
            <a:avLst/>
          </a:prstGeom>
          <a:solidFill>
            <a:schemeClr val="bg1"/>
          </a:solidFill>
          <a:ln>
            <a:solidFill>
              <a:srgbClr val="A41AD4"/>
            </a:solidFill>
            <a:prstDash val="dash"/>
          </a:ln>
        </p:spPr>
        <p:txBody>
          <a:bodyPr>
            <a:spAutoFit/>
          </a:bodyPr>
          <a:lstStyle/>
          <a:p>
            <a:r>
              <a:rPr lang="zh-CN" altLang="en-US" b="1" dirty="0">
                <a:solidFill>
                  <a:srgbClr val="C00000"/>
                </a:solidFill>
                <a:latin typeface="楷体" panose="02010609060101010101" pitchFamily="49" charset="-122"/>
                <a:ea typeface="楷体" panose="02010609060101010101" pitchFamily="49" charset="-122"/>
              </a:rPr>
              <a:t>音调 响度 音色 </a:t>
            </a:r>
            <a:endParaRPr lang="zh-CN" altLang="en-US" dirty="0">
              <a:solidFill>
                <a:srgbClr val="C00000"/>
              </a:solidFill>
            </a:endParaRPr>
          </a:p>
          <a:p>
            <a:r>
              <a:rPr lang="zh-CN" altLang="en-US" b="1" dirty="0">
                <a:solidFill>
                  <a:schemeClr val="tx1">
                    <a:lumMod val="50000"/>
                    <a:lumOff val="50000"/>
                  </a:schemeClr>
                </a:solidFill>
                <a:latin typeface="楷体" panose="02010609060101010101" pitchFamily="49" charset="-122"/>
                <a:ea typeface="楷体" panose="02010609060101010101" pitchFamily="49" charset="-122"/>
              </a:rPr>
              <a:t>解析：女高音里的</a:t>
            </a:r>
            <a:r>
              <a:rPr lang="zh-CN" altLang="en-US" b="1" dirty="0">
                <a:solidFill>
                  <a:schemeClr val="tx1">
                    <a:lumMod val="50000"/>
                    <a:lumOff val="50000"/>
                  </a:schemeClr>
                </a:solidFill>
                <a:latin typeface="TimesNewRomanPS-BoldMT"/>
              </a:rPr>
              <a:t>“</a:t>
            </a:r>
            <a:r>
              <a:rPr lang="zh-CN" altLang="en-US" b="1" dirty="0">
                <a:solidFill>
                  <a:schemeClr val="tx1">
                    <a:lumMod val="50000"/>
                    <a:lumOff val="50000"/>
                  </a:schemeClr>
                </a:solidFill>
                <a:latin typeface="楷体" panose="02010609060101010101" pitchFamily="49" charset="-122"/>
                <a:ea typeface="楷体" panose="02010609060101010101" pitchFamily="49" charset="-122"/>
              </a:rPr>
              <a:t>高</a:t>
            </a:r>
            <a:r>
              <a:rPr lang="zh-CN" altLang="en-US" b="1" dirty="0">
                <a:solidFill>
                  <a:schemeClr val="tx1">
                    <a:lumMod val="50000"/>
                    <a:lumOff val="50000"/>
                  </a:schemeClr>
                </a:solidFill>
                <a:latin typeface="TimesNewRomanPS-BoldMT"/>
              </a:rPr>
              <a:t>”</a:t>
            </a:r>
            <a:r>
              <a:rPr lang="zh-CN" altLang="en-US" b="1" dirty="0">
                <a:solidFill>
                  <a:schemeClr val="tx1">
                    <a:lumMod val="50000"/>
                    <a:lumOff val="50000"/>
                  </a:schemeClr>
                </a:solidFill>
                <a:latin typeface="楷体" panose="02010609060101010101" pitchFamily="49" charset="-122"/>
                <a:ea typeface="楷体" panose="02010609060101010101" pitchFamily="49" charset="-122"/>
              </a:rPr>
              <a:t>指的是音调高，观众听到的声音强度不同，是因为声音的响度不同，能听出不 </a:t>
            </a:r>
            <a:endParaRPr lang="zh-CN" altLang="en-US" dirty="0">
              <a:solidFill>
                <a:schemeClr val="tx1">
                  <a:lumMod val="50000"/>
                  <a:lumOff val="50000"/>
                </a:schemeClr>
              </a:solidFill>
            </a:endParaRPr>
          </a:p>
          <a:p>
            <a:r>
              <a:rPr lang="zh-CN" altLang="en-US" b="1" dirty="0">
                <a:solidFill>
                  <a:schemeClr val="tx1">
                    <a:lumMod val="50000"/>
                    <a:lumOff val="50000"/>
                  </a:schemeClr>
                </a:solidFill>
                <a:latin typeface="楷体" panose="02010609060101010101" pitchFamily="49" charset="-122"/>
                <a:ea typeface="楷体" panose="02010609060101010101" pitchFamily="49" charset="-122"/>
              </a:rPr>
              <a:t>同歌手唱同一首歌主要是因为她们的声音音色不同。</a:t>
            </a:r>
            <a:endParaRPr lang="zh-CN" altLang="en-US" dirty="0">
              <a:solidFill>
                <a:schemeClr val="tx1">
                  <a:lumMod val="50000"/>
                  <a:lumOff val="50000"/>
                </a:schemeClr>
              </a:solidFill>
            </a:endParaRPr>
          </a:p>
        </p:txBody>
      </p:sp>
      <p:cxnSp>
        <p:nvCxnSpPr>
          <p:cNvPr id="13" name="直线箭头连接符 12">
            <a:extLst>
              <a:ext uri="{FF2B5EF4-FFF2-40B4-BE49-F238E27FC236}">
                <a16:creationId xmlns:a16="http://schemas.microsoft.com/office/drawing/2014/main" id="{DAF92CE6-D7A4-CF45-A050-BCEF5B33DF66}"/>
              </a:ext>
            </a:extLst>
          </p:cNvPr>
          <p:cNvCxnSpPr/>
          <p:nvPr/>
        </p:nvCxnSpPr>
        <p:spPr>
          <a:xfrm>
            <a:off x="7957751" y="4175046"/>
            <a:ext cx="0" cy="721905"/>
          </a:xfrm>
          <a:prstGeom prst="straightConnector1">
            <a:avLst/>
          </a:prstGeom>
          <a:ln>
            <a:solidFill>
              <a:srgbClr val="A41AD4"/>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56072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F595439-DC2D-814E-A9B9-7FC87B21C31C}"/>
              </a:ext>
            </a:extLst>
          </p:cNvPr>
          <p:cNvSpPr txBox="1"/>
          <p:nvPr/>
        </p:nvSpPr>
        <p:spPr>
          <a:xfrm>
            <a:off x="417830" y="748030"/>
            <a:ext cx="4942702" cy="2031325"/>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1——</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声</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2——</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密度</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3——</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光</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4——</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热</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5——</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力</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6——</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电</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7——</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磁</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8——</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作图</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9——</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设计实验</a:t>
            </a:r>
          </a:p>
        </p:txBody>
      </p:sp>
      <p:sp>
        <p:nvSpPr>
          <p:cNvPr id="5" name="矩形 4">
            <a:extLst>
              <a:ext uri="{FF2B5EF4-FFF2-40B4-BE49-F238E27FC236}">
                <a16:creationId xmlns:a16="http://schemas.microsoft.com/office/drawing/2014/main" id="{48A01008-C526-154C-9A89-2460719D1A35}"/>
              </a:ext>
            </a:extLst>
          </p:cNvPr>
          <p:cNvSpPr/>
          <p:nvPr/>
        </p:nvSpPr>
        <p:spPr>
          <a:xfrm>
            <a:off x="417830" y="2821759"/>
            <a:ext cx="11177270" cy="3553641"/>
          </a:xfrm>
          <a:prstGeom prst="rect">
            <a:avLst/>
          </a:prstGeom>
          <a:solidFill>
            <a:srgbClr val="E8F0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3B27CFF8-40B3-3A40-9872-17E184753673}"/>
              </a:ext>
            </a:extLst>
          </p:cNvPr>
          <p:cNvSpPr/>
          <p:nvPr/>
        </p:nvSpPr>
        <p:spPr>
          <a:xfrm>
            <a:off x="693629" y="2882386"/>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A573DF6B-D1C2-994B-83B9-DB30AB109901}"/>
              </a:ext>
            </a:extLst>
          </p:cNvPr>
          <p:cNvSpPr txBox="1"/>
          <p:nvPr/>
        </p:nvSpPr>
        <p:spPr>
          <a:xfrm>
            <a:off x="693908" y="3251717"/>
            <a:ext cx="6773286" cy="2677656"/>
          </a:xfrm>
          <a:prstGeom prst="rect">
            <a:avLst/>
          </a:prstGeom>
          <a:noFill/>
        </p:spPr>
        <p:txBody>
          <a:bodyPr wrap="square" rtlCol="0">
            <a:spAutoFit/>
          </a:bodyPr>
          <a:lstStyle/>
          <a:p>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密度</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】5</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种题型</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天平、量筒测固体密度</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天平、量筒测液体密度</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3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等体积法测密度</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4</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 借助杠杆测密度</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5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借助浮力测密度</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要点：</a:t>
            </a:r>
            <a:endParaRPr lang="en-US" altLang="zh-CN" sz="1400" b="1" dirty="0">
              <a:solidFill>
                <a:schemeClr val="tx1">
                  <a:lumMod val="50000"/>
                  <a:lumOff val="50000"/>
                </a:schemeClr>
              </a:solidFill>
              <a:latin typeface="楷体" panose="02010609060101010101" pitchFamily="49" charset="-122"/>
              <a:ea typeface="楷体" panose="02010609060101010101" pitchFamily="49" charset="-122"/>
            </a:endParaRPr>
          </a:p>
          <a:p>
            <a:r>
              <a:rPr lang="zh-CN" altLang="en-US" sz="1400" b="1" dirty="0">
                <a:solidFill>
                  <a:srgbClr val="C00000"/>
                </a:solidFill>
                <a:latin typeface="楷体" panose="02010609060101010101" pitchFamily="49" charset="-122"/>
                <a:ea typeface="楷体" panose="02010609060101010101" pitchFamily="49" charset="-122"/>
              </a:rPr>
              <a:t>*实验步骤</a:t>
            </a:r>
            <a:endParaRPr lang="en-US" altLang="zh-CN" sz="1400" b="1" dirty="0">
              <a:solidFill>
                <a:srgbClr val="C00000"/>
              </a:solidFill>
              <a:latin typeface="楷体" panose="02010609060101010101" pitchFamily="49" charset="-122"/>
              <a:ea typeface="楷体" panose="02010609060101010101" pitchFamily="49" charset="-122"/>
            </a:endParaRPr>
          </a:p>
          <a:p>
            <a:r>
              <a:rPr lang="zh-CN" altLang="en-US" sz="1400" b="1" dirty="0">
                <a:solidFill>
                  <a:srgbClr val="C00000"/>
                </a:solidFill>
                <a:latin typeface="楷体" panose="02010609060101010101" pitchFamily="49" charset="-122"/>
                <a:ea typeface="楷体" panose="02010609060101010101" pitchFamily="49" charset="-122"/>
              </a:rPr>
              <a:t>*操作读数和公式的联系</a:t>
            </a:r>
            <a:endParaRPr lang="en-US" altLang="zh-CN" sz="1400" b="1" dirty="0">
              <a:solidFill>
                <a:srgbClr val="C00000"/>
              </a:solidFill>
              <a:latin typeface="楷体" panose="02010609060101010101" pitchFamily="49" charset="-122"/>
              <a:ea typeface="楷体" panose="02010609060101010101" pitchFamily="49" charset="-122"/>
            </a:endParaRPr>
          </a:p>
          <a:p>
            <a:r>
              <a:rPr lang="zh-CN" altLang="en-US" sz="1400" b="1" dirty="0">
                <a:solidFill>
                  <a:srgbClr val="C00000"/>
                </a:solidFill>
                <a:latin typeface="楷体" panose="02010609060101010101" pitchFamily="49" charset="-122"/>
                <a:ea typeface="楷体" panose="02010609060101010101" pitchFamily="49" charset="-122"/>
              </a:rPr>
              <a:t>*计算能力！</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2" name="矩形 1">
            <a:extLst>
              <a:ext uri="{FF2B5EF4-FFF2-40B4-BE49-F238E27FC236}">
                <a16:creationId xmlns:a16="http://schemas.microsoft.com/office/drawing/2014/main" id="{6062C0DD-F18A-494E-B6D2-F7DF2CAB57A2}"/>
              </a:ext>
            </a:extLst>
          </p:cNvPr>
          <p:cNvSpPr/>
          <p:nvPr/>
        </p:nvSpPr>
        <p:spPr>
          <a:xfrm>
            <a:off x="3998563" y="626513"/>
            <a:ext cx="7275262" cy="2246769"/>
          </a:xfrm>
          <a:prstGeom prst="rect">
            <a:avLst/>
          </a:prstGeom>
          <a:solidFill>
            <a:schemeClr val="bg1"/>
          </a:solidFill>
          <a:ln>
            <a:solidFill>
              <a:srgbClr val="A41AD4"/>
            </a:solidFill>
          </a:ln>
        </p:spPr>
        <p:txBody>
          <a:bodyPr wrap="square">
            <a:spAutoFit/>
          </a:bodyPr>
          <a:lstStyle/>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例：小明测量家中一个蜡块的密度，他用一个梯形桶（较大）、一个圆柱形薄壁玻璃杯（较小）、水、油和刻度尺完成了测量（已知蜡块的密度大于油的密度，小于水的密度）。 </a:t>
            </a:r>
          </a:p>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①在梯形桶中加入适量的</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______</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（选填“水”或“油”），在圆柱形璃杯中加入适量的另一种液体，将其放入桶中漂浮。用刻度尺测出玻璃杯中液体的深度为</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h1</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玻璃杯浸入桶中液体的深度为</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h2</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 </a:t>
            </a:r>
          </a:p>
          <a:p>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②</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将蜡块放入玻璃杯的液体中，玻璃杯仍然漂浮，用刻度尺测出玻璃杯中液体的深度为</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h3</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玻璃杯浸入桶中液体的深度为</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h4</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 </a:t>
            </a:r>
          </a:p>
          <a:p>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③</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蜡块密度的表达式为：</a:t>
            </a:r>
            <a:r>
              <a:rPr lang="el-GR" altLang="zh-CN" sz="1400" b="1" dirty="0">
                <a:solidFill>
                  <a:schemeClr val="tx1">
                    <a:lumMod val="50000"/>
                    <a:lumOff val="50000"/>
                  </a:schemeClr>
                </a:solidFill>
                <a:latin typeface="楷体" panose="02010609060101010101" pitchFamily="49" charset="-122"/>
                <a:ea typeface="楷体" panose="02010609060101010101" pitchFamily="49" charset="-122"/>
              </a:rPr>
              <a:t>ρ</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蜡</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=______</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。（水的密度为</a:t>
            </a:r>
            <a:r>
              <a:rPr lang="el-GR" altLang="zh-CN" sz="1400" b="1" dirty="0">
                <a:solidFill>
                  <a:schemeClr val="tx1">
                    <a:lumMod val="50000"/>
                    <a:lumOff val="50000"/>
                  </a:schemeClr>
                </a:solidFill>
                <a:latin typeface="楷体" panose="02010609060101010101" pitchFamily="49" charset="-122"/>
                <a:ea typeface="楷体" panose="02010609060101010101" pitchFamily="49" charset="-122"/>
              </a:rPr>
              <a:t>ρ</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水）</a:t>
            </a:r>
            <a:endParaRPr lang="en-US" altLang="zh-CN" sz="1400" b="1" dirty="0">
              <a:solidFill>
                <a:schemeClr val="tx1">
                  <a:lumMod val="50000"/>
                  <a:lumOff val="50000"/>
                </a:schemeClr>
              </a:solidFill>
              <a:latin typeface="楷体" panose="02010609060101010101" pitchFamily="49" charset="-122"/>
              <a:ea typeface="楷体" panose="02010609060101010101" pitchFamily="49" charset="-122"/>
            </a:endParaRPr>
          </a:p>
          <a:p>
            <a:endParaRPr lang="en-US" altLang="zh-CN" sz="1400" b="1" dirty="0">
              <a:solidFill>
                <a:schemeClr val="tx1">
                  <a:lumMod val="50000"/>
                  <a:lumOff val="50000"/>
                </a:schemeClr>
              </a:solidFill>
              <a:latin typeface="楷体" panose="02010609060101010101" pitchFamily="49" charset="-122"/>
              <a:ea typeface="楷体" panose="02010609060101010101" pitchFamily="49" charset="-122"/>
            </a:endParaRPr>
          </a:p>
          <a:p>
            <a:r>
              <a:rPr lang="zh-CN" altLang="en-US" sz="1400" b="1" dirty="0">
                <a:latin typeface="楷体" panose="02010609060101010101" pitchFamily="49" charset="-122"/>
                <a:ea typeface="楷体" panose="02010609060101010101" pitchFamily="49" charset="-122"/>
              </a:rPr>
              <a:t>①水 ③</a:t>
            </a:r>
          </a:p>
        </p:txBody>
      </p:sp>
      <p:sp>
        <p:nvSpPr>
          <p:cNvPr id="9" name="矩形 8">
            <a:extLst>
              <a:ext uri="{FF2B5EF4-FFF2-40B4-BE49-F238E27FC236}">
                <a16:creationId xmlns:a16="http://schemas.microsoft.com/office/drawing/2014/main" id="{3DA9D5CE-2BF0-4343-8F06-9D4EB04216CD}"/>
              </a:ext>
            </a:extLst>
          </p:cNvPr>
          <p:cNvSpPr/>
          <p:nvPr/>
        </p:nvSpPr>
        <p:spPr>
          <a:xfrm>
            <a:off x="3998563" y="3014687"/>
            <a:ext cx="7275262" cy="3108543"/>
          </a:xfrm>
          <a:prstGeom prst="rect">
            <a:avLst/>
          </a:prstGeom>
          <a:solidFill>
            <a:schemeClr val="bg1"/>
          </a:solidFill>
          <a:ln>
            <a:solidFill>
              <a:srgbClr val="A41AD4"/>
            </a:solidFill>
            <a:prstDash val="dash"/>
          </a:ln>
        </p:spPr>
        <p:txBody>
          <a:bodyPr wrap="square">
            <a:spAutoFit/>
          </a:bodyPr>
          <a:lstStyle/>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解析：水的密度大于油，梯形桶中加入适量的水，在圆柱形玻璃杯中加入适量的油，将其放入桶中才可能漂浮</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sym typeface="Wingdings" pitchFamily="2" charset="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漂浮时，浮力等于重力，测量蜡块的质量</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没有放蜡块前，</a:t>
            </a:r>
            <a:r>
              <a:rPr lang="zh-CN" altLang="en-US" sz="1400" b="1" dirty="0">
                <a:solidFill>
                  <a:srgbClr val="C00000"/>
                </a:solidFill>
                <a:latin typeface="楷体" panose="02010609060101010101" pitchFamily="49" charset="-122"/>
                <a:ea typeface="楷体" panose="02010609060101010101" pitchFamily="49" charset="-122"/>
              </a:rPr>
              <a:t>浮力等于油和玻璃杯总重力</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，将蜡块放入玻璃杯的液体中，蜡块沉底，玻璃杯仍然漂浮</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sym typeface="Wingdings" pitchFamily="2" charset="2"/>
              </a:rPr>
              <a:t></a:t>
            </a:r>
            <a:r>
              <a:rPr lang="zh-CN" altLang="en-US" sz="1400" b="1" dirty="0">
                <a:solidFill>
                  <a:srgbClr val="C00000"/>
                </a:solidFill>
                <a:latin typeface="楷体" panose="02010609060101010101" pitchFamily="49" charset="-122"/>
                <a:ea typeface="楷体" panose="02010609060101010101" pitchFamily="49" charset="-122"/>
              </a:rPr>
              <a:t>浮力</a:t>
            </a:r>
            <a:r>
              <a:rPr lang="en-US" altLang="zh-CN" sz="1400" b="1" dirty="0">
                <a:solidFill>
                  <a:srgbClr val="C00000"/>
                </a:solidFill>
                <a:latin typeface="楷体" panose="02010609060101010101" pitchFamily="49" charset="-122"/>
                <a:ea typeface="楷体" panose="02010609060101010101" pitchFamily="49" charset="-122"/>
              </a:rPr>
              <a:t>=</a:t>
            </a:r>
            <a:r>
              <a:rPr lang="zh-CN" altLang="en-US" sz="1400" b="1" dirty="0">
                <a:solidFill>
                  <a:srgbClr val="C00000"/>
                </a:solidFill>
                <a:latin typeface="楷体" panose="02010609060101010101" pitchFamily="49" charset="-122"/>
                <a:ea typeface="楷体" panose="02010609060101010101" pitchFamily="49" charset="-122"/>
              </a:rPr>
              <a:t>油、玻璃杯和蜡块总重力</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b="1" dirty="0">
                <a:solidFill>
                  <a:srgbClr val="C00000"/>
                </a:solidFill>
                <a:latin typeface="楷体" panose="02010609060101010101" pitchFamily="49" charset="-122"/>
                <a:ea typeface="楷体" panose="02010609060101010101" pitchFamily="49" charset="-122"/>
              </a:rPr>
              <a:t>所以两次的浮力变化量即蜡块所受的重力</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。设玻璃杯底面积为</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S</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放蜡块前后，玻璃杯中油的深度变化为（</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h3-h1</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 ，</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则蜡块的体积 </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V</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蜡</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S</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h3-h1</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a:t>
            </a:r>
            <a:endParaRPr lang="en-US" altLang="zh-CN" sz="1400" b="1" dirty="0">
              <a:solidFill>
                <a:schemeClr val="tx1">
                  <a:lumMod val="50000"/>
                  <a:lumOff val="50000"/>
                </a:schemeClr>
              </a:solidFill>
              <a:latin typeface="楷体" panose="02010609060101010101" pitchFamily="49" charset="-122"/>
              <a:ea typeface="楷体" panose="02010609060101010101" pitchFamily="49" charset="-122"/>
            </a:endParaRPr>
          </a:p>
          <a:p>
            <a:endParaRPr lang="en-US" altLang="zh-CN" sz="1400" b="1" dirty="0">
              <a:solidFill>
                <a:schemeClr val="tx1">
                  <a:lumMod val="50000"/>
                  <a:lumOff val="50000"/>
                </a:schemeClr>
              </a:solidFill>
              <a:latin typeface="楷体" panose="02010609060101010101" pitchFamily="49" charset="-122"/>
              <a:ea typeface="楷体" panose="02010609060101010101" pitchFamily="49" charset="-122"/>
            </a:endParaRPr>
          </a:p>
          <a:p>
            <a:endParaRPr lang="en-US" altLang="zh-CN" sz="1400" b="1" dirty="0">
              <a:solidFill>
                <a:schemeClr val="tx1">
                  <a:lumMod val="50000"/>
                  <a:lumOff val="50000"/>
                </a:schemeClr>
              </a:solidFill>
              <a:latin typeface="楷体" panose="02010609060101010101" pitchFamily="49" charset="-122"/>
              <a:ea typeface="楷体" panose="02010609060101010101" pitchFamily="49" charset="-122"/>
            </a:endParaRPr>
          </a:p>
          <a:p>
            <a:endParaRPr lang="en-US" altLang="zh-CN" sz="1400" b="1" dirty="0">
              <a:solidFill>
                <a:schemeClr val="tx1">
                  <a:lumMod val="50000"/>
                  <a:lumOff val="50000"/>
                </a:schemeClr>
              </a:solidFill>
              <a:latin typeface="楷体" panose="02010609060101010101" pitchFamily="49" charset="-122"/>
              <a:ea typeface="楷体" panose="02010609060101010101" pitchFamily="49" charset="-122"/>
            </a:endParaRPr>
          </a:p>
          <a:p>
            <a:endParaRPr lang="en-US" altLang="zh-CN" sz="1400" b="1" dirty="0">
              <a:solidFill>
                <a:schemeClr val="tx1">
                  <a:lumMod val="50000"/>
                  <a:lumOff val="50000"/>
                </a:schemeClr>
              </a:solidFill>
              <a:latin typeface="楷体" panose="02010609060101010101" pitchFamily="49" charset="-122"/>
              <a:ea typeface="楷体" panose="02010609060101010101" pitchFamily="49" charset="-122"/>
            </a:endParaRPr>
          </a:p>
          <a:p>
            <a:endParaRPr lang="en-US" altLang="zh-CN" sz="1400" b="1" dirty="0">
              <a:solidFill>
                <a:schemeClr val="tx1">
                  <a:lumMod val="50000"/>
                  <a:lumOff val="50000"/>
                </a:schemeClr>
              </a:solidFill>
              <a:latin typeface="楷体" panose="02010609060101010101" pitchFamily="49" charset="-122"/>
              <a:ea typeface="楷体" panose="02010609060101010101" pitchFamily="49" charset="-122"/>
            </a:endParaRPr>
          </a:p>
          <a:p>
            <a:endParaRPr lang="en-US" altLang="zh-CN" sz="1400" b="1" dirty="0">
              <a:solidFill>
                <a:schemeClr val="tx1">
                  <a:lumMod val="50000"/>
                  <a:lumOff val="50000"/>
                </a:schemeClr>
              </a:solidFill>
              <a:latin typeface="楷体" panose="02010609060101010101" pitchFamily="49" charset="-122"/>
              <a:ea typeface="楷体" panose="02010609060101010101" pitchFamily="49" charset="-122"/>
            </a:endParaRPr>
          </a:p>
          <a:p>
            <a:endParaRPr lang="en-US" altLang="zh-CN" sz="1400" b="1" dirty="0">
              <a:solidFill>
                <a:schemeClr val="tx1">
                  <a:lumMod val="50000"/>
                  <a:lumOff val="50000"/>
                </a:schemeClr>
              </a:solidFill>
              <a:latin typeface="楷体" panose="02010609060101010101" pitchFamily="49" charset="-122"/>
              <a:ea typeface="楷体" panose="02010609060101010101" pitchFamily="49" charset="-122"/>
            </a:endParaRPr>
          </a:p>
          <a:p>
            <a:endParaRPr lang="en-US" altLang="zh-CN" sz="1400" b="1" dirty="0">
              <a:solidFill>
                <a:schemeClr val="tx1">
                  <a:lumMod val="50000"/>
                  <a:lumOff val="50000"/>
                </a:schemeClr>
              </a:solidFill>
              <a:latin typeface="楷体" panose="02010609060101010101" pitchFamily="49" charset="-122"/>
              <a:ea typeface="楷体" panose="02010609060101010101" pitchFamily="49" charset="-122"/>
            </a:endParaRPr>
          </a:p>
          <a:p>
            <a:endParaRPr lang="zh-CN" altLang="fr-FR" sz="1400" b="1" dirty="0">
              <a:solidFill>
                <a:schemeClr val="tx1">
                  <a:lumMod val="50000"/>
                  <a:lumOff val="50000"/>
                </a:schemeClr>
              </a:solidFill>
              <a:latin typeface="楷体" panose="02010609060101010101" pitchFamily="49" charset="-122"/>
              <a:ea typeface="楷体" panose="02010609060101010101" pitchFamily="49" charset="-122"/>
            </a:endParaRPr>
          </a:p>
        </p:txBody>
      </p:sp>
      <p:pic>
        <p:nvPicPr>
          <p:cNvPr id="4" name="图片 3">
            <a:extLst>
              <a:ext uri="{FF2B5EF4-FFF2-40B4-BE49-F238E27FC236}">
                <a16:creationId xmlns:a16="http://schemas.microsoft.com/office/drawing/2014/main" id="{8EEE20FA-2F5C-ED4F-8CD9-ADD1BA893AD9}"/>
              </a:ext>
            </a:extLst>
          </p:cNvPr>
          <p:cNvPicPr>
            <a:picLocks noChangeAspect="1"/>
          </p:cNvPicPr>
          <p:nvPr/>
        </p:nvPicPr>
        <p:blipFill rotWithShape="1">
          <a:blip r:embed="rId2">
            <a:alphaModFix amt="50000"/>
          </a:blip>
          <a:srcRect r="1720"/>
          <a:stretch/>
        </p:blipFill>
        <p:spPr>
          <a:xfrm>
            <a:off x="4055785" y="4141912"/>
            <a:ext cx="7144094" cy="1765875"/>
          </a:xfrm>
          <a:prstGeom prst="rect">
            <a:avLst/>
          </a:prstGeom>
        </p:spPr>
      </p:pic>
      <p:pic>
        <p:nvPicPr>
          <p:cNvPr id="8" name="图片 7">
            <a:extLst>
              <a:ext uri="{FF2B5EF4-FFF2-40B4-BE49-F238E27FC236}">
                <a16:creationId xmlns:a16="http://schemas.microsoft.com/office/drawing/2014/main" id="{5C5ED764-5DC4-0048-BBCA-9F7775FC58B7}"/>
              </a:ext>
            </a:extLst>
          </p:cNvPr>
          <p:cNvPicPr>
            <a:picLocks noChangeAspect="1"/>
          </p:cNvPicPr>
          <p:nvPr/>
        </p:nvPicPr>
        <p:blipFill>
          <a:blip r:embed="rId3"/>
          <a:stretch>
            <a:fillRect/>
          </a:stretch>
        </p:blipFill>
        <p:spPr>
          <a:xfrm>
            <a:off x="4778136" y="2414544"/>
            <a:ext cx="832281" cy="458738"/>
          </a:xfrm>
          <a:prstGeom prst="rect">
            <a:avLst/>
          </a:prstGeom>
        </p:spPr>
      </p:pic>
      <p:sp>
        <p:nvSpPr>
          <p:cNvPr id="10" name="矩形 9">
            <a:extLst>
              <a:ext uri="{FF2B5EF4-FFF2-40B4-BE49-F238E27FC236}">
                <a16:creationId xmlns:a16="http://schemas.microsoft.com/office/drawing/2014/main" id="{4E1982B6-6181-774B-9CFE-8543034E50EB}"/>
              </a:ext>
            </a:extLst>
          </p:cNvPr>
          <p:cNvSpPr/>
          <p:nvPr/>
        </p:nvSpPr>
        <p:spPr>
          <a:xfrm>
            <a:off x="4055785" y="4931596"/>
            <a:ext cx="423748" cy="28767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矩形 11">
            <a:extLst>
              <a:ext uri="{FF2B5EF4-FFF2-40B4-BE49-F238E27FC236}">
                <a16:creationId xmlns:a16="http://schemas.microsoft.com/office/drawing/2014/main" id="{C8BAD162-26A8-164D-B5F1-CDAB42514594}"/>
              </a:ext>
            </a:extLst>
          </p:cNvPr>
          <p:cNvSpPr/>
          <p:nvPr/>
        </p:nvSpPr>
        <p:spPr>
          <a:xfrm>
            <a:off x="4055785" y="5508652"/>
            <a:ext cx="423748" cy="28767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矩形 13">
            <a:extLst>
              <a:ext uri="{FF2B5EF4-FFF2-40B4-BE49-F238E27FC236}">
                <a16:creationId xmlns:a16="http://schemas.microsoft.com/office/drawing/2014/main" id="{F6BF06EE-0888-AA40-A7CF-6FEBDAB5BFAF}"/>
              </a:ext>
            </a:extLst>
          </p:cNvPr>
          <p:cNvSpPr/>
          <p:nvPr/>
        </p:nvSpPr>
        <p:spPr>
          <a:xfrm>
            <a:off x="6868545" y="4454741"/>
            <a:ext cx="1176120" cy="28767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矩形 14">
            <a:extLst>
              <a:ext uri="{FF2B5EF4-FFF2-40B4-BE49-F238E27FC236}">
                <a16:creationId xmlns:a16="http://schemas.microsoft.com/office/drawing/2014/main" id="{D99C1C9F-3B25-F242-9B68-D54ADB626CEC}"/>
              </a:ext>
            </a:extLst>
          </p:cNvPr>
          <p:cNvSpPr/>
          <p:nvPr/>
        </p:nvSpPr>
        <p:spPr>
          <a:xfrm>
            <a:off x="9065502" y="3889742"/>
            <a:ext cx="1291128" cy="28767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4078964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F595439-DC2D-814E-A9B9-7FC87B21C31C}"/>
              </a:ext>
            </a:extLst>
          </p:cNvPr>
          <p:cNvSpPr txBox="1"/>
          <p:nvPr/>
        </p:nvSpPr>
        <p:spPr>
          <a:xfrm>
            <a:off x="417830" y="748030"/>
            <a:ext cx="4942702" cy="2031325"/>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1——</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声</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2——</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密度</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3——</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光</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4——</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热</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5——</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力</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6——</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电</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7——</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磁</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8——</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作图</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9——</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设计实验</a:t>
            </a:r>
          </a:p>
        </p:txBody>
      </p:sp>
      <p:sp>
        <p:nvSpPr>
          <p:cNvPr id="5" name="矩形 4">
            <a:extLst>
              <a:ext uri="{FF2B5EF4-FFF2-40B4-BE49-F238E27FC236}">
                <a16:creationId xmlns:a16="http://schemas.microsoft.com/office/drawing/2014/main" id="{48A01008-C526-154C-9A89-2460719D1A35}"/>
              </a:ext>
            </a:extLst>
          </p:cNvPr>
          <p:cNvSpPr/>
          <p:nvPr/>
        </p:nvSpPr>
        <p:spPr>
          <a:xfrm>
            <a:off x="417830" y="2821759"/>
            <a:ext cx="11177270" cy="3553641"/>
          </a:xfrm>
          <a:prstGeom prst="rect">
            <a:avLst/>
          </a:prstGeom>
          <a:solidFill>
            <a:srgbClr val="E8F0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3B27CFF8-40B3-3A40-9872-17E184753673}"/>
              </a:ext>
            </a:extLst>
          </p:cNvPr>
          <p:cNvSpPr/>
          <p:nvPr/>
        </p:nvSpPr>
        <p:spPr>
          <a:xfrm>
            <a:off x="693629" y="2882386"/>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A573DF6B-D1C2-994B-83B9-DB30AB109901}"/>
              </a:ext>
            </a:extLst>
          </p:cNvPr>
          <p:cNvSpPr txBox="1"/>
          <p:nvPr/>
        </p:nvSpPr>
        <p:spPr>
          <a:xfrm>
            <a:off x="901378" y="2997428"/>
            <a:ext cx="4276447" cy="3323987"/>
          </a:xfrm>
          <a:prstGeom prst="rect">
            <a:avLst/>
          </a:prstGeom>
          <a:noFill/>
        </p:spPr>
        <p:txBody>
          <a:bodyPr wrap="square" rtlCol="0">
            <a:spAutoFit/>
          </a:bodyPr>
          <a:lstStyle/>
          <a:p>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光</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】8</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种题型</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四种光现象的辨别</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平面镜成像特点的应用</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3</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凸透镜成像规律的应用</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4</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 近视眼及远视眼的成因和矫正</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5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红外线与紫外线及物体颜色的判断</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6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 探究光的反射实验</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7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探究平面镜成像特点</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8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探究凸透镜成像规律</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要点：</a:t>
            </a:r>
            <a:endParaRPr lang="en-US" altLang="zh-CN" sz="1400" b="1" dirty="0">
              <a:solidFill>
                <a:schemeClr val="tx1">
                  <a:lumMod val="50000"/>
                  <a:lumOff val="50000"/>
                </a:schemeClr>
              </a:solidFill>
              <a:latin typeface="楷体" panose="02010609060101010101" pitchFamily="49" charset="-122"/>
              <a:ea typeface="楷体" panose="02010609060101010101" pitchFamily="49" charset="-122"/>
            </a:endParaRPr>
          </a:p>
          <a:p>
            <a:r>
              <a:rPr lang="zh-CN" altLang="en-US" sz="1400" b="1" dirty="0">
                <a:solidFill>
                  <a:srgbClr val="C00000"/>
                </a:solidFill>
                <a:latin typeface="楷体" panose="02010609060101010101" pitchFamily="49" charset="-122"/>
                <a:ea typeface="楷体" panose="02010609060101010101" pitchFamily="49" charset="-122"/>
              </a:rPr>
              <a:t>*实验原理</a:t>
            </a:r>
            <a:endParaRPr lang="en-US" altLang="zh-CN" sz="1400" b="1" dirty="0">
              <a:solidFill>
                <a:srgbClr val="C00000"/>
              </a:solidFill>
              <a:latin typeface="楷体" panose="02010609060101010101" pitchFamily="49" charset="-122"/>
              <a:ea typeface="楷体" panose="02010609060101010101" pitchFamily="49" charset="-122"/>
            </a:endParaRPr>
          </a:p>
          <a:p>
            <a:r>
              <a:rPr lang="zh-CN" altLang="en-US" sz="1400" b="1" dirty="0">
                <a:solidFill>
                  <a:srgbClr val="C00000"/>
                </a:solidFill>
                <a:latin typeface="楷体" panose="02010609060101010101" pitchFamily="49" charset="-122"/>
                <a:ea typeface="楷体" panose="02010609060101010101" pitchFamily="49" charset="-122"/>
              </a:rPr>
              <a:t>*实验条件</a:t>
            </a:r>
            <a:endParaRPr lang="en-US" altLang="zh-CN" sz="1400" b="1" dirty="0">
              <a:solidFill>
                <a:srgbClr val="C00000"/>
              </a:solidFill>
              <a:latin typeface="楷体" panose="02010609060101010101" pitchFamily="49" charset="-122"/>
              <a:ea typeface="楷体" panose="02010609060101010101" pitchFamily="49" charset="-122"/>
            </a:endParaRPr>
          </a:p>
          <a:p>
            <a:r>
              <a:rPr lang="zh-CN" altLang="en-US" sz="1400" b="1" dirty="0">
                <a:solidFill>
                  <a:srgbClr val="C00000"/>
                </a:solidFill>
                <a:latin typeface="楷体" panose="02010609060101010101" pitchFamily="49" charset="-122"/>
                <a:ea typeface="楷体" panose="02010609060101010101" pitchFamily="49" charset="-122"/>
              </a:rPr>
              <a:t>*变化关系</a:t>
            </a:r>
          </a:p>
        </p:txBody>
      </p:sp>
      <p:sp>
        <p:nvSpPr>
          <p:cNvPr id="2" name="矩形 1">
            <a:extLst>
              <a:ext uri="{FF2B5EF4-FFF2-40B4-BE49-F238E27FC236}">
                <a16:creationId xmlns:a16="http://schemas.microsoft.com/office/drawing/2014/main" id="{6062C0DD-F18A-494E-B6D2-F7DF2CAB57A2}"/>
              </a:ext>
            </a:extLst>
          </p:cNvPr>
          <p:cNvSpPr/>
          <p:nvPr/>
        </p:nvSpPr>
        <p:spPr>
          <a:xfrm>
            <a:off x="5177825" y="1874043"/>
            <a:ext cx="6096000" cy="2246769"/>
          </a:xfrm>
          <a:prstGeom prst="rect">
            <a:avLst/>
          </a:prstGeom>
          <a:solidFill>
            <a:schemeClr val="bg1"/>
          </a:solidFill>
          <a:ln>
            <a:solidFill>
              <a:srgbClr val="A41AD4"/>
            </a:solidFill>
          </a:ln>
        </p:spPr>
        <p:txBody>
          <a:bodyPr>
            <a:spAutoFit/>
          </a:bodyPr>
          <a:lstStyle/>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例：</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同学们选取不同焦距的凸透镜，探究“凸透镜成像的规律”。 </a:t>
            </a:r>
          </a:p>
          <a:p>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a:t>
            </a:r>
            <a:r>
              <a:rPr lang="en-US" altLang="zh-CN" sz="1400" dirty="0">
                <a:solidFill>
                  <a:schemeClr val="tx1">
                    <a:lumMod val="50000"/>
                    <a:lumOff val="50000"/>
                  </a:schemeClr>
                </a:solidFill>
                <a:latin typeface="楷体" panose="02010609060101010101" pitchFamily="49" charset="-122"/>
                <a:ea typeface="楷体" panose="02010609060101010101" pitchFamily="49" charset="-122"/>
              </a:rPr>
              <a:t>1</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）安装并调节烛焰、透镜、光屏，使他们三者的中心大致在</a:t>
            </a:r>
            <a:r>
              <a:rPr lang="en-US" altLang="zh-CN" sz="1400" dirty="0">
                <a:solidFill>
                  <a:schemeClr val="tx1">
                    <a:lumMod val="50000"/>
                    <a:lumOff val="50000"/>
                  </a:schemeClr>
                </a:solidFill>
                <a:latin typeface="楷体" panose="02010609060101010101" pitchFamily="49" charset="-122"/>
                <a:ea typeface="楷体" panose="02010609060101010101" pitchFamily="49" charset="-122"/>
              </a:rPr>
              <a:t>______</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 </a:t>
            </a:r>
          </a:p>
          <a:p>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a:t>
            </a:r>
            <a:r>
              <a:rPr lang="en-US" altLang="zh-CN" sz="1400" dirty="0">
                <a:solidFill>
                  <a:schemeClr val="tx1">
                    <a:lumMod val="50000"/>
                    <a:lumOff val="50000"/>
                  </a:schemeClr>
                </a:solidFill>
                <a:latin typeface="楷体" panose="02010609060101010101" pitchFamily="49" charset="-122"/>
                <a:ea typeface="楷体" panose="02010609060101010101" pitchFamily="49" charset="-122"/>
              </a:rPr>
              <a:t>2</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）小光同学选取焦距为</a:t>
            </a:r>
            <a:r>
              <a:rPr lang="fr-FR" altLang="zh-CN" sz="1400" dirty="0">
                <a:solidFill>
                  <a:schemeClr val="tx1">
                    <a:lumMod val="50000"/>
                    <a:lumOff val="50000"/>
                  </a:schemeClr>
                </a:solidFill>
                <a:latin typeface="楷体" panose="02010609060101010101" pitchFamily="49" charset="-122"/>
                <a:ea typeface="楷体" panose="02010609060101010101" pitchFamily="49" charset="-122"/>
              </a:rPr>
              <a:t>f1=10cm </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的凸透镜，当蜡烛放在图甲位置，调节光屏，可在光屏上得到一个倒立、清晰的像，生活中</a:t>
            </a:r>
            <a:r>
              <a:rPr lang="en-US" altLang="zh-CN" sz="1400" dirty="0">
                <a:solidFill>
                  <a:schemeClr val="tx1">
                    <a:lumMod val="50000"/>
                    <a:lumOff val="50000"/>
                  </a:schemeClr>
                </a:solidFill>
                <a:latin typeface="楷体" panose="02010609060101010101" pitchFamily="49" charset="-122"/>
                <a:ea typeface="楷体" panose="02010609060101010101" pitchFamily="49" charset="-122"/>
              </a:rPr>
              <a:t>_________</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（选填“照相机”“投影仪”或“放大镜”）就是利用此成像原理工作的； </a:t>
            </a:r>
          </a:p>
          <a:p>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a:t>
            </a:r>
            <a:r>
              <a:rPr lang="en-US" altLang="zh-CN" sz="1400" dirty="0">
                <a:solidFill>
                  <a:schemeClr val="tx1">
                    <a:lumMod val="50000"/>
                    <a:lumOff val="50000"/>
                  </a:schemeClr>
                </a:solidFill>
                <a:latin typeface="楷体" panose="02010609060101010101" pitchFamily="49" charset="-122"/>
                <a:ea typeface="楷体" panose="02010609060101010101" pitchFamily="49" charset="-122"/>
              </a:rPr>
              <a:t>3</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）在图甲实验的基础上，更换焦距为</a:t>
            </a:r>
            <a:r>
              <a:rPr lang="fr-FR" altLang="zh-CN" sz="1400" dirty="0">
                <a:solidFill>
                  <a:schemeClr val="tx1">
                    <a:lumMod val="50000"/>
                    <a:lumOff val="50000"/>
                  </a:schemeClr>
                </a:solidFill>
                <a:latin typeface="楷体" panose="02010609060101010101" pitchFamily="49" charset="-122"/>
                <a:ea typeface="楷体" panose="02010609060101010101" pitchFamily="49" charset="-122"/>
              </a:rPr>
              <a:t>f2=5cm </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的凸透镜，为在光屏上得到清晰的像，光屏应向</a:t>
            </a:r>
            <a:r>
              <a:rPr lang="en-US" altLang="zh-CN" sz="1400" dirty="0">
                <a:solidFill>
                  <a:schemeClr val="tx1">
                    <a:lumMod val="50000"/>
                    <a:lumOff val="50000"/>
                  </a:schemeClr>
                </a:solidFill>
                <a:latin typeface="楷体" panose="02010609060101010101" pitchFamily="49" charset="-122"/>
                <a:ea typeface="楷体" panose="02010609060101010101" pitchFamily="49" charset="-122"/>
              </a:rPr>
              <a:t>______</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（选填“左”或“右</a:t>
            </a:r>
            <a:r>
              <a:rPr lang="en-US" altLang="zh-CN" sz="1400"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）侧移动； </a:t>
            </a:r>
          </a:p>
          <a:p>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a:t>
            </a:r>
            <a:r>
              <a:rPr lang="en-US" altLang="zh-CN" sz="1400" dirty="0">
                <a:solidFill>
                  <a:schemeClr val="tx1">
                    <a:lumMod val="50000"/>
                    <a:lumOff val="50000"/>
                  </a:schemeClr>
                </a:solidFill>
                <a:latin typeface="楷体" panose="02010609060101010101" pitchFamily="49" charset="-122"/>
                <a:ea typeface="楷体" panose="02010609060101010101" pitchFamily="49" charset="-122"/>
              </a:rPr>
              <a:t>4</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）小焦同学发现，在（</a:t>
            </a:r>
            <a:r>
              <a:rPr lang="en-US" altLang="zh-CN" sz="1400" dirty="0">
                <a:solidFill>
                  <a:schemeClr val="tx1">
                    <a:lumMod val="50000"/>
                    <a:lumOff val="50000"/>
                  </a:schemeClr>
                </a:solidFill>
                <a:latin typeface="楷体" panose="02010609060101010101" pitchFamily="49" charset="-122"/>
                <a:ea typeface="楷体" panose="02010609060101010101" pitchFamily="49" charset="-122"/>
              </a:rPr>
              <a:t>3</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）的基础上，不移动光屏，将自己的眼镜放到凸透镜前，如图乙，光屏上也能呈现清晰的像，说明该眼镜对光有</a:t>
            </a:r>
            <a:r>
              <a:rPr lang="en-US" altLang="zh-CN" sz="1400" dirty="0">
                <a:solidFill>
                  <a:schemeClr val="tx1">
                    <a:lumMod val="50000"/>
                    <a:lumOff val="50000"/>
                  </a:schemeClr>
                </a:solidFill>
                <a:latin typeface="楷体" panose="02010609060101010101" pitchFamily="49" charset="-122"/>
                <a:ea typeface="楷体" panose="02010609060101010101" pitchFamily="49" charset="-122"/>
              </a:rPr>
              <a:t>______</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（选填“会聚”或“发散”）作用。</a:t>
            </a:r>
          </a:p>
        </p:txBody>
      </p:sp>
      <p:sp>
        <p:nvSpPr>
          <p:cNvPr id="9" name="矩形 8">
            <a:extLst>
              <a:ext uri="{FF2B5EF4-FFF2-40B4-BE49-F238E27FC236}">
                <a16:creationId xmlns:a16="http://schemas.microsoft.com/office/drawing/2014/main" id="{3DA9D5CE-2BF0-4343-8F06-9D4EB04216CD}"/>
              </a:ext>
            </a:extLst>
          </p:cNvPr>
          <p:cNvSpPr/>
          <p:nvPr/>
        </p:nvSpPr>
        <p:spPr>
          <a:xfrm>
            <a:off x="5177825" y="4218673"/>
            <a:ext cx="6096000" cy="2246769"/>
          </a:xfrm>
          <a:prstGeom prst="rect">
            <a:avLst/>
          </a:prstGeom>
          <a:solidFill>
            <a:schemeClr val="bg1"/>
          </a:solidFill>
          <a:ln>
            <a:solidFill>
              <a:srgbClr val="A41AD4"/>
            </a:solidFill>
            <a:prstDash val="dash"/>
          </a:ln>
        </p:spPr>
        <p:txBody>
          <a:bodyPr>
            <a:spAutoFit/>
          </a:bodyPr>
          <a:lstStyle/>
          <a:p>
            <a:r>
              <a:rPr lang="zh-CN" altLang="en-US" sz="1400" b="1" dirty="0">
                <a:solidFill>
                  <a:srgbClr val="C00000"/>
                </a:solidFill>
                <a:latin typeface="楷体" panose="02010609060101010101" pitchFamily="49" charset="-122"/>
                <a:ea typeface="楷体" panose="02010609060101010101" pitchFamily="49" charset="-122"/>
              </a:rPr>
              <a:t>（</a:t>
            </a:r>
            <a:r>
              <a:rPr lang="en-US" altLang="zh-CN" sz="1400" b="1" dirty="0">
                <a:solidFill>
                  <a:srgbClr val="C00000"/>
                </a:solidFill>
                <a:latin typeface="楷体" panose="02010609060101010101" pitchFamily="49" charset="-122"/>
                <a:ea typeface="楷体" panose="02010609060101010101" pitchFamily="49" charset="-122"/>
              </a:rPr>
              <a:t>1</a:t>
            </a:r>
            <a:r>
              <a:rPr lang="zh-CN" altLang="en-US" sz="1400" b="1" dirty="0">
                <a:solidFill>
                  <a:srgbClr val="C00000"/>
                </a:solidFill>
                <a:latin typeface="楷体" panose="02010609060101010101" pitchFamily="49" charset="-122"/>
                <a:ea typeface="楷体" panose="02010609060101010101" pitchFamily="49" charset="-122"/>
              </a:rPr>
              <a:t>）同一高度（或同一水平线或同一水平高度） （</a:t>
            </a:r>
            <a:r>
              <a:rPr lang="en-US" altLang="zh-CN" sz="1400" b="1" dirty="0">
                <a:solidFill>
                  <a:srgbClr val="C00000"/>
                </a:solidFill>
                <a:latin typeface="楷体" panose="02010609060101010101" pitchFamily="49" charset="-122"/>
                <a:ea typeface="楷体" panose="02010609060101010101" pitchFamily="49" charset="-122"/>
              </a:rPr>
              <a:t>2</a:t>
            </a:r>
            <a:r>
              <a:rPr lang="zh-CN" altLang="en-US" sz="1400" b="1" dirty="0">
                <a:solidFill>
                  <a:srgbClr val="C00000"/>
                </a:solidFill>
                <a:latin typeface="楷体" panose="02010609060101010101" pitchFamily="49" charset="-122"/>
                <a:ea typeface="楷体" panose="02010609060101010101" pitchFamily="49" charset="-122"/>
              </a:rPr>
              <a:t>）投影仪 （</a:t>
            </a:r>
            <a:r>
              <a:rPr lang="en-US" altLang="zh-CN" sz="1400" b="1" dirty="0">
                <a:solidFill>
                  <a:srgbClr val="C00000"/>
                </a:solidFill>
                <a:latin typeface="楷体" panose="02010609060101010101" pitchFamily="49" charset="-122"/>
                <a:ea typeface="楷体" panose="02010609060101010101" pitchFamily="49" charset="-122"/>
              </a:rPr>
              <a:t>3</a:t>
            </a:r>
            <a:r>
              <a:rPr lang="zh-CN" altLang="en-US" sz="1400" b="1" dirty="0">
                <a:solidFill>
                  <a:srgbClr val="C00000"/>
                </a:solidFill>
                <a:latin typeface="楷体" panose="02010609060101010101" pitchFamily="49" charset="-122"/>
                <a:ea typeface="楷体" panose="02010609060101010101" pitchFamily="49" charset="-122"/>
              </a:rPr>
              <a:t>）左 （</a:t>
            </a:r>
            <a:r>
              <a:rPr lang="en-US" altLang="zh-CN" sz="1400" b="1" dirty="0">
                <a:solidFill>
                  <a:srgbClr val="C00000"/>
                </a:solidFill>
                <a:latin typeface="楷体" panose="02010609060101010101" pitchFamily="49" charset="-122"/>
                <a:ea typeface="楷体" panose="02010609060101010101" pitchFamily="49" charset="-122"/>
              </a:rPr>
              <a:t>4</a:t>
            </a:r>
            <a:r>
              <a:rPr lang="zh-CN" altLang="en-US" sz="1400" b="1" dirty="0">
                <a:solidFill>
                  <a:srgbClr val="C00000"/>
                </a:solidFill>
                <a:latin typeface="楷体" panose="02010609060101010101" pitchFamily="49" charset="-122"/>
                <a:ea typeface="楷体" panose="02010609060101010101" pitchFamily="49" charset="-122"/>
              </a:rPr>
              <a:t>）发散</a:t>
            </a:r>
          </a:p>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解析：（</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1</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）根据实验的要求，让像成在光屏的中心，必须使烛焰、凸透镜和光屏三者的中心在同一高度上。 </a:t>
            </a:r>
          </a:p>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2</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）图甲中，凸透镜的焦距是 </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10</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cm</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物距是 </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15</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cm</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物距大于 </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1 </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倍焦距小于 </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2 </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倍焦距，成</a:t>
            </a:r>
            <a:r>
              <a:rPr lang="zh-CN" altLang="en-US" sz="1400" b="1" dirty="0">
                <a:solidFill>
                  <a:srgbClr val="C00000"/>
                </a:solidFill>
                <a:latin typeface="楷体" panose="02010609060101010101" pitchFamily="49" charset="-122"/>
                <a:ea typeface="楷体" panose="02010609060101010101" pitchFamily="49" charset="-122"/>
              </a:rPr>
              <a:t>倒立放大</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的实像，投影仪根据此原理制成的。 </a:t>
            </a:r>
          </a:p>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3</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）更换焦距为</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f2=5cm </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的凸透镜，凸透镜的</a:t>
            </a:r>
            <a:r>
              <a:rPr lang="zh-CN" altLang="en-US" sz="1400" b="1" dirty="0">
                <a:solidFill>
                  <a:srgbClr val="C00000"/>
                </a:solidFill>
                <a:latin typeface="楷体" panose="02010609060101010101" pitchFamily="49" charset="-122"/>
                <a:ea typeface="楷体" panose="02010609060101010101" pitchFamily="49" charset="-122"/>
              </a:rPr>
              <a:t>焦距变小</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，像提前会聚光屏的前面，为在光屏上得到清晰的像，光屏应向左侧移动。 </a:t>
            </a:r>
          </a:p>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4</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）在（</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3</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）的基础上，不移动光屏，将自己的眼镜放到凸透镜前，光屏上也能呈现清晰的像，像</a:t>
            </a:r>
            <a:r>
              <a:rPr lang="zh-CN" altLang="en-US" sz="1400" b="1" dirty="0">
                <a:solidFill>
                  <a:srgbClr val="C00000"/>
                </a:solidFill>
                <a:latin typeface="楷体" panose="02010609060101010101" pitchFamily="49" charset="-122"/>
                <a:ea typeface="楷体" panose="02010609060101010101" pitchFamily="49" charset="-122"/>
              </a:rPr>
              <a:t>推迟会聚</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，即该眼镜对光线具有</a:t>
            </a:r>
            <a:r>
              <a:rPr lang="zh-CN" altLang="en-US" sz="1400" b="1" dirty="0">
                <a:solidFill>
                  <a:srgbClr val="C00000"/>
                </a:solidFill>
                <a:latin typeface="楷体" panose="02010609060101010101" pitchFamily="49" charset="-122"/>
                <a:ea typeface="楷体" panose="02010609060101010101" pitchFamily="49" charset="-122"/>
              </a:rPr>
              <a:t>发散作用</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，是凹透镜。</a:t>
            </a:r>
          </a:p>
        </p:txBody>
      </p:sp>
      <p:pic>
        <p:nvPicPr>
          <p:cNvPr id="4" name="图片 3">
            <a:extLst>
              <a:ext uri="{FF2B5EF4-FFF2-40B4-BE49-F238E27FC236}">
                <a16:creationId xmlns:a16="http://schemas.microsoft.com/office/drawing/2014/main" id="{56D991A7-74C6-5C49-8575-0D26D7CAC66A}"/>
              </a:ext>
            </a:extLst>
          </p:cNvPr>
          <p:cNvPicPr>
            <a:picLocks noChangeAspect="1"/>
          </p:cNvPicPr>
          <p:nvPr/>
        </p:nvPicPr>
        <p:blipFill rotWithShape="1">
          <a:blip r:embed="rId3"/>
          <a:srcRect t="8244"/>
          <a:stretch/>
        </p:blipFill>
        <p:spPr>
          <a:xfrm>
            <a:off x="4894088" y="567363"/>
            <a:ext cx="6701012" cy="1196329"/>
          </a:xfrm>
          <a:prstGeom prst="rect">
            <a:avLst/>
          </a:prstGeom>
        </p:spPr>
      </p:pic>
    </p:spTree>
    <p:extLst>
      <p:ext uri="{BB962C8B-B14F-4D97-AF65-F5344CB8AC3E}">
        <p14:creationId xmlns:p14="http://schemas.microsoft.com/office/powerpoint/2010/main" val="26103998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F595439-DC2D-814E-A9B9-7FC87B21C31C}"/>
              </a:ext>
            </a:extLst>
          </p:cNvPr>
          <p:cNvSpPr txBox="1"/>
          <p:nvPr/>
        </p:nvSpPr>
        <p:spPr>
          <a:xfrm>
            <a:off x="417830" y="748030"/>
            <a:ext cx="4942702" cy="2031325"/>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1——</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声</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2——</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密度</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3——</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光</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4——</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热</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5——</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力</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6——</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电</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7——</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磁</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8——</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作图</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9——</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设计实验</a:t>
            </a:r>
          </a:p>
        </p:txBody>
      </p:sp>
      <p:sp>
        <p:nvSpPr>
          <p:cNvPr id="5" name="矩形 4">
            <a:extLst>
              <a:ext uri="{FF2B5EF4-FFF2-40B4-BE49-F238E27FC236}">
                <a16:creationId xmlns:a16="http://schemas.microsoft.com/office/drawing/2014/main" id="{48A01008-C526-154C-9A89-2460719D1A35}"/>
              </a:ext>
            </a:extLst>
          </p:cNvPr>
          <p:cNvSpPr/>
          <p:nvPr/>
        </p:nvSpPr>
        <p:spPr>
          <a:xfrm>
            <a:off x="417830" y="2821760"/>
            <a:ext cx="11177270" cy="3754874"/>
          </a:xfrm>
          <a:prstGeom prst="rect">
            <a:avLst/>
          </a:prstGeom>
          <a:solidFill>
            <a:srgbClr val="E8F0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3B27CFF8-40B3-3A40-9872-17E184753673}"/>
              </a:ext>
            </a:extLst>
          </p:cNvPr>
          <p:cNvSpPr/>
          <p:nvPr/>
        </p:nvSpPr>
        <p:spPr>
          <a:xfrm>
            <a:off x="693629" y="2882386"/>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A573DF6B-D1C2-994B-83B9-DB30AB109901}"/>
              </a:ext>
            </a:extLst>
          </p:cNvPr>
          <p:cNvSpPr txBox="1"/>
          <p:nvPr/>
        </p:nvSpPr>
        <p:spPr>
          <a:xfrm>
            <a:off x="901378" y="2926445"/>
            <a:ext cx="6773286" cy="3754874"/>
          </a:xfrm>
          <a:prstGeom prst="rect">
            <a:avLst/>
          </a:prstGeom>
          <a:noFill/>
        </p:spPr>
        <p:txBody>
          <a:bodyPr wrap="square" rtlCol="0">
            <a:spAutoFit/>
          </a:bodyPr>
          <a:lstStyle/>
          <a:p>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热</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】9</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种题型</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物态变化及其吸放热判断</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分子动理论</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3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做功和热传递</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4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内能、温度和热量的辨析</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5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内燃机的四个冲程</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6 </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热量、热机的计算</a:t>
            </a:r>
          </a:p>
          <a:p>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7 </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探究晶体熔化和凝固的特点</a:t>
            </a:r>
          </a:p>
          <a:p>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8 </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探究水沸腾的特点</a:t>
            </a:r>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9 </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探究物质的吸热能力</a:t>
            </a:r>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要点：</a:t>
            </a:r>
            <a:endParaRPr lang="en-US" altLang="zh-CN" sz="1400" b="1" dirty="0">
              <a:solidFill>
                <a:schemeClr val="tx1">
                  <a:lumMod val="50000"/>
                  <a:lumOff val="50000"/>
                </a:schemeClr>
              </a:solidFill>
              <a:latin typeface="楷体" panose="02010609060101010101" pitchFamily="49" charset="-122"/>
              <a:ea typeface="楷体" panose="02010609060101010101" pitchFamily="49" charset="-122"/>
            </a:endParaRPr>
          </a:p>
          <a:p>
            <a:r>
              <a:rPr lang="zh-CN" altLang="en-US" sz="1400" b="1" dirty="0">
                <a:solidFill>
                  <a:srgbClr val="C00000"/>
                </a:solidFill>
                <a:latin typeface="楷体" panose="02010609060101010101" pitchFamily="49" charset="-122"/>
                <a:ea typeface="楷体" panose="02010609060101010101" pitchFamily="49" charset="-122"/>
              </a:rPr>
              <a:t>*实验读数：细节！</a:t>
            </a:r>
            <a:endParaRPr lang="en-US" altLang="zh-CN" sz="1400" b="1" dirty="0">
              <a:solidFill>
                <a:srgbClr val="C00000"/>
              </a:solidFill>
              <a:latin typeface="楷体" panose="02010609060101010101" pitchFamily="49" charset="-122"/>
              <a:ea typeface="楷体" panose="02010609060101010101" pitchFamily="49" charset="-122"/>
            </a:endParaRPr>
          </a:p>
          <a:p>
            <a:r>
              <a:rPr lang="zh-CN" altLang="en-US" sz="1400" b="1" dirty="0">
                <a:solidFill>
                  <a:srgbClr val="C00000"/>
                </a:solidFill>
                <a:latin typeface="楷体" panose="02010609060101010101" pitchFamily="49" charset="-122"/>
                <a:ea typeface="楷体" panose="02010609060101010101" pitchFamily="49" charset="-122"/>
              </a:rPr>
              <a:t>*水浴法</a:t>
            </a:r>
            <a:r>
              <a:rPr lang="en-US" altLang="zh-CN" sz="1400" b="1" dirty="0">
                <a:solidFill>
                  <a:srgbClr val="C00000"/>
                </a:solidFill>
                <a:latin typeface="楷体" panose="02010609060101010101" pitchFamily="49" charset="-122"/>
                <a:ea typeface="楷体" panose="02010609060101010101" pitchFamily="49" charset="-122"/>
              </a:rPr>
              <a:t>——</a:t>
            </a:r>
            <a:r>
              <a:rPr lang="zh-CN" altLang="en-US" sz="1400" b="1" dirty="0">
                <a:solidFill>
                  <a:srgbClr val="C00000"/>
                </a:solidFill>
                <a:latin typeface="楷体" panose="02010609060101010101" pitchFamily="49" charset="-122"/>
                <a:ea typeface="楷体" panose="02010609060101010101" pitchFamily="49" charset="-122"/>
              </a:rPr>
              <a:t>特点记忆</a:t>
            </a:r>
            <a:endParaRPr lang="en-US" altLang="zh-CN" sz="1400" b="1" dirty="0">
              <a:solidFill>
                <a:srgbClr val="C00000"/>
              </a:solidFill>
              <a:latin typeface="楷体" panose="02010609060101010101" pitchFamily="49" charset="-122"/>
              <a:ea typeface="楷体" panose="02010609060101010101" pitchFamily="49" charset="-122"/>
            </a:endParaRPr>
          </a:p>
          <a:p>
            <a:r>
              <a:rPr lang="zh-CN" altLang="en-US" sz="1400" b="1" dirty="0">
                <a:solidFill>
                  <a:srgbClr val="C00000"/>
                </a:solidFill>
                <a:latin typeface="楷体" panose="02010609060101010101" pitchFamily="49" charset="-122"/>
                <a:ea typeface="楷体" panose="02010609060101010101" pitchFamily="49" charset="-122"/>
              </a:rPr>
              <a:t>*基础概念</a:t>
            </a:r>
            <a:endParaRPr lang="en-US" altLang="zh-CN" sz="1400" b="1" dirty="0">
              <a:solidFill>
                <a:srgbClr val="C00000"/>
              </a:solidFill>
              <a:latin typeface="楷体" panose="02010609060101010101" pitchFamily="49" charset="-122"/>
              <a:ea typeface="楷体" panose="02010609060101010101" pitchFamily="49" charset="-122"/>
            </a:endParaRPr>
          </a:p>
          <a:p>
            <a:r>
              <a:rPr lang="zh-CN" altLang="en-US" sz="1400" b="1" dirty="0">
                <a:solidFill>
                  <a:srgbClr val="C00000"/>
                </a:solidFill>
                <a:latin typeface="楷体" panose="02010609060101010101" pitchFamily="49" charset="-122"/>
                <a:ea typeface="楷体" panose="02010609060101010101" pitchFamily="49" charset="-122"/>
              </a:rPr>
              <a:t>*概念理解</a:t>
            </a:r>
            <a:r>
              <a:rPr lang="en-US" altLang="zh-CN" sz="1400" b="1" dirty="0">
                <a:solidFill>
                  <a:srgbClr val="C00000"/>
                </a:solidFill>
                <a:latin typeface="楷体" panose="02010609060101010101" pitchFamily="49" charset="-122"/>
                <a:ea typeface="楷体" panose="02010609060101010101" pitchFamily="49" charset="-122"/>
              </a:rPr>
              <a:t>——</a:t>
            </a:r>
            <a:r>
              <a:rPr lang="zh-CN" altLang="en-US" sz="1400" b="1" dirty="0">
                <a:solidFill>
                  <a:srgbClr val="C00000"/>
                </a:solidFill>
                <a:latin typeface="楷体" panose="02010609060101010101" pitchFamily="49" charset="-122"/>
                <a:ea typeface="楷体" panose="02010609060101010101" pitchFamily="49" charset="-122"/>
              </a:rPr>
              <a:t>试管内的水可达沸点但不能继续吸热</a:t>
            </a:r>
            <a:r>
              <a:rPr lang="en-US" altLang="zh-CN" sz="1400" b="1" dirty="0">
                <a:solidFill>
                  <a:srgbClr val="C00000"/>
                </a:solidFill>
                <a:latin typeface="楷体" panose="02010609060101010101" pitchFamily="49" charset="-122"/>
                <a:ea typeface="楷体" panose="02010609060101010101" pitchFamily="49" charset="-122"/>
                <a:sym typeface="Wingdings" pitchFamily="2" charset="2"/>
              </a:rPr>
              <a:t></a:t>
            </a:r>
            <a:r>
              <a:rPr lang="zh-CN" altLang="en-US" sz="1400" b="1" dirty="0">
                <a:solidFill>
                  <a:srgbClr val="C00000"/>
                </a:solidFill>
                <a:latin typeface="楷体" panose="02010609060101010101" pitchFamily="49" charset="-122"/>
                <a:ea typeface="楷体" panose="02010609060101010101" pitchFamily="49" charset="-122"/>
              </a:rPr>
              <a:t>只有烧杯内的水沸腾</a:t>
            </a:r>
          </a:p>
          <a:p>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9" name="矩形 8">
            <a:extLst>
              <a:ext uri="{FF2B5EF4-FFF2-40B4-BE49-F238E27FC236}">
                <a16:creationId xmlns:a16="http://schemas.microsoft.com/office/drawing/2014/main" id="{3DA9D5CE-2BF0-4343-8F06-9D4EB04216CD}"/>
              </a:ext>
            </a:extLst>
          </p:cNvPr>
          <p:cNvSpPr/>
          <p:nvPr/>
        </p:nvSpPr>
        <p:spPr>
          <a:xfrm>
            <a:off x="5177825" y="5349708"/>
            <a:ext cx="6096000" cy="307777"/>
          </a:xfrm>
          <a:prstGeom prst="rect">
            <a:avLst/>
          </a:prstGeom>
          <a:solidFill>
            <a:schemeClr val="bg1"/>
          </a:solidFill>
          <a:ln>
            <a:solidFill>
              <a:srgbClr val="A41AD4"/>
            </a:solidFill>
            <a:prstDash val="dash"/>
          </a:ln>
        </p:spPr>
        <p:txBody>
          <a:bodyPr>
            <a:spAutoFit/>
          </a:bodyPr>
          <a:lstStyle/>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1</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-4 </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2</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）受热均匀 （</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3</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）晶体 固液共存态 （</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4</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）烧杯</a:t>
            </a:r>
          </a:p>
        </p:txBody>
      </p:sp>
      <p:cxnSp>
        <p:nvCxnSpPr>
          <p:cNvPr id="13" name="直线箭头连接符 12">
            <a:extLst>
              <a:ext uri="{FF2B5EF4-FFF2-40B4-BE49-F238E27FC236}">
                <a16:creationId xmlns:a16="http://schemas.microsoft.com/office/drawing/2014/main" id="{DAF92CE6-D7A4-CF45-A050-BCEF5B33DF66}"/>
              </a:ext>
            </a:extLst>
          </p:cNvPr>
          <p:cNvCxnSpPr/>
          <p:nvPr/>
        </p:nvCxnSpPr>
        <p:spPr>
          <a:xfrm>
            <a:off x="7957751" y="4332254"/>
            <a:ext cx="0" cy="721905"/>
          </a:xfrm>
          <a:prstGeom prst="straightConnector1">
            <a:avLst/>
          </a:prstGeom>
          <a:ln>
            <a:solidFill>
              <a:srgbClr val="A41AD4"/>
            </a:solidFill>
            <a:tailEnd type="triangle"/>
          </a:ln>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8F42D32E-107E-FE42-9FA1-CC9FAE4F3C64}"/>
              </a:ext>
            </a:extLst>
          </p:cNvPr>
          <p:cNvPicPr>
            <a:picLocks noChangeAspect="1"/>
          </p:cNvPicPr>
          <p:nvPr/>
        </p:nvPicPr>
        <p:blipFill>
          <a:blip r:embed="rId2"/>
          <a:stretch>
            <a:fillRect/>
          </a:stretch>
        </p:blipFill>
        <p:spPr>
          <a:xfrm>
            <a:off x="5433114" y="88996"/>
            <a:ext cx="4483100" cy="2159000"/>
          </a:xfrm>
          <a:prstGeom prst="rect">
            <a:avLst/>
          </a:prstGeom>
        </p:spPr>
      </p:pic>
      <p:sp>
        <p:nvSpPr>
          <p:cNvPr id="2" name="矩形 1">
            <a:extLst>
              <a:ext uri="{FF2B5EF4-FFF2-40B4-BE49-F238E27FC236}">
                <a16:creationId xmlns:a16="http://schemas.microsoft.com/office/drawing/2014/main" id="{6062C0DD-F18A-494E-B6D2-F7DF2CAB57A2}"/>
              </a:ext>
            </a:extLst>
          </p:cNvPr>
          <p:cNvSpPr/>
          <p:nvPr/>
        </p:nvSpPr>
        <p:spPr>
          <a:xfrm>
            <a:off x="5194622" y="2215113"/>
            <a:ext cx="6096000" cy="2031325"/>
          </a:xfrm>
          <a:prstGeom prst="rect">
            <a:avLst/>
          </a:prstGeom>
          <a:solidFill>
            <a:schemeClr val="bg1"/>
          </a:solidFill>
          <a:ln>
            <a:solidFill>
              <a:srgbClr val="A41AD4"/>
            </a:solidFill>
          </a:ln>
        </p:spPr>
        <p:txBody>
          <a:bodyPr>
            <a:spAutoFit/>
          </a:bodyPr>
          <a:lstStyle/>
          <a:p>
            <a:r>
              <a:rPr lang="zh-CN" altLang="en-US" sz="1400" b="1" dirty="0">
                <a:solidFill>
                  <a:schemeClr val="tx1">
                    <a:lumMod val="50000"/>
                    <a:lumOff val="50000"/>
                  </a:schemeClr>
                </a:solidFill>
                <a:latin typeface="KaiTi" panose="02010609060101010101" pitchFamily="49" charset="-122"/>
                <a:ea typeface="KaiTi" panose="02010609060101010101" pitchFamily="49" charset="-122"/>
              </a:rPr>
              <a:t>例：</a:t>
            </a:r>
            <a:r>
              <a:rPr lang="zh-CN" altLang="en-US" sz="1400" dirty="0">
                <a:solidFill>
                  <a:schemeClr val="tx1">
                    <a:lumMod val="50000"/>
                    <a:lumOff val="50000"/>
                  </a:schemeClr>
                </a:solidFill>
                <a:latin typeface="KaiTi" panose="02010609060101010101" pitchFamily="49" charset="-122"/>
                <a:ea typeface="KaiTi" panose="02010609060101010101" pitchFamily="49" charset="-122"/>
              </a:rPr>
              <a:t>图甲是小明“探究冰熔化时温度变化规律”的装置，请回答下列问题。</a:t>
            </a:r>
          </a:p>
          <a:p>
            <a:r>
              <a:rPr lang="zh-CN" altLang="en-US" sz="1400" dirty="0">
                <a:solidFill>
                  <a:schemeClr val="tx1">
                    <a:lumMod val="50000"/>
                    <a:lumOff val="50000"/>
                  </a:schemeClr>
                </a:solidFill>
                <a:latin typeface="KaiTi" panose="02010609060101010101" pitchFamily="49" charset="-122"/>
                <a:ea typeface="KaiTi" panose="02010609060101010101" pitchFamily="49" charset="-122"/>
              </a:rPr>
              <a:t>（</a:t>
            </a:r>
            <a:r>
              <a:rPr lang="en-US" altLang="zh-CN" sz="1400" dirty="0">
                <a:solidFill>
                  <a:schemeClr val="tx1">
                    <a:lumMod val="50000"/>
                    <a:lumOff val="50000"/>
                  </a:schemeClr>
                </a:solidFill>
                <a:latin typeface="KaiTi" panose="02010609060101010101" pitchFamily="49" charset="-122"/>
                <a:ea typeface="KaiTi" panose="02010609060101010101" pitchFamily="49" charset="-122"/>
              </a:rPr>
              <a:t>1</a:t>
            </a:r>
            <a:r>
              <a:rPr lang="zh-CN" altLang="en-US" sz="1400" dirty="0">
                <a:solidFill>
                  <a:schemeClr val="tx1">
                    <a:lumMod val="50000"/>
                    <a:lumOff val="50000"/>
                  </a:schemeClr>
                </a:solidFill>
                <a:latin typeface="KaiTi" panose="02010609060101010101" pitchFamily="49" charset="-122"/>
                <a:ea typeface="KaiTi" panose="02010609060101010101" pitchFamily="49" charset="-122"/>
              </a:rPr>
              <a:t>）某时刻试管中温度计的示数如图乙所示是 </a:t>
            </a:r>
            <a:r>
              <a:rPr lang="en-US" altLang="zh-CN" sz="1400" dirty="0">
                <a:solidFill>
                  <a:schemeClr val="tx1">
                    <a:lumMod val="50000"/>
                    <a:lumOff val="50000"/>
                  </a:schemeClr>
                </a:solidFill>
                <a:latin typeface="KaiTi" panose="02010609060101010101" pitchFamily="49" charset="-122"/>
                <a:ea typeface="KaiTi" panose="02010609060101010101" pitchFamily="49" charset="-122"/>
              </a:rPr>
              <a:t>______℃</a:t>
            </a:r>
            <a:r>
              <a:rPr lang="zh-CN" altLang="en-US" sz="1400" dirty="0">
                <a:solidFill>
                  <a:schemeClr val="tx1">
                    <a:lumMod val="50000"/>
                    <a:lumOff val="50000"/>
                  </a:schemeClr>
                </a:solidFill>
                <a:latin typeface="KaiTi" panose="02010609060101010101" pitchFamily="49" charset="-122"/>
                <a:ea typeface="KaiTi" panose="02010609060101010101" pitchFamily="49" charset="-122"/>
              </a:rPr>
              <a:t>。 </a:t>
            </a:r>
          </a:p>
          <a:p>
            <a:r>
              <a:rPr lang="zh-CN" altLang="en-US" sz="1400" dirty="0">
                <a:solidFill>
                  <a:schemeClr val="tx1">
                    <a:lumMod val="50000"/>
                    <a:lumOff val="50000"/>
                  </a:schemeClr>
                </a:solidFill>
                <a:latin typeface="KaiTi" panose="02010609060101010101" pitchFamily="49" charset="-122"/>
                <a:ea typeface="KaiTi" panose="02010609060101010101" pitchFamily="49" charset="-122"/>
              </a:rPr>
              <a:t>（</a:t>
            </a:r>
            <a:r>
              <a:rPr lang="en-US" altLang="zh-CN" sz="1400" dirty="0">
                <a:solidFill>
                  <a:schemeClr val="tx1">
                    <a:lumMod val="50000"/>
                    <a:lumOff val="50000"/>
                  </a:schemeClr>
                </a:solidFill>
                <a:latin typeface="KaiTi" panose="02010609060101010101" pitchFamily="49" charset="-122"/>
                <a:ea typeface="KaiTi" panose="02010609060101010101" pitchFamily="49" charset="-122"/>
              </a:rPr>
              <a:t>2</a:t>
            </a:r>
            <a:r>
              <a:rPr lang="zh-CN" altLang="en-US" sz="1400" dirty="0">
                <a:solidFill>
                  <a:schemeClr val="tx1">
                    <a:lumMod val="50000"/>
                    <a:lumOff val="50000"/>
                  </a:schemeClr>
                </a:solidFill>
                <a:latin typeface="KaiTi" panose="02010609060101010101" pitchFamily="49" charset="-122"/>
                <a:ea typeface="KaiTi" panose="02010609060101010101" pitchFamily="49" charset="-122"/>
              </a:rPr>
              <a:t>）把装有碎冰块的试管放到装有水的大烧杯中加热，主要目的是使碎冰块</a:t>
            </a:r>
            <a:r>
              <a:rPr lang="en-US" altLang="zh-CN" sz="1400" dirty="0">
                <a:solidFill>
                  <a:schemeClr val="tx1">
                    <a:lumMod val="50000"/>
                    <a:lumOff val="50000"/>
                  </a:schemeClr>
                </a:solidFill>
                <a:latin typeface="KaiTi" panose="02010609060101010101" pitchFamily="49" charset="-122"/>
                <a:ea typeface="KaiTi" panose="02010609060101010101" pitchFamily="49" charset="-122"/>
              </a:rPr>
              <a:t>_________</a:t>
            </a:r>
            <a:r>
              <a:rPr lang="zh-CN" altLang="en-US" sz="1400" dirty="0">
                <a:solidFill>
                  <a:schemeClr val="tx1">
                    <a:lumMod val="50000"/>
                    <a:lumOff val="50000"/>
                  </a:schemeClr>
                </a:solidFill>
                <a:latin typeface="KaiTi" panose="02010609060101010101" pitchFamily="49" charset="-122"/>
                <a:ea typeface="KaiTi" panose="02010609060101010101" pitchFamily="49" charset="-122"/>
              </a:rPr>
              <a:t>。 </a:t>
            </a:r>
          </a:p>
          <a:p>
            <a:r>
              <a:rPr lang="zh-CN" altLang="en-US" sz="1400" dirty="0">
                <a:solidFill>
                  <a:schemeClr val="tx1">
                    <a:lumMod val="50000"/>
                    <a:lumOff val="50000"/>
                  </a:schemeClr>
                </a:solidFill>
                <a:latin typeface="KaiTi" panose="02010609060101010101" pitchFamily="49" charset="-122"/>
                <a:ea typeface="KaiTi" panose="02010609060101010101" pitchFamily="49" charset="-122"/>
              </a:rPr>
              <a:t>（</a:t>
            </a:r>
            <a:r>
              <a:rPr lang="en-US" altLang="zh-CN" sz="1400" dirty="0">
                <a:solidFill>
                  <a:schemeClr val="tx1">
                    <a:lumMod val="50000"/>
                    <a:lumOff val="50000"/>
                  </a:schemeClr>
                </a:solidFill>
                <a:latin typeface="KaiTi" panose="02010609060101010101" pitchFamily="49" charset="-122"/>
                <a:ea typeface="KaiTi" panose="02010609060101010101" pitchFamily="49" charset="-122"/>
              </a:rPr>
              <a:t>3</a:t>
            </a:r>
            <a:r>
              <a:rPr lang="zh-CN" altLang="en-US" sz="1400" dirty="0">
                <a:solidFill>
                  <a:schemeClr val="tx1">
                    <a:lumMod val="50000"/>
                    <a:lumOff val="50000"/>
                  </a:schemeClr>
                </a:solidFill>
                <a:latin typeface="KaiTi" panose="02010609060101010101" pitchFamily="49" charset="-122"/>
                <a:ea typeface="KaiTi" panose="02010609060101010101" pitchFamily="49" charset="-122"/>
              </a:rPr>
              <a:t>）图丙是小明根据实验数据绘制的冰的温度随时间变化的图像。由此可知冰是</a:t>
            </a:r>
            <a:r>
              <a:rPr lang="en-US" altLang="zh-CN" sz="1400" dirty="0">
                <a:solidFill>
                  <a:schemeClr val="tx1">
                    <a:lumMod val="50000"/>
                    <a:lumOff val="50000"/>
                  </a:schemeClr>
                </a:solidFill>
                <a:latin typeface="KaiTi" panose="02010609060101010101" pitchFamily="49" charset="-122"/>
                <a:ea typeface="KaiTi" panose="02010609060101010101" pitchFamily="49" charset="-122"/>
              </a:rPr>
              <a:t>____</a:t>
            </a:r>
            <a:r>
              <a:rPr lang="zh-CN" altLang="en-US" sz="1400" dirty="0">
                <a:solidFill>
                  <a:schemeClr val="tx1">
                    <a:lumMod val="50000"/>
                    <a:lumOff val="50000"/>
                  </a:schemeClr>
                </a:solidFill>
                <a:latin typeface="KaiTi" panose="02010609060101010101" pitchFamily="49" charset="-122"/>
                <a:ea typeface="KaiTi" panose="02010609060101010101" pitchFamily="49" charset="-122"/>
              </a:rPr>
              <a:t>（选填“晶体” 或“非晶体”）；在第 </a:t>
            </a:r>
            <a:r>
              <a:rPr lang="en-US" altLang="zh-CN" sz="1400" dirty="0">
                <a:solidFill>
                  <a:schemeClr val="tx1">
                    <a:lumMod val="50000"/>
                    <a:lumOff val="50000"/>
                  </a:schemeClr>
                </a:solidFill>
                <a:latin typeface="KaiTi" panose="02010609060101010101" pitchFamily="49" charset="-122"/>
                <a:ea typeface="KaiTi" panose="02010609060101010101" pitchFamily="49" charset="-122"/>
              </a:rPr>
              <a:t>6</a:t>
            </a:r>
            <a:r>
              <a:rPr lang="fr-FR" altLang="zh-CN" sz="1400" dirty="0">
                <a:solidFill>
                  <a:schemeClr val="tx1">
                    <a:lumMod val="50000"/>
                    <a:lumOff val="50000"/>
                  </a:schemeClr>
                </a:solidFill>
                <a:latin typeface="KaiTi" panose="02010609060101010101" pitchFamily="49" charset="-122"/>
                <a:ea typeface="KaiTi" panose="02010609060101010101" pitchFamily="49" charset="-122"/>
              </a:rPr>
              <a:t>min </a:t>
            </a:r>
            <a:r>
              <a:rPr lang="zh-CN" altLang="en-US" sz="1400" dirty="0">
                <a:solidFill>
                  <a:schemeClr val="tx1">
                    <a:lumMod val="50000"/>
                    <a:lumOff val="50000"/>
                  </a:schemeClr>
                </a:solidFill>
                <a:latin typeface="KaiTi" panose="02010609060101010101" pitchFamily="49" charset="-122"/>
                <a:ea typeface="KaiTi" panose="02010609060101010101" pitchFamily="49" charset="-122"/>
              </a:rPr>
              <a:t>时，试管内的物质处于 </a:t>
            </a:r>
            <a:r>
              <a:rPr lang="en-US" altLang="zh-CN" sz="1400" dirty="0">
                <a:solidFill>
                  <a:schemeClr val="tx1">
                    <a:lumMod val="50000"/>
                    <a:lumOff val="50000"/>
                  </a:schemeClr>
                </a:solidFill>
                <a:latin typeface="KaiTi" panose="02010609060101010101" pitchFamily="49" charset="-122"/>
                <a:ea typeface="KaiTi" panose="02010609060101010101" pitchFamily="49" charset="-122"/>
              </a:rPr>
              <a:t>__________</a:t>
            </a:r>
            <a:r>
              <a:rPr lang="zh-CN" altLang="en-US" sz="1400" dirty="0">
                <a:solidFill>
                  <a:schemeClr val="tx1">
                    <a:lumMod val="50000"/>
                    <a:lumOff val="50000"/>
                  </a:schemeClr>
                </a:solidFill>
                <a:latin typeface="KaiTi" panose="02010609060101010101" pitchFamily="49" charset="-122"/>
                <a:ea typeface="KaiTi" panose="02010609060101010101" pitchFamily="49" charset="-122"/>
              </a:rPr>
              <a:t>（选填“固态”“液态”或“固液共存态”）。</a:t>
            </a:r>
            <a:endParaRPr lang="en-US" altLang="zh-CN" sz="1400" dirty="0">
              <a:solidFill>
                <a:schemeClr val="tx1">
                  <a:lumMod val="50000"/>
                  <a:lumOff val="50000"/>
                </a:schemeClr>
              </a:solidFill>
              <a:latin typeface="KaiTi" panose="02010609060101010101" pitchFamily="49" charset="-122"/>
              <a:ea typeface="KaiTi" panose="02010609060101010101" pitchFamily="49" charset="-122"/>
            </a:endParaRPr>
          </a:p>
          <a:p>
            <a:r>
              <a:rPr lang="zh-CN" altLang="en-US" sz="1400" dirty="0">
                <a:solidFill>
                  <a:schemeClr val="tx1">
                    <a:lumMod val="50000"/>
                    <a:lumOff val="50000"/>
                  </a:schemeClr>
                </a:solidFill>
                <a:latin typeface="KaiTi" panose="02010609060101010101" pitchFamily="49" charset="-122"/>
                <a:ea typeface="KaiTi" panose="02010609060101010101" pitchFamily="49" charset="-122"/>
              </a:rPr>
              <a:t>（</a:t>
            </a:r>
            <a:r>
              <a:rPr lang="en-US" altLang="zh-CN" sz="1400" dirty="0">
                <a:solidFill>
                  <a:schemeClr val="tx1">
                    <a:lumMod val="50000"/>
                    <a:lumOff val="50000"/>
                  </a:schemeClr>
                </a:solidFill>
                <a:latin typeface="KaiTi" panose="02010609060101010101" pitchFamily="49" charset="-122"/>
                <a:ea typeface="KaiTi" panose="02010609060101010101" pitchFamily="49" charset="-122"/>
              </a:rPr>
              <a:t>4</a:t>
            </a:r>
            <a:r>
              <a:rPr lang="zh-CN" altLang="en-US" sz="1400" dirty="0">
                <a:solidFill>
                  <a:schemeClr val="tx1">
                    <a:lumMod val="50000"/>
                    <a:lumOff val="50000"/>
                  </a:schemeClr>
                </a:solidFill>
                <a:latin typeface="KaiTi" panose="02010609060101010101" pitchFamily="49" charset="-122"/>
                <a:ea typeface="KaiTi" panose="02010609060101010101" pitchFamily="49" charset="-122"/>
              </a:rPr>
              <a:t>）小明又继续加热一段时间，观察到</a:t>
            </a:r>
            <a:r>
              <a:rPr lang="en-US" altLang="zh-CN" sz="1400" dirty="0">
                <a:solidFill>
                  <a:schemeClr val="tx1">
                    <a:lumMod val="50000"/>
                    <a:lumOff val="50000"/>
                  </a:schemeClr>
                </a:solidFill>
                <a:latin typeface="KaiTi" panose="02010609060101010101" pitchFamily="49" charset="-122"/>
                <a:ea typeface="KaiTi" panose="02010609060101010101" pitchFamily="49" charset="-122"/>
              </a:rPr>
              <a:t>______</a:t>
            </a:r>
            <a:r>
              <a:rPr lang="zh-CN" altLang="en-US" sz="1400" dirty="0">
                <a:solidFill>
                  <a:schemeClr val="tx1">
                    <a:lumMod val="50000"/>
                    <a:lumOff val="50000"/>
                  </a:schemeClr>
                </a:solidFill>
                <a:latin typeface="KaiTi" panose="02010609060101010101" pitchFamily="49" charset="-122"/>
                <a:ea typeface="KaiTi" panose="02010609060101010101" pitchFamily="49" charset="-122"/>
              </a:rPr>
              <a:t>（选填“试管”“烧杯”或“试管和烧杯”）中的水发生了沸腾现象，温度计的示数不再发生变化。</a:t>
            </a:r>
          </a:p>
        </p:txBody>
      </p:sp>
    </p:spTree>
    <p:extLst>
      <p:ext uri="{BB962C8B-B14F-4D97-AF65-F5344CB8AC3E}">
        <p14:creationId xmlns:p14="http://schemas.microsoft.com/office/powerpoint/2010/main" val="4042641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F595439-DC2D-814E-A9B9-7FC87B21C31C}"/>
              </a:ext>
            </a:extLst>
          </p:cNvPr>
          <p:cNvSpPr txBox="1"/>
          <p:nvPr/>
        </p:nvSpPr>
        <p:spPr>
          <a:xfrm>
            <a:off x="417830" y="748030"/>
            <a:ext cx="4942702" cy="2031325"/>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1——</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声</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2——</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密度</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3——</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光</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4——</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热</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5——</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力</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6——</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电</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7——</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磁</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8——</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作图</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9——</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设计实验</a:t>
            </a:r>
          </a:p>
        </p:txBody>
      </p:sp>
      <p:sp>
        <p:nvSpPr>
          <p:cNvPr id="5" name="矩形 4">
            <a:extLst>
              <a:ext uri="{FF2B5EF4-FFF2-40B4-BE49-F238E27FC236}">
                <a16:creationId xmlns:a16="http://schemas.microsoft.com/office/drawing/2014/main" id="{48A01008-C526-154C-9A89-2460719D1A35}"/>
              </a:ext>
            </a:extLst>
          </p:cNvPr>
          <p:cNvSpPr/>
          <p:nvPr/>
        </p:nvSpPr>
        <p:spPr>
          <a:xfrm>
            <a:off x="417830" y="2821759"/>
            <a:ext cx="11177270" cy="3553641"/>
          </a:xfrm>
          <a:prstGeom prst="rect">
            <a:avLst/>
          </a:prstGeom>
          <a:solidFill>
            <a:srgbClr val="E8F0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3B27CFF8-40B3-3A40-9872-17E184753673}"/>
              </a:ext>
            </a:extLst>
          </p:cNvPr>
          <p:cNvSpPr/>
          <p:nvPr/>
        </p:nvSpPr>
        <p:spPr>
          <a:xfrm>
            <a:off x="693629" y="2882386"/>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A573DF6B-D1C2-994B-83B9-DB30AB109901}"/>
              </a:ext>
            </a:extLst>
          </p:cNvPr>
          <p:cNvSpPr txBox="1"/>
          <p:nvPr/>
        </p:nvSpPr>
        <p:spPr>
          <a:xfrm>
            <a:off x="918175" y="2909151"/>
            <a:ext cx="6773286" cy="3539430"/>
          </a:xfrm>
          <a:prstGeom prst="rect">
            <a:avLst/>
          </a:prstGeom>
          <a:noFill/>
        </p:spPr>
        <p:txBody>
          <a:bodyPr wrap="square" rtlCol="0">
            <a:spAutoFit/>
          </a:bodyPr>
          <a:lstStyle/>
          <a:p>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力</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】26</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种题型</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1 </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参照物与运动状态</a:t>
            </a:r>
          </a:p>
          <a:p>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2 </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运动和力的关系</a:t>
            </a:r>
          </a:p>
          <a:p>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3 </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增大或减小摩擦的方法</a:t>
            </a:r>
          </a:p>
          <a:p>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4 </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压强的认识</a:t>
            </a:r>
            <a:endPar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5 </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杠杆的分类</a:t>
            </a:r>
          </a:p>
          <a:p>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题型</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6</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 功和机械能的认识</a:t>
            </a:r>
            <a:endPar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7</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 探究阻力对物体运动的影响</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8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探究影响滑动摩擦力大小的因素</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9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探究影响压力作用效果的因素</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10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探究液体压强的特点</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11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探究杠杆的平衡条件</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12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探究影响浮力大小的因素</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13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验证阿基米德原理实验</a:t>
            </a:r>
          </a:p>
          <a:p>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2" name="矩形 1">
            <a:extLst>
              <a:ext uri="{FF2B5EF4-FFF2-40B4-BE49-F238E27FC236}">
                <a16:creationId xmlns:a16="http://schemas.microsoft.com/office/drawing/2014/main" id="{6062C0DD-F18A-494E-B6D2-F7DF2CAB57A2}"/>
              </a:ext>
            </a:extLst>
          </p:cNvPr>
          <p:cNvSpPr/>
          <p:nvPr/>
        </p:nvSpPr>
        <p:spPr>
          <a:xfrm>
            <a:off x="5177825" y="1296167"/>
            <a:ext cx="6096000" cy="2031325"/>
          </a:xfrm>
          <a:prstGeom prst="rect">
            <a:avLst/>
          </a:prstGeom>
          <a:solidFill>
            <a:schemeClr val="bg1"/>
          </a:solidFill>
          <a:ln>
            <a:solidFill>
              <a:srgbClr val="A41AD4"/>
            </a:solidFill>
          </a:ln>
        </p:spPr>
        <p:txBody>
          <a:bodyPr>
            <a:spAutoFit/>
          </a:bodyPr>
          <a:lstStyle/>
          <a:p>
            <a:r>
              <a:rPr lang="zh-CN" altLang="en-US" b="1" dirty="0">
                <a:solidFill>
                  <a:schemeClr val="tx1">
                    <a:lumMod val="50000"/>
                    <a:lumOff val="50000"/>
                  </a:schemeClr>
                </a:solidFill>
                <a:latin typeface="楷体" panose="02010609060101010101" pitchFamily="49" charset="-122"/>
                <a:ea typeface="楷体" panose="02010609060101010101" pitchFamily="49" charset="-122"/>
              </a:rPr>
              <a:t>例：</a:t>
            </a:r>
            <a:r>
              <a:rPr lang="zh-CN" altLang="en-US" dirty="0">
                <a:solidFill>
                  <a:schemeClr val="tx1">
                    <a:lumMod val="50000"/>
                    <a:lumOff val="50000"/>
                  </a:schemeClr>
                </a:solidFill>
                <a:latin typeface="楷体" panose="02010609060101010101" pitchFamily="49" charset="-122"/>
                <a:ea typeface="楷体" panose="02010609060101010101" pitchFamily="49" charset="-122"/>
              </a:rPr>
              <a:t>拔河是一项喜闻乐见的群众性体育活动。拔河中用到了摩擦力的相关知识，下列各种做法，通过增大接触面的粗糙程度增大摩擦的是（ </a:t>
            </a:r>
            <a:r>
              <a:rPr lang="en-US" altLang="zh-CN" dirty="0">
                <a:solidFill>
                  <a:schemeClr val="tx1">
                    <a:lumMod val="50000"/>
                    <a:lumOff val="50000"/>
                  </a:schemeClr>
                </a:solidFill>
                <a:latin typeface="楷体" panose="02010609060101010101" pitchFamily="49" charset="-122"/>
                <a:ea typeface="楷体" panose="02010609060101010101" pitchFamily="49" charset="-122"/>
              </a:rPr>
              <a:t>)</a:t>
            </a:r>
            <a:endParaRPr lang="zh-CN" altLang="en-US" dirty="0">
              <a:solidFill>
                <a:schemeClr val="tx1">
                  <a:lumMod val="50000"/>
                  <a:lumOff val="50000"/>
                </a:schemeClr>
              </a:solidFill>
              <a:latin typeface="楷体" panose="02010609060101010101" pitchFamily="49" charset="-122"/>
              <a:ea typeface="楷体" panose="02010609060101010101" pitchFamily="49" charset="-122"/>
            </a:endParaRPr>
          </a:p>
          <a:p>
            <a:r>
              <a:rPr lang="fr-FR" altLang="zh-CN" dirty="0">
                <a:solidFill>
                  <a:schemeClr val="tx1">
                    <a:lumMod val="50000"/>
                    <a:lumOff val="50000"/>
                  </a:schemeClr>
                </a:solidFill>
                <a:latin typeface="楷体" panose="02010609060101010101" pitchFamily="49" charset="-122"/>
                <a:ea typeface="楷体" panose="02010609060101010101" pitchFamily="49" charset="-122"/>
              </a:rPr>
              <a:t>A</a:t>
            </a:r>
            <a:r>
              <a:rPr lang="zh-CN" altLang="fr-FR"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dirty="0">
                <a:solidFill>
                  <a:schemeClr val="tx1">
                    <a:lumMod val="50000"/>
                    <a:lumOff val="50000"/>
                  </a:schemeClr>
                </a:solidFill>
                <a:latin typeface="楷体" panose="02010609060101010101" pitchFamily="49" charset="-122"/>
                <a:ea typeface="楷体" panose="02010609060101010101" pitchFamily="49" charset="-122"/>
              </a:rPr>
              <a:t>选体重大的队员 </a:t>
            </a:r>
          </a:p>
          <a:p>
            <a:r>
              <a:rPr lang="fr-FR" altLang="zh-CN" dirty="0">
                <a:solidFill>
                  <a:schemeClr val="tx1">
                    <a:lumMod val="50000"/>
                    <a:lumOff val="50000"/>
                  </a:schemeClr>
                </a:solidFill>
                <a:latin typeface="楷体" panose="02010609060101010101" pitchFamily="49" charset="-122"/>
                <a:ea typeface="楷体" panose="02010609060101010101" pitchFamily="49" charset="-122"/>
              </a:rPr>
              <a:t>B</a:t>
            </a:r>
            <a:r>
              <a:rPr lang="zh-CN" altLang="fr-FR"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dirty="0">
                <a:solidFill>
                  <a:schemeClr val="tx1">
                    <a:lumMod val="50000"/>
                    <a:lumOff val="50000"/>
                  </a:schemeClr>
                </a:solidFill>
                <a:latin typeface="楷体" panose="02010609060101010101" pitchFamily="49" charset="-122"/>
                <a:ea typeface="楷体" panose="02010609060101010101" pitchFamily="49" charset="-122"/>
              </a:rPr>
              <a:t>选脚更大的队员 </a:t>
            </a:r>
          </a:p>
          <a:p>
            <a:r>
              <a:rPr lang="fr-FR" altLang="zh-CN" dirty="0">
                <a:solidFill>
                  <a:schemeClr val="tx1">
                    <a:lumMod val="50000"/>
                    <a:lumOff val="50000"/>
                  </a:schemeClr>
                </a:solidFill>
                <a:latin typeface="楷体" panose="02010609060101010101" pitchFamily="49" charset="-122"/>
                <a:ea typeface="楷体" panose="02010609060101010101" pitchFamily="49" charset="-122"/>
              </a:rPr>
              <a:t>C</a:t>
            </a:r>
            <a:r>
              <a:rPr lang="zh-CN" altLang="fr-FR"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dirty="0">
                <a:solidFill>
                  <a:schemeClr val="tx1">
                    <a:lumMod val="50000"/>
                    <a:lumOff val="50000"/>
                  </a:schemeClr>
                </a:solidFill>
                <a:latin typeface="楷体" panose="02010609060101010101" pitchFamily="49" charset="-122"/>
                <a:ea typeface="楷体" panose="02010609060101010101" pitchFamily="49" charset="-122"/>
              </a:rPr>
              <a:t>穿崭新的运动鞋 </a:t>
            </a:r>
          </a:p>
          <a:p>
            <a:r>
              <a:rPr lang="fr-FR" altLang="zh-CN" dirty="0">
                <a:solidFill>
                  <a:schemeClr val="tx1">
                    <a:lumMod val="50000"/>
                    <a:lumOff val="50000"/>
                  </a:schemeClr>
                </a:solidFill>
                <a:latin typeface="楷体" panose="02010609060101010101" pitchFamily="49" charset="-122"/>
                <a:ea typeface="楷体" panose="02010609060101010101" pitchFamily="49" charset="-122"/>
              </a:rPr>
              <a:t>D</a:t>
            </a:r>
            <a:r>
              <a:rPr lang="zh-CN" altLang="fr-FR"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dirty="0">
                <a:solidFill>
                  <a:schemeClr val="tx1">
                    <a:lumMod val="50000"/>
                    <a:lumOff val="50000"/>
                  </a:schemeClr>
                </a:solidFill>
                <a:latin typeface="楷体" panose="02010609060101010101" pitchFamily="49" charset="-122"/>
                <a:ea typeface="楷体" panose="02010609060101010101" pitchFamily="49" charset="-122"/>
              </a:rPr>
              <a:t>向地面撒些沙子</a:t>
            </a:r>
          </a:p>
        </p:txBody>
      </p:sp>
      <p:sp>
        <p:nvSpPr>
          <p:cNvPr id="9" name="矩形 8">
            <a:extLst>
              <a:ext uri="{FF2B5EF4-FFF2-40B4-BE49-F238E27FC236}">
                <a16:creationId xmlns:a16="http://schemas.microsoft.com/office/drawing/2014/main" id="{3DA9D5CE-2BF0-4343-8F06-9D4EB04216CD}"/>
              </a:ext>
            </a:extLst>
          </p:cNvPr>
          <p:cNvSpPr/>
          <p:nvPr/>
        </p:nvSpPr>
        <p:spPr>
          <a:xfrm>
            <a:off x="5177825" y="4013803"/>
            <a:ext cx="6096000" cy="2031325"/>
          </a:xfrm>
          <a:prstGeom prst="rect">
            <a:avLst/>
          </a:prstGeom>
          <a:solidFill>
            <a:schemeClr val="bg1"/>
          </a:solidFill>
          <a:ln>
            <a:solidFill>
              <a:srgbClr val="A41AD4"/>
            </a:solidFill>
            <a:prstDash val="dash"/>
          </a:ln>
        </p:spPr>
        <p:txBody>
          <a:bodyPr>
            <a:spAutoFit/>
          </a:bodyPr>
          <a:lstStyle/>
          <a:p>
            <a:r>
              <a:rPr lang="en-US" altLang="zh-CN" sz="1400" b="1" dirty="0">
                <a:solidFill>
                  <a:srgbClr val="C00000"/>
                </a:solidFill>
                <a:latin typeface="楷体" panose="02010609060101010101" pitchFamily="49" charset="-122"/>
                <a:ea typeface="楷体" panose="02010609060101010101" pitchFamily="49" charset="-122"/>
              </a:rPr>
              <a:t>C</a:t>
            </a:r>
            <a:endParaRPr lang="zh-CN" altLang="en-US" sz="1400" dirty="0">
              <a:solidFill>
                <a:srgbClr val="C00000"/>
              </a:solidFill>
            </a:endParaRPr>
          </a:p>
          <a:p>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A</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选体重大的同学，可以通过增大压力来增大摩擦力； </a:t>
            </a:r>
          </a:p>
          <a:p>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B</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摩擦力的大小与受力面积无关，选脚更大的队员不会增大摩擦力； </a:t>
            </a:r>
          </a:p>
          <a:p>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C</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穿崭新的运动鞋，可以通过增大接触面的粗糙程度增大摩擦力； </a:t>
            </a:r>
          </a:p>
          <a:p>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D</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地面上的沙子能变滑动为滚动，从而减小摩擦力。</a:t>
            </a:r>
            <a:endParaRPr lang="en-US" altLang="zh-CN" sz="1400" b="1" dirty="0">
              <a:solidFill>
                <a:schemeClr val="tx1">
                  <a:lumMod val="50000"/>
                  <a:lumOff val="50000"/>
                </a:schemeClr>
              </a:solidFill>
              <a:latin typeface="楷体" panose="02010609060101010101" pitchFamily="49" charset="-122"/>
              <a:ea typeface="楷体" panose="02010609060101010101" pitchFamily="49" charset="-122"/>
            </a:endParaRPr>
          </a:p>
          <a:p>
            <a:endParaRPr lang="en-US" altLang="zh-CN" sz="1400" b="1" dirty="0">
              <a:solidFill>
                <a:schemeClr val="tx1">
                  <a:lumMod val="50000"/>
                  <a:lumOff val="50000"/>
                </a:schemeClr>
              </a:solidFill>
              <a:latin typeface="楷体" panose="02010609060101010101" pitchFamily="49" charset="-122"/>
              <a:ea typeface="楷体" panose="02010609060101010101" pitchFamily="49" charset="-122"/>
            </a:endParaRPr>
          </a:p>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要点：</a:t>
            </a:r>
            <a:endParaRPr lang="en-US" altLang="zh-CN" sz="1400" b="1" dirty="0">
              <a:solidFill>
                <a:schemeClr val="tx1">
                  <a:lumMod val="50000"/>
                  <a:lumOff val="50000"/>
                </a:schemeClr>
              </a:solidFill>
              <a:latin typeface="楷体" panose="02010609060101010101" pitchFamily="49" charset="-122"/>
              <a:ea typeface="楷体" panose="02010609060101010101" pitchFamily="49" charset="-122"/>
            </a:endParaRPr>
          </a:p>
          <a:p>
            <a:r>
              <a:rPr lang="zh-CN" altLang="en-US" sz="1400" b="1" dirty="0">
                <a:solidFill>
                  <a:srgbClr val="C00000"/>
                </a:solidFill>
                <a:latin typeface="楷体" panose="02010609060101010101" pitchFamily="49" charset="-122"/>
                <a:ea typeface="楷体" panose="02010609060101010101" pitchFamily="49" charset="-122"/>
              </a:rPr>
              <a:t>*理解公式：</a:t>
            </a:r>
            <a:r>
              <a:rPr lang="en-US" altLang="zh-CN" sz="1400" b="1" dirty="0">
                <a:solidFill>
                  <a:srgbClr val="C00000"/>
                </a:solidFill>
                <a:latin typeface="楷体" panose="02010609060101010101" pitchFamily="49" charset="-122"/>
                <a:ea typeface="楷体" panose="02010609060101010101" pitchFamily="49" charset="-122"/>
              </a:rPr>
              <a:t>f</a:t>
            </a:r>
            <a:r>
              <a:rPr lang="zh-CN" altLang="en-US" sz="1400" b="1" dirty="0">
                <a:solidFill>
                  <a:srgbClr val="C00000"/>
                </a:solidFill>
                <a:latin typeface="楷体" panose="02010609060101010101" pitchFamily="49" charset="-122"/>
                <a:ea typeface="楷体" panose="02010609060101010101" pitchFamily="49" charset="-122"/>
              </a:rPr>
              <a:t>与压力</a:t>
            </a:r>
            <a:r>
              <a:rPr lang="en-US" altLang="zh-CN" sz="1400" b="1" dirty="0">
                <a:solidFill>
                  <a:srgbClr val="C00000"/>
                </a:solidFill>
                <a:latin typeface="楷体" panose="02010609060101010101" pitchFamily="49" charset="-122"/>
                <a:ea typeface="楷体" panose="02010609060101010101" pitchFamily="49" charset="-122"/>
              </a:rPr>
              <a:t>/</a:t>
            </a:r>
            <a:r>
              <a:rPr lang="zh-CN" altLang="en-US" sz="1400" b="1" dirty="0">
                <a:solidFill>
                  <a:srgbClr val="C00000"/>
                </a:solidFill>
                <a:latin typeface="楷体" panose="02010609060101010101" pitchFamily="49" charset="-122"/>
                <a:ea typeface="楷体" panose="02010609060101010101" pitchFamily="49" charset="-122"/>
              </a:rPr>
              <a:t>摩擦系数的关系</a:t>
            </a:r>
            <a:endParaRPr lang="en-US" altLang="zh-CN" sz="1400" b="1" dirty="0">
              <a:solidFill>
                <a:srgbClr val="C00000"/>
              </a:solidFill>
              <a:latin typeface="楷体" panose="02010609060101010101" pitchFamily="49" charset="-122"/>
              <a:ea typeface="楷体" panose="02010609060101010101" pitchFamily="49" charset="-122"/>
            </a:endParaRPr>
          </a:p>
          <a:p>
            <a:r>
              <a:rPr lang="zh-CN" altLang="en-US" sz="1400" b="1" dirty="0">
                <a:solidFill>
                  <a:srgbClr val="C00000"/>
                </a:solidFill>
                <a:latin typeface="楷体" panose="02010609060101010101" pitchFamily="49" charset="-122"/>
                <a:ea typeface="楷体" panose="02010609060101010101" pitchFamily="49" charset="-122"/>
              </a:rPr>
              <a:t>*理解概念：生活化理解</a:t>
            </a:r>
          </a:p>
        </p:txBody>
      </p:sp>
      <p:cxnSp>
        <p:nvCxnSpPr>
          <p:cNvPr id="13" name="直线箭头连接符 12">
            <a:extLst>
              <a:ext uri="{FF2B5EF4-FFF2-40B4-BE49-F238E27FC236}">
                <a16:creationId xmlns:a16="http://schemas.microsoft.com/office/drawing/2014/main" id="{DAF92CE6-D7A4-CF45-A050-BCEF5B33DF66}"/>
              </a:ext>
            </a:extLst>
          </p:cNvPr>
          <p:cNvCxnSpPr>
            <a:cxnSpLocks/>
          </p:cNvCxnSpPr>
          <p:nvPr/>
        </p:nvCxnSpPr>
        <p:spPr>
          <a:xfrm>
            <a:off x="8217447" y="3595606"/>
            <a:ext cx="0" cy="229149"/>
          </a:xfrm>
          <a:prstGeom prst="straightConnector1">
            <a:avLst/>
          </a:prstGeom>
          <a:ln>
            <a:solidFill>
              <a:srgbClr val="A41AD4"/>
            </a:solidFill>
            <a:tailEnd type="triangle"/>
          </a:ln>
        </p:spPr>
        <p:style>
          <a:lnRef idx="1">
            <a:schemeClr val="accent1"/>
          </a:lnRef>
          <a:fillRef idx="0">
            <a:schemeClr val="accent1"/>
          </a:fillRef>
          <a:effectRef idx="0">
            <a:schemeClr val="accent1"/>
          </a:effectRef>
          <a:fontRef idx="minor">
            <a:schemeClr val="tx1"/>
          </a:fontRef>
        </p:style>
      </p:cxnSp>
      <p:sp>
        <p:nvSpPr>
          <p:cNvPr id="4" name="左大括号 3">
            <a:extLst>
              <a:ext uri="{FF2B5EF4-FFF2-40B4-BE49-F238E27FC236}">
                <a16:creationId xmlns:a16="http://schemas.microsoft.com/office/drawing/2014/main" id="{1893C7FF-E89F-8142-9B58-68CD5B971636}"/>
              </a:ext>
            </a:extLst>
          </p:cNvPr>
          <p:cNvSpPr/>
          <p:nvPr/>
        </p:nvSpPr>
        <p:spPr>
          <a:xfrm>
            <a:off x="693629" y="3429000"/>
            <a:ext cx="207749" cy="1169579"/>
          </a:xfrm>
          <a:prstGeom prst="lef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10" name="矩形 9">
            <a:extLst>
              <a:ext uri="{FF2B5EF4-FFF2-40B4-BE49-F238E27FC236}">
                <a16:creationId xmlns:a16="http://schemas.microsoft.com/office/drawing/2014/main" id="{8E08297E-FB02-BE47-953A-05989EDCD623}"/>
              </a:ext>
            </a:extLst>
          </p:cNvPr>
          <p:cNvSpPr/>
          <p:nvPr/>
        </p:nvSpPr>
        <p:spPr>
          <a:xfrm>
            <a:off x="392189" y="3744411"/>
            <a:ext cx="207750" cy="538755"/>
          </a:xfrm>
          <a:prstGeom prst="rect">
            <a:avLst/>
          </a:prstGeom>
        </p:spPr>
        <p:txBody>
          <a:bodyPr wrap="square">
            <a:spAutoFit/>
          </a:bodyPr>
          <a:lstStyle/>
          <a:p>
            <a:r>
              <a:rPr lang="zh-CN" altLang="en-US" sz="1400" b="1" dirty="0">
                <a:solidFill>
                  <a:srgbClr val="C00000"/>
                </a:solidFill>
                <a:latin typeface="楷体" panose="02010609060101010101" pitchFamily="49" charset="-122"/>
                <a:ea typeface="楷体" panose="02010609060101010101" pitchFamily="49" charset="-122"/>
              </a:rPr>
              <a:t>概念</a:t>
            </a:r>
            <a:endParaRPr lang="zh-CN" altLang="en-US" sz="1400" dirty="0"/>
          </a:p>
        </p:txBody>
      </p:sp>
    </p:spTree>
    <p:extLst>
      <p:ext uri="{BB962C8B-B14F-4D97-AF65-F5344CB8AC3E}">
        <p14:creationId xmlns:p14="http://schemas.microsoft.com/office/powerpoint/2010/main" val="40661268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F595439-DC2D-814E-A9B9-7FC87B21C31C}"/>
              </a:ext>
            </a:extLst>
          </p:cNvPr>
          <p:cNvSpPr txBox="1"/>
          <p:nvPr/>
        </p:nvSpPr>
        <p:spPr>
          <a:xfrm>
            <a:off x="417830" y="748030"/>
            <a:ext cx="4942702" cy="2031325"/>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1——</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声</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2——</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密度</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3——</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光</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4——</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热</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5——</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力</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6——</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电</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7——</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磁</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8——</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作图</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9——</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设计实验</a:t>
            </a:r>
          </a:p>
        </p:txBody>
      </p:sp>
      <p:sp>
        <p:nvSpPr>
          <p:cNvPr id="5" name="矩形 4">
            <a:extLst>
              <a:ext uri="{FF2B5EF4-FFF2-40B4-BE49-F238E27FC236}">
                <a16:creationId xmlns:a16="http://schemas.microsoft.com/office/drawing/2014/main" id="{48A01008-C526-154C-9A89-2460719D1A35}"/>
              </a:ext>
            </a:extLst>
          </p:cNvPr>
          <p:cNvSpPr/>
          <p:nvPr/>
        </p:nvSpPr>
        <p:spPr>
          <a:xfrm>
            <a:off x="417830" y="2821759"/>
            <a:ext cx="11177270" cy="3553641"/>
          </a:xfrm>
          <a:prstGeom prst="rect">
            <a:avLst/>
          </a:prstGeom>
          <a:solidFill>
            <a:srgbClr val="E8F0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3B27CFF8-40B3-3A40-9872-17E184753673}"/>
              </a:ext>
            </a:extLst>
          </p:cNvPr>
          <p:cNvSpPr/>
          <p:nvPr/>
        </p:nvSpPr>
        <p:spPr>
          <a:xfrm>
            <a:off x="693629" y="2882386"/>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A573DF6B-D1C2-994B-83B9-DB30AB109901}"/>
              </a:ext>
            </a:extLst>
          </p:cNvPr>
          <p:cNvSpPr txBox="1"/>
          <p:nvPr/>
        </p:nvSpPr>
        <p:spPr>
          <a:xfrm>
            <a:off x="918175" y="2909151"/>
            <a:ext cx="6773286" cy="3539430"/>
          </a:xfrm>
          <a:prstGeom prst="rect">
            <a:avLst/>
          </a:prstGeom>
          <a:noFill/>
        </p:spPr>
        <p:txBody>
          <a:bodyPr wrap="square" rtlCol="0">
            <a:spAutoFit/>
          </a:bodyPr>
          <a:lstStyle/>
          <a:p>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力</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】26</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种题型</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参照物与运动状态</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运动和力的关系</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3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增大或减小摩擦的方法</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4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压强的认识</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5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杠杆的分类</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6</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 功和机械能的认识</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题型</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7</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 探究阻力对物体运动的影响</a:t>
            </a:r>
          </a:p>
          <a:p>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8 </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探究影响滑动摩擦力大小的因素</a:t>
            </a:r>
            <a:endPar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9 </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探究影响压力作用效果的因素</a:t>
            </a:r>
          </a:p>
          <a:p>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10 </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探究液体压强的特点</a:t>
            </a:r>
            <a:endPar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11 </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探究杠杆的平衡条件</a:t>
            </a:r>
          </a:p>
          <a:p>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12 </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探究影响浮力大小的因素</a:t>
            </a:r>
          </a:p>
          <a:p>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13 </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验证阿基米德原理实验</a:t>
            </a:r>
          </a:p>
          <a:p>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2" name="矩形 1">
            <a:extLst>
              <a:ext uri="{FF2B5EF4-FFF2-40B4-BE49-F238E27FC236}">
                <a16:creationId xmlns:a16="http://schemas.microsoft.com/office/drawing/2014/main" id="{6062C0DD-F18A-494E-B6D2-F7DF2CAB57A2}"/>
              </a:ext>
            </a:extLst>
          </p:cNvPr>
          <p:cNvSpPr/>
          <p:nvPr/>
        </p:nvSpPr>
        <p:spPr>
          <a:xfrm>
            <a:off x="5177825" y="1338494"/>
            <a:ext cx="6096000" cy="2031325"/>
          </a:xfrm>
          <a:prstGeom prst="rect">
            <a:avLst/>
          </a:prstGeom>
          <a:solidFill>
            <a:schemeClr val="bg1"/>
          </a:solidFill>
          <a:ln>
            <a:solidFill>
              <a:srgbClr val="A41AD4"/>
            </a:solidFill>
          </a:ln>
        </p:spPr>
        <p:txBody>
          <a:bodyPr>
            <a:spAutoFit/>
          </a:bodyPr>
          <a:lstStyle/>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例：</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在“探究杠杆平衡条件”的实验中</a:t>
            </a:r>
          </a:p>
          <a:p>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a:t>
            </a:r>
            <a:r>
              <a:rPr lang="en-US" altLang="zh-CN" sz="1400" dirty="0">
                <a:solidFill>
                  <a:schemeClr val="tx1">
                    <a:lumMod val="50000"/>
                    <a:lumOff val="50000"/>
                  </a:schemeClr>
                </a:solidFill>
                <a:latin typeface="楷体" panose="02010609060101010101" pitchFamily="49" charset="-122"/>
                <a:ea typeface="楷体" panose="02010609060101010101" pitchFamily="49" charset="-122"/>
              </a:rPr>
              <a:t>1</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）为方便测量力臂，实验前应先调节杠杆两端的平衡螺母，使之在</a:t>
            </a:r>
            <a:r>
              <a:rPr lang="en-US" altLang="zh-CN" sz="1400" dirty="0">
                <a:solidFill>
                  <a:schemeClr val="tx1">
                    <a:lumMod val="50000"/>
                    <a:lumOff val="50000"/>
                  </a:schemeClr>
                </a:solidFill>
                <a:latin typeface="楷体" panose="02010609060101010101" pitchFamily="49" charset="-122"/>
                <a:ea typeface="楷体" panose="02010609060101010101" pitchFamily="49" charset="-122"/>
              </a:rPr>
              <a:t>______</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位置平衡。 </a:t>
            </a:r>
          </a:p>
          <a:p>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a:t>
            </a:r>
            <a:r>
              <a:rPr lang="en-US" altLang="zh-CN" sz="1400" dirty="0">
                <a:solidFill>
                  <a:schemeClr val="tx1">
                    <a:lumMod val="50000"/>
                    <a:lumOff val="50000"/>
                  </a:schemeClr>
                </a:solidFill>
                <a:latin typeface="楷体" panose="02010609060101010101" pitchFamily="49" charset="-122"/>
                <a:ea typeface="楷体" panose="02010609060101010101" pitchFamily="49" charset="-122"/>
              </a:rPr>
              <a:t>2</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）如图 </a:t>
            </a:r>
            <a:r>
              <a:rPr lang="en-US" altLang="zh-CN" sz="1400" dirty="0">
                <a:solidFill>
                  <a:schemeClr val="tx1">
                    <a:lumMod val="50000"/>
                    <a:lumOff val="50000"/>
                  </a:schemeClr>
                </a:solidFill>
                <a:latin typeface="楷体" panose="02010609060101010101" pitchFamily="49" charset="-122"/>
                <a:ea typeface="楷体" panose="02010609060101010101" pitchFamily="49" charset="-122"/>
              </a:rPr>
              <a:t>1</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，此时杠杆处于平衡状态，如果在杠杆两端钩码下各挂一个相同的钩码，杠杆将</a:t>
            </a:r>
            <a:r>
              <a:rPr lang="en-US" altLang="zh-CN" sz="1400" dirty="0">
                <a:solidFill>
                  <a:schemeClr val="tx1">
                    <a:lumMod val="50000"/>
                    <a:lumOff val="50000"/>
                  </a:schemeClr>
                </a:solidFill>
                <a:latin typeface="楷体" panose="02010609060101010101" pitchFamily="49" charset="-122"/>
                <a:ea typeface="楷体" panose="02010609060101010101" pitchFamily="49" charset="-122"/>
              </a:rPr>
              <a:t>__________</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（选填“保持平衡”“顺时针转动”或“逆时针转动”）。 </a:t>
            </a:r>
          </a:p>
          <a:p>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a:t>
            </a:r>
            <a:r>
              <a:rPr lang="en-US" altLang="zh-CN" sz="1400" dirty="0">
                <a:solidFill>
                  <a:schemeClr val="tx1">
                    <a:lumMod val="50000"/>
                    <a:lumOff val="50000"/>
                  </a:schemeClr>
                </a:solidFill>
                <a:latin typeface="楷体" panose="02010609060101010101" pitchFamily="49" charset="-122"/>
                <a:ea typeface="楷体" panose="02010609060101010101" pitchFamily="49" charset="-122"/>
              </a:rPr>
              <a:t>3</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）如图 </a:t>
            </a:r>
            <a:r>
              <a:rPr lang="en-US" altLang="zh-CN" sz="1400" dirty="0">
                <a:solidFill>
                  <a:schemeClr val="tx1">
                    <a:lumMod val="50000"/>
                    <a:lumOff val="50000"/>
                  </a:schemeClr>
                </a:solidFill>
                <a:latin typeface="楷体" panose="02010609060101010101" pitchFamily="49" charset="-122"/>
                <a:ea typeface="楷体" panose="02010609060101010101" pitchFamily="49" charset="-122"/>
              </a:rPr>
              <a:t>2 </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是一个加宽的杠杆装置，此时杠杆处于平衡状态。若只将左侧的钩码改挂到 </a:t>
            </a:r>
            <a:r>
              <a:rPr lang="fr-FR" altLang="zh-CN" sz="1400" dirty="0">
                <a:solidFill>
                  <a:schemeClr val="tx1">
                    <a:lumMod val="50000"/>
                    <a:lumOff val="50000"/>
                  </a:schemeClr>
                </a:solidFill>
                <a:latin typeface="楷体" panose="02010609060101010101" pitchFamily="49" charset="-122"/>
                <a:ea typeface="楷体" panose="02010609060101010101" pitchFamily="49" charset="-122"/>
              </a:rPr>
              <a:t>A </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点正上方的 </a:t>
            </a:r>
            <a:r>
              <a:rPr lang="fr-FR" altLang="zh-CN" sz="1400" dirty="0">
                <a:solidFill>
                  <a:schemeClr val="tx1">
                    <a:lumMod val="50000"/>
                    <a:lumOff val="50000"/>
                  </a:schemeClr>
                </a:solidFill>
                <a:latin typeface="楷体" panose="02010609060101010101" pitchFamily="49" charset="-122"/>
                <a:ea typeface="楷体" panose="02010609060101010101" pitchFamily="49" charset="-122"/>
              </a:rPr>
              <a:t>B </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点，力臂是线段</a:t>
            </a:r>
            <a:r>
              <a:rPr lang="en-US" altLang="zh-CN" sz="1400" dirty="0">
                <a:solidFill>
                  <a:schemeClr val="tx1">
                    <a:lumMod val="50000"/>
                    <a:lumOff val="50000"/>
                  </a:schemeClr>
                </a:solidFill>
                <a:latin typeface="楷体" panose="02010609060101010101" pitchFamily="49" charset="-122"/>
                <a:ea typeface="楷体" panose="02010609060101010101" pitchFamily="49" charset="-122"/>
              </a:rPr>
              <a:t>____</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（选填“</a:t>
            </a:r>
            <a:r>
              <a:rPr lang="fr-FR" altLang="zh-CN" sz="1400" dirty="0">
                <a:solidFill>
                  <a:schemeClr val="tx1">
                    <a:lumMod val="50000"/>
                    <a:lumOff val="50000"/>
                  </a:schemeClr>
                </a:solidFill>
                <a:latin typeface="楷体" panose="02010609060101010101" pitchFamily="49" charset="-122"/>
                <a:ea typeface="楷体" panose="02010609060101010101" pitchFamily="49" charset="-122"/>
              </a:rPr>
              <a:t>OA”“OB”</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或“</a:t>
            </a:r>
            <a:r>
              <a:rPr lang="fr-FR" altLang="zh-CN" sz="1400" dirty="0">
                <a:solidFill>
                  <a:schemeClr val="tx1">
                    <a:lumMod val="50000"/>
                    <a:lumOff val="50000"/>
                  </a:schemeClr>
                </a:solidFill>
                <a:latin typeface="楷体" panose="02010609060101010101" pitchFamily="49" charset="-122"/>
                <a:ea typeface="楷体" panose="02010609060101010101" pitchFamily="49" charset="-122"/>
              </a:rPr>
              <a:t>AB”</a:t>
            </a:r>
            <a:r>
              <a:rPr lang="zh-CN" altLang="fr-FR" sz="1400"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此时杠杆</a:t>
            </a:r>
            <a:r>
              <a:rPr lang="en-US" altLang="zh-CN" sz="1400" dirty="0">
                <a:solidFill>
                  <a:schemeClr val="tx1">
                    <a:lumMod val="50000"/>
                    <a:lumOff val="50000"/>
                  </a:schemeClr>
                </a:solidFill>
                <a:latin typeface="楷体" panose="02010609060101010101" pitchFamily="49" charset="-122"/>
                <a:ea typeface="楷体" panose="02010609060101010101" pitchFamily="49" charset="-122"/>
              </a:rPr>
              <a:t>________</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（选填“仍能”或“不能”）保持平衡。</a:t>
            </a:r>
          </a:p>
        </p:txBody>
      </p:sp>
      <p:sp>
        <p:nvSpPr>
          <p:cNvPr id="9" name="矩形 8">
            <a:extLst>
              <a:ext uri="{FF2B5EF4-FFF2-40B4-BE49-F238E27FC236}">
                <a16:creationId xmlns:a16="http://schemas.microsoft.com/office/drawing/2014/main" id="{3DA9D5CE-2BF0-4343-8F06-9D4EB04216CD}"/>
              </a:ext>
            </a:extLst>
          </p:cNvPr>
          <p:cNvSpPr/>
          <p:nvPr/>
        </p:nvSpPr>
        <p:spPr>
          <a:xfrm>
            <a:off x="5177825" y="3770925"/>
            <a:ext cx="6096000" cy="2462213"/>
          </a:xfrm>
          <a:prstGeom prst="rect">
            <a:avLst/>
          </a:prstGeom>
          <a:solidFill>
            <a:schemeClr val="bg1"/>
          </a:solidFill>
          <a:ln>
            <a:solidFill>
              <a:srgbClr val="A41AD4"/>
            </a:solidFill>
            <a:prstDash val="dash"/>
          </a:ln>
        </p:spPr>
        <p:txBody>
          <a:bodyPr>
            <a:spAutoFit/>
          </a:bodyPr>
          <a:lstStyle/>
          <a:p>
            <a:r>
              <a:rPr lang="zh-CN" altLang="en-US" sz="1400" b="1" dirty="0">
                <a:solidFill>
                  <a:srgbClr val="C00000"/>
                </a:solidFill>
                <a:latin typeface="楷体" panose="02010609060101010101" pitchFamily="49" charset="-122"/>
                <a:ea typeface="楷体" panose="02010609060101010101" pitchFamily="49" charset="-122"/>
              </a:rPr>
              <a:t>（</a:t>
            </a:r>
            <a:r>
              <a:rPr lang="en-US" altLang="zh-CN" sz="1400" b="1" dirty="0">
                <a:solidFill>
                  <a:srgbClr val="C00000"/>
                </a:solidFill>
                <a:latin typeface="楷体" panose="02010609060101010101" pitchFamily="49" charset="-122"/>
                <a:ea typeface="楷体" panose="02010609060101010101" pitchFamily="49" charset="-122"/>
              </a:rPr>
              <a:t>1</a:t>
            </a:r>
            <a:r>
              <a:rPr lang="zh-CN" altLang="en-US" sz="1400" b="1" dirty="0">
                <a:solidFill>
                  <a:srgbClr val="C00000"/>
                </a:solidFill>
                <a:latin typeface="楷体" panose="02010609060101010101" pitchFamily="49" charset="-122"/>
                <a:ea typeface="楷体" panose="02010609060101010101" pitchFamily="49" charset="-122"/>
              </a:rPr>
              <a:t>）水平 （</a:t>
            </a:r>
            <a:r>
              <a:rPr lang="en-US" altLang="zh-CN" sz="1400" b="1" dirty="0">
                <a:solidFill>
                  <a:srgbClr val="C00000"/>
                </a:solidFill>
                <a:latin typeface="楷体" panose="02010609060101010101" pitchFamily="49" charset="-122"/>
                <a:ea typeface="楷体" panose="02010609060101010101" pitchFamily="49" charset="-122"/>
              </a:rPr>
              <a:t>2</a:t>
            </a:r>
            <a:r>
              <a:rPr lang="zh-CN" altLang="en-US" sz="1400" b="1" dirty="0">
                <a:solidFill>
                  <a:srgbClr val="C00000"/>
                </a:solidFill>
                <a:latin typeface="楷体" panose="02010609060101010101" pitchFamily="49" charset="-122"/>
                <a:ea typeface="楷体" panose="02010609060101010101" pitchFamily="49" charset="-122"/>
              </a:rPr>
              <a:t>）顺时针转动 （</a:t>
            </a:r>
            <a:r>
              <a:rPr lang="en-US" altLang="zh-CN" sz="1400" b="1" dirty="0">
                <a:solidFill>
                  <a:srgbClr val="C00000"/>
                </a:solidFill>
                <a:latin typeface="楷体" panose="02010609060101010101" pitchFamily="49" charset="-122"/>
                <a:ea typeface="楷体" panose="02010609060101010101" pitchFamily="49" charset="-122"/>
              </a:rPr>
              <a:t>3</a:t>
            </a:r>
            <a:r>
              <a:rPr lang="zh-CN" altLang="en-US" sz="1400" b="1" dirty="0">
                <a:solidFill>
                  <a:srgbClr val="C00000"/>
                </a:solidFill>
                <a:latin typeface="楷体" panose="02010609060101010101" pitchFamily="49" charset="-122"/>
                <a:ea typeface="楷体" panose="02010609060101010101" pitchFamily="49" charset="-122"/>
              </a:rPr>
              <a:t>）</a:t>
            </a:r>
            <a:r>
              <a:rPr lang="en-US" altLang="zh-CN" sz="1400" b="1" dirty="0">
                <a:solidFill>
                  <a:srgbClr val="C00000"/>
                </a:solidFill>
                <a:latin typeface="楷体" panose="02010609060101010101" pitchFamily="49" charset="-122"/>
                <a:ea typeface="楷体" panose="02010609060101010101" pitchFamily="49" charset="-122"/>
              </a:rPr>
              <a:t>OA </a:t>
            </a:r>
            <a:r>
              <a:rPr lang="zh-CN" altLang="en-US" sz="1400" b="1" dirty="0">
                <a:solidFill>
                  <a:srgbClr val="C00000"/>
                </a:solidFill>
                <a:latin typeface="楷体" panose="02010609060101010101" pitchFamily="49" charset="-122"/>
                <a:ea typeface="楷体" panose="02010609060101010101" pitchFamily="49" charset="-122"/>
              </a:rPr>
              <a:t>仍能</a:t>
            </a:r>
            <a:endParaRPr lang="zh-CN" altLang="en-US" sz="1400" dirty="0">
              <a:solidFill>
                <a:srgbClr val="C00000"/>
              </a:solidFill>
            </a:endParaRPr>
          </a:p>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1</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）为方便测量力臂，实验前应先调节杠杆两端的平衡螺母，使之在水平位置平衡； （</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2</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）杠杆调节水平，在左右两边同时增加一个相同的钩码，设每个钩码重 </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G</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每小格长 </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L</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杠杆的平衡条件：左边</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=4</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G×2L=8GL</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右边</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=3</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G×3L=9GL</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b="1" dirty="0">
                <a:solidFill>
                  <a:srgbClr val="C00000"/>
                </a:solidFill>
                <a:latin typeface="楷体" panose="02010609060101010101" pitchFamily="49" charset="-122"/>
                <a:ea typeface="楷体" panose="02010609060101010101" pitchFamily="49" charset="-122"/>
              </a:rPr>
              <a:t>右边</a:t>
            </a:r>
            <a:r>
              <a:rPr lang="en-US" altLang="zh-CN" sz="1400" b="1" dirty="0">
                <a:solidFill>
                  <a:srgbClr val="C00000"/>
                </a:solidFill>
                <a:latin typeface="楷体" panose="02010609060101010101" pitchFamily="49" charset="-122"/>
                <a:ea typeface="楷体" panose="02010609060101010101" pitchFamily="49" charset="-122"/>
              </a:rPr>
              <a:t>&gt;</a:t>
            </a:r>
            <a:r>
              <a:rPr lang="zh-CN" altLang="en-US" sz="1400" b="1" dirty="0">
                <a:solidFill>
                  <a:srgbClr val="C00000"/>
                </a:solidFill>
                <a:latin typeface="楷体" panose="02010609060101010101" pitchFamily="49" charset="-122"/>
                <a:ea typeface="楷体" panose="02010609060101010101" pitchFamily="49" charset="-122"/>
              </a:rPr>
              <a:t>左边</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，杠杆向右边转动，即沿顺时针方向转动； </a:t>
            </a:r>
          </a:p>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3</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）力臂是支点到力的作用线的距离，将左侧的钩码改挂到 </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A </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点正上方的 </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B</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点，力臂是</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OA</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b="1" dirty="0">
                <a:solidFill>
                  <a:srgbClr val="C00000"/>
                </a:solidFill>
                <a:latin typeface="楷体" panose="02010609060101010101" pitchFamily="49" charset="-122"/>
                <a:ea typeface="楷体" panose="02010609060101010101" pitchFamily="49" charset="-122"/>
              </a:rPr>
              <a:t>力和力臂都没有改变</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，所以杠杆仍能保持平衡。</a:t>
            </a:r>
          </a:p>
          <a:p>
            <a:endParaRPr lang="en-US" altLang="zh-CN" sz="1400" b="1" dirty="0">
              <a:solidFill>
                <a:schemeClr val="tx1">
                  <a:lumMod val="50000"/>
                  <a:lumOff val="50000"/>
                </a:schemeClr>
              </a:solidFill>
              <a:latin typeface="楷体" panose="02010609060101010101" pitchFamily="49" charset="-122"/>
              <a:ea typeface="楷体" panose="02010609060101010101" pitchFamily="49" charset="-122"/>
            </a:endParaRPr>
          </a:p>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要点：</a:t>
            </a:r>
            <a:endParaRPr lang="en-US" altLang="zh-CN" sz="1400" b="1" dirty="0">
              <a:solidFill>
                <a:schemeClr val="tx1">
                  <a:lumMod val="50000"/>
                  <a:lumOff val="50000"/>
                </a:schemeClr>
              </a:solidFill>
              <a:latin typeface="楷体" panose="02010609060101010101" pitchFamily="49" charset="-122"/>
              <a:ea typeface="楷体" panose="02010609060101010101" pitchFamily="49" charset="-122"/>
            </a:endParaRPr>
          </a:p>
          <a:p>
            <a:r>
              <a:rPr lang="zh-CN" altLang="en-US" sz="1400" b="1" dirty="0">
                <a:solidFill>
                  <a:srgbClr val="C00000"/>
                </a:solidFill>
                <a:latin typeface="楷体" panose="02010609060101010101" pitchFamily="49" charset="-122"/>
                <a:ea typeface="楷体" panose="02010609060101010101" pitchFamily="49" charset="-122"/>
              </a:rPr>
              <a:t>*实验流程：调节平衡操作</a:t>
            </a:r>
            <a:r>
              <a:rPr lang="en-US" altLang="zh-CN" sz="1400" b="1" dirty="0">
                <a:solidFill>
                  <a:srgbClr val="C00000"/>
                </a:solidFill>
                <a:latin typeface="楷体" panose="02010609060101010101" pitchFamily="49" charset="-122"/>
                <a:ea typeface="楷体" panose="02010609060101010101" pitchFamily="49" charset="-122"/>
              </a:rPr>
              <a:t>/</a:t>
            </a:r>
            <a:r>
              <a:rPr lang="zh-CN" altLang="en-US" sz="1400" b="1" dirty="0">
                <a:solidFill>
                  <a:srgbClr val="C00000"/>
                </a:solidFill>
                <a:latin typeface="楷体" panose="02010609060101010101" pitchFamily="49" charset="-122"/>
                <a:ea typeface="楷体" panose="02010609060101010101" pitchFamily="49" charset="-122"/>
              </a:rPr>
              <a:t>实验步骤</a:t>
            </a:r>
            <a:endParaRPr lang="en-US" altLang="zh-CN" sz="1400" b="1" dirty="0">
              <a:solidFill>
                <a:srgbClr val="C00000"/>
              </a:solidFill>
              <a:latin typeface="楷体" panose="02010609060101010101" pitchFamily="49" charset="-122"/>
              <a:ea typeface="楷体" panose="02010609060101010101" pitchFamily="49" charset="-122"/>
            </a:endParaRPr>
          </a:p>
          <a:p>
            <a:r>
              <a:rPr lang="zh-CN" altLang="en-US" sz="1400" b="1" dirty="0">
                <a:solidFill>
                  <a:srgbClr val="C00000"/>
                </a:solidFill>
                <a:latin typeface="楷体" panose="02010609060101010101" pitchFamily="49" charset="-122"/>
                <a:ea typeface="楷体" panose="02010609060101010101" pitchFamily="49" charset="-122"/>
              </a:rPr>
              <a:t>*实验与理论结合：使用公式</a:t>
            </a:r>
            <a:r>
              <a:rPr lang="en-US" altLang="zh-CN" sz="1400" b="1" dirty="0">
                <a:solidFill>
                  <a:srgbClr val="C00000"/>
                </a:solidFill>
                <a:latin typeface="楷体" panose="02010609060101010101" pitchFamily="49" charset="-122"/>
                <a:ea typeface="楷体" panose="02010609060101010101" pitchFamily="49" charset="-122"/>
              </a:rPr>
              <a:t>-</a:t>
            </a:r>
            <a:r>
              <a:rPr lang="zh-CN" altLang="en-US" sz="1400" b="1" dirty="0">
                <a:solidFill>
                  <a:srgbClr val="C00000"/>
                </a:solidFill>
                <a:latin typeface="楷体" panose="02010609060101010101" pitchFamily="49" charset="-122"/>
                <a:ea typeface="楷体" panose="02010609060101010101" pitchFamily="49" charset="-122"/>
              </a:rPr>
              <a:t> 理解「概念」本质</a:t>
            </a:r>
          </a:p>
        </p:txBody>
      </p:sp>
      <p:cxnSp>
        <p:nvCxnSpPr>
          <p:cNvPr id="13" name="直线箭头连接符 12">
            <a:extLst>
              <a:ext uri="{FF2B5EF4-FFF2-40B4-BE49-F238E27FC236}">
                <a16:creationId xmlns:a16="http://schemas.microsoft.com/office/drawing/2014/main" id="{DAF92CE6-D7A4-CF45-A050-BCEF5B33DF66}"/>
              </a:ext>
            </a:extLst>
          </p:cNvPr>
          <p:cNvCxnSpPr>
            <a:cxnSpLocks/>
          </p:cNvCxnSpPr>
          <p:nvPr/>
        </p:nvCxnSpPr>
        <p:spPr>
          <a:xfrm>
            <a:off x="8217447" y="3429000"/>
            <a:ext cx="0" cy="229149"/>
          </a:xfrm>
          <a:prstGeom prst="straightConnector1">
            <a:avLst/>
          </a:prstGeom>
          <a:ln>
            <a:solidFill>
              <a:srgbClr val="A41AD4"/>
            </a:solidFill>
            <a:tailEnd type="triangle"/>
          </a:ln>
        </p:spPr>
        <p:style>
          <a:lnRef idx="1">
            <a:schemeClr val="accent1"/>
          </a:lnRef>
          <a:fillRef idx="0">
            <a:schemeClr val="accent1"/>
          </a:fillRef>
          <a:effectRef idx="0">
            <a:schemeClr val="accent1"/>
          </a:effectRef>
          <a:fontRef idx="minor">
            <a:schemeClr val="tx1"/>
          </a:fontRef>
        </p:style>
      </p:cxnSp>
      <p:sp>
        <p:nvSpPr>
          <p:cNvPr id="4" name="左大括号 3">
            <a:extLst>
              <a:ext uri="{FF2B5EF4-FFF2-40B4-BE49-F238E27FC236}">
                <a16:creationId xmlns:a16="http://schemas.microsoft.com/office/drawing/2014/main" id="{1893C7FF-E89F-8142-9B58-68CD5B971636}"/>
              </a:ext>
            </a:extLst>
          </p:cNvPr>
          <p:cNvSpPr/>
          <p:nvPr/>
        </p:nvSpPr>
        <p:spPr>
          <a:xfrm>
            <a:off x="693629" y="4777310"/>
            <a:ext cx="207749" cy="1169579"/>
          </a:xfrm>
          <a:prstGeom prst="lef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10" name="矩形 9">
            <a:extLst>
              <a:ext uri="{FF2B5EF4-FFF2-40B4-BE49-F238E27FC236}">
                <a16:creationId xmlns:a16="http://schemas.microsoft.com/office/drawing/2014/main" id="{8E08297E-FB02-BE47-953A-05989EDCD623}"/>
              </a:ext>
            </a:extLst>
          </p:cNvPr>
          <p:cNvSpPr/>
          <p:nvPr/>
        </p:nvSpPr>
        <p:spPr>
          <a:xfrm>
            <a:off x="392189" y="5092721"/>
            <a:ext cx="207750" cy="523220"/>
          </a:xfrm>
          <a:prstGeom prst="rect">
            <a:avLst/>
          </a:prstGeom>
        </p:spPr>
        <p:txBody>
          <a:bodyPr wrap="square">
            <a:spAutoFit/>
          </a:bodyPr>
          <a:lstStyle/>
          <a:p>
            <a:r>
              <a:rPr lang="zh-CN" altLang="en-US" sz="1400" b="1" dirty="0">
                <a:solidFill>
                  <a:srgbClr val="C00000"/>
                </a:solidFill>
                <a:latin typeface="楷体" panose="02010609060101010101" pitchFamily="49" charset="-122"/>
                <a:ea typeface="楷体" panose="02010609060101010101" pitchFamily="49" charset="-122"/>
              </a:rPr>
              <a:t>实验</a:t>
            </a:r>
            <a:endParaRPr lang="zh-CN" altLang="en-US" sz="1400" dirty="0"/>
          </a:p>
        </p:txBody>
      </p:sp>
      <p:pic>
        <p:nvPicPr>
          <p:cNvPr id="8" name="图片 7">
            <a:extLst>
              <a:ext uri="{FF2B5EF4-FFF2-40B4-BE49-F238E27FC236}">
                <a16:creationId xmlns:a16="http://schemas.microsoft.com/office/drawing/2014/main" id="{A9F9FE4C-171D-7B44-8725-87B30211C69C}"/>
              </a:ext>
            </a:extLst>
          </p:cNvPr>
          <p:cNvPicPr>
            <a:picLocks noChangeAspect="1"/>
          </p:cNvPicPr>
          <p:nvPr/>
        </p:nvPicPr>
        <p:blipFill>
          <a:blip r:embed="rId3"/>
          <a:stretch>
            <a:fillRect/>
          </a:stretch>
        </p:blipFill>
        <p:spPr>
          <a:xfrm>
            <a:off x="6804249" y="275412"/>
            <a:ext cx="2826396" cy="945236"/>
          </a:xfrm>
          <a:prstGeom prst="rect">
            <a:avLst/>
          </a:prstGeom>
        </p:spPr>
      </p:pic>
    </p:spTree>
    <p:extLst>
      <p:ext uri="{BB962C8B-B14F-4D97-AF65-F5344CB8AC3E}">
        <p14:creationId xmlns:p14="http://schemas.microsoft.com/office/powerpoint/2010/main" val="21762662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F595439-DC2D-814E-A9B9-7FC87B21C31C}"/>
              </a:ext>
            </a:extLst>
          </p:cNvPr>
          <p:cNvSpPr txBox="1"/>
          <p:nvPr/>
        </p:nvSpPr>
        <p:spPr>
          <a:xfrm>
            <a:off x="417830" y="748030"/>
            <a:ext cx="4942702" cy="2031325"/>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1——</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声</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2——</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密度</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3——</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光</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4——</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热</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5——</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力</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6——</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电</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7——</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磁</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8——</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作图</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9——</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设计实验</a:t>
            </a:r>
          </a:p>
        </p:txBody>
      </p:sp>
      <p:sp>
        <p:nvSpPr>
          <p:cNvPr id="5" name="矩形 4">
            <a:extLst>
              <a:ext uri="{FF2B5EF4-FFF2-40B4-BE49-F238E27FC236}">
                <a16:creationId xmlns:a16="http://schemas.microsoft.com/office/drawing/2014/main" id="{48A01008-C526-154C-9A89-2460719D1A35}"/>
              </a:ext>
            </a:extLst>
          </p:cNvPr>
          <p:cNvSpPr/>
          <p:nvPr/>
        </p:nvSpPr>
        <p:spPr>
          <a:xfrm>
            <a:off x="417830" y="2821759"/>
            <a:ext cx="11177270" cy="3553641"/>
          </a:xfrm>
          <a:prstGeom prst="rect">
            <a:avLst/>
          </a:prstGeom>
          <a:solidFill>
            <a:srgbClr val="E8F0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3B27CFF8-40B3-3A40-9872-17E184753673}"/>
              </a:ext>
            </a:extLst>
          </p:cNvPr>
          <p:cNvSpPr/>
          <p:nvPr/>
        </p:nvSpPr>
        <p:spPr>
          <a:xfrm>
            <a:off x="693629" y="2882386"/>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A573DF6B-D1C2-994B-83B9-DB30AB109901}"/>
              </a:ext>
            </a:extLst>
          </p:cNvPr>
          <p:cNvSpPr txBox="1"/>
          <p:nvPr/>
        </p:nvSpPr>
        <p:spPr>
          <a:xfrm>
            <a:off x="918175" y="2909151"/>
            <a:ext cx="6773286" cy="3539430"/>
          </a:xfrm>
          <a:prstGeom prst="rect">
            <a:avLst/>
          </a:prstGeom>
          <a:noFill/>
        </p:spPr>
        <p:txBody>
          <a:bodyPr wrap="square" rtlCol="0">
            <a:spAutoFit/>
          </a:bodyPr>
          <a:lstStyle/>
          <a:p>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力</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】26</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种题型</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14 </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滑轮组机械效率的测量</a:t>
            </a:r>
          </a:p>
          <a:p>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15 </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探究动能大小的影响因素</a:t>
            </a:r>
          </a:p>
          <a:p>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16 </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探究重力势能大小的影响因素</a:t>
            </a:r>
          </a:p>
          <a:p>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17 </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摩擦力的求解</a:t>
            </a:r>
          </a:p>
          <a:p>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18 </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杠杆平衡条件的应用</a:t>
            </a:r>
          </a:p>
          <a:p>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19 </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机械效率的计算</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20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压强的计算</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21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浮力的计算</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22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浮力、密度、压力和压强比较</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23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液面升降问题</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24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浮力、压力、压强的变化</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25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浮力图像分析</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26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漂浮现象规律应用</a:t>
            </a:r>
          </a:p>
          <a:p>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2" name="矩形 1">
            <a:extLst>
              <a:ext uri="{FF2B5EF4-FFF2-40B4-BE49-F238E27FC236}">
                <a16:creationId xmlns:a16="http://schemas.microsoft.com/office/drawing/2014/main" id="{6062C0DD-F18A-494E-B6D2-F7DF2CAB57A2}"/>
              </a:ext>
            </a:extLst>
          </p:cNvPr>
          <p:cNvSpPr/>
          <p:nvPr/>
        </p:nvSpPr>
        <p:spPr>
          <a:xfrm>
            <a:off x="5177825" y="2609517"/>
            <a:ext cx="6096000" cy="1169551"/>
          </a:xfrm>
          <a:prstGeom prst="rect">
            <a:avLst/>
          </a:prstGeom>
          <a:solidFill>
            <a:schemeClr val="bg1"/>
          </a:solidFill>
          <a:ln>
            <a:solidFill>
              <a:srgbClr val="A41AD4"/>
            </a:solidFill>
          </a:ln>
        </p:spPr>
        <p:txBody>
          <a:bodyPr>
            <a:spAutoFit/>
          </a:bodyPr>
          <a:lstStyle/>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例：</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如图甲所示，在粗糙水平地面上向右运动的物体，受到方向不变的水平拉力 </a:t>
            </a:r>
            <a:r>
              <a:rPr lang="fr-FR" altLang="zh-CN" sz="1400" dirty="0">
                <a:solidFill>
                  <a:schemeClr val="tx1">
                    <a:lumMod val="50000"/>
                    <a:lumOff val="50000"/>
                  </a:schemeClr>
                </a:solidFill>
                <a:latin typeface="楷体" panose="02010609060101010101" pitchFamily="49" charset="-122"/>
                <a:ea typeface="楷体" panose="02010609060101010101" pitchFamily="49" charset="-122"/>
              </a:rPr>
              <a:t>F </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作用，</a:t>
            </a:r>
            <a:r>
              <a:rPr lang="fr-FR" altLang="zh-CN" sz="1400" dirty="0">
                <a:solidFill>
                  <a:schemeClr val="tx1">
                    <a:lumMod val="50000"/>
                    <a:lumOff val="50000"/>
                  </a:schemeClr>
                </a:solidFill>
                <a:latin typeface="楷体" panose="02010609060101010101" pitchFamily="49" charset="-122"/>
                <a:ea typeface="楷体" panose="02010609060101010101" pitchFamily="49" charset="-122"/>
              </a:rPr>
              <a:t>F </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大小与时间 </a:t>
            </a:r>
            <a:r>
              <a:rPr lang="fr-FR" altLang="zh-CN" sz="1400" dirty="0" err="1">
                <a:solidFill>
                  <a:schemeClr val="tx1">
                    <a:lumMod val="50000"/>
                    <a:lumOff val="50000"/>
                  </a:schemeClr>
                </a:solidFill>
                <a:latin typeface="楷体" panose="02010609060101010101" pitchFamily="49" charset="-122"/>
                <a:ea typeface="楷体" panose="02010609060101010101" pitchFamily="49" charset="-122"/>
              </a:rPr>
              <a:t>t</a:t>
            </a:r>
            <a:r>
              <a:rPr lang="fr-FR" altLang="zh-CN" sz="1400" dirty="0">
                <a:solidFill>
                  <a:schemeClr val="tx1">
                    <a:lumMod val="50000"/>
                    <a:lumOff val="50000"/>
                  </a:schemeClr>
                </a:solidFill>
                <a:latin typeface="楷体" panose="02010609060101010101" pitchFamily="49" charset="-122"/>
                <a:ea typeface="楷体" panose="02010609060101010101" pitchFamily="49" charset="-122"/>
              </a:rPr>
              <a:t> </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的关系如图乙所示，物体运动速度 </a:t>
            </a:r>
            <a:r>
              <a:rPr lang="fr-FR" altLang="zh-CN" sz="1400" dirty="0">
                <a:solidFill>
                  <a:schemeClr val="tx1">
                    <a:lumMod val="50000"/>
                    <a:lumOff val="50000"/>
                  </a:schemeClr>
                </a:solidFill>
                <a:latin typeface="楷体" panose="02010609060101010101" pitchFamily="49" charset="-122"/>
                <a:ea typeface="楷体" panose="02010609060101010101" pitchFamily="49" charset="-122"/>
              </a:rPr>
              <a:t>v </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与时间 </a:t>
            </a:r>
            <a:r>
              <a:rPr lang="fr-FR" altLang="zh-CN" sz="1400" dirty="0" err="1">
                <a:solidFill>
                  <a:schemeClr val="tx1">
                    <a:lumMod val="50000"/>
                    <a:lumOff val="50000"/>
                  </a:schemeClr>
                </a:solidFill>
                <a:latin typeface="楷体" panose="02010609060101010101" pitchFamily="49" charset="-122"/>
                <a:ea typeface="楷体" panose="02010609060101010101" pitchFamily="49" charset="-122"/>
              </a:rPr>
              <a:t>t</a:t>
            </a:r>
            <a:r>
              <a:rPr lang="fr-FR" altLang="zh-CN" sz="1400" dirty="0">
                <a:solidFill>
                  <a:schemeClr val="tx1">
                    <a:lumMod val="50000"/>
                    <a:lumOff val="50000"/>
                  </a:schemeClr>
                </a:solidFill>
                <a:latin typeface="楷体" panose="02010609060101010101" pitchFamily="49" charset="-122"/>
                <a:ea typeface="楷体" panose="02010609060101010101" pitchFamily="49" charset="-122"/>
              </a:rPr>
              <a:t> </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的关系如图丙所示。由图像可知，当 </a:t>
            </a:r>
            <a:r>
              <a:rPr lang="fr-FR" altLang="zh-CN" sz="1400" dirty="0" err="1">
                <a:solidFill>
                  <a:schemeClr val="tx1">
                    <a:lumMod val="50000"/>
                    <a:lumOff val="50000"/>
                  </a:schemeClr>
                </a:solidFill>
                <a:latin typeface="楷体" panose="02010609060101010101" pitchFamily="49" charset="-122"/>
                <a:ea typeface="楷体" panose="02010609060101010101" pitchFamily="49" charset="-122"/>
              </a:rPr>
              <a:t>t</a:t>
            </a:r>
            <a:r>
              <a:rPr lang="fr-FR" altLang="zh-CN" sz="1400" dirty="0">
                <a:solidFill>
                  <a:schemeClr val="tx1">
                    <a:lumMod val="50000"/>
                    <a:lumOff val="50000"/>
                  </a:schemeClr>
                </a:solidFill>
                <a:latin typeface="楷体" panose="02010609060101010101" pitchFamily="49" charset="-122"/>
                <a:ea typeface="楷体" panose="02010609060101010101" pitchFamily="49" charset="-122"/>
              </a:rPr>
              <a:t>=4s</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时，物体受到的摩擦力为</a:t>
            </a:r>
            <a:r>
              <a:rPr lang="en-US" altLang="zh-CN" sz="1400" dirty="0">
                <a:solidFill>
                  <a:schemeClr val="tx1">
                    <a:lumMod val="50000"/>
                    <a:lumOff val="50000"/>
                  </a:schemeClr>
                </a:solidFill>
                <a:latin typeface="楷体" panose="02010609060101010101" pitchFamily="49" charset="-122"/>
                <a:ea typeface="楷体" panose="02010609060101010101" pitchFamily="49" charset="-122"/>
              </a:rPr>
              <a:t>______</a:t>
            </a:r>
            <a:r>
              <a:rPr lang="fr-FR" altLang="zh-CN" sz="1400" dirty="0">
                <a:solidFill>
                  <a:schemeClr val="tx1">
                    <a:lumMod val="50000"/>
                    <a:lumOff val="50000"/>
                  </a:schemeClr>
                </a:solidFill>
                <a:latin typeface="楷体" panose="02010609060101010101" pitchFamily="49" charset="-122"/>
                <a:ea typeface="楷体" panose="02010609060101010101" pitchFamily="49" charset="-122"/>
              </a:rPr>
              <a:t>N</a:t>
            </a:r>
            <a:r>
              <a:rPr lang="zh-CN" altLang="fr-FR" sz="1400"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当 </a:t>
            </a:r>
            <a:r>
              <a:rPr lang="fr-FR" altLang="zh-CN" sz="1400" dirty="0" err="1">
                <a:solidFill>
                  <a:schemeClr val="tx1">
                    <a:lumMod val="50000"/>
                    <a:lumOff val="50000"/>
                  </a:schemeClr>
                </a:solidFill>
                <a:latin typeface="楷体" panose="02010609060101010101" pitchFamily="49" charset="-122"/>
                <a:ea typeface="楷体" panose="02010609060101010101" pitchFamily="49" charset="-122"/>
              </a:rPr>
              <a:t>t</a:t>
            </a:r>
            <a:r>
              <a:rPr lang="fr-FR" altLang="zh-CN" sz="1400" dirty="0">
                <a:solidFill>
                  <a:schemeClr val="tx1">
                    <a:lumMod val="50000"/>
                    <a:lumOff val="50000"/>
                  </a:schemeClr>
                </a:solidFill>
                <a:latin typeface="楷体" panose="02010609060101010101" pitchFamily="49" charset="-122"/>
                <a:ea typeface="楷体" panose="02010609060101010101" pitchFamily="49" charset="-122"/>
              </a:rPr>
              <a:t>=6s </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时，物体处于</a:t>
            </a:r>
            <a:r>
              <a:rPr lang="en-US" altLang="zh-CN" sz="1400" dirty="0">
                <a:solidFill>
                  <a:schemeClr val="tx1">
                    <a:lumMod val="50000"/>
                    <a:lumOff val="50000"/>
                  </a:schemeClr>
                </a:solidFill>
                <a:latin typeface="楷体" panose="02010609060101010101" pitchFamily="49" charset="-122"/>
                <a:ea typeface="楷体" panose="02010609060101010101" pitchFamily="49" charset="-122"/>
              </a:rPr>
              <a:t>______</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（选填“匀速”“变速”或“静止”）状态，此时物体受到的摩擦力为</a:t>
            </a:r>
            <a:r>
              <a:rPr lang="en-US" altLang="zh-CN" sz="1400" dirty="0">
                <a:solidFill>
                  <a:schemeClr val="tx1">
                    <a:lumMod val="50000"/>
                    <a:lumOff val="50000"/>
                  </a:schemeClr>
                </a:solidFill>
                <a:latin typeface="楷体" panose="02010609060101010101" pitchFamily="49" charset="-122"/>
                <a:ea typeface="楷体" panose="02010609060101010101" pitchFamily="49" charset="-122"/>
              </a:rPr>
              <a:t>______</a:t>
            </a:r>
            <a:r>
              <a:rPr lang="fr-FR" altLang="zh-CN" sz="1400" dirty="0">
                <a:solidFill>
                  <a:schemeClr val="tx1">
                    <a:lumMod val="50000"/>
                    <a:lumOff val="50000"/>
                  </a:schemeClr>
                </a:solidFill>
                <a:latin typeface="楷体" panose="02010609060101010101" pitchFamily="49" charset="-122"/>
                <a:ea typeface="楷体" panose="02010609060101010101" pitchFamily="49" charset="-122"/>
              </a:rPr>
              <a:t>N</a:t>
            </a:r>
            <a:r>
              <a:rPr lang="zh-CN" altLang="fr-FR" sz="1400" dirty="0">
                <a:solidFill>
                  <a:schemeClr val="tx1">
                    <a:lumMod val="50000"/>
                    <a:lumOff val="50000"/>
                  </a:schemeClr>
                </a:solidFill>
                <a:latin typeface="楷体" panose="02010609060101010101" pitchFamily="49" charset="-122"/>
                <a:ea typeface="楷体" panose="02010609060101010101" pitchFamily="49" charset="-122"/>
              </a:rPr>
              <a:t>。</a:t>
            </a:r>
          </a:p>
        </p:txBody>
      </p:sp>
      <p:sp>
        <p:nvSpPr>
          <p:cNvPr id="9" name="矩形 8">
            <a:extLst>
              <a:ext uri="{FF2B5EF4-FFF2-40B4-BE49-F238E27FC236}">
                <a16:creationId xmlns:a16="http://schemas.microsoft.com/office/drawing/2014/main" id="{3DA9D5CE-2BF0-4343-8F06-9D4EB04216CD}"/>
              </a:ext>
            </a:extLst>
          </p:cNvPr>
          <p:cNvSpPr/>
          <p:nvPr/>
        </p:nvSpPr>
        <p:spPr>
          <a:xfrm>
            <a:off x="5177825" y="4340873"/>
            <a:ext cx="6096000" cy="2246769"/>
          </a:xfrm>
          <a:prstGeom prst="rect">
            <a:avLst/>
          </a:prstGeom>
          <a:solidFill>
            <a:schemeClr val="bg1"/>
          </a:solidFill>
          <a:ln>
            <a:solidFill>
              <a:srgbClr val="A41AD4"/>
            </a:solidFill>
            <a:prstDash val="dash"/>
          </a:ln>
        </p:spPr>
        <p:txBody>
          <a:bodyPr>
            <a:spAutoFit/>
          </a:bodyPr>
          <a:lstStyle/>
          <a:p>
            <a:r>
              <a:rPr lang="en-US" altLang="zh-CN" sz="1400" b="1" dirty="0">
                <a:solidFill>
                  <a:srgbClr val="C00000"/>
                </a:solidFill>
                <a:latin typeface="楷体" panose="02010609060101010101" pitchFamily="49" charset="-122"/>
                <a:ea typeface="楷体" panose="02010609060101010101" pitchFamily="49" charset="-122"/>
              </a:rPr>
              <a:t>4 </a:t>
            </a:r>
            <a:r>
              <a:rPr lang="zh-CN" altLang="en-US" sz="1400" b="1" dirty="0">
                <a:solidFill>
                  <a:srgbClr val="C00000"/>
                </a:solidFill>
                <a:latin typeface="楷体" panose="02010609060101010101" pitchFamily="49" charset="-122"/>
                <a:ea typeface="楷体" panose="02010609060101010101" pitchFamily="49" charset="-122"/>
              </a:rPr>
              <a:t> 静止  </a:t>
            </a:r>
            <a:r>
              <a:rPr lang="en-US" altLang="zh-CN" sz="1400" b="1" dirty="0">
                <a:solidFill>
                  <a:srgbClr val="C00000"/>
                </a:solidFill>
                <a:latin typeface="楷体" panose="02010609060101010101" pitchFamily="49" charset="-122"/>
                <a:ea typeface="楷体" panose="02010609060101010101" pitchFamily="49" charset="-122"/>
              </a:rPr>
              <a:t>3</a:t>
            </a:r>
          </a:p>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解析：丙</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物体在 </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2</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s~3s </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内做</a:t>
            </a:r>
            <a:r>
              <a:rPr lang="zh-CN" altLang="en-US" sz="1400" b="1" dirty="0">
                <a:solidFill>
                  <a:srgbClr val="C00000"/>
                </a:solidFill>
                <a:latin typeface="楷体" panose="02010609060101010101" pitchFamily="49" charset="-122"/>
                <a:ea typeface="楷体" panose="02010609060101010101" pitchFamily="49" charset="-122"/>
              </a:rPr>
              <a:t>匀速直线</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运动，此时拉力和滑动摩擦力是一对平衡力，乙</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拉力是 </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4</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N</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所以</a:t>
            </a:r>
            <a:r>
              <a:rPr lang="zh-CN" altLang="en-US" sz="1400" b="1" dirty="0">
                <a:solidFill>
                  <a:srgbClr val="C00000"/>
                </a:solidFill>
                <a:latin typeface="楷体" panose="02010609060101010101" pitchFamily="49" charset="-122"/>
                <a:ea typeface="楷体" panose="02010609060101010101" pitchFamily="49" charset="-122"/>
              </a:rPr>
              <a:t>滑动摩擦力</a:t>
            </a:r>
            <a:r>
              <a:rPr lang="en-US" altLang="zh-CN" sz="1400" b="1" dirty="0">
                <a:solidFill>
                  <a:srgbClr val="C00000"/>
                </a:solidFill>
                <a:latin typeface="楷体" panose="02010609060101010101" pitchFamily="49" charset="-122"/>
                <a:ea typeface="楷体" panose="02010609060101010101" pitchFamily="49" charset="-122"/>
              </a:rPr>
              <a:t>=4</a:t>
            </a:r>
            <a:r>
              <a:rPr lang="fr-FR" altLang="zh-CN" sz="1400" b="1" dirty="0">
                <a:solidFill>
                  <a:srgbClr val="C00000"/>
                </a:solidFill>
                <a:latin typeface="楷体" panose="02010609060101010101" pitchFamily="49" charset="-122"/>
                <a:ea typeface="楷体" panose="02010609060101010101" pitchFamily="49" charset="-122"/>
              </a:rPr>
              <a:t>N</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当 </a:t>
            </a:r>
            <a:r>
              <a:rPr lang="fr-FR" altLang="zh-CN" sz="1400" b="1" dirty="0" err="1">
                <a:solidFill>
                  <a:schemeClr val="tx1">
                    <a:lumMod val="50000"/>
                    <a:lumOff val="50000"/>
                  </a:schemeClr>
                </a:solidFill>
                <a:latin typeface="楷体" panose="02010609060101010101" pitchFamily="49" charset="-122"/>
                <a:ea typeface="楷体" panose="02010609060101010101" pitchFamily="49" charset="-122"/>
              </a:rPr>
              <a:t>t</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=4s </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时，物体做减速直线运动，压力大小、接触面的粗糙程度不变，滑动摩擦力</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=4</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N</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 </a:t>
            </a:r>
          </a:p>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丙</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当 </a:t>
            </a:r>
            <a:r>
              <a:rPr lang="fr-FR" altLang="zh-CN" sz="1400" b="1" dirty="0" err="1">
                <a:solidFill>
                  <a:schemeClr val="tx1">
                    <a:lumMod val="50000"/>
                    <a:lumOff val="50000"/>
                  </a:schemeClr>
                </a:solidFill>
                <a:latin typeface="楷体" panose="02010609060101010101" pitchFamily="49" charset="-122"/>
                <a:ea typeface="楷体" panose="02010609060101010101" pitchFamily="49" charset="-122"/>
              </a:rPr>
              <a:t>t</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=6s</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时，物体的速度为零，处于静止状态，乙</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拉力是 </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3</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N</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物体平衡，受到的拉力和静摩擦力是平衡力，</a:t>
            </a:r>
            <a:r>
              <a:rPr lang="zh-CN" altLang="en-US" sz="1400" b="1" dirty="0">
                <a:solidFill>
                  <a:srgbClr val="C00000"/>
                </a:solidFill>
                <a:latin typeface="楷体" panose="02010609060101010101" pitchFamily="49" charset="-122"/>
                <a:ea typeface="楷体" panose="02010609060101010101" pitchFamily="49" charset="-122"/>
              </a:rPr>
              <a:t>静摩擦力</a:t>
            </a:r>
            <a:r>
              <a:rPr lang="en-US" altLang="zh-CN" sz="1400" b="1" dirty="0">
                <a:solidFill>
                  <a:srgbClr val="C00000"/>
                </a:solidFill>
                <a:latin typeface="楷体" panose="02010609060101010101" pitchFamily="49" charset="-122"/>
                <a:ea typeface="楷体" panose="02010609060101010101" pitchFamily="49" charset="-122"/>
              </a:rPr>
              <a:t>=3</a:t>
            </a:r>
            <a:r>
              <a:rPr lang="fr-FR" altLang="zh-CN" sz="1400" b="1" dirty="0">
                <a:solidFill>
                  <a:srgbClr val="C00000"/>
                </a:solidFill>
                <a:latin typeface="楷体" panose="02010609060101010101" pitchFamily="49" charset="-122"/>
                <a:ea typeface="楷体" panose="02010609060101010101" pitchFamily="49" charset="-122"/>
              </a:rPr>
              <a:t>N</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a:t>
            </a:r>
          </a:p>
          <a:p>
            <a:endParaRPr lang="en-US" altLang="zh-CN" sz="1400" b="1" dirty="0">
              <a:solidFill>
                <a:schemeClr val="tx1">
                  <a:lumMod val="50000"/>
                  <a:lumOff val="50000"/>
                </a:schemeClr>
              </a:solidFill>
              <a:latin typeface="楷体" panose="02010609060101010101" pitchFamily="49" charset="-122"/>
              <a:ea typeface="楷体" panose="02010609060101010101" pitchFamily="49" charset="-122"/>
            </a:endParaRPr>
          </a:p>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要点：</a:t>
            </a:r>
            <a:endParaRPr lang="en-US" altLang="zh-CN" sz="1400" b="1" dirty="0">
              <a:solidFill>
                <a:schemeClr val="tx1">
                  <a:lumMod val="50000"/>
                  <a:lumOff val="50000"/>
                </a:schemeClr>
              </a:solidFill>
              <a:latin typeface="楷体" panose="02010609060101010101" pitchFamily="49" charset="-122"/>
              <a:ea typeface="楷体" panose="02010609060101010101" pitchFamily="49" charset="-122"/>
            </a:endParaRPr>
          </a:p>
          <a:p>
            <a:r>
              <a:rPr lang="zh-CN" altLang="en-US" sz="1400" b="1" dirty="0">
                <a:solidFill>
                  <a:srgbClr val="C00000"/>
                </a:solidFill>
                <a:latin typeface="楷体" panose="02010609060101010101" pitchFamily="49" charset="-122"/>
                <a:ea typeface="楷体" panose="02010609060101010101" pitchFamily="49" charset="-122"/>
              </a:rPr>
              <a:t>*计算知识点：滑轮</a:t>
            </a:r>
            <a:r>
              <a:rPr lang="en-US" altLang="zh-CN" sz="1400" b="1" dirty="0">
                <a:solidFill>
                  <a:srgbClr val="C00000"/>
                </a:solidFill>
                <a:latin typeface="楷体" panose="02010609060101010101" pitchFamily="49" charset="-122"/>
                <a:ea typeface="楷体" panose="02010609060101010101" pitchFamily="49" charset="-122"/>
              </a:rPr>
              <a:t>/</a:t>
            </a:r>
            <a:r>
              <a:rPr lang="zh-CN" altLang="en-US" sz="1400" b="1" dirty="0">
                <a:solidFill>
                  <a:srgbClr val="C00000"/>
                </a:solidFill>
                <a:latin typeface="楷体" panose="02010609060101010101" pitchFamily="49" charset="-122"/>
                <a:ea typeface="楷体" panose="02010609060101010101" pitchFamily="49" charset="-122"/>
              </a:rPr>
              <a:t>摩擦力</a:t>
            </a:r>
            <a:r>
              <a:rPr lang="en-US" altLang="zh-CN" sz="1400" b="1" dirty="0">
                <a:solidFill>
                  <a:srgbClr val="C00000"/>
                </a:solidFill>
                <a:latin typeface="楷体" panose="02010609060101010101" pitchFamily="49" charset="-122"/>
                <a:ea typeface="楷体" panose="02010609060101010101" pitchFamily="49" charset="-122"/>
              </a:rPr>
              <a:t>/</a:t>
            </a:r>
            <a:r>
              <a:rPr lang="zh-CN" altLang="en-US" sz="1400" b="1" dirty="0">
                <a:solidFill>
                  <a:srgbClr val="C00000"/>
                </a:solidFill>
                <a:latin typeface="楷体" panose="02010609060101010101" pitchFamily="49" charset="-122"/>
                <a:ea typeface="楷体" panose="02010609060101010101" pitchFamily="49" charset="-122"/>
              </a:rPr>
              <a:t>杠杆</a:t>
            </a:r>
            <a:r>
              <a:rPr lang="en-US" altLang="zh-CN" sz="1400" b="1" dirty="0">
                <a:solidFill>
                  <a:srgbClr val="C00000"/>
                </a:solidFill>
                <a:latin typeface="楷体" panose="02010609060101010101" pitchFamily="49" charset="-122"/>
                <a:ea typeface="楷体" panose="02010609060101010101" pitchFamily="49" charset="-122"/>
              </a:rPr>
              <a:t>/</a:t>
            </a:r>
            <a:r>
              <a:rPr lang="zh-CN" altLang="en-US" sz="1400" b="1" dirty="0">
                <a:solidFill>
                  <a:srgbClr val="C00000"/>
                </a:solidFill>
                <a:latin typeface="楷体" panose="02010609060101010101" pitchFamily="49" charset="-122"/>
                <a:ea typeface="楷体" panose="02010609060101010101" pitchFamily="49" charset="-122"/>
              </a:rPr>
              <a:t>机械效率的计算</a:t>
            </a:r>
            <a:endParaRPr lang="en-US" altLang="zh-CN" sz="1400" b="1" dirty="0">
              <a:solidFill>
                <a:srgbClr val="C00000"/>
              </a:solidFill>
              <a:latin typeface="楷体" panose="02010609060101010101" pitchFamily="49" charset="-122"/>
              <a:ea typeface="楷体" panose="02010609060101010101" pitchFamily="49" charset="-122"/>
            </a:endParaRPr>
          </a:p>
          <a:p>
            <a:r>
              <a:rPr lang="zh-CN" altLang="en-US" sz="1400" b="1" dirty="0">
                <a:solidFill>
                  <a:srgbClr val="C00000"/>
                </a:solidFill>
                <a:latin typeface="楷体" panose="02010609060101010101" pitchFamily="49" charset="-122"/>
                <a:ea typeface="楷体" panose="02010609060101010101" pitchFamily="49" charset="-122"/>
              </a:rPr>
              <a:t>*计算步骤：判断运动状态 </a:t>
            </a:r>
            <a:r>
              <a:rPr lang="en-US" altLang="zh-CN" sz="1400" b="1" dirty="0">
                <a:solidFill>
                  <a:srgbClr val="C00000"/>
                </a:solidFill>
                <a:latin typeface="楷体" panose="02010609060101010101" pitchFamily="49" charset="-122"/>
                <a:ea typeface="楷体" panose="02010609060101010101" pitchFamily="49" charset="-122"/>
              </a:rPr>
              <a:t>–</a:t>
            </a:r>
            <a:r>
              <a:rPr lang="zh-CN" altLang="en-US" sz="1400" b="1" dirty="0">
                <a:solidFill>
                  <a:srgbClr val="C00000"/>
                </a:solidFill>
                <a:latin typeface="楷体" panose="02010609060101010101" pitchFamily="49" charset="-122"/>
                <a:ea typeface="楷体" panose="02010609060101010101" pitchFamily="49" charset="-122"/>
              </a:rPr>
              <a:t> 判断公式 </a:t>
            </a:r>
            <a:r>
              <a:rPr lang="en-US" altLang="zh-CN" sz="1400" b="1" dirty="0">
                <a:solidFill>
                  <a:srgbClr val="C00000"/>
                </a:solidFill>
                <a:latin typeface="楷体" panose="02010609060101010101" pitchFamily="49" charset="-122"/>
                <a:ea typeface="楷体" panose="02010609060101010101" pitchFamily="49" charset="-122"/>
              </a:rPr>
              <a:t>-</a:t>
            </a:r>
            <a:r>
              <a:rPr lang="zh-CN" altLang="en-US" sz="1400" b="1" dirty="0">
                <a:solidFill>
                  <a:srgbClr val="C00000"/>
                </a:solidFill>
                <a:latin typeface="楷体" panose="02010609060101010101" pitchFamily="49" charset="-122"/>
                <a:ea typeface="楷体" panose="02010609060101010101" pitchFamily="49" charset="-122"/>
              </a:rPr>
              <a:t> 计算步骤 </a:t>
            </a:r>
            <a:r>
              <a:rPr lang="en-US" altLang="zh-CN" sz="1400" b="1" dirty="0">
                <a:solidFill>
                  <a:srgbClr val="C00000"/>
                </a:solidFill>
                <a:latin typeface="楷体" panose="02010609060101010101" pitchFamily="49" charset="-122"/>
                <a:ea typeface="楷体" panose="02010609060101010101" pitchFamily="49" charset="-122"/>
              </a:rPr>
              <a:t>–</a:t>
            </a:r>
            <a:r>
              <a:rPr lang="zh-CN" altLang="en-US" sz="1400" b="1" dirty="0">
                <a:solidFill>
                  <a:srgbClr val="C00000"/>
                </a:solidFill>
                <a:latin typeface="楷体" panose="02010609060101010101" pitchFamily="49" charset="-122"/>
                <a:ea typeface="楷体" panose="02010609060101010101" pitchFamily="49" charset="-122"/>
              </a:rPr>
              <a:t> 计算结果</a:t>
            </a:r>
            <a:endParaRPr lang="zh-CN" altLang="en-US" sz="1400" dirty="0">
              <a:solidFill>
                <a:schemeClr val="tx1">
                  <a:lumMod val="50000"/>
                  <a:lumOff val="50000"/>
                </a:schemeClr>
              </a:solidFill>
            </a:endParaRPr>
          </a:p>
        </p:txBody>
      </p:sp>
      <p:cxnSp>
        <p:nvCxnSpPr>
          <p:cNvPr id="13" name="直线箭头连接符 12">
            <a:extLst>
              <a:ext uri="{FF2B5EF4-FFF2-40B4-BE49-F238E27FC236}">
                <a16:creationId xmlns:a16="http://schemas.microsoft.com/office/drawing/2014/main" id="{DAF92CE6-D7A4-CF45-A050-BCEF5B33DF66}"/>
              </a:ext>
            </a:extLst>
          </p:cNvPr>
          <p:cNvCxnSpPr>
            <a:cxnSpLocks/>
          </p:cNvCxnSpPr>
          <p:nvPr/>
        </p:nvCxnSpPr>
        <p:spPr>
          <a:xfrm>
            <a:off x="7957751" y="3956961"/>
            <a:ext cx="0" cy="310670"/>
          </a:xfrm>
          <a:prstGeom prst="straightConnector1">
            <a:avLst/>
          </a:prstGeom>
          <a:ln>
            <a:solidFill>
              <a:srgbClr val="A41AD4"/>
            </a:solidFill>
            <a:tailEnd type="triangle"/>
          </a:ln>
        </p:spPr>
        <p:style>
          <a:lnRef idx="1">
            <a:schemeClr val="accent1"/>
          </a:lnRef>
          <a:fillRef idx="0">
            <a:schemeClr val="accent1"/>
          </a:fillRef>
          <a:effectRef idx="0">
            <a:schemeClr val="accent1"/>
          </a:effectRef>
          <a:fontRef idx="minor">
            <a:schemeClr val="tx1"/>
          </a:fontRef>
        </p:style>
      </p:cxnSp>
      <p:sp>
        <p:nvSpPr>
          <p:cNvPr id="10" name="左大括号 9">
            <a:extLst>
              <a:ext uri="{FF2B5EF4-FFF2-40B4-BE49-F238E27FC236}">
                <a16:creationId xmlns:a16="http://schemas.microsoft.com/office/drawing/2014/main" id="{B74C77BA-A57A-F549-B64E-EB3DFC75181E}"/>
              </a:ext>
            </a:extLst>
          </p:cNvPr>
          <p:cNvSpPr/>
          <p:nvPr/>
        </p:nvSpPr>
        <p:spPr>
          <a:xfrm>
            <a:off x="693629" y="3429000"/>
            <a:ext cx="207749" cy="1169579"/>
          </a:xfrm>
          <a:prstGeom prst="lef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11" name="矩形 10">
            <a:extLst>
              <a:ext uri="{FF2B5EF4-FFF2-40B4-BE49-F238E27FC236}">
                <a16:creationId xmlns:a16="http://schemas.microsoft.com/office/drawing/2014/main" id="{CF3B8C01-0DFF-524B-AEDD-966687690B44}"/>
              </a:ext>
            </a:extLst>
          </p:cNvPr>
          <p:cNvSpPr/>
          <p:nvPr/>
        </p:nvSpPr>
        <p:spPr>
          <a:xfrm>
            <a:off x="392189" y="3744411"/>
            <a:ext cx="415498" cy="738664"/>
          </a:xfrm>
          <a:prstGeom prst="rect">
            <a:avLst/>
          </a:prstGeom>
        </p:spPr>
        <p:txBody>
          <a:bodyPr wrap="square">
            <a:spAutoFit/>
          </a:bodyPr>
          <a:lstStyle/>
          <a:p>
            <a:r>
              <a:rPr lang="en-US" altLang="zh-CN" sz="1400" b="1" dirty="0">
                <a:solidFill>
                  <a:srgbClr val="C00000"/>
                </a:solidFill>
                <a:latin typeface="楷体" panose="02010609060101010101" pitchFamily="49" charset="-122"/>
                <a:ea typeface="楷体" panose="02010609060101010101" pitchFamily="49" charset="-122"/>
              </a:rPr>
              <a:t>1</a:t>
            </a:r>
            <a:r>
              <a:rPr lang="zh-CN" altLang="en-US" sz="1400" b="1" dirty="0">
                <a:solidFill>
                  <a:srgbClr val="C00000"/>
                </a:solidFill>
                <a:latin typeface="楷体" panose="02010609060101010101" pitchFamily="49" charset="-122"/>
                <a:ea typeface="楷体" panose="02010609060101010101" pitchFamily="49" charset="-122"/>
              </a:rPr>
              <a:t>）计算</a:t>
            </a:r>
            <a:endParaRPr lang="zh-CN" altLang="en-US" sz="1400" dirty="0"/>
          </a:p>
        </p:txBody>
      </p:sp>
      <p:pic>
        <p:nvPicPr>
          <p:cNvPr id="4" name="图片 3">
            <a:extLst>
              <a:ext uri="{FF2B5EF4-FFF2-40B4-BE49-F238E27FC236}">
                <a16:creationId xmlns:a16="http://schemas.microsoft.com/office/drawing/2014/main" id="{E42E921F-91AC-0041-869F-D6E0D2425504}"/>
              </a:ext>
            </a:extLst>
          </p:cNvPr>
          <p:cNvPicPr>
            <a:picLocks noChangeAspect="1"/>
          </p:cNvPicPr>
          <p:nvPr/>
        </p:nvPicPr>
        <p:blipFill rotWithShape="1">
          <a:blip r:embed="rId3"/>
          <a:srcRect t="4529"/>
          <a:stretch/>
        </p:blipFill>
        <p:spPr>
          <a:xfrm>
            <a:off x="5177825" y="529945"/>
            <a:ext cx="5884622" cy="1931466"/>
          </a:xfrm>
          <a:prstGeom prst="rect">
            <a:avLst/>
          </a:prstGeom>
        </p:spPr>
      </p:pic>
    </p:spTree>
    <p:extLst>
      <p:ext uri="{BB962C8B-B14F-4D97-AF65-F5344CB8AC3E}">
        <p14:creationId xmlns:p14="http://schemas.microsoft.com/office/powerpoint/2010/main" val="10347758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F595439-DC2D-814E-A9B9-7FC87B21C31C}"/>
              </a:ext>
            </a:extLst>
          </p:cNvPr>
          <p:cNvSpPr txBox="1"/>
          <p:nvPr/>
        </p:nvSpPr>
        <p:spPr>
          <a:xfrm>
            <a:off x="417830" y="748030"/>
            <a:ext cx="4942702" cy="2031325"/>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1——</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声</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2——</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密度</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3——</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光</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4——</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热</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5——</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力</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6——</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电</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7——</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磁</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8——</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作图</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9——</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设计实验</a:t>
            </a:r>
          </a:p>
        </p:txBody>
      </p:sp>
      <p:sp>
        <p:nvSpPr>
          <p:cNvPr id="5" name="矩形 4">
            <a:extLst>
              <a:ext uri="{FF2B5EF4-FFF2-40B4-BE49-F238E27FC236}">
                <a16:creationId xmlns:a16="http://schemas.microsoft.com/office/drawing/2014/main" id="{48A01008-C526-154C-9A89-2460719D1A35}"/>
              </a:ext>
            </a:extLst>
          </p:cNvPr>
          <p:cNvSpPr/>
          <p:nvPr/>
        </p:nvSpPr>
        <p:spPr>
          <a:xfrm>
            <a:off x="417830" y="2821759"/>
            <a:ext cx="11177270" cy="3553641"/>
          </a:xfrm>
          <a:prstGeom prst="rect">
            <a:avLst/>
          </a:prstGeom>
          <a:solidFill>
            <a:srgbClr val="E8F0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3B27CFF8-40B3-3A40-9872-17E184753673}"/>
              </a:ext>
            </a:extLst>
          </p:cNvPr>
          <p:cNvSpPr/>
          <p:nvPr/>
        </p:nvSpPr>
        <p:spPr>
          <a:xfrm>
            <a:off x="693629" y="2882386"/>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A573DF6B-D1C2-994B-83B9-DB30AB109901}"/>
              </a:ext>
            </a:extLst>
          </p:cNvPr>
          <p:cNvSpPr txBox="1"/>
          <p:nvPr/>
        </p:nvSpPr>
        <p:spPr>
          <a:xfrm>
            <a:off x="918175" y="2909151"/>
            <a:ext cx="6773286" cy="3539430"/>
          </a:xfrm>
          <a:prstGeom prst="rect">
            <a:avLst/>
          </a:prstGeom>
          <a:noFill/>
        </p:spPr>
        <p:txBody>
          <a:bodyPr wrap="square" rtlCol="0">
            <a:spAutoFit/>
          </a:bodyPr>
          <a:lstStyle/>
          <a:p>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力</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】26</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种题型</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14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滑轮组机械效率的测量</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15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探究动能大小的影响因素</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16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探究重力势能大小的影响因素</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17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摩擦力的求解</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18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杠杆平衡条件的应用</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19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机械效率的计算</a:t>
            </a:r>
          </a:p>
          <a:p>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20 </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压强的计算</a:t>
            </a:r>
          </a:p>
          <a:p>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21 </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浮力的计算</a:t>
            </a:r>
          </a:p>
          <a:p>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22 </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浮力、密度、压力和压强比较</a:t>
            </a:r>
          </a:p>
          <a:p>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23 </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液面升降问题</a:t>
            </a:r>
          </a:p>
          <a:p>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24 </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浮力、压力、压强的变化</a:t>
            </a:r>
          </a:p>
          <a:p>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25 </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浮力图像分析</a:t>
            </a:r>
          </a:p>
          <a:p>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26 </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漂浮现象规律应用</a:t>
            </a:r>
          </a:p>
          <a:p>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2" name="矩形 1">
            <a:extLst>
              <a:ext uri="{FF2B5EF4-FFF2-40B4-BE49-F238E27FC236}">
                <a16:creationId xmlns:a16="http://schemas.microsoft.com/office/drawing/2014/main" id="{6062C0DD-F18A-494E-B6D2-F7DF2CAB57A2}"/>
              </a:ext>
            </a:extLst>
          </p:cNvPr>
          <p:cNvSpPr/>
          <p:nvPr/>
        </p:nvSpPr>
        <p:spPr>
          <a:xfrm>
            <a:off x="5177825" y="603055"/>
            <a:ext cx="6096000" cy="1600438"/>
          </a:xfrm>
          <a:prstGeom prst="rect">
            <a:avLst/>
          </a:prstGeom>
          <a:solidFill>
            <a:schemeClr val="bg1"/>
          </a:solidFill>
          <a:ln>
            <a:solidFill>
              <a:srgbClr val="A41AD4"/>
            </a:solidFill>
          </a:ln>
        </p:spPr>
        <p:txBody>
          <a:bodyPr>
            <a:spAutoFit/>
          </a:bodyPr>
          <a:lstStyle/>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例：</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如图所示，圆柱形容器中盛有某种液体，该液体的密度为 </a:t>
            </a:r>
            <a:r>
              <a:rPr lang="en-US" altLang="zh-CN" sz="1400" dirty="0">
                <a:solidFill>
                  <a:schemeClr val="tx1">
                    <a:lumMod val="50000"/>
                    <a:lumOff val="50000"/>
                  </a:schemeClr>
                </a:solidFill>
                <a:latin typeface="楷体" panose="02010609060101010101" pitchFamily="49" charset="-122"/>
                <a:ea typeface="楷体" panose="02010609060101010101" pitchFamily="49" charset="-122"/>
              </a:rPr>
              <a:t>0.8×103 </a:t>
            </a:r>
            <a:r>
              <a:rPr lang="fr-FR" altLang="zh-CN" sz="1400" dirty="0">
                <a:solidFill>
                  <a:schemeClr val="tx1">
                    <a:lumMod val="50000"/>
                    <a:lumOff val="50000"/>
                  </a:schemeClr>
                </a:solidFill>
                <a:latin typeface="楷体" panose="02010609060101010101" pitchFamily="49" charset="-122"/>
                <a:ea typeface="楷体" panose="02010609060101010101" pitchFamily="49" charset="-122"/>
              </a:rPr>
              <a:t>kg/m3 </a:t>
            </a:r>
            <a:r>
              <a:rPr lang="zh-CN" altLang="fr-FR" sz="1400"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一个体积为 </a:t>
            </a:r>
            <a:r>
              <a:rPr lang="en-US" altLang="zh-CN" sz="1400" dirty="0">
                <a:solidFill>
                  <a:schemeClr val="tx1">
                    <a:lumMod val="50000"/>
                    <a:lumOff val="50000"/>
                  </a:schemeClr>
                </a:solidFill>
                <a:latin typeface="楷体" panose="02010609060101010101" pitchFamily="49" charset="-122"/>
                <a:ea typeface="楷体" panose="02010609060101010101" pitchFamily="49" charset="-122"/>
              </a:rPr>
              <a:t>1000</a:t>
            </a:r>
            <a:r>
              <a:rPr lang="fr-FR" altLang="zh-CN" sz="1400" dirty="0">
                <a:solidFill>
                  <a:schemeClr val="tx1">
                    <a:lumMod val="50000"/>
                    <a:lumOff val="50000"/>
                  </a:schemeClr>
                </a:solidFill>
                <a:latin typeface="楷体" panose="02010609060101010101" pitchFamily="49" charset="-122"/>
                <a:ea typeface="楷体" panose="02010609060101010101" pitchFamily="49" charset="-122"/>
              </a:rPr>
              <a:t>cm3 </a:t>
            </a:r>
            <a:r>
              <a:rPr lang="zh-CN" altLang="fr-FR" sz="1400"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重力为 </a:t>
            </a:r>
            <a:r>
              <a:rPr lang="en-US" altLang="zh-CN" sz="1400" dirty="0">
                <a:solidFill>
                  <a:schemeClr val="tx1">
                    <a:lumMod val="50000"/>
                    <a:lumOff val="50000"/>
                  </a:schemeClr>
                </a:solidFill>
                <a:latin typeface="楷体" panose="02010609060101010101" pitchFamily="49" charset="-122"/>
                <a:ea typeface="楷体" panose="02010609060101010101" pitchFamily="49" charset="-122"/>
              </a:rPr>
              <a:t>6</a:t>
            </a:r>
            <a:r>
              <a:rPr lang="fr-FR" altLang="zh-CN" sz="1400" dirty="0">
                <a:solidFill>
                  <a:schemeClr val="tx1">
                    <a:lumMod val="50000"/>
                    <a:lumOff val="50000"/>
                  </a:schemeClr>
                </a:solidFill>
                <a:latin typeface="楷体" panose="02010609060101010101" pitchFamily="49" charset="-122"/>
                <a:ea typeface="楷体" panose="02010609060101010101" pitchFamily="49" charset="-122"/>
              </a:rPr>
              <a:t>N </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的实心物体被细线系在容器底部，此时液体的深度为 </a:t>
            </a:r>
            <a:r>
              <a:rPr lang="en-US" altLang="zh-CN" sz="1400" dirty="0">
                <a:solidFill>
                  <a:schemeClr val="tx1">
                    <a:lumMod val="50000"/>
                    <a:lumOff val="50000"/>
                  </a:schemeClr>
                </a:solidFill>
                <a:latin typeface="楷体" panose="02010609060101010101" pitchFamily="49" charset="-122"/>
                <a:ea typeface="楷体" panose="02010609060101010101" pitchFamily="49" charset="-122"/>
              </a:rPr>
              <a:t>60</a:t>
            </a:r>
            <a:r>
              <a:rPr lang="fr-FR" altLang="zh-CN" sz="1400" dirty="0">
                <a:solidFill>
                  <a:schemeClr val="tx1">
                    <a:lumMod val="50000"/>
                    <a:lumOff val="50000"/>
                  </a:schemeClr>
                </a:solidFill>
                <a:latin typeface="楷体" panose="02010609060101010101" pitchFamily="49" charset="-122"/>
                <a:ea typeface="楷体" panose="02010609060101010101" pitchFamily="49" charset="-122"/>
              </a:rPr>
              <a:t>cm</a:t>
            </a:r>
            <a:r>
              <a:rPr lang="zh-CN" altLang="fr-FR" sz="1400"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求：（</a:t>
            </a:r>
            <a:r>
              <a:rPr lang="fr-FR" altLang="zh-CN" sz="1400" dirty="0">
                <a:solidFill>
                  <a:schemeClr val="tx1">
                    <a:lumMod val="50000"/>
                    <a:lumOff val="50000"/>
                  </a:schemeClr>
                </a:solidFill>
                <a:latin typeface="楷体" panose="02010609060101010101" pitchFamily="49" charset="-122"/>
                <a:ea typeface="楷体" panose="02010609060101010101" pitchFamily="49" charset="-122"/>
              </a:rPr>
              <a:t>g =10N/kg</a:t>
            </a:r>
            <a:r>
              <a:rPr lang="zh-CN" altLang="fr-FR" sz="1400" dirty="0">
                <a:solidFill>
                  <a:schemeClr val="tx1">
                    <a:lumMod val="50000"/>
                    <a:lumOff val="50000"/>
                  </a:schemeClr>
                </a:solidFill>
                <a:latin typeface="楷体" panose="02010609060101010101" pitchFamily="49" charset="-122"/>
                <a:ea typeface="楷体" panose="02010609060101010101" pitchFamily="49" charset="-122"/>
              </a:rPr>
              <a:t>） </a:t>
            </a:r>
          </a:p>
          <a:p>
            <a:r>
              <a:rPr lang="zh-CN" altLang="fr-FR" sz="1400" dirty="0">
                <a:solidFill>
                  <a:schemeClr val="tx1">
                    <a:lumMod val="50000"/>
                    <a:lumOff val="50000"/>
                  </a:schemeClr>
                </a:solidFill>
                <a:latin typeface="楷体" panose="02010609060101010101" pitchFamily="49" charset="-122"/>
                <a:ea typeface="楷体" panose="02010609060101010101" pitchFamily="49" charset="-122"/>
              </a:rPr>
              <a:t>（</a:t>
            </a:r>
            <a:r>
              <a:rPr lang="fr-FR" altLang="zh-CN" sz="1400" dirty="0">
                <a:solidFill>
                  <a:schemeClr val="tx1">
                    <a:lumMod val="50000"/>
                    <a:lumOff val="50000"/>
                  </a:schemeClr>
                </a:solidFill>
                <a:latin typeface="楷体" panose="02010609060101010101" pitchFamily="49" charset="-122"/>
                <a:ea typeface="楷体" panose="02010609060101010101" pitchFamily="49" charset="-122"/>
              </a:rPr>
              <a:t>1</a:t>
            </a:r>
            <a:r>
              <a:rPr lang="zh-CN" altLang="fr-FR" sz="1400"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液体对容器底部的压强； </a:t>
            </a:r>
          </a:p>
          <a:p>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a:t>
            </a:r>
            <a:r>
              <a:rPr lang="en-US" altLang="zh-CN" sz="1400" dirty="0">
                <a:solidFill>
                  <a:schemeClr val="tx1">
                    <a:lumMod val="50000"/>
                    <a:lumOff val="50000"/>
                  </a:schemeClr>
                </a:solidFill>
                <a:latin typeface="楷体" panose="02010609060101010101" pitchFamily="49" charset="-122"/>
                <a:ea typeface="楷体" panose="02010609060101010101" pitchFamily="49" charset="-122"/>
              </a:rPr>
              <a:t>2</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）细线对物体的拉力； </a:t>
            </a:r>
          </a:p>
          <a:p>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a:t>
            </a:r>
            <a:r>
              <a:rPr lang="en-US" altLang="zh-CN" sz="1400" dirty="0">
                <a:solidFill>
                  <a:schemeClr val="tx1">
                    <a:lumMod val="50000"/>
                    <a:lumOff val="50000"/>
                  </a:schemeClr>
                </a:solidFill>
                <a:latin typeface="楷体" panose="02010609060101010101" pitchFamily="49" charset="-122"/>
                <a:ea typeface="楷体" panose="02010609060101010101" pitchFamily="49" charset="-122"/>
              </a:rPr>
              <a:t>3</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）剪断细线后，物体最终露出液体表面的体积。</a:t>
            </a:r>
            <a:endParaRPr lang="en-US" altLang="zh-CN" sz="1400" dirty="0">
              <a:solidFill>
                <a:schemeClr val="tx1">
                  <a:lumMod val="50000"/>
                  <a:lumOff val="50000"/>
                </a:schemeClr>
              </a:solidFill>
              <a:latin typeface="楷体" panose="02010609060101010101" pitchFamily="49" charset="-122"/>
              <a:ea typeface="楷体" panose="02010609060101010101" pitchFamily="49" charset="-122"/>
            </a:endParaRPr>
          </a:p>
          <a:p>
            <a:endParaRPr lang="zh-CN" altLang="fr-FR" sz="1400" dirty="0">
              <a:solidFill>
                <a:schemeClr val="tx1">
                  <a:lumMod val="50000"/>
                  <a:lumOff val="50000"/>
                </a:schemeClr>
              </a:solidFill>
              <a:latin typeface="楷体" panose="02010609060101010101" pitchFamily="49" charset="-122"/>
              <a:ea typeface="楷体" panose="02010609060101010101" pitchFamily="49" charset="-122"/>
            </a:endParaRPr>
          </a:p>
        </p:txBody>
      </p:sp>
      <p:sp>
        <p:nvSpPr>
          <p:cNvPr id="9" name="矩形 8">
            <a:extLst>
              <a:ext uri="{FF2B5EF4-FFF2-40B4-BE49-F238E27FC236}">
                <a16:creationId xmlns:a16="http://schemas.microsoft.com/office/drawing/2014/main" id="{3DA9D5CE-2BF0-4343-8F06-9D4EB04216CD}"/>
              </a:ext>
            </a:extLst>
          </p:cNvPr>
          <p:cNvSpPr/>
          <p:nvPr/>
        </p:nvSpPr>
        <p:spPr>
          <a:xfrm>
            <a:off x="5177825" y="3067492"/>
            <a:ext cx="6096000" cy="3539430"/>
          </a:xfrm>
          <a:prstGeom prst="rect">
            <a:avLst/>
          </a:prstGeom>
          <a:solidFill>
            <a:schemeClr val="bg1"/>
          </a:solidFill>
          <a:ln>
            <a:solidFill>
              <a:srgbClr val="A41AD4"/>
            </a:solidFill>
            <a:prstDash val="dash"/>
          </a:ln>
        </p:spPr>
        <p:txBody>
          <a:bodyPr wrap="square">
            <a:spAutoFit/>
          </a:bodyPr>
          <a:lstStyle/>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解：（</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1</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）液体的深度为 </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60</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cm</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即 </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h=60cm=0.6m</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液体对容器底部的压强为：</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p=</a:t>
            </a:r>
            <a:r>
              <a:rPr lang="el-GR" altLang="zh-CN" sz="1400" b="1" dirty="0">
                <a:solidFill>
                  <a:schemeClr val="tx1">
                    <a:lumMod val="50000"/>
                    <a:lumOff val="50000"/>
                  </a:schemeClr>
                </a:solidFill>
                <a:latin typeface="楷体" panose="02010609060101010101" pitchFamily="49" charset="-122"/>
                <a:ea typeface="楷体" panose="02010609060101010101" pitchFamily="49" charset="-122"/>
              </a:rPr>
              <a:t>ρ</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液</a:t>
            </a:r>
            <a:r>
              <a:rPr lang="fr-FR" altLang="zh-CN" sz="1400" b="1" dirty="0" err="1">
                <a:solidFill>
                  <a:schemeClr val="tx1">
                    <a:lumMod val="50000"/>
                    <a:lumOff val="50000"/>
                  </a:schemeClr>
                </a:solidFill>
                <a:latin typeface="楷体" panose="02010609060101010101" pitchFamily="49" charset="-122"/>
                <a:ea typeface="楷体" panose="02010609060101010101" pitchFamily="49" charset="-122"/>
              </a:rPr>
              <a:t>gh</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=0.8×103kg/m3×10N/kg×0.6m=4800Pa</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 </a:t>
            </a:r>
          </a:p>
          <a:p>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2</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b="1" dirty="0">
                <a:solidFill>
                  <a:srgbClr val="C00000"/>
                </a:solidFill>
                <a:latin typeface="楷体" panose="02010609060101010101" pitchFamily="49" charset="-122"/>
                <a:ea typeface="楷体" panose="02010609060101010101" pitchFamily="49" charset="-122"/>
              </a:rPr>
              <a:t>受力平衡：</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物体体积为 </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V</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物</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=1000</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cm3=1×10-3 m3</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物体</a:t>
            </a:r>
            <a:r>
              <a:rPr lang="en-US" altLang="zh-CN" sz="1400" b="1" dirty="0">
                <a:solidFill>
                  <a:srgbClr val="C00000"/>
                </a:solidFill>
                <a:latin typeface="楷体" panose="02010609060101010101" pitchFamily="49" charset="-122"/>
                <a:ea typeface="楷体" panose="02010609060101010101" pitchFamily="49" charset="-122"/>
              </a:rPr>
              <a:t>【</a:t>
            </a:r>
            <a:r>
              <a:rPr lang="zh-CN" altLang="en-US" sz="1400" b="1" dirty="0">
                <a:solidFill>
                  <a:srgbClr val="C00000"/>
                </a:solidFill>
                <a:latin typeface="楷体" panose="02010609060101010101" pitchFamily="49" charset="-122"/>
                <a:ea typeface="楷体" panose="02010609060101010101" pitchFamily="49" charset="-122"/>
              </a:rPr>
              <a:t>全部浸没</a:t>
            </a:r>
            <a:r>
              <a:rPr lang="en-US" altLang="zh-CN" sz="1400" b="1" dirty="0">
                <a:solidFill>
                  <a:srgbClr val="C00000"/>
                </a:solidFill>
                <a:latin typeface="楷体" panose="02010609060101010101" pitchFamily="49" charset="-122"/>
                <a:ea typeface="楷体" panose="02010609060101010101" pitchFamily="49" charset="-12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在液体中，所以 </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V</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排</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V</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物</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=1×10-3</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m3</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物体受</a:t>
            </a:r>
            <a:r>
              <a:rPr lang="zh-CN" altLang="en-US" sz="1400" b="1" dirty="0">
                <a:solidFill>
                  <a:srgbClr val="C00000"/>
                </a:solidFill>
                <a:latin typeface="楷体" panose="02010609060101010101" pitchFamily="49" charset="-122"/>
                <a:ea typeface="楷体" panose="02010609060101010101" pitchFamily="49" charset="-122"/>
              </a:rPr>
              <a:t>浮力</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F</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浮</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a:t>
            </a:r>
            <a:r>
              <a:rPr lang="el-GR" altLang="zh-CN" sz="1400" b="1" dirty="0">
                <a:solidFill>
                  <a:schemeClr val="tx1">
                    <a:lumMod val="50000"/>
                    <a:lumOff val="50000"/>
                  </a:schemeClr>
                </a:solidFill>
                <a:latin typeface="楷体" panose="02010609060101010101" pitchFamily="49" charset="-122"/>
                <a:ea typeface="楷体" panose="02010609060101010101" pitchFamily="49" charset="-122"/>
              </a:rPr>
              <a:t>ρ</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液</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V</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排</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g=0.8×103kg/m3×1×10-3 m3×10N/kg=8N</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细线对物体的拉力为： </a:t>
            </a:r>
            <a:r>
              <a:rPr lang="fr-FR" altLang="zh-CN" sz="1400" b="1" dirty="0">
                <a:solidFill>
                  <a:srgbClr val="C00000"/>
                </a:solidFill>
                <a:latin typeface="楷体" panose="02010609060101010101" pitchFamily="49" charset="-122"/>
                <a:ea typeface="楷体" panose="02010609060101010101" pitchFamily="49" charset="-122"/>
              </a:rPr>
              <a:t>F</a:t>
            </a:r>
            <a:r>
              <a:rPr lang="zh-CN" altLang="en-US" sz="1400" b="1" dirty="0">
                <a:solidFill>
                  <a:srgbClr val="C00000"/>
                </a:solidFill>
                <a:latin typeface="楷体" panose="02010609060101010101" pitchFamily="49" charset="-122"/>
                <a:ea typeface="楷体" panose="02010609060101010101" pitchFamily="49" charset="-122"/>
              </a:rPr>
              <a:t>拉</a:t>
            </a:r>
            <a:r>
              <a:rPr lang="en-US" altLang="zh-CN" sz="1400" b="1" dirty="0">
                <a:solidFill>
                  <a:srgbClr val="C00000"/>
                </a:solidFill>
                <a:latin typeface="楷体" panose="02010609060101010101" pitchFamily="49" charset="-122"/>
                <a:ea typeface="楷体" panose="02010609060101010101" pitchFamily="49" charset="-122"/>
              </a:rPr>
              <a:t>=</a:t>
            </a:r>
            <a:r>
              <a:rPr lang="fr-FR" altLang="zh-CN" sz="1400" b="1" dirty="0">
                <a:solidFill>
                  <a:srgbClr val="C00000"/>
                </a:solidFill>
                <a:latin typeface="楷体" panose="02010609060101010101" pitchFamily="49" charset="-122"/>
                <a:ea typeface="楷体" panose="02010609060101010101" pitchFamily="49" charset="-122"/>
              </a:rPr>
              <a:t>F</a:t>
            </a:r>
            <a:r>
              <a:rPr lang="zh-CN" altLang="en-US" sz="1400" b="1" dirty="0">
                <a:solidFill>
                  <a:srgbClr val="C00000"/>
                </a:solidFill>
                <a:latin typeface="楷体" panose="02010609060101010101" pitchFamily="49" charset="-122"/>
                <a:ea typeface="楷体" panose="02010609060101010101" pitchFamily="49" charset="-122"/>
              </a:rPr>
              <a:t>浮</a:t>
            </a:r>
            <a:r>
              <a:rPr lang="en-US" altLang="zh-CN" sz="1400" b="1" dirty="0">
                <a:solidFill>
                  <a:srgbClr val="C00000"/>
                </a:solidFill>
                <a:latin typeface="楷体" panose="02010609060101010101" pitchFamily="49" charset="-122"/>
                <a:ea typeface="楷体" panose="02010609060101010101" pitchFamily="49" charset="-122"/>
              </a:rPr>
              <a:t>-</a:t>
            </a:r>
            <a:r>
              <a:rPr lang="fr-FR" altLang="zh-CN" sz="1400" b="1" dirty="0">
                <a:solidFill>
                  <a:srgbClr val="C00000"/>
                </a:solidFill>
                <a:latin typeface="楷体" panose="02010609060101010101" pitchFamily="49" charset="-122"/>
                <a:ea typeface="楷体" panose="02010609060101010101" pitchFamily="49" charset="-122"/>
              </a:rPr>
              <a:t>G</a:t>
            </a:r>
            <a:r>
              <a:rPr lang="zh-CN" altLang="en-US" sz="1400" b="1" dirty="0">
                <a:solidFill>
                  <a:srgbClr val="C00000"/>
                </a:solidFill>
                <a:latin typeface="楷体" panose="02010609060101010101" pitchFamily="49" charset="-122"/>
                <a:ea typeface="楷体" panose="02010609060101010101" pitchFamily="49" charset="-122"/>
              </a:rPr>
              <a:t>物</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=8</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N-6N=2N</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 </a:t>
            </a:r>
          </a:p>
          <a:p>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3</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剪断细线后，物体处于</a:t>
            </a:r>
            <a:r>
              <a:rPr lang="en-US" altLang="zh-CN" sz="1400" b="1" dirty="0">
                <a:solidFill>
                  <a:srgbClr val="C00000"/>
                </a:solidFill>
                <a:latin typeface="楷体" panose="02010609060101010101" pitchFamily="49" charset="-122"/>
                <a:ea typeface="楷体" panose="02010609060101010101" pitchFamily="49" charset="-122"/>
              </a:rPr>
              <a:t>【</a:t>
            </a:r>
            <a:r>
              <a:rPr lang="zh-CN" altLang="en-US" sz="1400" b="1" dirty="0">
                <a:solidFill>
                  <a:srgbClr val="C00000"/>
                </a:solidFill>
                <a:latin typeface="楷体" panose="02010609060101010101" pitchFamily="49" charset="-122"/>
                <a:ea typeface="楷体" panose="02010609060101010101" pitchFamily="49" charset="-122"/>
              </a:rPr>
              <a:t>漂浮状态</a:t>
            </a:r>
            <a:r>
              <a:rPr lang="en-US" altLang="zh-CN" sz="1400" b="1" dirty="0">
                <a:solidFill>
                  <a:srgbClr val="C00000"/>
                </a:solidFill>
                <a:latin typeface="楷体" panose="02010609060101010101" pitchFamily="49" charset="-122"/>
                <a:ea typeface="楷体" panose="02010609060101010101" pitchFamily="49" charset="-12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，所以此时受到的浮力为： </a:t>
            </a:r>
          </a:p>
          <a:p>
            <a:r>
              <a:rPr lang="fr-FR" altLang="zh-CN" sz="1400" b="1" dirty="0">
                <a:solidFill>
                  <a:srgbClr val="C00000"/>
                </a:solidFill>
                <a:latin typeface="楷体" panose="02010609060101010101" pitchFamily="49" charset="-122"/>
                <a:ea typeface="楷体" panose="02010609060101010101" pitchFamily="49" charset="-122"/>
              </a:rPr>
              <a:t>F</a:t>
            </a:r>
            <a:r>
              <a:rPr lang="zh-CN" altLang="en-US" sz="1400" b="1" dirty="0">
                <a:solidFill>
                  <a:srgbClr val="C00000"/>
                </a:solidFill>
                <a:latin typeface="楷体" panose="02010609060101010101" pitchFamily="49" charset="-122"/>
                <a:ea typeface="楷体" panose="02010609060101010101" pitchFamily="49" charset="-122"/>
              </a:rPr>
              <a:t>浮</a:t>
            </a:r>
            <a:r>
              <a:rPr lang="en-US" altLang="zh-CN" sz="1400" b="1" dirty="0">
                <a:solidFill>
                  <a:srgbClr val="C00000"/>
                </a:solidFill>
                <a:latin typeface="楷体" panose="02010609060101010101" pitchFamily="49" charset="-122"/>
                <a:ea typeface="楷体" panose="02010609060101010101" pitchFamily="49" charset="-122"/>
              </a:rPr>
              <a:t>′=</a:t>
            </a:r>
            <a:r>
              <a:rPr lang="fr-FR" altLang="zh-CN" sz="1400" b="1" dirty="0">
                <a:solidFill>
                  <a:srgbClr val="C00000"/>
                </a:solidFill>
                <a:latin typeface="楷体" panose="02010609060101010101" pitchFamily="49" charset="-122"/>
                <a:ea typeface="楷体" panose="02010609060101010101" pitchFamily="49" charset="-122"/>
              </a:rPr>
              <a:t>G</a:t>
            </a:r>
            <a:r>
              <a:rPr lang="zh-CN" altLang="en-US" sz="1400" b="1" dirty="0">
                <a:solidFill>
                  <a:srgbClr val="C00000"/>
                </a:solidFill>
                <a:latin typeface="楷体" panose="02010609060101010101" pitchFamily="49" charset="-122"/>
                <a:ea typeface="楷体" panose="02010609060101010101" pitchFamily="49" charset="-122"/>
              </a:rPr>
              <a:t>物</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=6</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N</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此时物体排开液体的体积为：</a:t>
            </a:r>
          </a:p>
          <a:p>
            <a:endParaRPr lang="zh-CN" altLang="en-US" sz="1400" b="1" dirty="0">
              <a:solidFill>
                <a:schemeClr val="tx1">
                  <a:lumMod val="50000"/>
                  <a:lumOff val="50000"/>
                </a:schemeClr>
              </a:solidFill>
              <a:latin typeface="楷体" panose="02010609060101010101" pitchFamily="49" charset="-122"/>
              <a:ea typeface="楷体" panose="02010609060101010101" pitchFamily="49" charset="-122"/>
            </a:endParaRPr>
          </a:p>
          <a:p>
            <a:endParaRPr lang="en-US" altLang="zh-CN" sz="1400" b="1" dirty="0">
              <a:solidFill>
                <a:schemeClr val="tx1">
                  <a:lumMod val="50000"/>
                  <a:lumOff val="50000"/>
                </a:schemeClr>
              </a:solidFill>
              <a:latin typeface="楷体" panose="02010609060101010101" pitchFamily="49" charset="-122"/>
              <a:ea typeface="楷体" panose="02010609060101010101" pitchFamily="49" charset="-122"/>
            </a:endParaRPr>
          </a:p>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物体最终露出液体表面的体积为：</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V</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露</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=V</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物</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-V</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排</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′=1×10-3 m3-0.75×10-3 m3=2.5×10-4 m3</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a:t>
            </a:r>
          </a:p>
          <a:p>
            <a:endParaRPr lang="en-US" altLang="zh-CN" sz="1400" b="1" dirty="0">
              <a:solidFill>
                <a:schemeClr val="tx1">
                  <a:lumMod val="50000"/>
                  <a:lumOff val="50000"/>
                </a:schemeClr>
              </a:solidFill>
              <a:latin typeface="楷体" panose="02010609060101010101" pitchFamily="49" charset="-122"/>
              <a:ea typeface="楷体" panose="02010609060101010101" pitchFamily="49" charset="-122"/>
            </a:endParaRPr>
          </a:p>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要点：</a:t>
            </a:r>
            <a:endParaRPr lang="en-US" altLang="zh-CN" sz="1400" b="1" dirty="0">
              <a:solidFill>
                <a:schemeClr val="tx1">
                  <a:lumMod val="50000"/>
                  <a:lumOff val="50000"/>
                </a:schemeClr>
              </a:solidFill>
              <a:latin typeface="楷体" panose="02010609060101010101" pitchFamily="49" charset="-122"/>
              <a:ea typeface="楷体" panose="02010609060101010101" pitchFamily="49" charset="-122"/>
            </a:endParaRPr>
          </a:p>
          <a:p>
            <a:r>
              <a:rPr lang="zh-CN" altLang="en-US" sz="1400" b="1" dirty="0">
                <a:solidFill>
                  <a:srgbClr val="C00000"/>
                </a:solidFill>
                <a:latin typeface="楷体" panose="02010609060101010101" pitchFamily="49" charset="-122"/>
                <a:ea typeface="楷体" panose="02010609060101010101" pitchFamily="49" charset="-122"/>
              </a:rPr>
              <a:t>*计算知识点：压强</a:t>
            </a:r>
            <a:r>
              <a:rPr lang="en-US" altLang="zh-CN" sz="1400" b="1" dirty="0">
                <a:solidFill>
                  <a:srgbClr val="C00000"/>
                </a:solidFill>
                <a:latin typeface="楷体" panose="02010609060101010101" pitchFamily="49" charset="-122"/>
                <a:ea typeface="楷体" panose="02010609060101010101" pitchFamily="49" charset="-122"/>
              </a:rPr>
              <a:t>/</a:t>
            </a:r>
            <a:r>
              <a:rPr lang="zh-CN" altLang="en-US" sz="1400" b="1" dirty="0">
                <a:solidFill>
                  <a:srgbClr val="C00000"/>
                </a:solidFill>
                <a:latin typeface="楷体" panose="02010609060101010101" pitchFamily="49" charset="-122"/>
                <a:ea typeface="楷体" panose="02010609060101010101" pitchFamily="49" charset="-122"/>
              </a:rPr>
              <a:t>浮力的计算</a:t>
            </a:r>
            <a:endParaRPr lang="en-US" altLang="zh-CN" sz="1400" b="1" dirty="0">
              <a:solidFill>
                <a:srgbClr val="C00000"/>
              </a:solidFill>
              <a:latin typeface="楷体" panose="02010609060101010101" pitchFamily="49" charset="-122"/>
              <a:ea typeface="楷体" panose="02010609060101010101" pitchFamily="49" charset="-122"/>
            </a:endParaRPr>
          </a:p>
          <a:p>
            <a:r>
              <a:rPr lang="zh-CN" altLang="en-US" sz="1400" b="1" dirty="0">
                <a:solidFill>
                  <a:srgbClr val="C00000"/>
                </a:solidFill>
                <a:latin typeface="楷体" panose="02010609060101010101" pitchFamily="49" charset="-122"/>
                <a:ea typeface="楷体" panose="02010609060101010101" pitchFamily="49" charset="-122"/>
              </a:rPr>
              <a:t>*实验与理论结合：判断条件 </a:t>
            </a:r>
            <a:r>
              <a:rPr lang="en-US" altLang="zh-CN" sz="1400" b="1" dirty="0">
                <a:solidFill>
                  <a:srgbClr val="C00000"/>
                </a:solidFill>
                <a:latin typeface="楷体" panose="02010609060101010101" pitchFamily="49" charset="-122"/>
                <a:ea typeface="楷体" panose="02010609060101010101" pitchFamily="49" charset="-122"/>
              </a:rPr>
              <a:t>–</a:t>
            </a:r>
            <a:r>
              <a:rPr lang="zh-CN" altLang="en-US" sz="1400" b="1" dirty="0">
                <a:solidFill>
                  <a:srgbClr val="C00000"/>
                </a:solidFill>
                <a:latin typeface="楷体" panose="02010609060101010101" pitchFamily="49" charset="-122"/>
                <a:ea typeface="楷体" panose="02010609060101010101" pitchFamily="49" charset="-122"/>
              </a:rPr>
              <a:t> 判断公式 </a:t>
            </a:r>
            <a:r>
              <a:rPr lang="en-US" altLang="zh-CN" sz="1400" b="1" dirty="0">
                <a:solidFill>
                  <a:srgbClr val="C00000"/>
                </a:solidFill>
                <a:latin typeface="楷体" panose="02010609060101010101" pitchFamily="49" charset="-122"/>
                <a:ea typeface="楷体" panose="02010609060101010101" pitchFamily="49" charset="-122"/>
              </a:rPr>
              <a:t>-</a:t>
            </a:r>
            <a:r>
              <a:rPr lang="zh-CN" altLang="en-US" sz="1400" b="1" dirty="0">
                <a:solidFill>
                  <a:srgbClr val="C00000"/>
                </a:solidFill>
                <a:latin typeface="楷体" panose="02010609060101010101" pitchFamily="49" charset="-122"/>
                <a:ea typeface="楷体" panose="02010609060101010101" pitchFamily="49" charset="-122"/>
              </a:rPr>
              <a:t> 计算步骤 </a:t>
            </a:r>
            <a:r>
              <a:rPr lang="en-US" altLang="zh-CN" sz="1400" b="1" dirty="0">
                <a:solidFill>
                  <a:srgbClr val="C00000"/>
                </a:solidFill>
                <a:latin typeface="楷体" panose="02010609060101010101" pitchFamily="49" charset="-122"/>
                <a:ea typeface="楷体" panose="02010609060101010101" pitchFamily="49" charset="-122"/>
              </a:rPr>
              <a:t>–</a:t>
            </a:r>
            <a:r>
              <a:rPr lang="zh-CN" altLang="en-US" sz="1400" b="1" dirty="0">
                <a:solidFill>
                  <a:srgbClr val="C00000"/>
                </a:solidFill>
                <a:latin typeface="楷体" panose="02010609060101010101" pitchFamily="49" charset="-122"/>
                <a:ea typeface="楷体" panose="02010609060101010101" pitchFamily="49" charset="-122"/>
              </a:rPr>
              <a:t> 计算结果</a:t>
            </a:r>
            <a:endParaRPr lang="zh-CN" altLang="en-US" sz="1400" dirty="0">
              <a:solidFill>
                <a:schemeClr val="tx1">
                  <a:lumMod val="50000"/>
                  <a:lumOff val="50000"/>
                </a:schemeClr>
              </a:solidFill>
            </a:endParaRPr>
          </a:p>
        </p:txBody>
      </p:sp>
      <p:cxnSp>
        <p:nvCxnSpPr>
          <p:cNvPr id="13" name="直线箭头连接符 12">
            <a:extLst>
              <a:ext uri="{FF2B5EF4-FFF2-40B4-BE49-F238E27FC236}">
                <a16:creationId xmlns:a16="http://schemas.microsoft.com/office/drawing/2014/main" id="{DAF92CE6-D7A4-CF45-A050-BCEF5B33DF66}"/>
              </a:ext>
            </a:extLst>
          </p:cNvPr>
          <p:cNvCxnSpPr>
            <a:cxnSpLocks/>
          </p:cNvCxnSpPr>
          <p:nvPr/>
        </p:nvCxnSpPr>
        <p:spPr>
          <a:xfrm>
            <a:off x="7957751" y="2346246"/>
            <a:ext cx="0" cy="536140"/>
          </a:xfrm>
          <a:prstGeom prst="straightConnector1">
            <a:avLst/>
          </a:prstGeom>
          <a:ln>
            <a:solidFill>
              <a:srgbClr val="A41AD4"/>
            </a:solidFill>
            <a:tailEnd type="triangle"/>
          </a:ln>
        </p:spPr>
        <p:style>
          <a:lnRef idx="1">
            <a:schemeClr val="accent1"/>
          </a:lnRef>
          <a:fillRef idx="0">
            <a:schemeClr val="accent1"/>
          </a:fillRef>
          <a:effectRef idx="0">
            <a:schemeClr val="accent1"/>
          </a:effectRef>
          <a:fontRef idx="minor">
            <a:schemeClr val="tx1"/>
          </a:fontRef>
        </p:style>
      </p:cxnSp>
      <p:sp>
        <p:nvSpPr>
          <p:cNvPr id="10" name="左大括号 9">
            <a:extLst>
              <a:ext uri="{FF2B5EF4-FFF2-40B4-BE49-F238E27FC236}">
                <a16:creationId xmlns:a16="http://schemas.microsoft.com/office/drawing/2014/main" id="{B74C77BA-A57A-F549-B64E-EB3DFC75181E}"/>
              </a:ext>
            </a:extLst>
          </p:cNvPr>
          <p:cNvSpPr/>
          <p:nvPr/>
        </p:nvSpPr>
        <p:spPr>
          <a:xfrm>
            <a:off x="693629" y="4733365"/>
            <a:ext cx="207750" cy="1324395"/>
          </a:xfrm>
          <a:prstGeom prst="lef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11" name="矩形 10">
            <a:extLst>
              <a:ext uri="{FF2B5EF4-FFF2-40B4-BE49-F238E27FC236}">
                <a16:creationId xmlns:a16="http://schemas.microsoft.com/office/drawing/2014/main" id="{CF3B8C01-0DFF-524B-AEDD-966687690B44}"/>
              </a:ext>
            </a:extLst>
          </p:cNvPr>
          <p:cNvSpPr/>
          <p:nvPr/>
        </p:nvSpPr>
        <p:spPr>
          <a:xfrm>
            <a:off x="392189" y="5203592"/>
            <a:ext cx="415498" cy="738664"/>
          </a:xfrm>
          <a:prstGeom prst="rect">
            <a:avLst/>
          </a:prstGeom>
        </p:spPr>
        <p:txBody>
          <a:bodyPr wrap="square">
            <a:spAutoFit/>
          </a:bodyPr>
          <a:lstStyle/>
          <a:p>
            <a:r>
              <a:rPr lang="en-US" altLang="zh-CN" sz="1400" b="1" dirty="0">
                <a:solidFill>
                  <a:srgbClr val="C00000"/>
                </a:solidFill>
                <a:latin typeface="楷体" panose="02010609060101010101" pitchFamily="49" charset="-122"/>
                <a:ea typeface="楷体" panose="02010609060101010101" pitchFamily="49" charset="-122"/>
              </a:rPr>
              <a:t>2</a:t>
            </a:r>
            <a:r>
              <a:rPr lang="zh-CN" altLang="en-US" sz="1400" b="1" dirty="0">
                <a:solidFill>
                  <a:srgbClr val="C00000"/>
                </a:solidFill>
                <a:latin typeface="楷体" panose="02010609060101010101" pitchFamily="49" charset="-122"/>
                <a:ea typeface="楷体" panose="02010609060101010101" pitchFamily="49" charset="-122"/>
              </a:rPr>
              <a:t>）计算</a:t>
            </a:r>
            <a:endParaRPr lang="zh-CN" altLang="en-US" sz="1400" dirty="0"/>
          </a:p>
        </p:txBody>
      </p:sp>
      <p:pic>
        <p:nvPicPr>
          <p:cNvPr id="4" name="图片 3">
            <a:extLst>
              <a:ext uri="{FF2B5EF4-FFF2-40B4-BE49-F238E27FC236}">
                <a16:creationId xmlns:a16="http://schemas.microsoft.com/office/drawing/2014/main" id="{507FEB2C-F037-3B44-9CBF-6DEE4A6358DD}"/>
              </a:ext>
            </a:extLst>
          </p:cNvPr>
          <p:cNvPicPr>
            <a:picLocks noChangeAspect="1"/>
          </p:cNvPicPr>
          <p:nvPr/>
        </p:nvPicPr>
        <p:blipFill>
          <a:blip r:embed="rId3"/>
          <a:stretch>
            <a:fillRect/>
          </a:stretch>
        </p:blipFill>
        <p:spPr>
          <a:xfrm>
            <a:off x="9660030" y="1144504"/>
            <a:ext cx="894941" cy="1039578"/>
          </a:xfrm>
          <a:prstGeom prst="rect">
            <a:avLst/>
          </a:prstGeom>
        </p:spPr>
      </p:pic>
      <p:pic>
        <p:nvPicPr>
          <p:cNvPr id="8" name="图片 7">
            <a:extLst>
              <a:ext uri="{FF2B5EF4-FFF2-40B4-BE49-F238E27FC236}">
                <a16:creationId xmlns:a16="http://schemas.microsoft.com/office/drawing/2014/main" id="{049B8846-3E65-CA47-9040-53C2CD32CF81}"/>
              </a:ext>
            </a:extLst>
          </p:cNvPr>
          <p:cNvPicPr>
            <a:picLocks noChangeAspect="1"/>
          </p:cNvPicPr>
          <p:nvPr/>
        </p:nvPicPr>
        <p:blipFill>
          <a:blip r:embed="rId4"/>
          <a:stretch>
            <a:fillRect/>
          </a:stretch>
        </p:blipFill>
        <p:spPr>
          <a:xfrm>
            <a:off x="6231238" y="4834008"/>
            <a:ext cx="3683000" cy="444500"/>
          </a:xfrm>
          <a:prstGeom prst="rect">
            <a:avLst/>
          </a:prstGeom>
        </p:spPr>
      </p:pic>
    </p:spTree>
    <p:extLst>
      <p:ext uri="{BB962C8B-B14F-4D97-AF65-F5344CB8AC3E}">
        <p14:creationId xmlns:p14="http://schemas.microsoft.com/office/powerpoint/2010/main" val="206413958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F595439-DC2D-814E-A9B9-7FC87B21C31C}"/>
              </a:ext>
            </a:extLst>
          </p:cNvPr>
          <p:cNvSpPr txBox="1"/>
          <p:nvPr/>
        </p:nvSpPr>
        <p:spPr>
          <a:xfrm>
            <a:off x="417830" y="748030"/>
            <a:ext cx="4942702" cy="2031325"/>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1——</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声</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2——</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密度</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3——</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光</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4——</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热</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5——</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力</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6——</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电</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7——</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磁</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8——</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作图</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9——</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设计实验</a:t>
            </a:r>
          </a:p>
        </p:txBody>
      </p:sp>
      <p:sp>
        <p:nvSpPr>
          <p:cNvPr id="5" name="矩形 4">
            <a:extLst>
              <a:ext uri="{FF2B5EF4-FFF2-40B4-BE49-F238E27FC236}">
                <a16:creationId xmlns:a16="http://schemas.microsoft.com/office/drawing/2014/main" id="{48A01008-C526-154C-9A89-2460719D1A35}"/>
              </a:ext>
            </a:extLst>
          </p:cNvPr>
          <p:cNvSpPr/>
          <p:nvPr/>
        </p:nvSpPr>
        <p:spPr>
          <a:xfrm>
            <a:off x="417830" y="2821759"/>
            <a:ext cx="11177270" cy="3553641"/>
          </a:xfrm>
          <a:prstGeom prst="rect">
            <a:avLst/>
          </a:prstGeom>
          <a:solidFill>
            <a:srgbClr val="E8F0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3B27CFF8-40B3-3A40-9872-17E184753673}"/>
              </a:ext>
            </a:extLst>
          </p:cNvPr>
          <p:cNvSpPr/>
          <p:nvPr/>
        </p:nvSpPr>
        <p:spPr>
          <a:xfrm>
            <a:off x="693629" y="2882386"/>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A573DF6B-D1C2-994B-83B9-DB30AB109901}"/>
              </a:ext>
            </a:extLst>
          </p:cNvPr>
          <p:cNvSpPr txBox="1"/>
          <p:nvPr/>
        </p:nvSpPr>
        <p:spPr>
          <a:xfrm>
            <a:off x="933760" y="2897416"/>
            <a:ext cx="6773286" cy="2893100"/>
          </a:xfrm>
          <a:prstGeom prst="rect">
            <a:avLst/>
          </a:prstGeom>
          <a:noFill/>
        </p:spPr>
        <p:txBody>
          <a:bodyPr wrap="square" rtlCol="0">
            <a:spAutoFit/>
          </a:bodyPr>
          <a:lstStyle/>
          <a:p>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电</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】9</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种题型</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静电现象</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电路的识别与设计</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3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电路故障判断</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4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动态电路分析</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5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家庭电路和安全用电</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6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探究电流与电压、电阻的关系</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7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伏安法测电阻</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8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伏安法测小灯泡电功率</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9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探究影响电流产生热量的因素</a:t>
            </a:r>
          </a:p>
          <a:p>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2" name="矩形 1">
            <a:extLst>
              <a:ext uri="{FF2B5EF4-FFF2-40B4-BE49-F238E27FC236}">
                <a16:creationId xmlns:a16="http://schemas.microsoft.com/office/drawing/2014/main" id="{6062C0DD-F18A-494E-B6D2-F7DF2CAB57A2}"/>
              </a:ext>
            </a:extLst>
          </p:cNvPr>
          <p:cNvSpPr/>
          <p:nvPr/>
        </p:nvSpPr>
        <p:spPr>
          <a:xfrm>
            <a:off x="3986373" y="521495"/>
            <a:ext cx="4334690" cy="3754874"/>
          </a:xfrm>
          <a:prstGeom prst="rect">
            <a:avLst/>
          </a:prstGeom>
          <a:solidFill>
            <a:schemeClr val="bg1"/>
          </a:solidFill>
          <a:ln>
            <a:solidFill>
              <a:srgbClr val="A41AD4"/>
            </a:solidFill>
          </a:ln>
        </p:spPr>
        <p:txBody>
          <a:bodyPr wrap="square">
            <a:spAutoFit/>
          </a:bodyPr>
          <a:lstStyle/>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例：</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某学习小组在“探究通电导体中电流与电阻的关系”的实验中，小丽连接了如图甲所示的电路（电源电压保持 </a:t>
            </a:r>
            <a:r>
              <a:rPr lang="en-US" altLang="zh-CN" sz="1400" dirty="0">
                <a:solidFill>
                  <a:schemeClr val="tx1">
                    <a:lumMod val="50000"/>
                    <a:lumOff val="50000"/>
                  </a:schemeClr>
                </a:solidFill>
                <a:latin typeface="楷体" panose="02010609060101010101" pitchFamily="49" charset="-122"/>
                <a:ea typeface="楷体" panose="02010609060101010101" pitchFamily="49" charset="-122"/>
              </a:rPr>
              <a:t>4.5</a:t>
            </a:r>
            <a:r>
              <a:rPr lang="fr-FR" altLang="zh-CN" sz="1400" dirty="0">
                <a:solidFill>
                  <a:schemeClr val="tx1">
                    <a:lumMod val="50000"/>
                    <a:lumOff val="50000"/>
                  </a:schemeClr>
                </a:solidFill>
                <a:latin typeface="楷体" panose="02010609060101010101" pitchFamily="49" charset="-122"/>
                <a:ea typeface="楷体" panose="02010609060101010101" pitchFamily="49" charset="-122"/>
              </a:rPr>
              <a:t>V </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不变）。 </a:t>
            </a:r>
            <a:endParaRPr lang="en-US" altLang="zh-CN" sz="1400" dirty="0">
              <a:solidFill>
                <a:schemeClr val="tx1">
                  <a:lumMod val="50000"/>
                  <a:lumOff val="50000"/>
                </a:schemeClr>
              </a:solidFill>
              <a:latin typeface="楷体" panose="02010609060101010101" pitchFamily="49" charset="-122"/>
              <a:ea typeface="楷体" panose="02010609060101010101" pitchFamily="49" charset="-122"/>
            </a:endParaRPr>
          </a:p>
          <a:p>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a:t>
            </a:r>
            <a:r>
              <a:rPr lang="en-US" altLang="zh-CN" sz="1400" dirty="0">
                <a:solidFill>
                  <a:schemeClr val="tx1">
                    <a:lumMod val="50000"/>
                    <a:lumOff val="50000"/>
                  </a:schemeClr>
                </a:solidFill>
                <a:latin typeface="楷体" panose="02010609060101010101" pitchFamily="49" charset="-122"/>
                <a:ea typeface="楷体" panose="02010609060101010101" pitchFamily="49" charset="-122"/>
              </a:rPr>
              <a:t>1</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）请你用笔画线代替导线将甲图实物电路连接完整（要求：滑动变阻器的滑片</a:t>
            </a:r>
            <a:r>
              <a:rPr lang="fr-FR" altLang="zh-CN" sz="1400" dirty="0">
                <a:solidFill>
                  <a:schemeClr val="tx1">
                    <a:lumMod val="50000"/>
                    <a:lumOff val="50000"/>
                  </a:schemeClr>
                </a:solidFill>
                <a:latin typeface="楷体" panose="02010609060101010101" pitchFamily="49" charset="-122"/>
                <a:ea typeface="楷体" panose="02010609060101010101" pitchFamily="49" charset="-122"/>
              </a:rPr>
              <a:t>P</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向右移动时电路中电流变大，导线不能交叉）。 </a:t>
            </a:r>
          </a:p>
          <a:p>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a:t>
            </a:r>
            <a:r>
              <a:rPr lang="en-US" altLang="zh-CN" sz="1400" dirty="0">
                <a:solidFill>
                  <a:schemeClr val="tx1">
                    <a:lumMod val="50000"/>
                    <a:lumOff val="50000"/>
                  </a:schemeClr>
                </a:solidFill>
                <a:latin typeface="楷体" panose="02010609060101010101" pitchFamily="49" charset="-122"/>
                <a:ea typeface="楷体" panose="02010609060101010101" pitchFamily="49" charset="-122"/>
              </a:rPr>
              <a:t>2</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）连接好电路，闭合开关，发现电压表示数接近于电源电压，电流表几乎无示数，则故障为定值电阻 </a:t>
            </a:r>
            <a:r>
              <a:rPr lang="fr-FR" altLang="zh-CN" sz="1400" dirty="0">
                <a:solidFill>
                  <a:schemeClr val="tx1">
                    <a:lumMod val="50000"/>
                    <a:lumOff val="50000"/>
                  </a:schemeClr>
                </a:solidFill>
                <a:latin typeface="楷体" panose="02010609060101010101" pitchFamily="49" charset="-122"/>
                <a:ea typeface="楷体" panose="02010609060101010101" pitchFamily="49" charset="-122"/>
              </a:rPr>
              <a:t>R ______</a:t>
            </a:r>
            <a:r>
              <a:rPr lang="zh-CN" altLang="fr-FR" sz="1400"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选填“断路”或“短路”）。 </a:t>
            </a:r>
          </a:p>
          <a:p>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a:t>
            </a:r>
            <a:r>
              <a:rPr lang="en-US" altLang="zh-CN" sz="1400" dirty="0">
                <a:solidFill>
                  <a:schemeClr val="tx1">
                    <a:lumMod val="50000"/>
                    <a:lumOff val="50000"/>
                  </a:schemeClr>
                </a:solidFill>
                <a:latin typeface="楷体" panose="02010609060101010101" pitchFamily="49" charset="-122"/>
                <a:ea typeface="楷体" panose="02010609060101010101" pitchFamily="49" charset="-122"/>
              </a:rPr>
              <a:t>3</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）图乙是小组根据测得的实验数据绘制的电流 </a:t>
            </a:r>
            <a:r>
              <a:rPr lang="fr-FR" altLang="zh-CN" sz="1400" dirty="0">
                <a:solidFill>
                  <a:schemeClr val="tx1">
                    <a:lumMod val="50000"/>
                    <a:lumOff val="50000"/>
                  </a:schemeClr>
                </a:solidFill>
                <a:latin typeface="楷体" panose="02010609060101010101" pitchFamily="49" charset="-122"/>
                <a:ea typeface="楷体" panose="02010609060101010101" pitchFamily="49" charset="-122"/>
              </a:rPr>
              <a:t>I </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随电阻 </a:t>
            </a:r>
            <a:r>
              <a:rPr lang="fr-FR" altLang="zh-CN" sz="1400" dirty="0">
                <a:solidFill>
                  <a:schemeClr val="tx1">
                    <a:lumMod val="50000"/>
                    <a:lumOff val="50000"/>
                  </a:schemeClr>
                </a:solidFill>
                <a:latin typeface="楷体" panose="02010609060101010101" pitchFamily="49" charset="-122"/>
                <a:ea typeface="楷体" panose="02010609060101010101" pitchFamily="49" charset="-122"/>
              </a:rPr>
              <a:t>R </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变化的图像，由图像可知 </a:t>
            </a:r>
            <a:r>
              <a:rPr lang="fr-FR" altLang="zh-CN" sz="1400" dirty="0">
                <a:solidFill>
                  <a:schemeClr val="tx1">
                    <a:lumMod val="50000"/>
                    <a:lumOff val="50000"/>
                  </a:schemeClr>
                </a:solidFill>
                <a:latin typeface="楷体" panose="02010609060101010101" pitchFamily="49" charset="-122"/>
                <a:ea typeface="楷体" panose="02010609060101010101" pitchFamily="49" charset="-122"/>
              </a:rPr>
              <a:t>R </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两端的电压为 </a:t>
            </a:r>
            <a:r>
              <a:rPr lang="en-US" altLang="zh-CN" sz="1400" dirty="0">
                <a:solidFill>
                  <a:schemeClr val="tx1">
                    <a:lumMod val="50000"/>
                    <a:lumOff val="50000"/>
                  </a:schemeClr>
                </a:solidFill>
                <a:latin typeface="楷体" panose="02010609060101010101" pitchFamily="49" charset="-122"/>
                <a:ea typeface="楷体" panose="02010609060101010101" pitchFamily="49" charset="-122"/>
              </a:rPr>
              <a:t>______</a:t>
            </a:r>
            <a:r>
              <a:rPr lang="fr-FR" altLang="zh-CN" sz="1400" dirty="0">
                <a:solidFill>
                  <a:schemeClr val="tx1">
                    <a:lumMod val="50000"/>
                    <a:lumOff val="50000"/>
                  </a:schemeClr>
                </a:solidFill>
                <a:latin typeface="楷体" panose="02010609060101010101" pitchFamily="49" charset="-122"/>
                <a:ea typeface="楷体" panose="02010609060101010101" pitchFamily="49" charset="-122"/>
              </a:rPr>
              <a:t>V</a:t>
            </a:r>
            <a:r>
              <a:rPr lang="zh-CN" altLang="fr-FR" sz="1400"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当 </a:t>
            </a:r>
            <a:r>
              <a:rPr lang="fr-FR" altLang="zh-CN" sz="1400" dirty="0">
                <a:solidFill>
                  <a:schemeClr val="tx1">
                    <a:lumMod val="50000"/>
                    <a:lumOff val="50000"/>
                  </a:schemeClr>
                </a:solidFill>
                <a:latin typeface="楷体" panose="02010609060101010101" pitchFamily="49" charset="-122"/>
                <a:ea typeface="楷体" panose="02010609060101010101" pitchFamily="49" charset="-122"/>
              </a:rPr>
              <a:t>R </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的电阻由 </a:t>
            </a:r>
            <a:r>
              <a:rPr lang="en-US" altLang="zh-CN" sz="1400" dirty="0">
                <a:solidFill>
                  <a:schemeClr val="tx1">
                    <a:lumMod val="50000"/>
                    <a:lumOff val="50000"/>
                  </a:schemeClr>
                </a:solidFill>
                <a:latin typeface="楷体" panose="02010609060101010101" pitchFamily="49" charset="-122"/>
                <a:ea typeface="楷体" panose="02010609060101010101" pitchFamily="49" charset="-122"/>
              </a:rPr>
              <a:t>5</a:t>
            </a:r>
            <a:r>
              <a:rPr lang="el-GR" altLang="zh-CN" sz="1400" dirty="0">
                <a:solidFill>
                  <a:schemeClr val="tx1">
                    <a:lumMod val="50000"/>
                    <a:lumOff val="50000"/>
                  </a:schemeClr>
                </a:solidFill>
                <a:latin typeface="楷体" panose="02010609060101010101" pitchFamily="49" charset="-122"/>
                <a:ea typeface="楷体" panose="02010609060101010101" pitchFamily="49" charset="-122"/>
              </a:rPr>
              <a:t>Ω </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更换为 </a:t>
            </a:r>
            <a:r>
              <a:rPr lang="en-US" altLang="zh-CN" sz="1400" dirty="0">
                <a:solidFill>
                  <a:schemeClr val="tx1">
                    <a:lumMod val="50000"/>
                    <a:lumOff val="50000"/>
                  </a:schemeClr>
                </a:solidFill>
                <a:latin typeface="楷体" panose="02010609060101010101" pitchFamily="49" charset="-122"/>
                <a:ea typeface="楷体" panose="02010609060101010101" pitchFamily="49" charset="-122"/>
              </a:rPr>
              <a:t>10</a:t>
            </a:r>
            <a:r>
              <a:rPr lang="el-GR" altLang="zh-CN" sz="1400" dirty="0">
                <a:solidFill>
                  <a:schemeClr val="tx1">
                    <a:lumMod val="50000"/>
                    <a:lumOff val="50000"/>
                  </a:schemeClr>
                </a:solidFill>
                <a:latin typeface="楷体" panose="02010609060101010101" pitchFamily="49" charset="-122"/>
                <a:ea typeface="楷体" panose="02010609060101010101" pitchFamily="49" charset="-122"/>
              </a:rPr>
              <a:t>Ω </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时，闭合开关后，应该将滑动变阻器的滑片 </a:t>
            </a:r>
            <a:r>
              <a:rPr lang="fr-FR" altLang="zh-CN" sz="1400" dirty="0">
                <a:solidFill>
                  <a:schemeClr val="tx1">
                    <a:lumMod val="50000"/>
                    <a:lumOff val="50000"/>
                  </a:schemeClr>
                </a:solidFill>
                <a:latin typeface="楷体" panose="02010609060101010101" pitchFamily="49" charset="-122"/>
                <a:ea typeface="楷体" panose="02010609060101010101" pitchFamily="49" charset="-122"/>
              </a:rPr>
              <a:t>P </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向 </a:t>
            </a:r>
            <a:r>
              <a:rPr lang="en-US" altLang="zh-CN" sz="1400" dirty="0">
                <a:solidFill>
                  <a:schemeClr val="tx1">
                    <a:lumMod val="50000"/>
                    <a:lumOff val="50000"/>
                  </a:schemeClr>
                </a:solidFill>
                <a:latin typeface="楷体" panose="02010609060101010101" pitchFamily="49" charset="-122"/>
                <a:ea typeface="楷体" panose="02010609060101010101" pitchFamily="49" charset="-122"/>
              </a:rPr>
              <a:t>______ </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（选填“左”或“右”）端滑动从而达到控制 </a:t>
            </a:r>
            <a:r>
              <a:rPr lang="fr-FR" altLang="zh-CN" sz="1400" dirty="0">
                <a:solidFill>
                  <a:schemeClr val="tx1">
                    <a:lumMod val="50000"/>
                    <a:lumOff val="50000"/>
                  </a:schemeClr>
                </a:solidFill>
                <a:latin typeface="楷体" panose="02010609060101010101" pitchFamily="49" charset="-122"/>
                <a:ea typeface="楷体" panose="02010609060101010101" pitchFamily="49" charset="-122"/>
              </a:rPr>
              <a:t>R </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两端的</a:t>
            </a:r>
            <a:r>
              <a:rPr lang="en-US" altLang="zh-CN" sz="1400" dirty="0">
                <a:solidFill>
                  <a:schemeClr val="tx1">
                    <a:lumMod val="50000"/>
                    <a:lumOff val="50000"/>
                  </a:schemeClr>
                </a:solidFill>
                <a:latin typeface="楷体" panose="02010609060101010101" pitchFamily="49" charset="-122"/>
                <a:ea typeface="楷体" panose="02010609060101010101" pitchFamily="49" charset="-122"/>
              </a:rPr>
              <a:t>_____</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不变的目的；若实验中 </a:t>
            </a:r>
            <a:r>
              <a:rPr lang="fr-FR" altLang="zh-CN" sz="1400" dirty="0">
                <a:solidFill>
                  <a:schemeClr val="tx1">
                    <a:lumMod val="50000"/>
                    <a:lumOff val="50000"/>
                  </a:schemeClr>
                </a:solidFill>
                <a:latin typeface="楷体" panose="02010609060101010101" pitchFamily="49" charset="-122"/>
                <a:ea typeface="楷体" panose="02010609060101010101" pitchFamily="49" charset="-122"/>
              </a:rPr>
              <a:t>R </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的阻值分别是 </a:t>
            </a:r>
            <a:r>
              <a:rPr lang="en-US" altLang="zh-CN" sz="1400" dirty="0">
                <a:solidFill>
                  <a:schemeClr val="tx1">
                    <a:lumMod val="50000"/>
                    <a:lumOff val="50000"/>
                  </a:schemeClr>
                </a:solidFill>
                <a:latin typeface="楷体" panose="02010609060101010101" pitchFamily="49" charset="-122"/>
                <a:ea typeface="楷体" panose="02010609060101010101" pitchFamily="49" charset="-122"/>
              </a:rPr>
              <a:t>5</a:t>
            </a:r>
            <a:r>
              <a:rPr lang="el-GR" altLang="zh-CN" sz="1400" dirty="0">
                <a:solidFill>
                  <a:schemeClr val="tx1">
                    <a:lumMod val="50000"/>
                    <a:lumOff val="50000"/>
                  </a:schemeClr>
                </a:solidFill>
                <a:latin typeface="楷体" panose="02010609060101010101" pitchFamily="49" charset="-122"/>
                <a:ea typeface="楷体" panose="02010609060101010101" pitchFamily="49" charset="-122"/>
              </a:rPr>
              <a:t>Ω</a:t>
            </a:r>
            <a:r>
              <a:rPr lang="zh-CN" altLang="el-GR" sz="1400" dirty="0">
                <a:solidFill>
                  <a:schemeClr val="tx1">
                    <a:lumMod val="50000"/>
                    <a:lumOff val="50000"/>
                  </a:schemeClr>
                </a:solidFill>
                <a:latin typeface="楷体" panose="02010609060101010101" pitchFamily="49" charset="-122"/>
                <a:ea typeface="楷体" panose="02010609060101010101" pitchFamily="49" charset="-122"/>
              </a:rPr>
              <a:t>、</a:t>
            </a:r>
            <a:r>
              <a:rPr lang="el-GR" altLang="zh-CN" sz="1400" dirty="0">
                <a:solidFill>
                  <a:schemeClr val="tx1">
                    <a:lumMod val="50000"/>
                    <a:lumOff val="50000"/>
                  </a:schemeClr>
                </a:solidFill>
                <a:latin typeface="楷体" panose="02010609060101010101" pitchFamily="49" charset="-122"/>
                <a:ea typeface="楷体" panose="02010609060101010101" pitchFamily="49" charset="-122"/>
              </a:rPr>
              <a:t>10Ω</a:t>
            </a:r>
            <a:r>
              <a:rPr lang="zh-CN" altLang="el-GR" sz="1400" dirty="0">
                <a:solidFill>
                  <a:schemeClr val="tx1">
                    <a:lumMod val="50000"/>
                    <a:lumOff val="50000"/>
                  </a:schemeClr>
                </a:solidFill>
                <a:latin typeface="楷体" panose="02010609060101010101" pitchFamily="49" charset="-122"/>
                <a:ea typeface="楷体" panose="02010609060101010101" pitchFamily="49" charset="-122"/>
              </a:rPr>
              <a:t>、</a:t>
            </a:r>
            <a:r>
              <a:rPr lang="el-GR" altLang="zh-CN" sz="1400" dirty="0">
                <a:solidFill>
                  <a:schemeClr val="tx1">
                    <a:lumMod val="50000"/>
                    <a:lumOff val="50000"/>
                  </a:schemeClr>
                </a:solidFill>
                <a:latin typeface="楷体" panose="02010609060101010101" pitchFamily="49" charset="-122"/>
                <a:ea typeface="楷体" panose="02010609060101010101" pitchFamily="49" charset="-122"/>
              </a:rPr>
              <a:t>15Ω</a:t>
            </a:r>
            <a:r>
              <a:rPr lang="zh-CN" altLang="el-GR" sz="1400"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dirty="0">
                <a:solidFill>
                  <a:schemeClr val="tx1">
                    <a:lumMod val="50000"/>
                    <a:lumOff val="50000"/>
                  </a:schemeClr>
                </a:solidFill>
                <a:latin typeface="楷体" panose="02010609060101010101" pitchFamily="49" charset="-122"/>
                <a:ea typeface="楷体" panose="02010609060101010101" pitchFamily="49" charset="-122"/>
              </a:rPr>
              <a:t>则滑动变阻器的最大阻值至少是 </a:t>
            </a:r>
            <a:r>
              <a:rPr lang="en-US" altLang="zh-CN" sz="1400" dirty="0">
                <a:solidFill>
                  <a:schemeClr val="tx1">
                    <a:lumMod val="50000"/>
                    <a:lumOff val="50000"/>
                  </a:schemeClr>
                </a:solidFill>
                <a:latin typeface="楷体" panose="02010609060101010101" pitchFamily="49" charset="-122"/>
                <a:ea typeface="楷体" panose="02010609060101010101" pitchFamily="49" charset="-122"/>
              </a:rPr>
              <a:t>______</a:t>
            </a:r>
            <a:r>
              <a:rPr lang="el-GR" altLang="zh-CN" sz="1400" dirty="0">
                <a:solidFill>
                  <a:schemeClr val="tx1">
                    <a:lumMod val="50000"/>
                    <a:lumOff val="50000"/>
                  </a:schemeClr>
                </a:solidFill>
                <a:latin typeface="楷体" panose="02010609060101010101" pitchFamily="49" charset="-122"/>
                <a:ea typeface="楷体" panose="02010609060101010101" pitchFamily="49" charset="-122"/>
              </a:rPr>
              <a:t>Ω</a:t>
            </a:r>
            <a:r>
              <a:rPr lang="zh-CN" altLang="el-GR" sz="1400" dirty="0">
                <a:solidFill>
                  <a:schemeClr val="tx1">
                    <a:lumMod val="50000"/>
                    <a:lumOff val="50000"/>
                  </a:schemeClr>
                </a:solidFill>
                <a:latin typeface="楷体" panose="02010609060101010101" pitchFamily="49" charset="-122"/>
                <a:ea typeface="楷体" panose="02010609060101010101" pitchFamily="49" charset="-122"/>
              </a:rPr>
              <a:t>。</a:t>
            </a:r>
          </a:p>
        </p:txBody>
      </p:sp>
      <p:sp>
        <p:nvSpPr>
          <p:cNvPr id="9" name="矩形 8">
            <a:extLst>
              <a:ext uri="{FF2B5EF4-FFF2-40B4-BE49-F238E27FC236}">
                <a16:creationId xmlns:a16="http://schemas.microsoft.com/office/drawing/2014/main" id="{3DA9D5CE-2BF0-4343-8F06-9D4EB04216CD}"/>
              </a:ext>
            </a:extLst>
          </p:cNvPr>
          <p:cNvSpPr/>
          <p:nvPr/>
        </p:nvSpPr>
        <p:spPr>
          <a:xfrm>
            <a:off x="3986373" y="4698174"/>
            <a:ext cx="7287452" cy="2031325"/>
          </a:xfrm>
          <a:prstGeom prst="rect">
            <a:avLst/>
          </a:prstGeom>
          <a:solidFill>
            <a:schemeClr val="bg1"/>
          </a:solidFill>
          <a:ln>
            <a:solidFill>
              <a:srgbClr val="A41AD4"/>
            </a:solidFill>
            <a:prstDash val="dash"/>
          </a:ln>
        </p:spPr>
        <p:txBody>
          <a:bodyPr wrap="square">
            <a:spAutoFit/>
          </a:bodyPr>
          <a:lstStyle/>
          <a:p>
            <a:r>
              <a:rPr lang="zh-CN" altLang="en-US" sz="1400" b="1" dirty="0">
                <a:solidFill>
                  <a:srgbClr val="C00000"/>
                </a:solidFill>
                <a:latin typeface="楷体" panose="02010609060101010101" pitchFamily="49" charset="-122"/>
                <a:ea typeface="楷体" panose="02010609060101010101" pitchFamily="49" charset="-122"/>
              </a:rPr>
              <a:t>（</a:t>
            </a:r>
            <a:r>
              <a:rPr lang="en-US" altLang="zh-CN" sz="1400" b="1" dirty="0">
                <a:solidFill>
                  <a:srgbClr val="C00000"/>
                </a:solidFill>
                <a:latin typeface="楷体" panose="02010609060101010101" pitchFamily="49" charset="-122"/>
                <a:ea typeface="楷体" panose="02010609060101010101" pitchFamily="49" charset="-122"/>
              </a:rPr>
              <a:t>2</a:t>
            </a:r>
            <a:r>
              <a:rPr lang="zh-CN" altLang="en-US" sz="1400" b="1" dirty="0">
                <a:solidFill>
                  <a:srgbClr val="C00000"/>
                </a:solidFill>
                <a:latin typeface="楷体" panose="02010609060101010101" pitchFamily="49" charset="-122"/>
                <a:ea typeface="楷体" panose="02010609060101010101" pitchFamily="49" charset="-122"/>
              </a:rPr>
              <a:t>）断路 （</a:t>
            </a:r>
            <a:r>
              <a:rPr lang="en-US" altLang="zh-CN" sz="1400" b="1" dirty="0">
                <a:solidFill>
                  <a:srgbClr val="C00000"/>
                </a:solidFill>
                <a:latin typeface="楷体" panose="02010609060101010101" pitchFamily="49" charset="-122"/>
                <a:ea typeface="楷体" panose="02010609060101010101" pitchFamily="49" charset="-122"/>
              </a:rPr>
              <a:t>3</a:t>
            </a:r>
            <a:r>
              <a:rPr lang="zh-CN" altLang="en-US" sz="1400" b="1" dirty="0">
                <a:solidFill>
                  <a:srgbClr val="C00000"/>
                </a:solidFill>
                <a:latin typeface="楷体" panose="02010609060101010101" pitchFamily="49" charset="-122"/>
                <a:ea typeface="楷体" panose="02010609060101010101" pitchFamily="49" charset="-122"/>
              </a:rPr>
              <a:t>）</a:t>
            </a:r>
            <a:r>
              <a:rPr lang="en-US" altLang="zh-CN" sz="1400" b="1" dirty="0">
                <a:solidFill>
                  <a:srgbClr val="C00000"/>
                </a:solidFill>
                <a:latin typeface="楷体" panose="02010609060101010101" pitchFamily="49" charset="-122"/>
                <a:ea typeface="楷体" panose="02010609060101010101" pitchFamily="49" charset="-122"/>
              </a:rPr>
              <a:t>3 </a:t>
            </a:r>
            <a:r>
              <a:rPr lang="zh-CN" altLang="en-US" sz="1400" b="1" dirty="0">
                <a:solidFill>
                  <a:srgbClr val="C00000"/>
                </a:solidFill>
                <a:latin typeface="楷体" panose="02010609060101010101" pitchFamily="49" charset="-122"/>
                <a:ea typeface="楷体" panose="02010609060101010101" pitchFamily="49" charset="-122"/>
              </a:rPr>
              <a:t>左 电压 </a:t>
            </a:r>
            <a:r>
              <a:rPr lang="en-US" altLang="zh-CN" sz="1400" b="1" dirty="0">
                <a:solidFill>
                  <a:srgbClr val="C00000"/>
                </a:solidFill>
                <a:latin typeface="楷体" panose="02010609060101010101" pitchFamily="49" charset="-122"/>
                <a:ea typeface="楷体" panose="02010609060101010101" pitchFamily="49" charset="-122"/>
              </a:rPr>
              <a:t>7.5</a:t>
            </a:r>
          </a:p>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解析：（</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1</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）滑动变阻器的滑片 </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P</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右移，电流变大，即电阻变小，故变阻器右下接线柱连入电路中与电阻串联；（</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2</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）电路中有断路。电压表示数接近于电源电压，说明</a:t>
            </a:r>
            <a:r>
              <a:rPr lang="zh-CN" altLang="en-US" sz="1400" b="1" dirty="0">
                <a:solidFill>
                  <a:srgbClr val="C00000"/>
                </a:solidFill>
                <a:latin typeface="楷体" panose="02010609060101010101" pitchFamily="49" charset="-122"/>
                <a:ea typeface="楷体" panose="02010609060101010101" pitchFamily="49" charset="-122"/>
              </a:rPr>
              <a:t>电压表串联</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在电路中</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sym typeface="Wingdings" pitchFamily="2" charset="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定值电阻 </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R </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断路；（</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3</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U</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IR</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0.6A×5</a:t>
            </a:r>
            <a:r>
              <a:rPr lang="el-GR" altLang="zh-CN" sz="1400" b="1" dirty="0">
                <a:solidFill>
                  <a:schemeClr val="tx1">
                    <a:lumMod val="50000"/>
                    <a:lumOff val="50000"/>
                  </a:schemeClr>
                </a:solidFill>
                <a:latin typeface="楷体" panose="02010609060101010101" pitchFamily="49" charset="-122"/>
                <a:ea typeface="楷体" panose="02010609060101010101" pitchFamily="49" charset="-122"/>
              </a:rPr>
              <a:t>Ω</a:t>
            </a:r>
            <a:r>
              <a:rPr lang="zh-CN" altLang="el-GR" sz="1400" b="1" dirty="0">
                <a:solidFill>
                  <a:schemeClr val="tx1">
                    <a:lumMod val="50000"/>
                    <a:lumOff val="50000"/>
                  </a:schemeClr>
                </a:solidFill>
                <a:latin typeface="楷体" panose="02010609060101010101" pitchFamily="49" charset="-122"/>
                <a:ea typeface="楷体" panose="02010609060101010101" pitchFamily="49" charset="-122"/>
              </a:rPr>
              <a:t>＝</a:t>
            </a:r>
            <a:r>
              <a:rPr lang="el-GR" altLang="zh-CN" sz="1400" b="1" dirty="0">
                <a:solidFill>
                  <a:schemeClr val="tx1">
                    <a:lumMod val="50000"/>
                    <a:lumOff val="50000"/>
                  </a:schemeClr>
                </a:solidFill>
                <a:latin typeface="楷体" panose="02010609060101010101" pitchFamily="49" charset="-122"/>
                <a:ea typeface="楷体" panose="02010609060101010101" pitchFamily="49" charset="-122"/>
              </a:rPr>
              <a:t>3</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V</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当 </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R</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5</a:t>
            </a:r>
            <a:r>
              <a:rPr lang="el-GR" altLang="zh-CN" sz="1400" b="1" dirty="0">
                <a:solidFill>
                  <a:schemeClr val="tx1">
                    <a:lumMod val="50000"/>
                    <a:lumOff val="50000"/>
                  </a:schemeClr>
                </a:solidFill>
                <a:latin typeface="楷体" panose="02010609060101010101" pitchFamily="49" charset="-122"/>
                <a:ea typeface="楷体" panose="02010609060101010101" pitchFamily="49" charset="-122"/>
              </a:rPr>
              <a:t>Ω</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sym typeface="Wingdings" pitchFamily="2" charset="2"/>
              </a:rPr>
              <a:t></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10</a:t>
            </a:r>
            <a:r>
              <a:rPr lang="el-GR" altLang="zh-CN" sz="1400" b="1" dirty="0">
                <a:solidFill>
                  <a:schemeClr val="tx1">
                    <a:lumMod val="50000"/>
                    <a:lumOff val="50000"/>
                  </a:schemeClr>
                </a:solidFill>
                <a:latin typeface="楷体" panose="02010609060101010101" pitchFamily="49" charset="-122"/>
                <a:ea typeface="楷体" panose="02010609060101010101" pitchFamily="49" charset="-122"/>
              </a:rPr>
              <a:t>Ω </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时，电阻变大，分压增多</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sym typeface="Wingdings" pitchFamily="2" charset="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应控制电压不变</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sym typeface="Wingdings" pitchFamily="2" charset="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增大滑动变阻器分得的电压</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sym typeface="Wingdings" pitchFamily="2" charset="2"/>
              </a:rPr>
              <a:t></a:t>
            </a:r>
            <a:r>
              <a:rPr lang="zh-CN" altLang="en-US" sz="1400" b="1" dirty="0">
                <a:solidFill>
                  <a:srgbClr val="C00000"/>
                </a:solidFill>
                <a:latin typeface="楷体" panose="02010609060101010101" pitchFamily="49" charset="-122"/>
                <a:ea typeface="楷体" panose="02010609060101010101" pitchFamily="49" charset="-122"/>
              </a:rPr>
              <a:t>分压原理，应增大滑动变阻器连入电阻</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sym typeface="Wingdings" pitchFamily="2" charset="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变阻器分压：</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U</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滑＝</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4.5</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V﹣3V</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1.5V</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变阻器分压为电压表示数的 </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0.5 </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倍</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sym typeface="Wingdings" pitchFamily="2" charset="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接入 </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15</a:t>
            </a:r>
            <a:r>
              <a:rPr lang="el-GR" altLang="zh-CN" sz="1400" b="1" dirty="0">
                <a:solidFill>
                  <a:schemeClr val="tx1">
                    <a:lumMod val="50000"/>
                    <a:lumOff val="50000"/>
                  </a:schemeClr>
                </a:solidFill>
                <a:latin typeface="楷体" panose="02010609060101010101" pitchFamily="49" charset="-122"/>
                <a:ea typeface="楷体" panose="02010609060101010101" pitchFamily="49" charset="-122"/>
              </a:rPr>
              <a:t>Ω</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电阻时，</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R</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滑＝</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0.5×15</a:t>
            </a:r>
            <a:r>
              <a:rPr lang="el-GR" altLang="zh-CN" sz="1400" b="1" dirty="0">
                <a:solidFill>
                  <a:schemeClr val="tx1">
                    <a:lumMod val="50000"/>
                    <a:lumOff val="50000"/>
                  </a:schemeClr>
                </a:solidFill>
                <a:latin typeface="楷体" panose="02010609060101010101" pitchFamily="49" charset="-122"/>
                <a:ea typeface="楷体" panose="02010609060101010101" pitchFamily="49" charset="-122"/>
              </a:rPr>
              <a:t>Ω</a:t>
            </a:r>
            <a:r>
              <a:rPr lang="zh-CN" altLang="el-GR" sz="1400" b="1" dirty="0">
                <a:solidFill>
                  <a:schemeClr val="tx1">
                    <a:lumMod val="50000"/>
                    <a:lumOff val="50000"/>
                  </a:schemeClr>
                </a:solidFill>
                <a:latin typeface="楷体" panose="02010609060101010101" pitchFamily="49" charset="-122"/>
                <a:ea typeface="楷体" panose="02010609060101010101" pitchFamily="49" charset="-122"/>
              </a:rPr>
              <a:t>＝</a:t>
            </a:r>
            <a:r>
              <a:rPr lang="el-GR" altLang="zh-CN" sz="1400" b="1" dirty="0">
                <a:solidFill>
                  <a:schemeClr val="tx1">
                    <a:lumMod val="50000"/>
                    <a:lumOff val="50000"/>
                  </a:schemeClr>
                </a:solidFill>
                <a:latin typeface="楷体" panose="02010609060101010101" pitchFamily="49" charset="-122"/>
                <a:ea typeface="楷体" panose="02010609060101010101" pitchFamily="49" charset="-122"/>
              </a:rPr>
              <a:t>7.5Ω</a:t>
            </a:r>
            <a:r>
              <a:rPr lang="zh-CN" altLang="el-GR" sz="1400"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选最大阻值至少为 </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7.5</a:t>
            </a:r>
            <a:r>
              <a:rPr lang="el-GR" altLang="zh-CN" sz="1400" b="1" dirty="0">
                <a:solidFill>
                  <a:schemeClr val="tx1">
                    <a:lumMod val="50000"/>
                    <a:lumOff val="50000"/>
                  </a:schemeClr>
                </a:solidFill>
                <a:latin typeface="楷体" panose="02010609060101010101" pitchFamily="49" charset="-122"/>
                <a:ea typeface="楷体" panose="02010609060101010101" pitchFamily="49" charset="-122"/>
              </a:rPr>
              <a:t>Ω</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的滑动变阻器。</a:t>
            </a:r>
            <a:endParaRPr lang="en-US" altLang="zh-CN" sz="1400" b="1" dirty="0">
              <a:solidFill>
                <a:schemeClr val="tx1">
                  <a:lumMod val="50000"/>
                  <a:lumOff val="50000"/>
                </a:schemeClr>
              </a:solidFill>
              <a:latin typeface="楷体" panose="02010609060101010101" pitchFamily="49" charset="-122"/>
              <a:ea typeface="楷体" panose="02010609060101010101" pitchFamily="49" charset="-122"/>
            </a:endParaRPr>
          </a:p>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要点：</a:t>
            </a:r>
            <a:endParaRPr lang="en-US" altLang="zh-CN" sz="1400" b="1" dirty="0">
              <a:solidFill>
                <a:schemeClr val="tx1">
                  <a:lumMod val="50000"/>
                  <a:lumOff val="50000"/>
                </a:schemeClr>
              </a:solidFill>
              <a:latin typeface="楷体" panose="02010609060101010101" pitchFamily="49" charset="-122"/>
              <a:ea typeface="楷体" panose="02010609060101010101" pitchFamily="49" charset="-122"/>
            </a:endParaRPr>
          </a:p>
          <a:p>
            <a:r>
              <a:rPr lang="zh-CN" altLang="en-US" sz="1400" b="1" dirty="0">
                <a:solidFill>
                  <a:srgbClr val="C00000"/>
                </a:solidFill>
                <a:latin typeface="楷体" panose="02010609060101010101" pitchFamily="49" charset="-122"/>
                <a:ea typeface="楷体" panose="02010609060101010101" pitchFamily="49" charset="-122"/>
              </a:rPr>
              <a:t>*电路：</a:t>
            </a:r>
            <a:r>
              <a:rPr lang="en-US" altLang="zh-CN" sz="1400" b="1" dirty="0">
                <a:solidFill>
                  <a:srgbClr val="C00000"/>
                </a:solidFill>
                <a:latin typeface="楷体" panose="02010609060101010101" pitchFamily="49" charset="-122"/>
                <a:ea typeface="楷体" panose="02010609060101010101" pitchFamily="49" charset="-122"/>
              </a:rPr>
              <a:t>【</a:t>
            </a:r>
            <a:r>
              <a:rPr lang="zh-CN" altLang="en-US" sz="1400" b="1" dirty="0">
                <a:solidFill>
                  <a:srgbClr val="C00000"/>
                </a:solidFill>
                <a:latin typeface="楷体" panose="02010609060101010101" pitchFamily="49" charset="-122"/>
                <a:ea typeface="楷体" panose="02010609060101010101" pitchFamily="49" charset="-122"/>
              </a:rPr>
              <a:t>欧姆定律</a:t>
            </a:r>
            <a:r>
              <a:rPr lang="en-US" altLang="zh-CN" sz="1400" b="1" dirty="0">
                <a:solidFill>
                  <a:srgbClr val="C00000"/>
                </a:solidFill>
                <a:latin typeface="楷体" panose="02010609060101010101" pitchFamily="49" charset="-122"/>
                <a:ea typeface="楷体" panose="02010609060101010101" pitchFamily="49" charset="-122"/>
              </a:rPr>
              <a:t>】+【</a:t>
            </a:r>
            <a:r>
              <a:rPr lang="zh-CN" altLang="en-US" sz="1400" b="1" dirty="0">
                <a:solidFill>
                  <a:srgbClr val="C00000"/>
                </a:solidFill>
                <a:latin typeface="楷体" panose="02010609060101010101" pitchFamily="49" charset="-122"/>
                <a:ea typeface="楷体" panose="02010609060101010101" pitchFamily="49" charset="-122"/>
              </a:rPr>
              <a:t>动态化想象电阻变化</a:t>
            </a:r>
            <a:r>
              <a:rPr lang="en-US" altLang="zh-CN" sz="1400" b="1" dirty="0">
                <a:solidFill>
                  <a:srgbClr val="C00000"/>
                </a:solidFill>
                <a:latin typeface="楷体" panose="02010609060101010101" pitchFamily="49" charset="-122"/>
                <a:ea typeface="楷体" panose="02010609060101010101" pitchFamily="49" charset="-122"/>
              </a:rPr>
              <a:t>】+【</a:t>
            </a:r>
            <a:r>
              <a:rPr lang="zh-CN" altLang="en-US" sz="1400" b="1" dirty="0">
                <a:solidFill>
                  <a:srgbClr val="C00000"/>
                </a:solidFill>
                <a:latin typeface="楷体" panose="02010609060101010101" pitchFamily="49" charset="-122"/>
                <a:ea typeface="楷体" panose="02010609060101010101" pitchFamily="49" charset="-122"/>
              </a:rPr>
              <a:t>形象画图</a:t>
            </a:r>
            <a:r>
              <a:rPr lang="en-US" altLang="zh-CN" sz="1400" b="1" dirty="0">
                <a:solidFill>
                  <a:srgbClr val="C00000"/>
                </a:solidFill>
                <a:latin typeface="楷体" panose="02010609060101010101" pitchFamily="49" charset="-122"/>
                <a:ea typeface="楷体" panose="02010609060101010101" pitchFamily="49" charset="-122"/>
              </a:rPr>
              <a:t>】</a:t>
            </a:r>
          </a:p>
        </p:txBody>
      </p:sp>
      <p:cxnSp>
        <p:nvCxnSpPr>
          <p:cNvPr id="13" name="直线箭头连接符 12">
            <a:extLst>
              <a:ext uri="{FF2B5EF4-FFF2-40B4-BE49-F238E27FC236}">
                <a16:creationId xmlns:a16="http://schemas.microsoft.com/office/drawing/2014/main" id="{DAF92CE6-D7A4-CF45-A050-BCEF5B33DF66}"/>
              </a:ext>
            </a:extLst>
          </p:cNvPr>
          <p:cNvCxnSpPr>
            <a:cxnSpLocks/>
          </p:cNvCxnSpPr>
          <p:nvPr/>
        </p:nvCxnSpPr>
        <p:spPr>
          <a:xfrm>
            <a:off x="10370150" y="2089220"/>
            <a:ext cx="0" cy="977832"/>
          </a:xfrm>
          <a:prstGeom prst="straightConnector1">
            <a:avLst/>
          </a:prstGeom>
          <a:ln>
            <a:solidFill>
              <a:srgbClr val="A41AD4"/>
            </a:solidFill>
            <a:tailEnd type="triangle"/>
          </a:ln>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515DECC3-2C5F-0748-B429-151D24789110}"/>
              </a:ext>
            </a:extLst>
          </p:cNvPr>
          <p:cNvPicPr>
            <a:picLocks noChangeAspect="1"/>
          </p:cNvPicPr>
          <p:nvPr/>
        </p:nvPicPr>
        <p:blipFill>
          <a:blip r:embed="rId3"/>
          <a:stretch>
            <a:fillRect/>
          </a:stretch>
        </p:blipFill>
        <p:spPr>
          <a:xfrm>
            <a:off x="8498908" y="521495"/>
            <a:ext cx="3477939" cy="1464395"/>
          </a:xfrm>
          <a:prstGeom prst="rect">
            <a:avLst/>
          </a:prstGeom>
          <a:ln>
            <a:solidFill>
              <a:srgbClr val="A41AD4"/>
            </a:solidFill>
          </a:ln>
        </p:spPr>
      </p:pic>
      <p:sp>
        <p:nvSpPr>
          <p:cNvPr id="11" name="左大括号 10">
            <a:extLst>
              <a:ext uri="{FF2B5EF4-FFF2-40B4-BE49-F238E27FC236}">
                <a16:creationId xmlns:a16="http://schemas.microsoft.com/office/drawing/2014/main" id="{89648E73-6A77-C444-BD65-985270BE414C}"/>
              </a:ext>
            </a:extLst>
          </p:cNvPr>
          <p:cNvSpPr/>
          <p:nvPr/>
        </p:nvSpPr>
        <p:spPr>
          <a:xfrm>
            <a:off x="612484" y="4466121"/>
            <a:ext cx="220843" cy="738665"/>
          </a:xfrm>
          <a:prstGeom prst="lef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12" name="矩形 11">
            <a:extLst>
              <a:ext uri="{FF2B5EF4-FFF2-40B4-BE49-F238E27FC236}">
                <a16:creationId xmlns:a16="http://schemas.microsoft.com/office/drawing/2014/main" id="{F1658AA8-AC18-7D43-A8D1-D55C2DBCE91D}"/>
              </a:ext>
            </a:extLst>
          </p:cNvPr>
          <p:cNvSpPr/>
          <p:nvPr/>
        </p:nvSpPr>
        <p:spPr>
          <a:xfrm>
            <a:off x="354519" y="4367152"/>
            <a:ext cx="415498" cy="954107"/>
          </a:xfrm>
          <a:prstGeom prst="rect">
            <a:avLst/>
          </a:prstGeom>
        </p:spPr>
        <p:txBody>
          <a:bodyPr wrap="square">
            <a:spAutoFit/>
          </a:bodyPr>
          <a:lstStyle/>
          <a:p>
            <a:r>
              <a:rPr lang="zh-CN" altLang="en-US" sz="1400" b="1" dirty="0">
                <a:solidFill>
                  <a:srgbClr val="C00000"/>
                </a:solidFill>
                <a:latin typeface="楷体" panose="02010609060101010101" pitchFamily="49" charset="-122"/>
                <a:ea typeface="楷体" panose="02010609060101010101" pitchFamily="49" charset="-122"/>
              </a:rPr>
              <a:t>电路实验</a:t>
            </a:r>
            <a:endParaRPr lang="zh-CN" altLang="en-US" sz="1400" dirty="0"/>
          </a:p>
        </p:txBody>
      </p:sp>
      <p:pic>
        <p:nvPicPr>
          <p:cNvPr id="10" name="图片 9">
            <a:extLst>
              <a:ext uri="{FF2B5EF4-FFF2-40B4-BE49-F238E27FC236}">
                <a16:creationId xmlns:a16="http://schemas.microsoft.com/office/drawing/2014/main" id="{73915515-58D1-914F-83C2-D57AF127A11F}"/>
              </a:ext>
            </a:extLst>
          </p:cNvPr>
          <p:cNvPicPr>
            <a:picLocks noChangeAspect="1"/>
          </p:cNvPicPr>
          <p:nvPr/>
        </p:nvPicPr>
        <p:blipFill>
          <a:blip r:embed="rId4"/>
          <a:stretch>
            <a:fillRect/>
          </a:stretch>
        </p:blipFill>
        <p:spPr>
          <a:xfrm>
            <a:off x="9466479" y="3094939"/>
            <a:ext cx="1807343" cy="1405711"/>
          </a:xfrm>
          <a:prstGeom prst="rect">
            <a:avLst/>
          </a:prstGeom>
          <a:ln>
            <a:solidFill>
              <a:srgbClr val="A41AD4"/>
            </a:solidFill>
          </a:ln>
        </p:spPr>
      </p:pic>
    </p:spTree>
    <p:extLst>
      <p:ext uri="{BB962C8B-B14F-4D97-AF65-F5344CB8AC3E}">
        <p14:creationId xmlns:p14="http://schemas.microsoft.com/office/powerpoint/2010/main" val="39911463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F595439-DC2D-814E-A9B9-7FC87B21C31C}"/>
              </a:ext>
            </a:extLst>
          </p:cNvPr>
          <p:cNvSpPr txBox="1"/>
          <p:nvPr/>
        </p:nvSpPr>
        <p:spPr>
          <a:xfrm>
            <a:off x="417830" y="748030"/>
            <a:ext cx="4942702" cy="2031325"/>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1——</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声</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2——</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密度</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3——</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光</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4——</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热</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5——</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力</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6——</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电</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7——</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磁</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8——</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作图</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9——</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设计实验</a:t>
            </a:r>
          </a:p>
        </p:txBody>
      </p:sp>
      <p:sp>
        <p:nvSpPr>
          <p:cNvPr id="5" name="矩形 4">
            <a:extLst>
              <a:ext uri="{FF2B5EF4-FFF2-40B4-BE49-F238E27FC236}">
                <a16:creationId xmlns:a16="http://schemas.microsoft.com/office/drawing/2014/main" id="{48A01008-C526-154C-9A89-2460719D1A35}"/>
              </a:ext>
            </a:extLst>
          </p:cNvPr>
          <p:cNvSpPr/>
          <p:nvPr/>
        </p:nvSpPr>
        <p:spPr>
          <a:xfrm>
            <a:off x="417830" y="2821759"/>
            <a:ext cx="11177270" cy="3553641"/>
          </a:xfrm>
          <a:prstGeom prst="rect">
            <a:avLst/>
          </a:prstGeom>
          <a:solidFill>
            <a:srgbClr val="E8F0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3B27CFF8-40B3-3A40-9872-17E184753673}"/>
              </a:ext>
            </a:extLst>
          </p:cNvPr>
          <p:cNvSpPr/>
          <p:nvPr/>
        </p:nvSpPr>
        <p:spPr>
          <a:xfrm>
            <a:off x="693629" y="2882386"/>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A573DF6B-D1C2-994B-83B9-DB30AB109901}"/>
              </a:ext>
            </a:extLst>
          </p:cNvPr>
          <p:cNvSpPr txBox="1"/>
          <p:nvPr/>
        </p:nvSpPr>
        <p:spPr>
          <a:xfrm>
            <a:off x="901378" y="2925065"/>
            <a:ext cx="6773286" cy="2215991"/>
          </a:xfrm>
          <a:prstGeom prst="rect">
            <a:avLst/>
          </a:prstGeom>
          <a:noFill/>
        </p:spPr>
        <p:txBody>
          <a:bodyPr wrap="square" rtlCol="0">
            <a:spAutoFit/>
          </a:bodyPr>
          <a:lstStyle/>
          <a:p>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磁</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】4</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种题型</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概念辨析</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电磁继电器</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3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磁场对通电导线的作用</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4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探究产生感应电流的条件</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5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三种电磁现象的区分</a:t>
            </a:r>
          </a:p>
          <a:p>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200" b="1" dirty="0">
              <a:solidFill>
                <a:srgbClr val="A41AD4"/>
              </a:solidFill>
              <a:latin typeface="KaiTi" panose="02010609060101010101" pitchFamily="49" charset="-122"/>
              <a:ea typeface="KaiTi" panose="02010609060101010101" pitchFamily="49" charset="-122"/>
              <a:cs typeface="Times New Roman" panose="02020603050405020304" pitchFamily="18" charset="0"/>
            </a:endParaRPr>
          </a:p>
        </p:txBody>
      </p:sp>
      <p:sp>
        <p:nvSpPr>
          <p:cNvPr id="2" name="矩形 1">
            <a:extLst>
              <a:ext uri="{FF2B5EF4-FFF2-40B4-BE49-F238E27FC236}">
                <a16:creationId xmlns:a16="http://schemas.microsoft.com/office/drawing/2014/main" id="{6062C0DD-F18A-494E-B6D2-F7DF2CAB57A2}"/>
              </a:ext>
            </a:extLst>
          </p:cNvPr>
          <p:cNvSpPr/>
          <p:nvPr/>
        </p:nvSpPr>
        <p:spPr>
          <a:xfrm>
            <a:off x="5177825" y="344622"/>
            <a:ext cx="6096000" cy="2308324"/>
          </a:xfrm>
          <a:prstGeom prst="rect">
            <a:avLst/>
          </a:prstGeom>
          <a:solidFill>
            <a:schemeClr val="bg1"/>
          </a:solidFill>
          <a:ln>
            <a:solidFill>
              <a:srgbClr val="A41AD4"/>
            </a:solidFill>
          </a:ln>
        </p:spPr>
        <p:txBody>
          <a:bodyPr>
            <a:spAutoFit/>
          </a:bodyPr>
          <a:lstStyle/>
          <a:p>
            <a:r>
              <a:rPr lang="zh-CN" altLang="en-US" b="1" dirty="0">
                <a:solidFill>
                  <a:schemeClr val="tx1">
                    <a:lumMod val="50000"/>
                    <a:lumOff val="50000"/>
                  </a:schemeClr>
                </a:solidFill>
                <a:latin typeface="楷体" panose="02010609060101010101" pitchFamily="49" charset="-122"/>
                <a:ea typeface="楷体" panose="02010609060101010101" pitchFamily="49" charset="-122"/>
              </a:rPr>
              <a:t>例：</a:t>
            </a:r>
            <a:r>
              <a:rPr lang="zh-CN" altLang="en-US" dirty="0">
                <a:solidFill>
                  <a:schemeClr val="tx1">
                    <a:lumMod val="50000"/>
                    <a:lumOff val="50000"/>
                  </a:schemeClr>
                </a:solidFill>
                <a:latin typeface="楷体" panose="02010609060101010101" pitchFamily="49" charset="-122"/>
                <a:ea typeface="楷体" panose="02010609060101010101" pitchFamily="49" charset="-122"/>
              </a:rPr>
              <a:t>如图所示，将矩形铜线框 </a:t>
            </a:r>
            <a:r>
              <a:rPr lang="fr-FR" altLang="zh-CN" dirty="0">
                <a:solidFill>
                  <a:schemeClr val="tx1">
                    <a:lumMod val="50000"/>
                    <a:lumOff val="50000"/>
                  </a:schemeClr>
                </a:solidFill>
                <a:latin typeface="楷体" panose="02010609060101010101" pitchFamily="49" charset="-122"/>
                <a:ea typeface="楷体" panose="02010609060101010101" pitchFamily="49" charset="-122"/>
              </a:rPr>
              <a:t>ACDF </a:t>
            </a:r>
            <a:r>
              <a:rPr lang="zh-CN" altLang="en-US" dirty="0">
                <a:solidFill>
                  <a:schemeClr val="tx1">
                    <a:lumMod val="50000"/>
                    <a:lumOff val="50000"/>
                  </a:schemeClr>
                </a:solidFill>
                <a:latin typeface="楷体" panose="02010609060101010101" pitchFamily="49" charset="-122"/>
                <a:ea typeface="楷体" panose="02010609060101010101" pitchFamily="49" charset="-122"/>
              </a:rPr>
              <a:t>上的 </a:t>
            </a:r>
            <a:r>
              <a:rPr lang="fr-FR" altLang="zh-CN" dirty="0">
                <a:solidFill>
                  <a:schemeClr val="tx1">
                    <a:lumMod val="50000"/>
                    <a:lumOff val="50000"/>
                  </a:schemeClr>
                </a:solidFill>
                <a:latin typeface="楷体" panose="02010609060101010101" pitchFamily="49" charset="-122"/>
                <a:ea typeface="楷体" panose="02010609060101010101" pitchFamily="49" charset="-122"/>
              </a:rPr>
              <a:t>B</a:t>
            </a:r>
            <a:r>
              <a:rPr lang="zh-CN" altLang="fr-FR" dirty="0">
                <a:solidFill>
                  <a:schemeClr val="tx1">
                    <a:lumMod val="50000"/>
                    <a:lumOff val="50000"/>
                  </a:schemeClr>
                </a:solidFill>
                <a:latin typeface="楷体" panose="02010609060101010101" pitchFamily="49" charset="-122"/>
                <a:ea typeface="楷体" panose="02010609060101010101" pitchFamily="49" charset="-122"/>
              </a:rPr>
              <a:t>、</a:t>
            </a:r>
            <a:r>
              <a:rPr lang="fr-FR" altLang="zh-CN" dirty="0">
                <a:solidFill>
                  <a:schemeClr val="tx1">
                    <a:lumMod val="50000"/>
                    <a:lumOff val="50000"/>
                  </a:schemeClr>
                </a:solidFill>
                <a:latin typeface="楷体" panose="02010609060101010101" pitchFamily="49" charset="-122"/>
                <a:ea typeface="楷体" panose="02010609060101010101" pitchFamily="49" charset="-122"/>
              </a:rPr>
              <a:t>E </a:t>
            </a:r>
            <a:r>
              <a:rPr lang="zh-CN" altLang="en-US" dirty="0">
                <a:solidFill>
                  <a:schemeClr val="tx1">
                    <a:lumMod val="50000"/>
                    <a:lumOff val="50000"/>
                  </a:schemeClr>
                </a:solidFill>
                <a:latin typeface="楷体" panose="02010609060101010101" pitchFamily="49" charset="-122"/>
                <a:ea typeface="楷体" panose="02010609060101010101" pitchFamily="49" charset="-122"/>
              </a:rPr>
              <a:t>两点接入电路并放入磁场中，</a:t>
            </a:r>
            <a:r>
              <a:rPr lang="fr-FR" altLang="zh-CN" dirty="0">
                <a:solidFill>
                  <a:schemeClr val="tx1">
                    <a:lumMod val="50000"/>
                    <a:lumOff val="50000"/>
                  </a:schemeClr>
                </a:solidFill>
                <a:latin typeface="楷体" panose="02010609060101010101" pitchFamily="49" charset="-122"/>
                <a:ea typeface="楷体" panose="02010609060101010101" pitchFamily="49" charset="-122"/>
              </a:rPr>
              <a:t>AB</a:t>
            </a:r>
            <a:r>
              <a:rPr lang="zh-CN" altLang="fr-FR" dirty="0">
                <a:solidFill>
                  <a:schemeClr val="tx1">
                    <a:lumMod val="50000"/>
                    <a:lumOff val="50000"/>
                  </a:schemeClr>
                </a:solidFill>
                <a:latin typeface="楷体" panose="02010609060101010101" pitchFamily="49" charset="-122"/>
                <a:ea typeface="楷体" panose="02010609060101010101" pitchFamily="49" charset="-122"/>
              </a:rPr>
              <a:t>、</a:t>
            </a:r>
            <a:r>
              <a:rPr lang="fr-FR" altLang="zh-CN" dirty="0">
                <a:solidFill>
                  <a:schemeClr val="tx1">
                    <a:lumMod val="50000"/>
                    <a:lumOff val="50000"/>
                  </a:schemeClr>
                </a:solidFill>
                <a:latin typeface="楷体" panose="02010609060101010101" pitchFamily="49" charset="-122"/>
                <a:ea typeface="楷体" panose="02010609060101010101" pitchFamily="49" charset="-122"/>
              </a:rPr>
              <a:t>BC</a:t>
            </a:r>
            <a:r>
              <a:rPr lang="zh-CN" altLang="fr-FR" dirty="0">
                <a:solidFill>
                  <a:schemeClr val="tx1">
                    <a:lumMod val="50000"/>
                    <a:lumOff val="50000"/>
                  </a:schemeClr>
                </a:solidFill>
                <a:latin typeface="楷体" panose="02010609060101010101" pitchFamily="49" charset="-122"/>
                <a:ea typeface="楷体" panose="02010609060101010101" pitchFamily="49" charset="-122"/>
              </a:rPr>
              <a:t>、</a:t>
            </a:r>
            <a:r>
              <a:rPr lang="fr-FR" altLang="zh-CN" dirty="0">
                <a:solidFill>
                  <a:schemeClr val="tx1">
                    <a:lumMod val="50000"/>
                    <a:lumOff val="50000"/>
                  </a:schemeClr>
                </a:solidFill>
                <a:latin typeface="楷体" panose="02010609060101010101" pitchFamily="49" charset="-122"/>
                <a:ea typeface="楷体" panose="02010609060101010101" pitchFamily="49" charset="-122"/>
              </a:rPr>
              <a:t>ED </a:t>
            </a:r>
            <a:r>
              <a:rPr lang="zh-CN" altLang="en-US" dirty="0">
                <a:solidFill>
                  <a:schemeClr val="tx1">
                    <a:lumMod val="50000"/>
                    <a:lumOff val="50000"/>
                  </a:schemeClr>
                </a:solidFill>
                <a:latin typeface="楷体" panose="02010609060101010101" pitchFamily="49" charset="-122"/>
                <a:ea typeface="楷体" panose="02010609060101010101" pitchFamily="49" charset="-122"/>
              </a:rPr>
              <a:t>和 </a:t>
            </a:r>
            <a:r>
              <a:rPr lang="fr-FR" altLang="zh-CN" dirty="0">
                <a:solidFill>
                  <a:schemeClr val="tx1">
                    <a:lumMod val="50000"/>
                    <a:lumOff val="50000"/>
                  </a:schemeClr>
                </a:solidFill>
                <a:latin typeface="楷体" panose="02010609060101010101" pitchFamily="49" charset="-122"/>
                <a:ea typeface="楷体" panose="02010609060101010101" pitchFamily="49" charset="-122"/>
              </a:rPr>
              <a:t>FE</a:t>
            </a:r>
            <a:r>
              <a:rPr lang="zh-CN" altLang="en-US" dirty="0">
                <a:solidFill>
                  <a:schemeClr val="tx1">
                    <a:lumMod val="50000"/>
                    <a:lumOff val="50000"/>
                  </a:schemeClr>
                </a:solidFill>
                <a:latin typeface="楷体" panose="02010609060101010101" pitchFamily="49" charset="-122"/>
                <a:ea typeface="楷体" panose="02010609060101010101" pitchFamily="49" charset="-122"/>
              </a:rPr>
              <a:t>段都受到磁场的作用力，下列哪两段线框在磁场中受力的方向相同（ ）</a:t>
            </a:r>
          </a:p>
          <a:p>
            <a:r>
              <a:rPr lang="fr-FR" altLang="zh-CN" dirty="0">
                <a:solidFill>
                  <a:schemeClr val="tx1">
                    <a:lumMod val="50000"/>
                    <a:lumOff val="50000"/>
                  </a:schemeClr>
                </a:solidFill>
                <a:latin typeface="楷体" panose="02010609060101010101" pitchFamily="49" charset="-122"/>
                <a:ea typeface="楷体" panose="02010609060101010101" pitchFamily="49" charset="-122"/>
              </a:rPr>
              <a:t>A</a:t>
            </a:r>
            <a:r>
              <a:rPr lang="zh-CN" altLang="fr-FR" dirty="0">
                <a:solidFill>
                  <a:schemeClr val="tx1">
                    <a:lumMod val="50000"/>
                    <a:lumOff val="50000"/>
                  </a:schemeClr>
                </a:solidFill>
                <a:latin typeface="楷体" panose="02010609060101010101" pitchFamily="49" charset="-122"/>
                <a:ea typeface="楷体" panose="02010609060101010101" pitchFamily="49" charset="-122"/>
              </a:rPr>
              <a:t>．</a:t>
            </a:r>
            <a:r>
              <a:rPr lang="fr-FR" altLang="zh-CN" dirty="0">
                <a:solidFill>
                  <a:schemeClr val="tx1">
                    <a:lumMod val="50000"/>
                    <a:lumOff val="50000"/>
                  </a:schemeClr>
                </a:solidFill>
                <a:latin typeface="楷体" panose="02010609060101010101" pitchFamily="49" charset="-122"/>
                <a:ea typeface="楷体" panose="02010609060101010101" pitchFamily="49" charset="-122"/>
              </a:rPr>
              <a:t>AB </a:t>
            </a:r>
            <a:r>
              <a:rPr lang="zh-CN" altLang="en-US" dirty="0">
                <a:solidFill>
                  <a:schemeClr val="tx1">
                    <a:lumMod val="50000"/>
                    <a:lumOff val="50000"/>
                  </a:schemeClr>
                </a:solidFill>
                <a:latin typeface="楷体" panose="02010609060101010101" pitchFamily="49" charset="-122"/>
                <a:ea typeface="楷体" panose="02010609060101010101" pitchFamily="49" charset="-122"/>
              </a:rPr>
              <a:t>段与 </a:t>
            </a:r>
            <a:r>
              <a:rPr lang="fr-FR" altLang="zh-CN" dirty="0">
                <a:solidFill>
                  <a:schemeClr val="tx1">
                    <a:lumMod val="50000"/>
                    <a:lumOff val="50000"/>
                  </a:schemeClr>
                </a:solidFill>
                <a:latin typeface="楷体" panose="02010609060101010101" pitchFamily="49" charset="-122"/>
                <a:ea typeface="楷体" panose="02010609060101010101" pitchFamily="49" charset="-122"/>
              </a:rPr>
              <a:t>BC </a:t>
            </a:r>
            <a:r>
              <a:rPr lang="zh-CN" altLang="en-US" dirty="0">
                <a:solidFill>
                  <a:schemeClr val="tx1">
                    <a:lumMod val="50000"/>
                    <a:lumOff val="50000"/>
                  </a:schemeClr>
                </a:solidFill>
                <a:latin typeface="楷体" panose="02010609060101010101" pitchFamily="49" charset="-122"/>
                <a:ea typeface="楷体" panose="02010609060101010101" pitchFamily="49" charset="-122"/>
              </a:rPr>
              <a:t>段 </a:t>
            </a:r>
          </a:p>
          <a:p>
            <a:r>
              <a:rPr lang="fr-FR" altLang="zh-CN" dirty="0">
                <a:solidFill>
                  <a:schemeClr val="tx1">
                    <a:lumMod val="50000"/>
                    <a:lumOff val="50000"/>
                  </a:schemeClr>
                </a:solidFill>
                <a:latin typeface="楷体" panose="02010609060101010101" pitchFamily="49" charset="-122"/>
                <a:ea typeface="楷体" panose="02010609060101010101" pitchFamily="49" charset="-122"/>
              </a:rPr>
              <a:t>B</a:t>
            </a:r>
            <a:r>
              <a:rPr lang="zh-CN" altLang="fr-FR" dirty="0">
                <a:solidFill>
                  <a:schemeClr val="tx1">
                    <a:lumMod val="50000"/>
                    <a:lumOff val="50000"/>
                  </a:schemeClr>
                </a:solidFill>
                <a:latin typeface="楷体" panose="02010609060101010101" pitchFamily="49" charset="-122"/>
                <a:ea typeface="楷体" panose="02010609060101010101" pitchFamily="49" charset="-122"/>
              </a:rPr>
              <a:t>．</a:t>
            </a:r>
            <a:r>
              <a:rPr lang="fr-FR" altLang="zh-CN" dirty="0">
                <a:solidFill>
                  <a:schemeClr val="tx1">
                    <a:lumMod val="50000"/>
                    <a:lumOff val="50000"/>
                  </a:schemeClr>
                </a:solidFill>
                <a:latin typeface="楷体" panose="02010609060101010101" pitchFamily="49" charset="-122"/>
                <a:ea typeface="楷体" panose="02010609060101010101" pitchFamily="49" charset="-122"/>
              </a:rPr>
              <a:t>AB </a:t>
            </a:r>
            <a:r>
              <a:rPr lang="zh-CN" altLang="en-US" dirty="0">
                <a:solidFill>
                  <a:schemeClr val="tx1">
                    <a:lumMod val="50000"/>
                    <a:lumOff val="50000"/>
                  </a:schemeClr>
                </a:solidFill>
                <a:latin typeface="楷体" panose="02010609060101010101" pitchFamily="49" charset="-122"/>
                <a:ea typeface="楷体" panose="02010609060101010101" pitchFamily="49" charset="-122"/>
              </a:rPr>
              <a:t>段与 </a:t>
            </a:r>
            <a:r>
              <a:rPr lang="fr-FR" altLang="zh-CN" dirty="0">
                <a:solidFill>
                  <a:schemeClr val="tx1">
                    <a:lumMod val="50000"/>
                    <a:lumOff val="50000"/>
                  </a:schemeClr>
                </a:solidFill>
                <a:latin typeface="楷体" panose="02010609060101010101" pitchFamily="49" charset="-122"/>
                <a:ea typeface="楷体" panose="02010609060101010101" pitchFamily="49" charset="-122"/>
              </a:rPr>
              <a:t>ED </a:t>
            </a:r>
            <a:r>
              <a:rPr lang="zh-CN" altLang="en-US" dirty="0">
                <a:solidFill>
                  <a:schemeClr val="tx1">
                    <a:lumMod val="50000"/>
                    <a:lumOff val="50000"/>
                  </a:schemeClr>
                </a:solidFill>
                <a:latin typeface="楷体" panose="02010609060101010101" pitchFamily="49" charset="-122"/>
                <a:ea typeface="楷体" panose="02010609060101010101" pitchFamily="49" charset="-122"/>
              </a:rPr>
              <a:t>段 </a:t>
            </a:r>
          </a:p>
          <a:p>
            <a:r>
              <a:rPr lang="fr-FR" altLang="zh-CN" dirty="0">
                <a:solidFill>
                  <a:schemeClr val="tx1">
                    <a:lumMod val="50000"/>
                    <a:lumOff val="50000"/>
                  </a:schemeClr>
                </a:solidFill>
                <a:latin typeface="楷体" panose="02010609060101010101" pitchFamily="49" charset="-122"/>
                <a:ea typeface="楷体" panose="02010609060101010101" pitchFamily="49" charset="-122"/>
              </a:rPr>
              <a:t>C</a:t>
            </a:r>
            <a:r>
              <a:rPr lang="zh-CN" altLang="fr-FR" dirty="0">
                <a:solidFill>
                  <a:schemeClr val="tx1">
                    <a:lumMod val="50000"/>
                    <a:lumOff val="50000"/>
                  </a:schemeClr>
                </a:solidFill>
                <a:latin typeface="楷体" panose="02010609060101010101" pitchFamily="49" charset="-122"/>
                <a:ea typeface="楷体" panose="02010609060101010101" pitchFamily="49" charset="-122"/>
              </a:rPr>
              <a:t>．</a:t>
            </a:r>
            <a:r>
              <a:rPr lang="fr-FR" altLang="zh-CN" dirty="0">
                <a:solidFill>
                  <a:schemeClr val="tx1">
                    <a:lumMod val="50000"/>
                    <a:lumOff val="50000"/>
                  </a:schemeClr>
                </a:solidFill>
                <a:latin typeface="楷体" panose="02010609060101010101" pitchFamily="49" charset="-122"/>
                <a:ea typeface="楷体" panose="02010609060101010101" pitchFamily="49" charset="-122"/>
              </a:rPr>
              <a:t>BC </a:t>
            </a:r>
            <a:r>
              <a:rPr lang="zh-CN" altLang="en-US" dirty="0">
                <a:solidFill>
                  <a:schemeClr val="tx1">
                    <a:lumMod val="50000"/>
                    <a:lumOff val="50000"/>
                  </a:schemeClr>
                </a:solidFill>
                <a:latin typeface="楷体" panose="02010609060101010101" pitchFamily="49" charset="-122"/>
                <a:ea typeface="楷体" panose="02010609060101010101" pitchFamily="49" charset="-122"/>
              </a:rPr>
              <a:t>段与 </a:t>
            </a:r>
            <a:r>
              <a:rPr lang="fr-FR" altLang="zh-CN" dirty="0">
                <a:solidFill>
                  <a:schemeClr val="tx1">
                    <a:lumMod val="50000"/>
                    <a:lumOff val="50000"/>
                  </a:schemeClr>
                </a:solidFill>
                <a:latin typeface="楷体" panose="02010609060101010101" pitchFamily="49" charset="-122"/>
                <a:ea typeface="楷体" panose="02010609060101010101" pitchFamily="49" charset="-122"/>
              </a:rPr>
              <a:t>ED </a:t>
            </a:r>
            <a:r>
              <a:rPr lang="zh-CN" altLang="en-US" dirty="0">
                <a:solidFill>
                  <a:schemeClr val="tx1">
                    <a:lumMod val="50000"/>
                    <a:lumOff val="50000"/>
                  </a:schemeClr>
                </a:solidFill>
                <a:latin typeface="楷体" panose="02010609060101010101" pitchFamily="49" charset="-122"/>
                <a:ea typeface="楷体" panose="02010609060101010101" pitchFamily="49" charset="-122"/>
              </a:rPr>
              <a:t>段 </a:t>
            </a:r>
          </a:p>
          <a:p>
            <a:r>
              <a:rPr lang="fr-FR" altLang="zh-CN" dirty="0">
                <a:solidFill>
                  <a:schemeClr val="tx1">
                    <a:lumMod val="50000"/>
                    <a:lumOff val="50000"/>
                  </a:schemeClr>
                </a:solidFill>
                <a:latin typeface="楷体" panose="02010609060101010101" pitchFamily="49" charset="-122"/>
                <a:ea typeface="楷体" panose="02010609060101010101" pitchFamily="49" charset="-122"/>
              </a:rPr>
              <a:t>D</a:t>
            </a:r>
            <a:r>
              <a:rPr lang="zh-CN" altLang="fr-FR" dirty="0">
                <a:solidFill>
                  <a:schemeClr val="tx1">
                    <a:lumMod val="50000"/>
                    <a:lumOff val="50000"/>
                  </a:schemeClr>
                </a:solidFill>
                <a:latin typeface="楷体" panose="02010609060101010101" pitchFamily="49" charset="-122"/>
                <a:ea typeface="楷体" panose="02010609060101010101" pitchFamily="49" charset="-122"/>
              </a:rPr>
              <a:t>．</a:t>
            </a:r>
            <a:r>
              <a:rPr lang="fr-FR" altLang="zh-CN" dirty="0">
                <a:solidFill>
                  <a:schemeClr val="tx1">
                    <a:lumMod val="50000"/>
                    <a:lumOff val="50000"/>
                  </a:schemeClr>
                </a:solidFill>
                <a:latin typeface="楷体" panose="02010609060101010101" pitchFamily="49" charset="-122"/>
                <a:ea typeface="楷体" panose="02010609060101010101" pitchFamily="49" charset="-122"/>
              </a:rPr>
              <a:t>ED </a:t>
            </a:r>
            <a:r>
              <a:rPr lang="zh-CN" altLang="en-US" dirty="0">
                <a:solidFill>
                  <a:schemeClr val="tx1">
                    <a:lumMod val="50000"/>
                    <a:lumOff val="50000"/>
                  </a:schemeClr>
                </a:solidFill>
                <a:latin typeface="楷体" panose="02010609060101010101" pitchFamily="49" charset="-122"/>
                <a:ea typeface="楷体" panose="02010609060101010101" pitchFamily="49" charset="-122"/>
              </a:rPr>
              <a:t>段与 </a:t>
            </a:r>
            <a:r>
              <a:rPr lang="fr-FR" altLang="zh-CN" dirty="0">
                <a:solidFill>
                  <a:schemeClr val="tx1">
                    <a:lumMod val="50000"/>
                    <a:lumOff val="50000"/>
                  </a:schemeClr>
                </a:solidFill>
                <a:latin typeface="楷体" panose="02010609060101010101" pitchFamily="49" charset="-122"/>
                <a:ea typeface="楷体" panose="02010609060101010101" pitchFamily="49" charset="-122"/>
              </a:rPr>
              <a:t>FE </a:t>
            </a:r>
            <a:r>
              <a:rPr lang="zh-CN" altLang="en-US" dirty="0">
                <a:solidFill>
                  <a:schemeClr val="tx1">
                    <a:lumMod val="50000"/>
                    <a:lumOff val="50000"/>
                  </a:schemeClr>
                </a:solidFill>
                <a:latin typeface="楷体" panose="02010609060101010101" pitchFamily="49" charset="-122"/>
                <a:ea typeface="楷体" panose="02010609060101010101" pitchFamily="49" charset="-122"/>
              </a:rPr>
              <a:t>段</a:t>
            </a:r>
          </a:p>
          <a:p>
            <a:endParaRPr lang="zh-CN" altLang="en-US" dirty="0">
              <a:solidFill>
                <a:schemeClr val="tx1">
                  <a:lumMod val="50000"/>
                  <a:lumOff val="50000"/>
                </a:schemeClr>
              </a:solidFill>
            </a:endParaRPr>
          </a:p>
        </p:txBody>
      </p:sp>
      <p:sp>
        <p:nvSpPr>
          <p:cNvPr id="9" name="矩形 8">
            <a:extLst>
              <a:ext uri="{FF2B5EF4-FFF2-40B4-BE49-F238E27FC236}">
                <a16:creationId xmlns:a16="http://schemas.microsoft.com/office/drawing/2014/main" id="{3DA9D5CE-2BF0-4343-8F06-9D4EB04216CD}"/>
              </a:ext>
            </a:extLst>
          </p:cNvPr>
          <p:cNvSpPr/>
          <p:nvPr/>
        </p:nvSpPr>
        <p:spPr>
          <a:xfrm>
            <a:off x="5177825" y="3420531"/>
            <a:ext cx="6096000" cy="2616101"/>
          </a:xfrm>
          <a:prstGeom prst="rect">
            <a:avLst/>
          </a:prstGeom>
          <a:solidFill>
            <a:schemeClr val="bg1"/>
          </a:solidFill>
          <a:ln>
            <a:solidFill>
              <a:srgbClr val="A41AD4"/>
            </a:solidFill>
            <a:prstDash val="dash"/>
          </a:ln>
        </p:spPr>
        <p:txBody>
          <a:bodyPr>
            <a:spAutoFit/>
          </a:bodyPr>
          <a:lstStyle/>
          <a:p>
            <a:r>
              <a:rPr lang="fr-FR" altLang="zh-CN" b="1" dirty="0">
                <a:solidFill>
                  <a:srgbClr val="C00000"/>
                </a:solidFill>
                <a:latin typeface="楷体" panose="02010609060101010101" pitchFamily="49" charset="-122"/>
                <a:ea typeface="楷体" panose="02010609060101010101" pitchFamily="49" charset="-122"/>
              </a:rPr>
              <a:t>B</a:t>
            </a:r>
            <a:r>
              <a:rPr lang="fr-FR" altLang="zh-CN" b="1" dirty="0">
                <a:solidFill>
                  <a:schemeClr val="tx1">
                    <a:lumMod val="50000"/>
                    <a:lumOff val="50000"/>
                  </a:schemeClr>
                </a:solidFill>
                <a:latin typeface="楷体" panose="02010609060101010101" pitchFamily="49" charset="-122"/>
                <a:ea typeface="楷体" panose="02010609060101010101" pitchFamily="49" charset="-122"/>
              </a:rPr>
              <a:t> </a:t>
            </a:r>
          </a:p>
          <a:p>
            <a:r>
              <a:rPr lang="zh-CN" altLang="en-US" b="1" dirty="0">
                <a:solidFill>
                  <a:schemeClr val="tx1">
                    <a:lumMod val="50000"/>
                    <a:lumOff val="50000"/>
                  </a:schemeClr>
                </a:solidFill>
                <a:latin typeface="楷体" panose="02010609060101010101" pitchFamily="49" charset="-122"/>
                <a:ea typeface="楷体" panose="02010609060101010101" pitchFamily="49" charset="-122"/>
              </a:rPr>
              <a:t>解析：如图磁场方向相同，若</a:t>
            </a:r>
            <a:r>
              <a:rPr lang="zh-CN" altLang="en-US" b="1" dirty="0">
                <a:solidFill>
                  <a:srgbClr val="C00000"/>
                </a:solidFill>
                <a:latin typeface="楷体" panose="02010609060101010101" pitchFamily="49" charset="-122"/>
                <a:ea typeface="楷体" panose="02010609060101010101" pitchFamily="49" charset="-122"/>
              </a:rPr>
              <a:t>电流方向</a:t>
            </a:r>
            <a:r>
              <a:rPr lang="zh-CN" altLang="en-US" b="1" dirty="0">
                <a:solidFill>
                  <a:schemeClr val="tx1">
                    <a:lumMod val="50000"/>
                    <a:lumOff val="50000"/>
                  </a:schemeClr>
                </a:solidFill>
                <a:latin typeface="楷体" panose="02010609060101010101" pitchFamily="49" charset="-122"/>
                <a:ea typeface="楷体" panose="02010609060101010101" pitchFamily="49" charset="-122"/>
              </a:rPr>
              <a:t>相同，则通电导体的受力方向相同。 </a:t>
            </a:r>
            <a:r>
              <a:rPr lang="fr-FR" altLang="zh-CN" b="1" dirty="0">
                <a:solidFill>
                  <a:schemeClr val="tx1">
                    <a:lumMod val="50000"/>
                    <a:lumOff val="50000"/>
                  </a:schemeClr>
                </a:solidFill>
                <a:latin typeface="楷体" panose="02010609060101010101" pitchFamily="49" charset="-122"/>
                <a:ea typeface="楷体" panose="02010609060101010101" pitchFamily="49" charset="-122"/>
              </a:rPr>
              <a:t>BAFE</a:t>
            </a:r>
            <a:r>
              <a:rPr lang="zh-CN" altLang="en-US" b="1" dirty="0">
                <a:solidFill>
                  <a:schemeClr val="tx1">
                    <a:lumMod val="50000"/>
                    <a:lumOff val="50000"/>
                  </a:schemeClr>
                </a:solidFill>
                <a:latin typeface="楷体" panose="02010609060101010101" pitchFamily="49" charset="-122"/>
                <a:ea typeface="楷体" panose="02010609060101010101" pitchFamily="49" charset="-122"/>
              </a:rPr>
              <a:t>和</a:t>
            </a:r>
            <a:r>
              <a:rPr lang="fr-FR" altLang="zh-CN" b="1" dirty="0">
                <a:solidFill>
                  <a:schemeClr val="tx1">
                    <a:lumMod val="50000"/>
                    <a:lumOff val="50000"/>
                  </a:schemeClr>
                </a:solidFill>
                <a:latin typeface="楷体" panose="02010609060101010101" pitchFamily="49" charset="-122"/>
                <a:ea typeface="楷体" panose="02010609060101010101" pitchFamily="49" charset="-122"/>
              </a:rPr>
              <a:t>BCDE</a:t>
            </a:r>
            <a:r>
              <a:rPr lang="zh-CN" altLang="en-US" b="1" dirty="0">
                <a:solidFill>
                  <a:schemeClr val="tx1">
                    <a:lumMod val="50000"/>
                    <a:lumOff val="50000"/>
                  </a:schemeClr>
                </a:solidFill>
                <a:latin typeface="楷体" panose="02010609060101010101" pitchFamily="49" charset="-122"/>
                <a:ea typeface="楷体" panose="02010609060101010101" pitchFamily="49" charset="-122"/>
              </a:rPr>
              <a:t>段并联，</a:t>
            </a:r>
            <a:r>
              <a:rPr lang="fr-FR" altLang="zh-CN" b="1" dirty="0">
                <a:solidFill>
                  <a:schemeClr val="tx1">
                    <a:lumMod val="50000"/>
                    <a:lumOff val="50000"/>
                  </a:schemeClr>
                </a:solidFill>
                <a:latin typeface="楷体" panose="02010609060101010101" pitchFamily="49" charset="-122"/>
                <a:ea typeface="楷体" panose="02010609060101010101" pitchFamily="49" charset="-122"/>
              </a:rPr>
              <a:t>AB</a:t>
            </a:r>
            <a:r>
              <a:rPr lang="zh-CN" altLang="en-US" b="1" dirty="0">
                <a:solidFill>
                  <a:schemeClr val="tx1">
                    <a:lumMod val="50000"/>
                    <a:lumOff val="50000"/>
                  </a:schemeClr>
                </a:solidFill>
                <a:latin typeface="楷体" panose="02010609060101010101" pitchFamily="49" charset="-122"/>
                <a:ea typeface="楷体" panose="02010609060101010101" pitchFamily="49" charset="-122"/>
              </a:rPr>
              <a:t>中电流向下、</a:t>
            </a:r>
            <a:r>
              <a:rPr lang="fr-FR" altLang="zh-CN" b="1" dirty="0">
                <a:solidFill>
                  <a:schemeClr val="tx1">
                    <a:lumMod val="50000"/>
                    <a:lumOff val="50000"/>
                  </a:schemeClr>
                </a:solidFill>
                <a:latin typeface="楷体" panose="02010609060101010101" pitchFamily="49" charset="-122"/>
                <a:ea typeface="楷体" panose="02010609060101010101" pitchFamily="49" charset="-122"/>
              </a:rPr>
              <a:t>EF </a:t>
            </a:r>
            <a:r>
              <a:rPr lang="zh-CN" altLang="en-US" b="1" dirty="0">
                <a:solidFill>
                  <a:schemeClr val="tx1">
                    <a:lumMod val="50000"/>
                    <a:lumOff val="50000"/>
                  </a:schemeClr>
                </a:solidFill>
                <a:latin typeface="楷体" panose="02010609060101010101" pitchFamily="49" charset="-122"/>
                <a:ea typeface="楷体" panose="02010609060101010101" pitchFamily="49" charset="-122"/>
              </a:rPr>
              <a:t>中电流向上、</a:t>
            </a:r>
            <a:r>
              <a:rPr lang="fr-FR" altLang="zh-CN" b="1" dirty="0">
                <a:solidFill>
                  <a:schemeClr val="tx1">
                    <a:lumMod val="50000"/>
                    <a:lumOff val="50000"/>
                  </a:schemeClr>
                </a:solidFill>
                <a:latin typeface="楷体" panose="02010609060101010101" pitchFamily="49" charset="-122"/>
                <a:ea typeface="楷体" panose="02010609060101010101" pitchFamily="49" charset="-122"/>
              </a:rPr>
              <a:t>CB </a:t>
            </a:r>
            <a:r>
              <a:rPr lang="zh-CN" altLang="en-US" b="1" dirty="0">
                <a:solidFill>
                  <a:schemeClr val="tx1">
                    <a:lumMod val="50000"/>
                    <a:lumOff val="50000"/>
                  </a:schemeClr>
                </a:solidFill>
                <a:latin typeface="楷体" panose="02010609060101010101" pitchFamily="49" charset="-122"/>
                <a:ea typeface="楷体" panose="02010609060101010101" pitchFamily="49" charset="-122"/>
              </a:rPr>
              <a:t>中电流向上、</a:t>
            </a:r>
            <a:r>
              <a:rPr lang="fr-FR" altLang="zh-CN" b="1" dirty="0">
                <a:solidFill>
                  <a:schemeClr val="tx1">
                    <a:lumMod val="50000"/>
                    <a:lumOff val="50000"/>
                  </a:schemeClr>
                </a:solidFill>
                <a:latin typeface="楷体" panose="02010609060101010101" pitchFamily="49" charset="-122"/>
                <a:ea typeface="楷体" panose="02010609060101010101" pitchFamily="49" charset="-122"/>
              </a:rPr>
              <a:t>ED</a:t>
            </a:r>
            <a:r>
              <a:rPr lang="zh-CN" altLang="en-US" b="1" dirty="0">
                <a:solidFill>
                  <a:schemeClr val="tx1">
                    <a:lumMod val="50000"/>
                    <a:lumOff val="50000"/>
                  </a:schemeClr>
                </a:solidFill>
                <a:latin typeface="楷体" panose="02010609060101010101" pitchFamily="49" charset="-122"/>
                <a:ea typeface="楷体" panose="02010609060101010101" pitchFamily="49" charset="-122"/>
              </a:rPr>
              <a:t>中电流向下，</a:t>
            </a:r>
            <a:r>
              <a:rPr lang="fr-FR" altLang="zh-CN" b="1" dirty="0">
                <a:solidFill>
                  <a:schemeClr val="tx1">
                    <a:lumMod val="50000"/>
                    <a:lumOff val="50000"/>
                  </a:schemeClr>
                </a:solidFill>
                <a:latin typeface="楷体" panose="02010609060101010101" pitchFamily="49" charset="-122"/>
                <a:ea typeface="楷体" panose="02010609060101010101" pitchFamily="49" charset="-122"/>
              </a:rPr>
              <a:t>AB&amp;ED | EF </a:t>
            </a:r>
            <a:r>
              <a:rPr lang="en-US" altLang="zh-CN" b="1" dirty="0">
                <a:solidFill>
                  <a:schemeClr val="tx1">
                    <a:lumMod val="50000"/>
                    <a:lumOff val="50000"/>
                  </a:schemeClr>
                </a:solidFill>
                <a:latin typeface="楷体" panose="02010609060101010101" pitchFamily="49" charset="-122"/>
                <a:ea typeface="楷体" panose="02010609060101010101" pitchFamily="49" charset="-122"/>
              </a:rPr>
              <a:t>&amp;</a:t>
            </a:r>
            <a:r>
              <a:rPr lang="fr-FR" altLang="zh-CN" b="1" dirty="0">
                <a:solidFill>
                  <a:schemeClr val="tx1">
                    <a:lumMod val="50000"/>
                    <a:lumOff val="50000"/>
                  </a:schemeClr>
                </a:solidFill>
                <a:latin typeface="楷体" panose="02010609060101010101" pitchFamily="49" charset="-122"/>
                <a:ea typeface="楷体" panose="02010609060101010101" pitchFamily="49" charset="-122"/>
              </a:rPr>
              <a:t>CB</a:t>
            </a:r>
            <a:r>
              <a:rPr lang="zh-CN" altLang="en-US" b="1" dirty="0">
                <a:solidFill>
                  <a:schemeClr val="tx1">
                    <a:lumMod val="50000"/>
                    <a:lumOff val="50000"/>
                  </a:schemeClr>
                </a:solidFill>
                <a:latin typeface="楷体" panose="02010609060101010101" pitchFamily="49" charset="-122"/>
                <a:ea typeface="楷体" panose="02010609060101010101" pitchFamily="49" charset="-122"/>
              </a:rPr>
              <a:t>中电流方向相同，受到磁场作用力方向相同。</a:t>
            </a:r>
            <a:endParaRPr lang="en-US" altLang="zh-CN" b="1" dirty="0">
              <a:solidFill>
                <a:schemeClr val="tx1">
                  <a:lumMod val="50000"/>
                  <a:lumOff val="50000"/>
                </a:schemeClr>
              </a:solidFill>
              <a:latin typeface="楷体" panose="02010609060101010101" pitchFamily="49" charset="-122"/>
              <a:ea typeface="楷体" panose="02010609060101010101" pitchFamily="49" charset="-122"/>
            </a:endParaRPr>
          </a:p>
          <a:p>
            <a:endParaRPr lang="en-US" altLang="zh-CN" b="1" dirty="0">
              <a:solidFill>
                <a:schemeClr val="tx1">
                  <a:lumMod val="50000"/>
                  <a:lumOff val="50000"/>
                </a:schemeClr>
              </a:solidFill>
              <a:latin typeface="楷体" panose="02010609060101010101" pitchFamily="49" charset="-122"/>
              <a:ea typeface="楷体" panose="02010609060101010101" pitchFamily="49" charset="-122"/>
            </a:endParaRPr>
          </a:p>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要点：</a:t>
            </a:r>
            <a:endParaRPr lang="en-US" altLang="zh-CN" sz="1400" b="1" dirty="0">
              <a:solidFill>
                <a:schemeClr val="tx1">
                  <a:lumMod val="50000"/>
                  <a:lumOff val="50000"/>
                </a:schemeClr>
              </a:solidFill>
              <a:latin typeface="楷体" panose="02010609060101010101" pitchFamily="49" charset="-122"/>
              <a:ea typeface="楷体" panose="02010609060101010101" pitchFamily="49" charset="-122"/>
            </a:endParaRPr>
          </a:p>
          <a:p>
            <a:r>
              <a:rPr lang="zh-CN" altLang="en-US" sz="1400" b="1" dirty="0">
                <a:solidFill>
                  <a:srgbClr val="C00000"/>
                </a:solidFill>
                <a:latin typeface="楷体" panose="02010609060101010101" pitchFamily="49" charset="-122"/>
                <a:ea typeface="楷体" panose="02010609060101010101" pitchFamily="49" charset="-122"/>
              </a:rPr>
              <a:t>*</a:t>
            </a:r>
            <a:r>
              <a:rPr lang="en-US" altLang="zh-CN" sz="1400" b="1" dirty="0">
                <a:solidFill>
                  <a:srgbClr val="C00000"/>
                </a:solidFill>
                <a:latin typeface="楷体" panose="02010609060101010101" pitchFamily="49" charset="-122"/>
                <a:ea typeface="楷体" panose="02010609060101010101" pitchFamily="49" charset="-122"/>
              </a:rPr>
              <a:t>【</a:t>
            </a:r>
            <a:r>
              <a:rPr lang="zh-CN" altLang="en-US" sz="1400" b="1" dirty="0">
                <a:solidFill>
                  <a:srgbClr val="C00000"/>
                </a:solidFill>
                <a:latin typeface="楷体" panose="02010609060101010101" pitchFamily="49" charset="-122"/>
                <a:ea typeface="楷体" panose="02010609060101010101" pitchFamily="49" charset="-122"/>
              </a:rPr>
              <a:t>转译</a:t>
            </a:r>
            <a:r>
              <a:rPr lang="en-US" altLang="zh-CN" sz="1400" b="1" dirty="0">
                <a:solidFill>
                  <a:srgbClr val="C00000"/>
                </a:solidFill>
                <a:latin typeface="楷体" panose="02010609060101010101" pitchFamily="49" charset="-122"/>
                <a:ea typeface="楷体" panose="02010609060101010101" pitchFamily="49" charset="-122"/>
              </a:rPr>
              <a:t>】</a:t>
            </a:r>
            <a:r>
              <a:rPr lang="zh-CN" altLang="en-US" sz="1400" b="1" dirty="0">
                <a:solidFill>
                  <a:srgbClr val="C00000"/>
                </a:solidFill>
                <a:latin typeface="楷体" panose="02010609060101010101" pitchFamily="49" charset="-122"/>
                <a:ea typeface="楷体" panose="02010609060101010101" pitchFamily="49" charset="-122"/>
              </a:rPr>
              <a:t>条件：闭合电路的一部分导体在磁场中做切割磁感线运动时，导体中才会产生感应电流。</a:t>
            </a:r>
            <a:endParaRPr lang="en-US" altLang="zh-CN" sz="1400" b="1" dirty="0">
              <a:solidFill>
                <a:srgbClr val="C00000"/>
              </a:solidFill>
              <a:latin typeface="楷体" panose="02010609060101010101" pitchFamily="49" charset="-122"/>
              <a:ea typeface="楷体" panose="02010609060101010101" pitchFamily="49" charset="-122"/>
            </a:endParaRPr>
          </a:p>
          <a:p>
            <a:r>
              <a:rPr lang="zh-CN" altLang="en-US" sz="1400" b="1" dirty="0">
                <a:solidFill>
                  <a:srgbClr val="C00000"/>
                </a:solidFill>
                <a:latin typeface="楷体" panose="02010609060101010101" pitchFamily="49" charset="-122"/>
                <a:ea typeface="楷体" panose="02010609060101010101" pitchFamily="49" charset="-122"/>
              </a:rPr>
              <a:t>*方向：感应电流的方向与磁场方向的关系</a:t>
            </a:r>
          </a:p>
        </p:txBody>
      </p:sp>
      <p:cxnSp>
        <p:nvCxnSpPr>
          <p:cNvPr id="13" name="直线箭头连接符 12">
            <a:extLst>
              <a:ext uri="{FF2B5EF4-FFF2-40B4-BE49-F238E27FC236}">
                <a16:creationId xmlns:a16="http://schemas.microsoft.com/office/drawing/2014/main" id="{DAF92CE6-D7A4-CF45-A050-BCEF5B33DF66}"/>
              </a:ext>
            </a:extLst>
          </p:cNvPr>
          <p:cNvCxnSpPr>
            <a:cxnSpLocks/>
          </p:cNvCxnSpPr>
          <p:nvPr/>
        </p:nvCxnSpPr>
        <p:spPr>
          <a:xfrm>
            <a:off x="8065327" y="2821759"/>
            <a:ext cx="0" cy="429959"/>
          </a:xfrm>
          <a:prstGeom prst="straightConnector1">
            <a:avLst/>
          </a:prstGeom>
          <a:ln>
            <a:solidFill>
              <a:srgbClr val="A41AD4"/>
            </a:solidFill>
            <a:tailEnd type="triangle"/>
          </a:ln>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1B9867E1-C2C2-E949-BFC4-39D8B92457A2}"/>
              </a:ext>
            </a:extLst>
          </p:cNvPr>
          <p:cNvPicPr>
            <a:picLocks noChangeAspect="1"/>
          </p:cNvPicPr>
          <p:nvPr/>
        </p:nvPicPr>
        <p:blipFill>
          <a:blip r:embed="rId3"/>
          <a:stretch>
            <a:fillRect/>
          </a:stretch>
        </p:blipFill>
        <p:spPr>
          <a:xfrm>
            <a:off x="8260863" y="1249438"/>
            <a:ext cx="1663700" cy="1333500"/>
          </a:xfrm>
          <a:prstGeom prst="rect">
            <a:avLst/>
          </a:prstGeom>
          <a:ln>
            <a:noFill/>
          </a:ln>
        </p:spPr>
      </p:pic>
    </p:spTree>
    <p:extLst>
      <p:ext uri="{BB962C8B-B14F-4D97-AF65-F5344CB8AC3E}">
        <p14:creationId xmlns:p14="http://schemas.microsoft.com/office/powerpoint/2010/main" val="719119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F595439-DC2D-814E-A9B9-7FC87B21C31C}"/>
              </a:ext>
            </a:extLst>
          </p:cNvPr>
          <p:cNvSpPr txBox="1"/>
          <p:nvPr/>
        </p:nvSpPr>
        <p:spPr>
          <a:xfrm>
            <a:off x="417830" y="748030"/>
            <a:ext cx="4942702" cy="2031325"/>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1——</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声</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2——</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密度</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3——</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光</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4——</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热</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5——</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力</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6——</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电</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7——</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磁</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8——</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作图</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9——</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设计实验</a:t>
            </a:r>
          </a:p>
        </p:txBody>
      </p:sp>
      <p:sp>
        <p:nvSpPr>
          <p:cNvPr id="5" name="矩形 4">
            <a:extLst>
              <a:ext uri="{FF2B5EF4-FFF2-40B4-BE49-F238E27FC236}">
                <a16:creationId xmlns:a16="http://schemas.microsoft.com/office/drawing/2014/main" id="{48A01008-C526-154C-9A89-2460719D1A35}"/>
              </a:ext>
            </a:extLst>
          </p:cNvPr>
          <p:cNvSpPr/>
          <p:nvPr/>
        </p:nvSpPr>
        <p:spPr>
          <a:xfrm>
            <a:off x="417830" y="2821759"/>
            <a:ext cx="11177270" cy="3553641"/>
          </a:xfrm>
          <a:prstGeom prst="rect">
            <a:avLst/>
          </a:prstGeom>
          <a:solidFill>
            <a:srgbClr val="E8F0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3B27CFF8-40B3-3A40-9872-17E184753673}"/>
              </a:ext>
            </a:extLst>
          </p:cNvPr>
          <p:cNvSpPr/>
          <p:nvPr/>
        </p:nvSpPr>
        <p:spPr>
          <a:xfrm>
            <a:off x="693629" y="2882386"/>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A573DF6B-D1C2-994B-83B9-DB30AB109901}"/>
              </a:ext>
            </a:extLst>
          </p:cNvPr>
          <p:cNvSpPr txBox="1"/>
          <p:nvPr/>
        </p:nvSpPr>
        <p:spPr>
          <a:xfrm>
            <a:off x="693908" y="3251717"/>
            <a:ext cx="6773286" cy="2031325"/>
          </a:xfrm>
          <a:prstGeom prst="rect">
            <a:avLst/>
          </a:prstGeom>
          <a:noFill/>
        </p:spPr>
        <p:txBody>
          <a:bodyPr wrap="square" rtlCol="0">
            <a:spAutoFit/>
          </a:bodyPr>
          <a:lstStyle/>
          <a:p>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作图</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】6</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种题型</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1 </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光学作图</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作力的示意图</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3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杠杆作图及滑轮绕线</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4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连接实物图与画电路图</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5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磁感线、磁场、磁极方向的判断</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6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作力的图示</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2" name="矩形 1">
            <a:extLst>
              <a:ext uri="{FF2B5EF4-FFF2-40B4-BE49-F238E27FC236}">
                <a16:creationId xmlns:a16="http://schemas.microsoft.com/office/drawing/2014/main" id="{6062C0DD-F18A-494E-B6D2-F7DF2CAB57A2}"/>
              </a:ext>
            </a:extLst>
          </p:cNvPr>
          <p:cNvSpPr/>
          <p:nvPr/>
        </p:nvSpPr>
        <p:spPr>
          <a:xfrm>
            <a:off x="5177825" y="705626"/>
            <a:ext cx="6096000" cy="2031325"/>
          </a:xfrm>
          <a:prstGeom prst="rect">
            <a:avLst/>
          </a:prstGeom>
          <a:solidFill>
            <a:schemeClr val="bg1"/>
          </a:solidFill>
          <a:ln>
            <a:solidFill>
              <a:srgbClr val="A41AD4"/>
            </a:solidFill>
          </a:ln>
        </p:spPr>
        <p:txBody>
          <a:bodyPr>
            <a:spAutoFit/>
          </a:bodyPr>
          <a:lstStyle/>
          <a:p>
            <a:r>
              <a:rPr lang="zh-CN" altLang="en-US" b="1" dirty="0">
                <a:solidFill>
                  <a:schemeClr val="tx1">
                    <a:lumMod val="50000"/>
                    <a:lumOff val="50000"/>
                  </a:schemeClr>
                </a:solidFill>
                <a:latin typeface="楷体" panose="02010609060101010101" pitchFamily="49" charset="-122"/>
                <a:ea typeface="楷体" panose="02010609060101010101" pitchFamily="49" charset="-122"/>
              </a:rPr>
              <a:t>例：</a:t>
            </a:r>
            <a:r>
              <a:rPr lang="zh-CN" altLang="en-US" dirty="0">
                <a:solidFill>
                  <a:schemeClr val="tx1">
                    <a:lumMod val="50000"/>
                    <a:lumOff val="50000"/>
                  </a:schemeClr>
                </a:solidFill>
                <a:latin typeface="楷体" panose="02010609060101010101" pitchFamily="49" charset="-122"/>
                <a:ea typeface="楷体" panose="02010609060101010101" pitchFamily="49" charset="-122"/>
              </a:rPr>
              <a:t>如图所示，从点光源 </a:t>
            </a:r>
            <a:r>
              <a:rPr lang="fr-FR" altLang="zh-CN" dirty="0">
                <a:solidFill>
                  <a:schemeClr val="tx1">
                    <a:lumMod val="50000"/>
                    <a:lumOff val="50000"/>
                  </a:schemeClr>
                </a:solidFill>
                <a:latin typeface="楷体" panose="02010609060101010101" pitchFamily="49" charset="-122"/>
                <a:ea typeface="楷体" panose="02010609060101010101" pitchFamily="49" charset="-122"/>
              </a:rPr>
              <a:t>S </a:t>
            </a:r>
            <a:r>
              <a:rPr lang="zh-CN" altLang="en-US" dirty="0">
                <a:solidFill>
                  <a:schemeClr val="tx1">
                    <a:lumMod val="50000"/>
                    <a:lumOff val="50000"/>
                  </a:schemeClr>
                </a:solidFill>
                <a:latin typeface="楷体" panose="02010609060101010101" pitchFamily="49" charset="-122"/>
                <a:ea typeface="楷体" panose="02010609060101010101" pitchFamily="49" charset="-122"/>
              </a:rPr>
              <a:t>射出的一条光线经 </a:t>
            </a:r>
            <a:r>
              <a:rPr lang="fr-FR" altLang="zh-CN" dirty="0">
                <a:solidFill>
                  <a:schemeClr val="tx1">
                    <a:lumMod val="50000"/>
                    <a:lumOff val="50000"/>
                  </a:schemeClr>
                </a:solidFill>
                <a:latin typeface="楷体" panose="02010609060101010101" pitchFamily="49" charset="-122"/>
                <a:ea typeface="楷体" panose="02010609060101010101" pitchFamily="49" charset="-122"/>
              </a:rPr>
              <a:t>P </a:t>
            </a:r>
            <a:r>
              <a:rPr lang="zh-CN" altLang="en-US" dirty="0">
                <a:solidFill>
                  <a:schemeClr val="tx1">
                    <a:lumMod val="50000"/>
                    <a:lumOff val="50000"/>
                  </a:schemeClr>
                </a:solidFill>
                <a:latin typeface="楷体" panose="02010609060101010101" pitchFamily="49" charset="-122"/>
                <a:ea typeface="楷体" panose="02010609060101010101" pitchFamily="49" charset="-122"/>
              </a:rPr>
              <a:t>处的平面镜反射后，反射光线射向凹透镜的焦点方向。 </a:t>
            </a:r>
          </a:p>
          <a:p>
            <a:r>
              <a:rPr lang="zh-CN" altLang="en-US" dirty="0">
                <a:solidFill>
                  <a:schemeClr val="tx1">
                    <a:lumMod val="50000"/>
                    <a:lumOff val="50000"/>
                  </a:schemeClr>
                </a:solidFill>
                <a:latin typeface="楷体" panose="02010609060101010101" pitchFamily="49" charset="-122"/>
                <a:ea typeface="楷体" panose="02010609060101010101" pitchFamily="49" charset="-122"/>
              </a:rPr>
              <a:t>（</a:t>
            </a:r>
            <a:r>
              <a:rPr lang="en-US" altLang="zh-CN" dirty="0">
                <a:solidFill>
                  <a:schemeClr val="tx1">
                    <a:lumMod val="50000"/>
                    <a:lumOff val="50000"/>
                  </a:schemeClr>
                </a:solidFill>
                <a:latin typeface="楷体" panose="02010609060101010101" pitchFamily="49" charset="-122"/>
                <a:ea typeface="楷体" panose="02010609060101010101" pitchFamily="49" charset="-122"/>
              </a:rPr>
              <a:t>1</a:t>
            </a:r>
            <a:r>
              <a:rPr lang="zh-CN" altLang="en-US" dirty="0">
                <a:solidFill>
                  <a:schemeClr val="tx1">
                    <a:lumMod val="50000"/>
                    <a:lumOff val="50000"/>
                  </a:schemeClr>
                </a:solidFill>
                <a:latin typeface="楷体" panose="02010609060101010101" pitchFamily="49" charset="-122"/>
                <a:ea typeface="楷体" panose="02010609060101010101" pitchFamily="49" charset="-122"/>
              </a:rPr>
              <a:t>）画出平面镜； </a:t>
            </a:r>
          </a:p>
          <a:p>
            <a:r>
              <a:rPr lang="zh-CN" altLang="en-US" dirty="0">
                <a:solidFill>
                  <a:schemeClr val="tx1">
                    <a:lumMod val="50000"/>
                    <a:lumOff val="50000"/>
                  </a:schemeClr>
                </a:solidFill>
                <a:latin typeface="楷体" panose="02010609060101010101" pitchFamily="49" charset="-122"/>
                <a:ea typeface="楷体" panose="02010609060101010101" pitchFamily="49" charset="-122"/>
              </a:rPr>
              <a:t>（</a:t>
            </a:r>
            <a:r>
              <a:rPr lang="en-US" altLang="zh-CN" dirty="0">
                <a:solidFill>
                  <a:schemeClr val="tx1">
                    <a:lumMod val="50000"/>
                    <a:lumOff val="50000"/>
                  </a:schemeClr>
                </a:solidFill>
                <a:latin typeface="楷体" panose="02010609060101010101" pitchFamily="49" charset="-122"/>
                <a:ea typeface="楷体" panose="02010609060101010101" pitchFamily="49" charset="-122"/>
              </a:rPr>
              <a:t>2</a:t>
            </a:r>
            <a:r>
              <a:rPr lang="zh-CN" altLang="en-US" dirty="0">
                <a:solidFill>
                  <a:schemeClr val="tx1">
                    <a:lumMod val="50000"/>
                    <a:lumOff val="50000"/>
                  </a:schemeClr>
                </a:solidFill>
                <a:latin typeface="楷体" panose="02010609060101010101" pitchFamily="49" charset="-122"/>
                <a:ea typeface="楷体" panose="02010609060101010101" pitchFamily="49" charset="-122"/>
              </a:rPr>
              <a:t>）作出反射光线经</a:t>
            </a:r>
            <a:endParaRPr lang="en-US" altLang="zh-CN" dirty="0">
              <a:solidFill>
                <a:schemeClr val="tx1">
                  <a:lumMod val="50000"/>
                  <a:lumOff val="50000"/>
                </a:schemeClr>
              </a:solidFill>
              <a:latin typeface="楷体" panose="02010609060101010101" pitchFamily="49" charset="-122"/>
              <a:ea typeface="楷体" panose="02010609060101010101" pitchFamily="49" charset="-122"/>
            </a:endParaRPr>
          </a:p>
          <a:p>
            <a:r>
              <a:rPr lang="zh-CN" altLang="en-US" dirty="0">
                <a:solidFill>
                  <a:schemeClr val="tx1">
                    <a:lumMod val="50000"/>
                    <a:lumOff val="50000"/>
                  </a:schemeClr>
                </a:solidFill>
                <a:latin typeface="楷体" panose="02010609060101010101" pitchFamily="49" charset="-122"/>
                <a:ea typeface="楷体" panose="02010609060101010101" pitchFamily="49" charset="-122"/>
              </a:rPr>
              <a:t>凹透镜折射后的光线。</a:t>
            </a:r>
          </a:p>
          <a:p>
            <a:endParaRPr lang="en-US" altLang="zh-CN" dirty="0">
              <a:solidFill>
                <a:schemeClr val="tx1">
                  <a:lumMod val="50000"/>
                  <a:lumOff val="50000"/>
                </a:schemeClr>
              </a:solidFill>
            </a:endParaRPr>
          </a:p>
          <a:p>
            <a:endParaRPr lang="zh-CN" altLang="en-US" dirty="0">
              <a:solidFill>
                <a:schemeClr val="tx1">
                  <a:lumMod val="50000"/>
                  <a:lumOff val="50000"/>
                </a:schemeClr>
              </a:solidFill>
            </a:endParaRPr>
          </a:p>
        </p:txBody>
      </p:sp>
      <p:sp>
        <p:nvSpPr>
          <p:cNvPr id="9" name="矩形 8">
            <a:extLst>
              <a:ext uri="{FF2B5EF4-FFF2-40B4-BE49-F238E27FC236}">
                <a16:creationId xmlns:a16="http://schemas.microsoft.com/office/drawing/2014/main" id="{3DA9D5CE-2BF0-4343-8F06-9D4EB04216CD}"/>
              </a:ext>
            </a:extLst>
          </p:cNvPr>
          <p:cNvSpPr/>
          <p:nvPr/>
        </p:nvSpPr>
        <p:spPr>
          <a:xfrm>
            <a:off x="5177825" y="3426822"/>
            <a:ext cx="6096000" cy="2585323"/>
          </a:xfrm>
          <a:prstGeom prst="rect">
            <a:avLst/>
          </a:prstGeom>
          <a:solidFill>
            <a:schemeClr val="bg1"/>
          </a:solidFill>
          <a:ln>
            <a:solidFill>
              <a:srgbClr val="A41AD4"/>
            </a:solidFill>
            <a:prstDash val="dash"/>
          </a:ln>
        </p:spPr>
        <p:txBody>
          <a:bodyPr>
            <a:spAutoFit/>
          </a:bodyPr>
          <a:lstStyle/>
          <a:p>
            <a:r>
              <a:rPr lang="zh-CN" altLang="en-US" b="1" dirty="0">
                <a:solidFill>
                  <a:srgbClr val="C00000"/>
                </a:solidFill>
                <a:latin typeface="楷体" panose="02010609060101010101" pitchFamily="49" charset="-122"/>
                <a:ea typeface="楷体" panose="02010609060101010101" pitchFamily="49" charset="-122"/>
              </a:rPr>
              <a:t>光学作图</a:t>
            </a:r>
            <a:endParaRPr lang="en-US" altLang="zh-CN" b="1" dirty="0">
              <a:solidFill>
                <a:srgbClr val="C00000"/>
              </a:solidFill>
              <a:latin typeface="楷体" panose="02010609060101010101" pitchFamily="49" charset="-122"/>
              <a:ea typeface="楷体" panose="02010609060101010101" pitchFamily="49" charset="-122"/>
            </a:endParaRPr>
          </a:p>
          <a:p>
            <a:r>
              <a:rPr lang="zh-CN" altLang="en-US" b="1" dirty="0">
                <a:solidFill>
                  <a:schemeClr val="tx1">
                    <a:lumMod val="50000"/>
                    <a:lumOff val="50000"/>
                  </a:schemeClr>
                </a:solidFill>
                <a:latin typeface="楷体" panose="02010609060101010101" pitchFamily="49" charset="-122"/>
                <a:ea typeface="楷体" panose="02010609060101010101" pitchFamily="49" charset="-122"/>
              </a:rPr>
              <a:t>知道入射光线和反射光线，做出入射光线和反射光线夹角的角平分线，该</a:t>
            </a:r>
            <a:r>
              <a:rPr lang="zh-CN" altLang="en-US" b="1" dirty="0">
                <a:solidFill>
                  <a:srgbClr val="C00000"/>
                </a:solidFill>
                <a:latin typeface="楷体" panose="02010609060101010101" pitchFamily="49" charset="-122"/>
                <a:ea typeface="楷体" panose="02010609060101010101" pitchFamily="49" charset="-122"/>
              </a:rPr>
              <a:t>角平分线也是法线</a:t>
            </a:r>
            <a:r>
              <a:rPr lang="zh-CN" altLang="en-US" b="1" dirty="0">
                <a:solidFill>
                  <a:schemeClr val="tx1">
                    <a:lumMod val="50000"/>
                    <a:lumOff val="50000"/>
                  </a:schemeClr>
                </a:solidFill>
                <a:latin typeface="楷体" panose="02010609060101010101" pitchFamily="49" charset="-122"/>
                <a:ea typeface="楷体" panose="02010609060101010101" pitchFamily="49" charset="-122"/>
              </a:rPr>
              <a:t>，根据镜面与法线垂直作出平面镜的位置；射向凹透镜另一侧焦点的光线，经过凹透镜后会平行于主光轴。</a:t>
            </a:r>
          </a:p>
          <a:p>
            <a:endParaRPr lang="en-US" altLang="zh-CN" b="1" dirty="0">
              <a:solidFill>
                <a:schemeClr val="tx1">
                  <a:lumMod val="50000"/>
                  <a:lumOff val="50000"/>
                </a:schemeClr>
              </a:solidFill>
              <a:latin typeface="楷体" panose="02010609060101010101" pitchFamily="49" charset="-122"/>
              <a:ea typeface="楷体" panose="02010609060101010101" pitchFamily="49" charset="-122"/>
            </a:endParaRPr>
          </a:p>
          <a:p>
            <a:r>
              <a:rPr lang="zh-CN" altLang="en-US" b="1" dirty="0">
                <a:solidFill>
                  <a:schemeClr val="tx1">
                    <a:lumMod val="50000"/>
                    <a:lumOff val="50000"/>
                  </a:schemeClr>
                </a:solidFill>
                <a:latin typeface="楷体" panose="02010609060101010101" pitchFamily="49" charset="-122"/>
                <a:ea typeface="楷体" panose="02010609060101010101" pitchFamily="49" charset="-122"/>
              </a:rPr>
              <a:t>要点：</a:t>
            </a:r>
            <a:endParaRPr lang="en-US" altLang="zh-CN" b="1" dirty="0">
              <a:solidFill>
                <a:schemeClr val="tx1">
                  <a:lumMod val="50000"/>
                  <a:lumOff val="50000"/>
                </a:schemeClr>
              </a:solidFill>
              <a:latin typeface="楷体" panose="02010609060101010101" pitchFamily="49" charset="-122"/>
              <a:ea typeface="楷体" panose="02010609060101010101" pitchFamily="49" charset="-122"/>
            </a:endParaRPr>
          </a:p>
          <a:p>
            <a:r>
              <a:rPr lang="zh-CN" altLang="en-US" b="1" dirty="0">
                <a:solidFill>
                  <a:srgbClr val="C00000"/>
                </a:solidFill>
                <a:latin typeface="楷体" panose="02010609060101010101" pitchFamily="49" charset="-122"/>
                <a:ea typeface="楷体" panose="02010609060101010101" pitchFamily="49" charset="-122"/>
              </a:rPr>
              <a:t>*作图步骤 </a:t>
            </a:r>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 对应原理</a:t>
            </a:r>
            <a:endParaRPr lang="en-US" altLang="zh-CN" b="1" dirty="0">
              <a:solidFill>
                <a:srgbClr val="C00000"/>
              </a:solidFill>
              <a:latin typeface="楷体" panose="02010609060101010101" pitchFamily="49" charset="-122"/>
              <a:ea typeface="楷体" panose="02010609060101010101" pitchFamily="49" charset="-122"/>
            </a:endParaRPr>
          </a:p>
          <a:p>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逆推</a:t>
            </a:r>
            <a:r>
              <a:rPr lang="en-US" altLang="zh-CN" b="1" dirty="0">
                <a:solidFill>
                  <a:srgbClr val="C00000"/>
                </a:solidFill>
                <a:latin typeface="楷体" panose="02010609060101010101" pitchFamily="49" charset="-122"/>
                <a:ea typeface="楷体" panose="02010609060101010101" pitchFamily="49" charset="-122"/>
              </a:rPr>
              <a:t>】</a:t>
            </a:r>
          </a:p>
        </p:txBody>
      </p:sp>
      <p:cxnSp>
        <p:nvCxnSpPr>
          <p:cNvPr id="13" name="直线箭头连接符 12">
            <a:extLst>
              <a:ext uri="{FF2B5EF4-FFF2-40B4-BE49-F238E27FC236}">
                <a16:creationId xmlns:a16="http://schemas.microsoft.com/office/drawing/2014/main" id="{DAF92CE6-D7A4-CF45-A050-BCEF5B33DF66}"/>
              </a:ext>
            </a:extLst>
          </p:cNvPr>
          <p:cNvCxnSpPr>
            <a:cxnSpLocks/>
          </p:cNvCxnSpPr>
          <p:nvPr/>
        </p:nvCxnSpPr>
        <p:spPr>
          <a:xfrm>
            <a:off x="8204987" y="2926622"/>
            <a:ext cx="0" cy="360953"/>
          </a:xfrm>
          <a:prstGeom prst="straightConnector1">
            <a:avLst/>
          </a:prstGeom>
          <a:ln>
            <a:solidFill>
              <a:srgbClr val="A41AD4"/>
            </a:solidFill>
            <a:tailEnd type="triangle"/>
          </a:ln>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8E41D12C-983A-1745-B876-A00B3A61C9AB}"/>
              </a:ext>
            </a:extLst>
          </p:cNvPr>
          <p:cNvPicPr>
            <a:picLocks noChangeAspect="1"/>
          </p:cNvPicPr>
          <p:nvPr/>
        </p:nvPicPr>
        <p:blipFill>
          <a:blip r:embed="rId3"/>
          <a:stretch>
            <a:fillRect/>
          </a:stretch>
        </p:blipFill>
        <p:spPr>
          <a:xfrm>
            <a:off x="8225824" y="1353093"/>
            <a:ext cx="2083587" cy="1349283"/>
          </a:xfrm>
          <a:prstGeom prst="rect">
            <a:avLst/>
          </a:prstGeom>
        </p:spPr>
      </p:pic>
      <p:pic>
        <p:nvPicPr>
          <p:cNvPr id="8" name="图片 7">
            <a:extLst>
              <a:ext uri="{FF2B5EF4-FFF2-40B4-BE49-F238E27FC236}">
                <a16:creationId xmlns:a16="http://schemas.microsoft.com/office/drawing/2014/main" id="{956BCC58-32A5-6F4C-8B79-F3761E5BF709}"/>
              </a:ext>
            </a:extLst>
          </p:cNvPr>
          <p:cNvPicPr>
            <a:picLocks noChangeAspect="1"/>
          </p:cNvPicPr>
          <p:nvPr/>
        </p:nvPicPr>
        <p:blipFill>
          <a:blip r:embed="rId4"/>
          <a:stretch>
            <a:fillRect/>
          </a:stretch>
        </p:blipFill>
        <p:spPr>
          <a:xfrm>
            <a:off x="8499267" y="4895580"/>
            <a:ext cx="1536700" cy="1282700"/>
          </a:xfrm>
          <a:prstGeom prst="rect">
            <a:avLst/>
          </a:prstGeom>
        </p:spPr>
      </p:pic>
    </p:spTree>
    <p:extLst>
      <p:ext uri="{BB962C8B-B14F-4D97-AF65-F5344CB8AC3E}">
        <p14:creationId xmlns:p14="http://schemas.microsoft.com/office/powerpoint/2010/main" val="26925298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F595439-DC2D-814E-A9B9-7FC87B21C31C}"/>
              </a:ext>
            </a:extLst>
          </p:cNvPr>
          <p:cNvSpPr txBox="1"/>
          <p:nvPr/>
        </p:nvSpPr>
        <p:spPr>
          <a:xfrm>
            <a:off x="417830" y="748030"/>
            <a:ext cx="4942702" cy="2031325"/>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1——</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声</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2——</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密度</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3——</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光</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4——</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热</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5——</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力</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6——</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电</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7——</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磁</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8——</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作图</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9——</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设计实验</a:t>
            </a:r>
          </a:p>
        </p:txBody>
      </p:sp>
      <p:sp>
        <p:nvSpPr>
          <p:cNvPr id="5" name="矩形 4">
            <a:extLst>
              <a:ext uri="{FF2B5EF4-FFF2-40B4-BE49-F238E27FC236}">
                <a16:creationId xmlns:a16="http://schemas.microsoft.com/office/drawing/2014/main" id="{48A01008-C526-154C-9A89-2460719D1A35}"/>
              </a:ext>
            </a:extLst>
          </p:cNvPr>
          <p:cNvSpPr/>
          <p:nvPr/>
        </p:nvSpPr>
        <p:spPr>
          <a:xfrm>
            <a:off x="417830" y="2821759"/>
            <a:ext cx="11177270" cy="3553641"/>
          </a:xfrm>
          <a:prstGeom prst="rect">
            <a:avLst/>
          </a:prstGeom>
          <a:solidFill>
            <a:srgbClr val="E8F0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3B27CFF8-40B3-3A40-9872-17E184753673}"/>
              </a:ext>
            </a:extLst>
          </p:cNvPr>
          <p:cNvSpPr/>
          <p:nvPr/>
        </p:nvSpPr>
        <p:spPr>
          <a:xfrm>
            <a:off x="693629" y="2882386"/>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A573DF6B-D1C2-994B-83B9-DB30AB109901}"/>
              </a:ext>
            </a:extLst>
          </p:cNvPr>
          <p:cNvSpPr txBox="1"/>
          <p:nvPr/>
        </p:nvSpPr>
        <p:spPr>
          <a:xfrm>
            <a:off x="693908" y="3251717"/>
            <a:ext cx="6773286" cy="2031325"/>
          </a:xfrm>
          <a:prstGeom prst="rect">
            <a:avLst/>
          </a:prstGeom>
          <a:noFill/>
        </p:spPr>
        <p:txBody>
          <a:bodyPr wrap="square" rtlCol="0">
            <a:spAutoFit/>
          </a:bodyPr>
          <a:lstStyle/>
          <a:p>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作图</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】6</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种题型</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光学作图</a:t>
            </a:r>
          </a:p>
          <a:p>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2 </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作力的示意图</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3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杠杆作图及滑轮绕线</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4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连接实物图与画电路图</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5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磁感线、磁场、磁极方向的判断</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6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作力的图示</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2" name="矩形 1">
            <a:extLst>
              <a:ext uri="{FF2B5EF4-FFF2-40B4-BE49-F238E27FC236}">
                <a16:creationId xmlns:a16="http://schemas.microsoft.com/office/drawing/2014/main" id="{6062C0DD-F18A-494E-B6D2-F7DF2CAB57A2}"/>
              </a:ext>
            </a:extLst>
          </p:cNvPr>
          <p:cNvSpPr/>
          <p:nvPr/>
        </p:nvSpPr>
        <p:spPr>
          <a:xfrm>
            <a:off x="5177825" y="705626"/>
            <a:ext cx="6096000" cy="1754326"/>
          </a:xfrm>
          <a:prstGeom prst="rect">
            <a:avLst/>
          </a:prstGeom>
          <a:solidFill>
            <a:schemeClr val="bg1"/>
          </a:solidFill>
          <a:ln>
            <a:solidFill>
              <a:srgbClr val="A41AD4"/>
            </a:solidFill>
          </a:ln>
        </p:spPr>
        <p:txBody>
          <a:bodyPr wrap="square">
            <a:spAutoFit/>
          </a:bodyPr>
          <a:lstStyle/>
          <a:p>
            <a:r>
              <a:rPr lang="zh-CN" altLang="en-US" b="1" dirty="0">
                <a:solidFill>
                  <a:schemeClr val="tx1">
                    <a:lumMod val="50000"/>
                    <a:lumOff val="50000"/>
                  </a:schemeClr>
                </a:solidFill>
                <a:latin typeface="楷体" panose="02010609060101010101" pitchFamily="49" charset="-122"/>
                <a:ea typeface="楷体" panose="02010609060101010101" pitchFamily="49" charset="-122"/>
              </a:rPr>
              <a:t>例：</a:t>
            </a:r>
            <a:r>
              <a:rPr lang="zh-CN" altLang="en-US" dirty="0">
                <a:solidFill>
                  <a:schemeClr val="tx1">
                    <a:lumMod val="50000"/>
                    <a:lumOff val="50000"/>
                  </a:schemeClr>
                </a:solidFill>
                <a:latin typeface="楷体" panose="02010609060101010101" pitchFamily="49" charset="-122"/>
                <a:ea typeface="楷体" panose="02010609060101010101" pitchFamily="49" charset="-122"/>
              </a:rPr>
              <a:t>请补全图中由于惯性冲上粗糙斜面的物体受力的示意图。</a:t>
            </a:r>
          </a:p>
          <a:p>
            <a:endParaRPr lang="en-US" altLang="zh-CN" dirty="0">
              <a:solidFill>
                <a:schemeClr val="tx1">
                  <a:lumMod val="50000"/>
                  <a:lumOff val="50000"/>
                </a:schemeClr>
              </a:solidFill>
            </a:endParaRPr>
          </a:p>
          <a:p>
            <a:endParaRPr lang="en-US" altLang="zh-CN" dirty="0">
              <a:solidFill>
                <a:schemeClr val="tx1">
                  <a:lumMod val="50000"/>
                  <a:lumOff val="50000"/>
                </a:schemeClr>
              </a:solidFill>
            </a:endParaRPr>
          </a:p>
          <a:p>
            <a:endParaRPr lang="en-US" altLang="zh-CN" dirty="0">
              <a:solidFill>
                <a:schemeClr val="tx1">
                  <a:lumMod val="50000"/>
                  <a:lumOff val="50000"/>
                </a:schemeClr>
              </a:solidFill>
            </a:endParaRPr>
          </a:p>
          <a:p>
            <a:endParaRPr lang="zh-CN" altLang="en-US" dirty="0">
              <a:solidFill>
                <a:schemeClr val="tx1">
                  <a:lumMod val="50000"/>
                  <a:lumOff val="50000"/>
                </a:schemeClr>
              </a:solidFill>
            </a:endParaRPr>
          </a:p>
        </p:txBody>
      </p:sp>
      <p:sp>
        <p:nvSpPr>
          <p:cNvPr id="9" name="矩形 8">
            <a:extLst>
              <a:ext uri="{FF2B5EF4-FFF2-40B4-BE49-F238E27FC236}">
                <a16:creationId xmlns:a16="http://schemas.microsoft.com/office/drawing/2014/main" id="{3DA9D5CE-2BF0-4343-8F06-9D4EB04216CD}"/>
              </a:ext>
            </a:extLst>
          </p:cNvPr>
          <p:cNvSpPr/>
          <p:nvPr/>
        </p:nvSpPr>
        <p:spPr>
          <a:xfrm>
            <a:off x="5177825" y="3426822"/>
            <a:ext cx="6096000" cy="2862322"/>
          </a:xfrm>
          <a:prstGeom prst="rect">
            <a:avLst/>
          </a:prstGeom>
          <a:solidFill>
            <a:schemeClr val="bg1"/>
          </a:solidFill>
          <a:ln>
            <a:solidFill>
              <a:srgbClr val="A41AD4"/>
            </a:solidFill>
            <a:prstDash val="dash"/>
          </a:ln>
        </p:spPr>
        <p:txBody>
          <a:bodyPr>
            <a:spAutoFit/>
          </a:bodyPr>
          <a:lstStyle/>
          <a:p>
            <a:r>
              <a:rPr lang="zh-CN" altLang="en-US" b="1" dirty="0">
                <a:solidFill>
                  <a:srgbClr val="C00000"/>
                </a:solidFill>
                <a:latin typeface="楷体" panose="02010609060101010101" pitchFamily="49" charset="-122"/>
                <a:ea typeface="楷体" panose="02010609060101010101" pitchFamily="49" charset="-122"/>
              </a:rPr>
              <a:t>力学作图</a:t>
            </a:r>
            <a:endParaRPr lang="en-US" altLang="zh-CN" b="1" dirty="0">
              <a:solidFill>
                <a:srgbClr val="C00000"/>
              </a:solidFill>
              <a:latin typeface="楷体" panose="02010609060101010101" pitchFamily="49" charset="-122"/>
              <a:ea typeface="楷体" panose="02010609060101010101" pitchFamily="49" charset="-122"/>
            </a:endParaRPr>
          </a:p>
          <a:p>
            <a:r>
              <a:rPr lang="zh-CN" altLang="en-US" b="1" dirty="0">
                <a:solidFill>
                  <a:schemeClr val="tx1">
                    <a:lumMod val="50000"/>
                    <a:lumOff val="50000"/>
                  </a:schemeClr>
                </a:solidFill>
                <a:latin typeface="楷体" panose="02010609060101010101" pitchFamily="49" charset="-122"/>
                <a:ea typeface="楷体" panose="02010609060101010101" pitchFamily="49" charset="-122"/>
              </a:rPr>
              <a:t>物体受到重力 </a:t>
            </a:r>
            <a:r>
              <a:rPr lang="fr-FR" altLang="zh-CN" b="1" dirty="0">
                <a:solidFill>
                  <a:schemeClr val="tx1">
                    <a:lumMod val="50000"/>
                    <a:lumOff val="50000"/>
                  </a:schemeClr>
                </a:solidFill>
                <a:latin typeface="楷体" panose="02010609060101010101" pitchFamily="49" charset="-122"/>
                <a:ea typeface="楷体" panose="02010609060101010101" pitchFamily="49" charset="-122"/>
              </a:rPr>
              <a:t>G</a:t>
            </a:r>
            <a:r>
              <a:rPr lang="zh-CN" altLang="fr-FR"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b="1" dirty="0">
                <a:solidFill>
                  <a:schemeClr val="tx1">
                    <a:lumMod val="50000"/>
                    <a:lumOff val="50000"/>
                  </a:schemeClr>
                </a:solidFill>
                <a:latin typeface="楷体" panose="02010609060101010101" pitchFamily="49" charset="-122"/>
                <a:ea typeface="楷体" panose="02010609060101010101" pitchFamily="49" charset="-122"/>
              </a:rPr>
              <a:t>支持力 </a:t>
            </a:r>
            <a:r>
              <a:rPr lang="fr-FR" altLang="zh-CN" b="1" dirty="0">
                <a:solidFill>
                  <a:schemeClr val="tx1">
                    <a:lumMod val="50000"/>
                    <a:lumOff val="50000"/>
                  </a:schemeClr>
                </a:solidFill>
                <a:latin typeface="楷体" panose="02010609060101010101" pitchFamily="49" charset="-122"/>
                <a:ea typeface="楷体" panose="02010609060101010101" pitchFamily="49" charset="-122"/>
              </a:rPr>
              <a:t>F</a:t>
            </a:r>
            <a:r>
              <a:rPr lang="zh-CN" altLang="fr-FR"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b="1" dirty="0">
                <a:solidFill>
                  <a:schemeClr val="tx1">
                    <a:lumMod val="50000"/>
                    <a:lumOff val="50000"/>
                  </a:schemeClr>
                </a:solidFill>
                <a:latin typeface="楷体" panose="02010609060101010101" pitchFamily="49" charset="-122"/>
                <a:ea typeface="楷体" panose="02010609060101010101" pitchFamily="49" charset="-122"/>
              </a:rPr>
              <a:t>摩擦力 </a:t>
            </a:r>
            <a:r>
              <a:rPr lang="fr-FR" altLang="zh-CN" b="1" dirty="0">
                <a:solidFill>
                  <a:schemeClr val="tx1">
                    <a:lumMod val="50000"/>
                    <a:lumOff val="50000"/>
                  </a:schemeClr>
                </a:solidFill>
                <a:latin typeface="楷体" panose="02010609060101010101" pitchFamily="49" charset="-122"/>
                <a:ea typeface="楷体" panose="02010609060101010101" pitchFamily="49" charset="-122"/>
              </a:rPr>
              <a:t>f </a:t>
            </a:r>
            <a:r>
              <a:rPr lang="zh-CN" altLang="en-US" b="1" dirty="0">
                <a:solidFill>
                  <a:schemeClr val="tx1">
                    <a:lumMod val="50000"/>
                    <a:lumOff val="50000"/>
                  </a:schemeClr>
                </a:solidFill>
                <a:latin typeface="楷体" panose="02010609060101010101" pitchFamily="49" charset="-122"/>
                <a:ea typeface="楷体" panose="02010609060101010101" pitchFamily="49" charset="-122"/>
              </a:rPr>
              <a:t>的作用；物体冲上斜面，受到斜面的摩擦力的方向是沿斜面向下；过物体重心，分别垂直于斜面向上和沿斜面向下的方向画一条有向线段，并分别用</a:t>
            </a:r>
            <a:r>
              <a:rPr lang="fr-FR" altLang="zh-CN" b="1" dirty="0">
                <a:solidFill>
                  <a:schemeClr val="tx1">
                    <a:lumMod val="50000"/>
                    <a:lumOff val="50000"/>
                  </a:schemeClr>
                </a:solidFill>
                <a:latin typeface="楷体" panose="02010609060101010101" pitchFamily="49" charset="-122"/>
                <a:ea typeface="楷体" panose="02010609060101010101" pitchFamily="49" charset="-122"/>
              </a:rPr>
              <a:t>F</a:t>
            </a:r>
            <a:r>
              <a:rPr lang="zh-CN" altLang="en-US" b="1" dirty="0">
                <a:solidFill>
                  <a:schemeClr val="tx1">
                    <a:lumMod val="50000"/>
                    <a:lumOff val="50000"/>
                  </a:schemeClr>
                </a:solidFill>
                <a:latin typeface="楷体" panose="02010609060101010101" pitchFamily="49" charset="-122"/>
                <a:ea typeface="楷体" panose="02010609060101010101" pitchFamily="49" charset="-122"/>
              </a:rPr>
              <a:t>和</a:t>
            </a:r>
            <a:r>
              <a:rPr lang="fr-FR" altLang="zh-CN" b="1" dirty="0">
                <a:solidFill>
                  <a:schemeClr val="tx1">
                    <a:lumMod val="50000"/>
                    <a:lumOff val="50000"/>
                  </a:schemeClr>
                </a:solidFill>
                <a:latin typeface="楷体" panose="02010609060101010101" pitchFamily="49" charset="-122"/>
                <a:ea typeface="楷体" panose="02010609060101010101" pitchFamily="49" charset="-122"/>
              </a:rPr>
              <a:t>f</a:t>
            </a:r>
            <a:r>
              <a:rPr lang="zh-CN" altLang="en-US" b="1" dirty="0">
                <a:solidFill>
                  <a:schemeClr val="tx1">
                    <a:lumMod val="50000"/>
                    <a:lumOff val="50000"/>
                  </a:schemeClr>
                </a:solidFill>
                <a:latin typeface="楷体" panose="02010609060101010101" pitchFamily="49" charset="-122"/>
                <a:ea typeface="楷体" panose="02010609060101010101" pitchFamily="49" charset="-122"/>
              </a:rPr>
              <a:t>表示 </a:t>
            </a:r>
            <a:r>
              <a:rPr lang="en-US" altLang="zh-CN"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b="1" dirty="0">
                <a:solidFill>
                  <a:schemeClr val="tx1">
                    <a:lumMod val="50000"/>
                    <a:lumOff val="50000"/>
                  </a:schemeClr>
                </a:solidFill>
                <a:latin typeface="楷体" panose="02010609060101010101" pitchFamily="49" charset="-122"/>
                <a:ea typeface="楷体" panose="02010609060101010101" pitchFamily="49" charset="-122"/>
              </a:rPr>
              <a:t> 所受支持力和摩擦力示意图。</a:t>
            </a:r>
          </a:p>
          <a:p>
            <a:endParaRPr lang="en-US" altLang="zh-CN" b="1" dirty="0">
              <a:solidFill>
                <a:schemeClr val="tx1">
                  <a:lumMod val="50000"/>
                  <a:lumOff val="50000"/>
                </a:schemeClr>
              </a:solidFill>
              <a:latin typeface="楷体" panose="02010609060101010101" pitchFamily="49" charset="-122"/>
              <a:ea typeface="楷体" panose="02010609060101010101" pitchFamily="49" charset="-122"/>
            </a:endParaRPr>
          </a:p>
          <a:p>
            <a:r>
              <a:rPr lang="zh-CN" altLang="en-US" b="1" dirty="0">
                <a:solidFill>
                  <a:schemeClr val="tx1">
                    <a:lumMod val="50000"/>
                    <a:lumOff val="50000"/>
                  </a:schemeClr>
                </a:solidFill>
                <a:latin typeface="楷体" panose="02010609060101010101" pitchFamily="49" charset="-122"/>
                <a:ea typeface="楷体" panose="02010609060101010101" pitchFamily="49" charset="-122"/>
              </a:rPr>
              <a:t>要点：</a:t>
            </a:r>
            <a:endParaRPr lang="en-US" altLang="zh-CN" b="1" dirty="0">
              <a:solidFill>
                <a:schemeClr val="tx1">
                  <a:lumMod val="50000"/>
                  <a:lumOff val="50000"/>
                </a:schemeClr>
              </a:solidFill>
              <a:latin typeface="楷体" panose="02010609060101010101" pitchFamily="49" charset="-122"/>
              <a:ea typeface="楷体" panose="02010609060101010101" pitchFamily="49" charset="-122"/>
            </a:endParaRPr>
          </a:p>
          <a:p>
            <a:r>
              <a:rPr lang="zh-CN" altLang="en-US" b="1" dirty="0">
                <a:solidFill>
                  <a:srgbClr val="C00000"/>
                </a:solidFill>
                <a:latin typeface="楷体" panose="02010609060101010101" pitchFamily="49" charset="-122"/>
                <a:ea typeface="楷体" panose="02010609060101010101" pitchFamily="49" charset="-122"/>
              </a:rPr>
              <a:t>*重力</a:t>
            </a:r>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弹力</a:t>
            </a:r>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摩擦力</a:t>
            </a:r>
            <a:endParaRPr lang="en-US" altLang="zh-CN" b="1" dirty="0">
              <a:solidFill>
                <a:srgbClr val="C00000"/>
              </a:solidFill>
              <a:latin typeface="楷体" panose="02010609060101010101" pitchFamily="49" charset="-122"/>
              <a:ea typeface="楷体" panose="02010609060101010101" pitchFamily="49" charset="-122"/>
            </a:endParaRPr>
          </a:p>
          <a:p>
            <a:r>
              <a:rPr lang="zh-CN" altLang="en-US" b="1" dirty="0">
                <a:solidFill>
                  <a:srgbClr val="C00000"/>
                </a:solidFill>
                <a:latin typeface="楷体" panose="02010609060101010101" pitchFamily="49" charset="-122"/>
                <a:ea typeface="楷体" panose="02010609060101010101" pitchFamily="49" charset="-122"/>
              </a:rPr>
              <a:t>*按</a:t>
            </a:r>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顺序</a:t>
            </a:r>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a:t>
            </a:r>
            <a:endParaRPr lang="en-US" altLang="zh-CN" b="1" dirty="0">
              <a:solidFill>
                <a:srgbClr val="C00000"/>
              </a:solidFill>
              <a:latin typeface="楷体" panose="02010609060101010101" pitchFamily="49" charset="-122"/>
              <a:ea typeface="楷体" panose="02010609060101010101" pitchFamily="49" charset="-122"/>
            </a:endParaRPr>
          </a:p>
          <a:p>
            <a:r>
              <a:rPr lang="zh-CN" altLang="en-US" b="1" dirty="0">
                <a:solidFill>
                  <a:srgbClr val="C00000"/>
                </a:solidFill>
                <a:latin typeface="楷体" panose="02010609060101010101" pitchFamily="49" charset="-122"/>
                <a:ea typeface="楷体" panose="02010609060101010101" pitchFamily="49" charset="-122"/>
              </a:rPr>
              <a:t>分力的类型画出</a:t>
            </a:r>
            <a:endParaRPr lang="en-US" altLang="zh-CN" b="1" dirty="0">
              <a:solidFill>
                <a:srgbClr val="C00000"/>
              </a:solidFill>
              <a:latin typeface="楷体" panose="02010609060101010101" pitchFamily="49" charset="-122"/>
              <a:ea typeface="楷体" panose="02010609060101010101" pitchFamily="49" charset="-122"/>
            </a:endParaRPr>
          </a:p>
        </p:txBody>
      </p:sp>
      <p:cxnSp>
        <p:nvCxnSpPr>
          <p:cNvPr id="13" name="直线箭头连接符 12">
            <a:extLst>
              <a:ext uri="{FF2B5EF4-FFF2-40B4-BE49-F238E27FC236}">
                <a16:creationId xmlns:a16="http://schemas.microsoft.com/office/drawing/2014/main" id="{DAF92CE6-D7A4-CF45-A050-BCEF5B33DF66}"/>
              </a:ext>
            </a:extLst>
          </p:cNvPr>
          <p:cNvCxnSpPr>
            <a:cxnSpLocks/>
          </p:cNvCxnSpPr>
          <p:nvPr/>
        </p:nvCxnSpPr>
        <p:spPr>
          <a:xfrm>
            <a:off x="8204987" y="2926622"/>
            <a:ext cx="0" cy="360953"/>
          </a:xfrm>
          <a:prstGeom prst="straightConnector1">
            <a:avLst/>
          </a:prstGeom>
          <a:ln>
            <a:solidFill>
              <a:srgbClr val="A41AD4"/>
            </a:solidFill>
            <a:tailEnd type="triangle"/>
          </a:ln>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id="{77CA4E5F-1764-334A-ABBB-2BCB5D318263}"/>
              </a:ext>
            </a:extLst>
          </p:cNvPr>
          <p:cNvPicPr>
            <a:picLocks noChangeAspect="1"/>
          </p:cNvPicPr>
          <p:nvPr/>
        </p:nvPicPr>
        <p:blipFill>
          <a:blip r:embed="rId3"/>
          <a:stretch>
            <a:fillRect/>
          </a:stretch>
        </p:blipFill>
        <p:spPr>
          <a:xfrm>
            <a:off x="7642017" y="1230292"/>
            <a:ext cx="1714500" cy="1066800"/>
          </a:xfrm>
          <a:prstGeom prst="rect">
            <a:avLst/>
          </a:prstGeom>
        </p:spPr>
      </p:pic>
      <p:pic>
        <p:nvPicPr>
          <p:cNvPr id="11" name="图片 10">
            <a:extLst>
              <a:ext uri="{FF2B5EF4-FFF2-40B4-BE49-F238E27FC236}">
                <a16:creationId xmlns:a16="http://schemas.microsoft.com/office/drawing/2014/main" id="{9CD19F6A-8835-9546-9331-BE34F83EAC19}"/>
              </a:ext>
            </a:extLst>
          </p:cNvPr>
          <p:cNvPicPr>
            <a:picLocks noChangeAspect="1"/>
          </p:cNvPicPr>
          <p:nvPr/>
        </p:nvPicPr>
        <p:blipFill>
          <a:blip r:embed="rId4"/>
          <a:stretch>
            <a:fillRect/>
          </a:stretch>
        </p:blipFill>
        <p:spPr>
          <a:xfrm>
            <a:off x="8019847" y="5110974"/>
            <a:ext cx="1511300" cy="1041400"/>
          </a:xfrm>
          <a:prstGeom prst="rect">
            <a:avLst/>
          </a:prstGeom>
        </p:spPr>
      </p:pic>
    </p:spTree>
    <p:extLst>
      <p:ext uri="{BB962C8B-B14F-4D97-AF65-F5344CB8AC3E}">
        <p14:creationId xmlns:p14="http://schemas.microsoft.com/office/powerpoint/2010/main" val="28443791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F595439-DC2D-814E-A9B9-7FC87B21C31C}"/>
              </a:ext>
            </a:extLst>
          </p:cNvPr>
          <p:cNvSpPr txBox="1"/>
          <p:nvPr/>
        </p:nvSpPr>
        <p:spPr>
          <a:xfrm>
            <a:off x="417830" y="748030"/>
            <a:ext cx="4942702" cy="2031325"/>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1——</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声</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2——</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密度</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3——</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光</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4——</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热</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5——</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力</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6——</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电</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7——</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磁</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8——</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作图</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9——</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设计实验</a:t>
            </a:r>
          </a:p>
        </p:txBody>
      </p:sp>
      <p:sp>
        <p:nvSpPr>
          <p:cNvPr id="5" name="矩形 4">
            <a:extLst>
              <a:ext uri="{FF2B5EF4-FFF2-40B4-BE49-F238E27FC236}">
                <a16:creationId xmlns:a16="http://schemas.microsoft.com/office/drawing/2014/main" id="{48A01008-C526-154C-9A89-2460719D1A35}"/>
              </a:ext>
            </a:extLst>
          </p:cNvPr>
          <p:cNvSpPr/>
          <p:nvPr/>
        </p:nvSpPr>
        <p:spPr>
          <a:xfrm>
            <a:off x="417830" y="2821759"/>
            <a:ext cx="11177270" cy="3553641"/>
          </a:xfrm>
          <a:prstGeom prst="rect">
            <a:avLst/>
          </a:prstGeom>
          <a:solidFill>
            <a:srgbClr val="E8F0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3B27CFF8-40B3-3A40-9872-17E184753673}"/>
              </a:ext>
            </a:extLst>
          </p:cNvPr>
          <p:cNvSpPr/>
          <p:nvPr/>
        </p:nvSpPr>
        <p:spPr>
          <a:xfrm>
            <a:off x="693629" y="2882386"/>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A573DF6B-D1C2-994B-83B9-DB30AB109901}"/>
              </a:ext>
            </a:extLst>
          </p:cNvPr>
          <p:cNvSpPr txBox="1"/>
          <p:nvPr/>
        </p:nvSpPr>
        <p:spPr>
          <a:xfrm>
            <a:off x="693908" y="3251717"/>
            <a:ext cx="6773286" cy="2031325"/>
          </a:xfrm>
          <a:prstGeom prst="rect">
            <a:avLst/>
          </a:prstGeom>
          <a:noFill/>
        </p:spPr>
        <p:txBody>
          <a:bodyPr wrap="square" rtlCol="0">
            <a:spAutoFit/>
          </a:bodyPr>
          <a:lstStyle/>
          <a:p>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作图</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】6</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种题型</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光学作图</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作力的示意图</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3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杠杆作图及滑轮绕线</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4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连接实物图与画电路图</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5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磁感线、磁场、磁极方向的判断</a:t>
            </a:r>
          </a:p>
          <a:p>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6 </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作力的图示</a:t>
            </a:r>
            <a:endPar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2" name="矩形 1">
            <a:extLst>
              <a:ext uri="{FF2B5EF4-FFF2-40B4-BE49-F238E27FC236}">
                <a16:creationId xmlns:a16="http://schemas.microsoft.com/office/drawing/2014/main" id="{6062C0DD-F18A-494E-B6D2-F7DF2CAB57A2}"/>
              </a:ext>
            </a:extLst>
          </p:cNvPr>
          <p:cNvSpPr/>
          <p:nvPr/>
        </p:nvSpPr>
        <p:spPr>
          <a:xfrm>
            <a:off x="5177825" y="705626"/>
            <a:ext cx="6096000" cy="1754326"/>
          </a:xfrm>
          <a:prstGeom prst="rect">
            <a:avLst/>
          </a:prstGeom>
          <a:solidFill>
            <a:schemeClr val="bg1"/>
          </a:solidFill>
          <a:ln>
            <a:solidFill>
              <a:srgbClr val="A41AD4"/>
            </a:solidFill>
          </a:ln>
        </p:spPr>
        <p:txBody>
          <a:bodyPr wrap="square">
            <a:spAutoFit/>
          </a:bodyPr>
          <a:lstStyle/>
          <a:p>
            <a:r>
              <a:rPr lang="zh-CN" altLang="en-US" b="1" dirty="0">
                <a:solidFill>
                  <a:schemeClr val="tx1">
                    <a:lumMod val="50000"/>
                    <a:lumOff val="50000"/>
                  </a:schemeClr>
                </a:solidFill>
                <a:latin typeface="楷体" panose="02010609060101010101" pitchFamily="49" charset="-122"/>
                <a:ea typeface="楷体" panose="02010609060101010101" pitchFamily="49" charset="-122"/>
              </a:rPr>
              <a:t>例：</a:t>
            </a:r>
            <a:r>
              <a:rPr lang="zh-CN" altLang="en-US" dirty="0">
                <a:solidFill>
                  <a:schemeClr val="tx1">
                    <a:lumMod val="50000"/>
                    <a:lumOff val="50000"/>
                  </a:schemeClr>
                </a:solidFill>
                <a:latin typeface="楷体" panose="02010609060101010101" pitchFamily="49" charset="-122"/>
                <a:ea typeface="楷体" panose="02010609060101010101" pitchFamily="49" charset="-122"/>
              </a:rPr>
              <a:t>在图中小球受到的重力</a:t>
            </a:r>
            <a:r>
              <a:rPr lang="fr-FR" altLang="zh-CN" dirty="0">
                <a:solidFill>
                  <a:schemeClr val="tx1">
                    <a:lumMod val="50000"/>
                    <a:lumOff val="50000"/>
                  </a:schemeClr>
                </a:solidFill>
                <a:latin typeface="楷体" panose="02010609060101010101" pitchFamily="49" charset="-122"/>
                <a:ea typeface="楷体" panose="02010609060101010101" pitchFamily="49" charset="-122"/>
              </a:rPr>
              <a:t>G</a:t>
            </a:r>
            <a:r>
              <a:rPr lang="en-US" altLang="zh-CN" dirty="0">
                <a:solidFill>
                  <a:schemeClr val="tx1">
                    <a:lumMod val="50000"/>
                    <a:lumOff val="50000"/>
                  </a:schemeClr>
                </a:solidFill>
                <a:latin typeface="楷体" panose="02010609060101010101" pitchFamily="49" charset="-122"/>
                <a:ea typeface="楷体" panose="02010609060101010101" pitchFamily="49" charset="-122"/>
              </a:rPr>
              <a:t>=6N</a:t>
            </a:r>
            <a:r>
              <a:rPr lang="zh-CN" altLang="en-US" dirty="0">
                <a:solidFill>
                  <a:schemeClr val="tx1">
                    <a:lumMod val="50000"/>
                    <a:lumOff val="50000"/>
                  </a:schemeClr>
                </a:solidFill>
                <a:latin typeface="楷体" panose="02010609060101010101" pitchFamily="49" charset="-122"/>
                <a:ea typeface="楷体" panose="02010609060101010101" pitchFamily="49" charset="-122"/>
              </a:rPr>
              <a:t>，力的图示法画出重力 </a:t>
            </a:r>
            <a:r>
              <a:rPr lang="fr-FR" altLang="zh-CN" dirty="0">
                <a:solidFill>
                  <a:schemeClr val="tx1">
                    <a:lumMod val="50000"/>
                    <a:lumOff val="50000"/>
                  </a:schemeClr>
                </a:solidFill>
                <a:latin typeface="楷体" panose="02010609060101010101" pitchFamily="49" charset="-122"/>
                <a:ea typeface="楷体" panose="02010609060101010101" pitchFamily="49" charset="-122"/>
              </a:rPr>
              <a:t>G</a:t>
            </a:r>
            <a:r>
              <a:rPr lang="zh-CN" altLang="fr-FR" dirty="0">
                <a:solidFill>
                  <a:schemeClr val="tx1">
                    <a:lumMod val="50000"/>
                    <a:lumOff val="50000"/>
                  </a:schemeClr>
                </a:solidFill>
                <a:latin typeface="楷体" panose="02010609060101010101" pitchFamily="49" charset="-122"/>
                <a:ea typeface="楷体" panose="02010609060101010101" pitchFamily="49" charset="-122"/>
              </a:rPr>
              <a:t>。</a:t>
            </a:r>
          </a:p>
          <a:p>
            <a:endParaRPr lang="zh-CN" altLang="en-US" dirty="0">
              <a:solidFill>
                <a:schemeClr val="tx1">
                  <a:lumMod val="50000"/>
                  <a:lumOff val="50000"/>
                </a:schemeClr>
              </a:solidFill>
              <a:latin typeface="楷体" panose="02010609060101010101" pitchFamily="49" charset="-122"/>
              <a:ea typeface="楷体" panose="02010609060101010101" pitchFamily="49" charset="-122"/>
            </a:endParaRPr>
          </a:p>
          <a:p>
            <a:endParaRPr lang="en-US" altLang="zh-CN" dirty="0">
              <a:solidFill>
                <a:schemeClr val="tx1">
                  <a:lumMod val="50000"/>
                  <a:lumOff val="50000"/>
                </a:schemeClr>
              </a:solidFill>
            </a:endParaRPr>
          </a:p>
          <a:p>
            <a:endParaRPr lang="en-US" altLang="zh-CN" dirty="0">
              <a:solidFill>
                <a:schemeClr val="tx1">
                  <a:lumMod val="50000"/>
                  <a:lumOff val="50000"/>
                </a:schemeClr>
              </a:solidFill>
            </a:endParaRPr>
          </a:p>
          <a:p>
            <a:endParaRPr lang="en-US" altLang="zh-CN" dirty="0">
              <a:solidFill>
                <a:schemeClr val="tx1">
                  <a:lumMod val="50000"/>
                  <a:lumOff val="50000"/>
                </a:schemeClr>
              </a:solidFill>
            </a:endParaRPr>
          </a:p>
          <a:p>
            <a:endParaRPr lang="zh-CN" altLang="en-US" dirty="0">
              <a:solidFill>
                <a:schemeClr val="tx1">
                  <a:lumMod val="50000"/>
                  <a:lumOff val="50000"/>
                </a:schemeClr>
              </a:solidFill>
            </a:endParaRPr>
          </a:p>
        </p:txBody>
      </p:sp>
      <p:sp>
        <p:nvSpPr>
          <p:cNvPr id="9" name="矩形 8">
            <a:extLst>
              <a:ext uri="{FF2B5EF4-FFF2-40B4-BE49-F238E27FC236}">
                <a16:creationId xmlns:a16="http://schemas.microsoft.com/office/drawing/2014/main" id="{3DA9D5CE-2BF0-4343-8F06-9D4EB04216CD}"/>
              </a:ext>
            </a:extLst>
          </p:cNvPr>
          <p:cNvSpPr/>
          <p:nvPr/>
        </p:nvSpPr>
        <p:spPr>
          <a:xfrm>
            <a:off x="5177825" y="3426822"/>
            <a:ext cx="6096000" cy="2585323"/>
          </a:xfrm>
          <a:prstGeom prst="rect">
            <a:avLst/>
          </a:prstGeom>
          <a:solidFill>
            <a:schemeClr val="bg1"/>
          </a:solidFill>
          <a:ln>
            <a:solidFill>
              <a:srgbClr val="A41AD4"/>
            </a:solidFill>
            <a:prstDash val="dash"/>
          </a:ln>
        </p:spPr>
        <p:txBody>
          <a:bodyPr>
            <a:spAutoFit/>
          </a:bodyPr>
          <a:lstStyle/>
          <a:p>
            <a:r>
              <a:rPr lang="zh-CN" altLang="en-US" b="1" dirty="0">
                <a:solidFill>
                  <a:srgbClr val="C00000"/>
                </a:solidFill>
                <a:latin typeface="楷体" panose="02010609060101010101" pitchFamily="49" charset="-122"/>
                <a:ea typeface="楷体" panose="02010609060101010101" pitchFamily="49" charset="-122"/>
              </a:rPr>
              <a:t>力的图示</a:t>
            </a:r>
          </a:p>
          <a:p>
            <a:r>
              <a:rPr lang="zh-CN" altLang="en-US" b="1" dirty="0">
                <a:solidFill>
                  <a:schemeClr val="tx1">
                    <a:lumMod val="50000"/>
                    <a:lumOff val="50000"/>
                  </a:schemeClr>
                </a:solidFill>
                <a:latin typeface="楷体" panose="02010609060101010101" pitchFamily="49" charset="-122"/>
                <a:ea typeface="楷体" panose="02010609060101010101" pitchFamily="49" charset="-122"/>
              </a:rPr>
              <a:t>小球受到重力的方向竖直向下，作用点在小球的重心，重力的大小为</a:t>
            </a:r>
            <a:r>
              <a:rPr lang="en-US" altLang="zh-CN" b="1" dirty="0">
                <a:solidFill>
                  <a:schemeClr val="tx1">
                    <a:lumMod val="50000"/>
                    <a:lumOff val="50000"/>
                  </a:schemeClr>
                </a:solidFill>
                <a:latin typeface="楷体" panose="02010609060101010101" pitchFamily="49" charset="-122"/>
                <a:ea typeface="楷体" panose="02010609060101010101" pitchFamily="49" charset="-122"/>
              </a:rPr>
              <a:t>6</a:t>
            </a:r>
            <a:r>
              <a:rPr lang="fr-FR" altLang="zh-CN" b="1" dirty="0">
                <a:solidFill>
                  <a:schemeClr val="tx1">
                    <a:lumMod val="50000"/>
                    <a:lumOff val="50000"/>
                  </a:schemeClr>
                </a:solidFill>
                <a:latin typeface="楷体" panose="02010609060101010101" pitchFamily="49" charset="-122"/>
                <a:ea typeface="楷体" panose="02010609060101010101" pitchFamily="49" charset="-122"/>
              </a:rPr>
              <a:t>N</a:t>
            </a:r>
            <a:r>
              <a:rPr lang="zh-CN" altLang="fr-FR"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b="1" dirty="0">
                <a:solidFill>
                  <a:schemeClr val="tx1">
                    <a:lumMod val="50000"/>
                    <a:lumOff val="50000"/>
                  </a:schemeClr>
                </a:solidFill>
                <a:latin typeface="楷体" panose="02010609060101010101" pitchFamily="49" charset="-122"/>
                <a:ea typeface="楷体" panose="02010609060101010101" pitchFamily="49" charset="-122"/>
              </a:rPr>
              <a:t>可选取标度为</a:t>
            </a:r>
            <a:r>
              <a:rPr lang="en-US" altLang="zh-CN" b="1" dirty="0">
                <a:solidFill>
                  <a:schemeClr val="tx1">
                    <a:lumMod val="50000"/>
                    <a:lumOff val="50000"/>
                  </a:schemeClr>
                </a:solidFill>
                <a:latin typeface="楷体" panose="02010609060101010101" pitchFamily="49" charset="-122"/>
                <a:ea typeface="楷体" panose="02010609060101010101" pitchFamily="49" charset="-122"/>
              </a:rPr>
              <a:t>3</a:t>
            </a:r>
            <a:r>
              <a:rPr lang="fr-FR" altLang="zh-CN" b="1" dirty="0">
                <a:solidFill>
                  <a:schemeClr val="tx1">
                    <a:lumMod val="50000"/>
                    <a:lumOff val="50000"/>
                  </a:schemeClr>
                </a:solidFill>
                <a:latin typeface="楷体" panose="02010609060101010101" pitchFamily="49" charset="-122"/>
                <a:ea typeface="楷体" panose="02010609060101010101" pitchFamily="49" charset="-122"/>
              </a:rPr>
              <a:t>N</a:t>
            </a:r>
            <a:r>
              <a:rPr lang="zh-CN" altLang="fr-FR" b="1" dirty="0">
                <a:solidFill>
                  <a:schemeClr val="tx1">
                    <a:lumMod val="50000"/>
                    <a:lumOff val="50000"/>
                  </a:schemeClr>
                </a:solidFill>
                <a:latin typeface="楷体" panose="02010609060101010101" pitchFamily="49" charset="-122"/>
                <a:ea typeface="楷体" panose="02010609060101010101" pitchFamily="49" charset="-122"/>
              </a:rPr>
              <a:t>， </a:t>
            </a:r>
            <a:r>
              <a:rPr lang="zh-CN" altLang="en-US" b="1" dirty="0">
                <a:solidFill>
                  <a:schemeClr val="tx1">
                    <a:lumMod val="50000"/>
                    <a:lumOff val="50000"/>
                  </a:schemeClr>
                </a:solidFill>
                <a:latin typeface="楷体" panose="02010609060101010101" pitchFamily="49" charset="-122"/>
                <a:ea typeface="楷体" panose="02010609060101010101" pitchFamily="49" charset="-122"/>
              </a:rPr>
              <a:t>则所画线段的长度为标度的</a:t>
            </a:r>
            <a:r>
              <a:rPr lang="en-US" altLang="zh-CN" b="1" dirty="0">
                <a:solidFill>
                  <a:schemeClr val="tx1">
                    <a:lumMod val="50000"/>
                    <a:lumOff val="50000"/>
                  </a:schemeClr>
                </a:solidFill>
                <a:latin typeface="楷体" panose="02010609060101010101" pitchFamily="49" charset="-122"/>
                <a:ea typeface="楷体" panose="02010609060101010101" pitchFamily="49" charset="-122"/>
              </a:rPr>
              <a:t>2</a:t>
            </a:r>
            <a:r>
              <a:rPr lang="zh-CN" altLang="en-US" b="1" dirty="0">
                <a:solidFill>
                  <a:schemeClr val="tx1">
                    <a:lumMod val="50000"/>
                    <a:lumOff val="50000"/>
                  </a:schemeClr>
                </a:solidFill>
                <a:latin typeface="楷体" panose="02010609060101010101" pitchFamily="49" charset="-122"/>
                <a:ea typeface="楷体" panose="02010609060101010101" pitchFamily="49" charset="-122"/>
              </a:rPr>
              <a:t>倍。</a:t>
            </a:r>
            <a:endParaRPr lang="en-US" altLang="zh-CN" b="1" dirty="0">
              <a:solidFill>
                <a:schemeClr val="tx1">
                  <a:lumMod val="50000"/>
                  <a:lumOff val="50000"/>
                </a:schemeClr>
              </a:solidFill>
              <a:latin typeface="楷体" panose="02010609060101010101" pitchFamily="49" charset="-122"/>
              <a:ea typeface="楷体" panose="02010609060101010101" pitchFamily="49" charset="-122"/>
            </a:endParaRPr>
          </a:p>
          <a:p>
            <a:endParaRPr lang="zh-CN" altLang="en-US" b="1" dirty="0">
              <a:solidFill>
                <a:schemeClr val="tx1">
                  <a:lumMod val="50000"/>
                  <a:lumOff val="50000"/>
                </a:schemeClr>
              </a:solidFill>
              <a:latin typeface="楷体" panose="02010609060101010101" pitchFamily="49" charset="-122"/>
              <a:ea typeface="楷体" panose="02010609060101010101" pitchFamily="49" charset="-122"/>
            </a:endParaRPr>
          </a:p>
          <a:p>
            <a:endParaRPr lang="en-US" altLang="zh-CN" b="1" dirty="0">
              <a:solidFill>
                <a:schemeClr val="tx1">
                  <a:lumMod val="50000"/>
                  <a:lumOff val="50000"/>
                </a:schemeClr>
              </a:solidFill>
              <a:latin typeface="楷体" panose="02010609060101010101" pitchFamily="49" charset="-122"/>
              <a:ea typeface="楷体" panose="02010609060101010101" pitchFamily="49" charset="-122"/>
            </a:endParaRPr>
          </a:p>
          <a:p>
            <a:r>
              <a:rPr lang="zh-CN" altLang="en-US" b="1" dirty="0">
                <a:solidFill>
                  <a:schemeClr val="tx1">
                    <a:lumMod val="50000"/>
                    <a:lumOff val="50000"/>
                  </a:schemeClr>
                </a:solidFill>
                <a:latin typeface="楷体" panose="02010609060101010101" pitchFamily="49" charset="-122"/>
                <a:ea typeface="楷体" panose="02010609060101010101" pitchFamily="49" charset="-122"/>
              </a:rPr>
              <a:t>要点：</a:t>
            </a:r>
            <a:endParaRPr lang="en-US" altLang="zh-CN" b="1" dirty="0">
              <a:solidFill>
                <a:schemeClr val="tx1">
                  <a:lumMod val="50000"/>
                  <a:lumOff val="50000"/>
                </a:schemeClr>
              </a:solidFill>
              <a:latin typeface="楷体" panose="02010609060101010101" pitchFamily="49" charset="-122"/>
              <a:ea typeface="楷体" panose="02010609060101010101" pitchFamily="49" charset="-122"/>
            </a:endParaRPr>
          </a:p>
          <a:p>
            <a:r>
              <a:rPr lang="zh-CN" altLang="en-US" b="1" dirty="0">
                <a:solidFill>
                  <a:srgbClr val="C00000"/>
                </a:solidFill>
                <a:latin typeface="楷体" panose="02010609060101010101" pitchFamily="49" charset="-122"/>
                <a:ea typeface="楷体" panose="02010609060101010101" pitchFamily="49" charset="-122"/>
              </a:rPr>
              <a:t>*区分</a:t>
            </a:r>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力的示意图！</a:t>
            </a:r>
            <a:endParaRPr lang="en-US" altLang="zh-CN" b="1" dirty="0">
              <a:solidFill>
                <a:srgbClr val="C00000"/>
              </a:solidFill>
              <a:latin typeface="楷体" panose="02010609060101010101" pitchFamily="49" charset="-122"/>
              <a:ea typeface="楷体" panose="02010609060101010101" pitchFamily="49" charset="-122"/>
            </a:endParaRPr>
          </a:p>
          <a:p>
            <a:r>
              <a:rPr lang="zh-CN" altLang="en-US" b="1" dirty="0">
                <a:solidFill>
                  <a:srgbClr val="C00000"/>
                </a:solidFill>
                <a:latin typeface="楷体" panose="02010609060101010101" pitchFamily="49" charset="-122"/>
                <a:ea typeface="楷体" panose="02010609060101010101" pitchFamily="49" charset="-122"/>
              </a:rPr>
              <a:t>*注意：定量表示！</a:t>
            </a:r>
            <a:endParaRPr lang="en-US" altLang="zh-CN" b="1" dirty="0">
              <a:solidFill>
                <a:srgbClr val="C00000"/>
              </a:solidFill>
              <a:latin typeface="楷体" panose="02010609060101010101" pitchFamily="49" charset="-122"/>
              <a:ea typeface="楷体" panose="02010609060101010101" pitchFamily="49" charset="-122"/>
            </a:endParaRPr>
          </a:p>
        </p:txBody>
      </p:sp>
      <p:cxnSp>
        <p:nvCxnSpPr>
          <p:cNvPr id="13" name="直线箭头连接符 12">
            <a:extLst>
              <a:ext uri="{FF2B5EF4-FFF2-40B4-BE49-F238E27FC236}">
                <a16:creationId xmlns:a16="http://schemas.microsoft.com/office/drawing/2014/main" id="{DAF92CE6-D7A4-CF45-A050-BCEF5B33DF66}"/>
              </a:ext>
            </a:extLst>
          </p:cNvPr>
          <p:cNvCxnSpPr>
            <a:cxnSpLocks/>
          </p:cNvCxnSpPr>
          <p:nvPr/>
        </p:nvCxnSpPr>
        <p:spPr>
          <a:xfrm>
            <a:off x="8204987" y="2926622"/>
            <a:ext cx="0" cy="360953"/>
          </a:xfrm>
          <a:prstGeom prst="straightConnector1">
            <a:avLst/>
          </a:prstGeom>
          <a:ln>
            <a:solidFill>
              <a:srgbClr val="A41AD4"/>
            </a:solidFill>
            <a:tailEnd type="triangle"/>
          </a:ln>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CA7C3162-738C-B245-8C54-CF8DD28B96DF}"/>
              </a:ext>
            </a:extLst>
          </p:cNvPr>
          <p:cNvPicPr>
            <a:picLocks noChangeAspect="1"/>
          </p:cNvPicPr>
          <p:nvPr/>
        </p:nvPicPr>
        <p:blipFill>
          <a:blip r:embed="rId3"/>
          <a:stretch>
            <a:fillRect/>
          </a:stretch>
        </p:blipFill>
        <p:spPr>
          <a:xfrm>
            <a:off x="8019847" y="1086470"/>
            <a:ext cx="1003300" cy="1168400"/>
          </a:xfrm>
          <a:prstGeom prst="rect">
            <a:avLst/>
          </a:prstGeom>
        </p:spPr>
      </p:pic>
      <p:pic>
        <p:nvPicPr>
          <p:cNvPr id="8" name="图片 7">
            <a:extLst>
              <a:ext uri="{FF2B5EF4-FFF2-40B4-BE49-F238E27FC236}">
                <a16:creationId xmlns:a16="http://schemas.microsoft.com/office/drawing/2014/main" id="{8859FA3B-800B-DA47-8796-613BC0CDEE36}"/>
              </a:ext>
            </a:extLst>
          </p:cNvPr>
          <p:cNvPicPr>
            <a:picLocks noChangeAspect="1"/>
          </p:cNvPicPr>
          <p:nvPr/>
        </p:nvPicPr>
        <p:blipFill>
          <a:blip r:embed="rId4"/>
          <a:stretch>
            <a:fillRect/>
          </a:stretch>
        </p:blipFill>
        <p:spPr>
          <a:xfrm>
            <a:off x="8507388" y="4355330"/>
            <a:ext cx="1031518" cy="1620957"/>
          </a:xfrm>
          <a:prstGeom prst="rect">
            <a:avLst/>
          </a:prstGeom>
        </p:spPr>
      </p:pic>
    </p:spTree>
    <p:extLst>
      <p:ext uri="{BB962C8B-B14F-4D97-AF65-F5344CB8AC3E}">
        <p14:creationId xmlns:p14="http://schemas.microsoft.com/office/powerpoint/2010/main" val="386899433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F595439-DC2D-814E-A9B9-7FC87B21C31C}"/>
              </a:ext>
            </a:extLst>
          </p:cNvPr>
          <p:cNvSpPr txBox="1"/>
          <p:nvPr/>
        </p:nvSpPr>
        <p:spPr>
          <a:xfrm>
            <a:off x="417830" y="748030"/>
            <a:ext cx="4942702" cy="2031325"/>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1——</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声</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2——</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密度</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3——</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光</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4——</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热</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5——</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力</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6——</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电</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7——</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磁</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8——</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作图</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9——</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设计实验</a:t>
            </a:r>
          </a:p>
        </p:txBody>
      </p:sp>
      <p:sp>
        <p:nvSpPr>
          <p:cNvPr id="5" name="矩形 4">
            <a:extLst>
              <a:ext uri="{FF2B5EF4-FFF2-40B4-BE49-F238E27FC236}">
                <a16:creationId xmlns:a16="http://schemas.microsoft.com/office/drawing/2014/main" id="{48A01008-C526-154C-9A89-2460719D1A35}"/>
              </a:ext>
            </a:extLst>
          </p:cNvPr>
          <p:cNvSpPr/>
          <p:nvPr/>
        </p:nvSpPr>
        <p:spPr>
          <a:xfrm>
            <a:off x="417830" y="2821759"/>
            <a:ext cx="11177270" cy="3553641"/>
          </a:xfrm>
          <a:prstGeom prst="rect">
            <a:avLst/>
          </a:prstGeom>
          <a:solidFill>
            <a:srgbClr val="E8F0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3B27CFF8-40B3-3A40-9872-17E184753673}"/>
              </a:ext>
            </a:extLst>
          </p:cNvPr>
          <p:cNvSpPr/>
          <p:nvPr/>
        </p:nvSpPr>
        <p:spPr>
          <a:xfrm>
            <a:off x="693629" y="2882386"/>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2" name="矩形 1">
            <a:extLst>
              <a:ext uri="{FF2B5EF4-FFF2-40B4-BE49-F238E27FC236}">
                <a16:creationId xmlns:a16="http://schemas.microsoft.com/office/drawing/2014/main" id="{6062C0DD-F18A-494E-B6D2-F7DF2CAB57A2}"/>
              </a:ext>
            </a:extLst>
          </p:cNvPr>
          <p:cNvSpPr/>
          <p:nvPr/>
        </p:nvSpPr>
        <p:spPr>
          <a:xfrm>
            <a:off x="5177825" y="429481"/>
            <a:ext cx="6096000" cy="2308324"/>
          </a:xfrm>
          <a:prstGeom prst="rect">
            <a:avLst/>
          </a:prstGeom>
          <a:solidFill>
            <a:schemeClr val="bg1"/>
          </a:solidFill>
          <a:ln>
            <a:solidFill>
              <a:srgbClr val="A41AD4"/>
            </a:solidFill>
          </a:ln>
        </p:spPr>
        <p:txBody>
          <a:bodyPr>
            <a:spAutoFit/>
          </a:bodyPr>
          <a:lstStyle/>
          <a:p>
            <a:r>
              <a:rPr lang="zh-CN" altLang="en-US" b="1" dirty="0">
                <a:solidFill>
                  <a:schemeClr val="tx1">
                    <a:lumMod val="50000"/>
                    <a:lumOff val="50000"/>
                  </a:schemeClr>
                </a:solidFill>
                <a:latin typeface="楷体" panose="02010609060101010101" pitchFamily="49" charset="-122"/>
                <a:ea typeface="楷体" panose="02010609060101010101" pitchFamily="49" charset="-122"/>
              </a:rPr>
              <a:t>例：</a:t>
            </a:r>
            <a:r>
              <a:rPr lang="zh-CN" altLang="en-US" dirty="0">
                <a:solidFill>
                  <a:schemeClr val="tx1">
                    <a:lumMod val="50000"/>
                    <a:lumOff val="50000"/>
                  </a:schemeClr>
                </a:solidFill>
                <a:latin typeface="楷体" panose="02010609060101010101" pitchFamily="49" charset="-122"/>
                <a:ea typeface="楷体" panose="02010609060101010101" pitchFamily="49" charset="-122"/>
              </a:rPr>
              <a:t>请按要求正确连接实物图。要求：定值电阻 </a:t>
            </a:r>
            <a:r>
              <a:rPr lang="fr-FR" altLang="zh-CN" dirty="0">
                <a:solidFill>
                  <a:schemeClr val="tx1">
                    <a:lumMod val="50000"/>
                    <a:lumOff val="50000"/>
                  </a:schemeClr>
                </a:solidFill>
                <a:latin typeface="楷体" panose="02010609060101010101" pitchFamily="49" charset="-122"/>
                <a:ea typeface="楷体" panose="02010609060101010101" pitchFamily="49" charset="-122"/>
              </a:rPr>
              <a:t>R </a:t>
            </a:r>
            <a:r>
              <a:rPr lang="zh-CN" altLang="en-US" dirty="0">
                <a:solidFill>
                  <a:schemeClr val="tx1">
                    <a:lumMod val="50000"/>
                    <a:lumOff val="50000"/>
                  </a:schemeClr>
                </a:solidFill>
                <a:latin typeface="楷体" panose="02010609060101010101" pitchFamily="49" charset="-122"/>
                <a:ea typeface="楷体" panose="02010609060101010101" pitchFamily="49" charset="-122"/>
              </a:rPr>
              <a:t>与滑动变阻器串联，闭合开关</a:t>
            </a:r>
            <a:r>
              <a:rPr lang="fr-FR" altLang="zh-CN" dirty="0">
                <a:solidFill>
                  <a:schemeClr val="tx1">
                    <a:lumMod val="50000"/>
                    <a:lumOff val="50000"/>
                  </a:schemeClr>
                </a:solidFill>
                <a:latin typeface="楷体" panose="02010609060101010101" pitchFamily="49" charset="-122"/>
                <a:ea typeface="楷体" panose="02010609060101010101" pitchFamily="49" charset="-122"/>
              </a:rPr>
              <a:t>S</a:t>
            </a:r>
            <a:r>
              <a:rPr lang="zh-CN" altLang="fr-FR"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dirty="0">
                <a:solidFill>
                  <a:schemeClr val="tx1">
                    <a:lumMod val="50000"/>
                    <a:lumOff val="50000"/>
                  </a:schemeClr>
                </a:solidFill>
                <a:latin typeface="楷体" panose="02010609060101010101" pitchFamily="49" charset="-122"/>
                <a:ea typeface="楷体" panose="02010609060101010101" pitchFamily="49" charset="-122"/>
              </a:rPr>
              <a:t>将滑动变阻器的滑片向左移动，电压表和电流表的示数都变小，连线不能交叉。</a:t>
            </a:r>
            <a:endParaRPr lang="en-US" altLang="zh-CN" dirty="0">
              <a:solidFill>
                <a:schemeClr val="tx1">
                  <a:lumMod val="50000"/>
                  <a:lumOff val="50000"/>
                </a:schemeClr>
              </a:solidFill>
              <a:latin typeface="楷体" panose="02010609060101010101" pitchFamily="49" charset="-122"/>
              <a:ea typeface="楷体" panose="02010609060101010101" pitchFamily="49" charset="-122"/>
            </a:endParaRPr>
          </a:p>
          <a:p>
            <a:endParaRPr lang="en-US" altLang="zh-CN" dirty="0">
              <a:solidFill>
                <a:schemeClr val="tx1">
                  <a:lumMod val="50000"/>
                  <a:lumOff val="50000"/>
                </a:schemeClr>
              </a:solidFill>
              <a:latin typeface="楷体" panose="02010609060101010101" pitchFamily="49" charset="-122"/>
              <a:ea typeface="楷体" panose="02010609060101010101" pitchFamily="49" charset="-122"/>
            </a:endParaRPr>
          </a:p>
          <a:p>
            <a:endParaRPr lang="en-US" altLang="zh-CN" dirty="0">
              <a:solidFill>
                <a:schemeClr val="tx1">
                  <a:lumMod val="50000"/>
                  <a:lumOff val="50000"/>
                </a:schemeClr>
              </a:solidFill>
              <a:latin typeface="楷体" panose="02010609060101010101" pitchFamily="49" charset="-122"/>
              <a:ea typeface="楷体" panose="02010609060101010101" pitchFamily="49" charset="-122"/>
            </a:endParaRPr>
          </a:p>
          <a:p>
            <a:endParaRPr lang="en-US" altLang="zh-CN" dirty="0">
              <a:solidFill>
                <a:schemeClr val="tx1">
                  <a:lumMod val="50000"/>
                  <a:lumOff val="50000"/>
                </a:schemeClr>
              </a:solidFill>
              <a:latin typeface="楷体" panose="02010609060101010101" pitchFamily="49" charset="-122"/>
              <a:ea typeface="楷体" panose="02010609060101010101" pitchFamily="49" charset="-122"/>
            </a:endParaRPr>
          </a:p>
          <a:p>
            <a:endParaRPr lang="en-US" altLang="zh-CN" dirty="0">
              <a:solidFill>
                <a:schemeClr val="tx1">
                  <a:lumMod val="50000"/>
                  <a:lumOff val="50000"/>
                </a:schemeClr>
              </a:solidFill>
              <a:latin typeface="楷体" panose="02010609060101010101" pitchFamily="49" charset="-122"/>
              <a:ea typeface="楷体" panose="02010609060101010101" pitchFamily="49" charset="-122"/>
            </a:endParaRPr>
          </a:p>
          <a:p>
            <a:endParaRPr lang="en-US" altLang="zh-CN" dirty="0">
              <a:solidFill>
                <a:schemeClr val="tx1">
                  <a:lumMod val="50000"/>
                  <a:lumOff val="50000"/>
                </a:schemeClr>
              </a:solidFill>
              <a:latin typeface="楷体" panose="02010609060101010101" pitchFamily="49" charset="-122"/>
              <a:ea typeface="楷体" panose="02010609060101010101" pitchFamily="49" charset="-122"/>
            </a:endParaRPr>
          </a:p>
        </p:txBody>
      </p:sp>
      <p:sp>
        <p:nvSpPr>
          <p:cNvPr id="9" name="矩形 8">
            <a:extLst>
              <a:ext uri="{FF2B5EF4-FFF2-40B4-BE49-F238E27FC236}">
                <a16:creationId xmlns:a16="http://schemas.microsoft.com/office/drawing/2014/main" id="{3DA9D5CE-2BF0-4343-8F06-9D4EB04216CD}"/>
              </a:ext>
            </a:extLst>
          </p:cNvPr>
          <p:cNvSpPr/>
          <p:nvPr/>
        </p:nvSpPr>
        <p:spPr>
          <a:xfrm>
            <a:off x="5177825" y="3497672"/>
            <a:ext cx="6096000" cy="2739211"/>
          </a:xfrm>
          <a:prstGeom prst="rect">
            <a:avLst/>
          </a:prstGeom>
          <a:solidFill>
            <a:schemeClr val="bg1"/>
          </a:solidFill>
          <a:ln>
            <a:solidFill>
              <a:srgbClr val="A41AD4"/>
            </a:solidFill>
            <a:prstDash val="dash"/>
          </a:ln>
        </p:spPr>
        <p:txBody>
          <a:bodyPr>
            <a:spAutoFit/>
          </a:bodyPr>
          <a:lstStyle/>
          <a:p>
            <a:pPr lvl="0"/>
            <a:r>
              <a:rPr lang="zh-CN" altLang="en-US" b="1" dirty="0">
                <a:solidFill>
                  <a:srgbClr val="C00000"/>
                </a:solidFill>
                <a:latin typeface="楷体" panose="02010609060101010101" pitchFamily="49" charset="-122"/>
                <a:ea typeface="楷体" panose="02010609060101010101" pitchFamily="49" charset="-122"/>
              </a:rPr>
              <a:t>连接实物图与画电路图</a:t>
            </a:r>
          </a:p>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解析： </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R </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与滑动变阻器串联，则滑动变阻器与定值电阻</a:t>
            </a:r>
            <a:r>
              <a:rPr lang="zh-CN" altLang="en-US" sz="1400" b="1" dirty="0">
                <a:solidFill>
                  <a:srgbClr val="C00000"/>
                </a:solidFill>
                <a:latin typeface="楷体" panose="02010609060101010101" pitchFamily="49" charset="-122"/>
                <a:ea typeface="楷体" panose="02010609060101010101" pitchFamily="49" charset="-122"/>
              </a:rPr>
              <a:t>顺次接入</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；闭合开关</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S</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将滑动变阻器的滑片左移，电流表示数变小</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sym typeface="Wingdings" pitchFamily="2" charset="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电路中的</a:t>
            </a:r>
            <a:r>
              <a:rPr lang="zh-CN" altLang="en-US" sz="1400" b="1" dirty="0">
                <a:solidFill>
                  <a:srgbClr val="C00000"/>
                </a:solidFill>
                <a:latin typeface="楷体" panose="02010609060101010101" pitchFamily="49" charset="-122"/>
                <a:ea typeface="楷体" panose="02010609060101010101" pitchFamily="49" charset="-122"/>
              </a:rPr>
              <a:t>总电阻变大</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sym typeface="Wingdings" pitchFamily="2" charset="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滑动变阻器</a:t>
            </a:r>
            <a:r>
              <a:rPr lang="zh-CN" altLang="en-US" sz="1400" b="1" dirty="0">
                <a:solidFill>
                  <a:srgbClr val="C00000"/>
                </a:solidFill>
                <a:latin typeface="楷体" panose="02010609060101010101" pitchFamily="49" charset="-122"/>
                <a:ea typeface="楷体" panose="02010609060101010101" pitchFamily="49" charset="-122"/>
              </a:rPr>
              <a:t>电阻变大</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，应接下方的</a:t>
            </a:r>
            <a:r>
              <a:rPr lang="zh-CN" altLang="en-US" sz="1400" b="1" dirty="0">
                <a:solidFill>
                  <a:srgbClr val="C00000"/>
                </a:solidFill>
                <a:latin typeface="楷体" panose="02010609060101010101" pitchFamily="49" charset="-122"/>
                <a:ea typeface="楷体" panose="02010609060101010101" pitchFamily="49" charset="-122"/>
              </a:rPr>
              <a:t>右接线柱</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U=IR</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sym typeface="Wingdings" pitchFamily="2" charset="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电流变小，定值电阻两端的电压变小</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sym typeface="Wingdings" pitchFamily="2" charset="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滑动变阻器两端的</a:t>
            </a:r>
            <a:r>
              <a:rPr lang="zh-CN" altLang="en-US" sz="1400" b="1" dirty="0">
                <a:solidFill>
                  <a:srgbClr val="C00000"/>
                </a:solidFill>
                <a:latin typeface="楷体" panose="02010609060101010101" pitchFamily="49" charset="-122"/>
                <a:ea typeface="楷体" panose="02010609060101010101" pitchFamily="49" charset="-122"/>
              </a:rPr>
              <a:t>电压变大，电压表接到定值电阻的两端</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a:t>
            </a:r>
          </a:p>
          <a:p>
            <a:endParaRPr lang="en-US" altLang="zh-CN" sz="1400" b="1" dirty="0">
              <a:solidFill>
                <a:schemeClr val="tx1">
                  <a:lumMod val="50000"/>
                  <a:lumOff val="50000"/>
                </a:schemeClr>
              </a:solidFill>
              <a:latin typeface="楷体" panose="02010609060101010101" pitchFamily="49" charset="-122"/>
              <a:ea typeface="楷体" panose="02010609060101010101" pitchFamily="49" charset="-122"/>
            </a:endParaRPr>
          </a:p>
          <a:p>
            <a:endParaRPr lang="en-US" altLang="zh-CN" sz="1400" b="1" dirty="0">
              <a:solidFill>
                <a:schemeClr val="tx1">
                  <a:lumMod val="50000"/>
                  <a:lumOff val="50000"/>
                </a:schemeClr>
              </a:solidFill>
              <a:latin typeface="楷体" panose="02010609060101010101" pitchFamily="49" charset="-122"/>
              <a:ea typeface="楷体" panose="02010609060101010101" pitchFamily="49" charset="-122"/>
            </a:endParaRPr>
          </a:p>
          <a:p>
            <a:endParaRPr lang="zh-CN" altLang="en-US" sz="1400" b="1" dirty="0">
              <a:solidFill>
                <a:schemeClr val="tx1">
                  <a:lumMod val="50000"/>
                  <a:lumOff val="50000"/>
                </a:schemeClr>
              </a:solidFill>
              <a:latin typeface="楷体" panose="02010609060101010101" pitchFamily="49" charset="-122"/>
              <a:ea typeface="楷体" panose="02010609060101010101" pitchFamily="49" charset="-122"/>
            </a:endParaRPr>
          </a:p>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要点：</a:t>
            </a:r>
            <a:endParaRPr lang="en-US" altLang="zh-CN" sz="1400" b="1" dirty="0">
              <a:solidFill>
                <a:schemeClr val="tx1">
                  <a:lumMod val="50000"/>
                  <a:lumOff val="50000"/>
                </a:schemeClr>
              </a:solidFill>
              <a:latin typeface="楷体" panose="02010609060101010101" pitchFamily="49" charset="-122"/>
              <a:ea typeface="楷体" panose="02010609060101010101" pitchFamily="49" charset="-122"/>
            </a:endParaRPr>
          </a:p>
          <a:p>
            <a:r>
              <a:rPr lang="zh-CN" altLang="en-US" sz="1400" b="1" dirty="0">
                <a:solidFill>
                  <a:srgbClr val="C00000"/>
                </a:solidFill>
                <a:latin typeface="楷体" panose="02010609060101010101" pitchFamily="49" charset="-122"/>
                <a:ea typeface="楷体" panose="02010609060101010101" pitchFamily="49" charset="-122"/>
              </a:rPr>
              <a:t>*判断顺序：</a:t>
            </a:r>
            <a:r>
              <a:rPr lang="en-US" altLang="zh-CN" sz="1400" b="1" dirty="0">
                <a:solidFill>
                  <a:srgbClr val="C00000"/>
                </a:solidFill>
                <a:latin typeface="楷体" panose="02010609060101010101" pitchFamily="49" charset="-122"/>
                <a:ea typeface="楷体" panose="02010609060101010101" pitchFamily="49" charset="-122"/>
              </a:rPr>
              <a:t>【1.</a:t>
            </a:r>
            <a:r>
              <a:rPr lang="zh-CN" altLang="en-US" sz="1400" b="1" dirty="0">
                <a:solidFill>
                  <a:srgbClr val="C00000"/>
                </a:solidFill>
                <a:latin typeface="楷体" panose="02010609060101010101" pitchFamily="49" charset="-122"/>
                <a:ea typeface="楷体" panose="02010609060101010101" pitchFamily="49" charset="-122"/>
              </a:rPr>
              <a:t>串并联</a:t>
            </a:r>
            <a:r>
              <a:rPr lang="en-US" altLang="zh-CN" sz="1400" b="1" dirty="0">
                <a:solidFill>
                  <a:srgbClr val="C00000"/>
                </a:solidFill>
                <a:latin typeface="楷体" panose="02010609060101010101" pitchFamily="49" charset="-122"/>
                <a:ea typeface="楷体" panose="02010609060101010101" pitchFamily="49" charset="-122"/>
              </a:rPr>
              <a:t>】</a:t>
            </a:r>
          </a:p>
          <a:p>
            <a:r>
              <a:rPr lang="en-US" altLang="zh-CN" sz="1400" b="1" dirty="0">
                <a:solidFill>
                  <a:srgbClr val="C00000"/>
                </a:solidFill>
                <a:latin typeface="楷体" panose="02010609060101010101" pitchFamily="49" charset="-122"/>
                <a:ea typeface="楷体" panose="02010609060101010101" pitchFamily="49" charset="-122"/>
              </a:rPr>
              <a:t>【2.</a:t>
            </a:r>
            <a:r>
              <a:rPr lang="zh-CN" altLang="en-US" sz="1400" b="1" dirty="0">
                <a:solidFill>
                  <a:srgbClr val="C00000"/>
                </a:solidFill>
                <a:latin typeface="楷体" panose="02010609060101010101" pitchFamily="49" charset="-122"/>
                <a:ea typeface="楷体" panose="02010609060101010101" pitchFamily="49" charset="-122"/>
              </a:rPr>
              <a:t>欧姆定律</a:t>
            </a:r>
            <a:r>
              <a:rPr lang="en-US" altLang="zh-CN" sz="1400" b="1" dirty="0">
                <a:solidFill>
                  <a:srgbClr val="C00000"/>
                </a:solidFill>
                <a:latin typeface="楷体" panose="02010609060101010101" pitchFamily="49" charset="-122"/>
                <a:ea typeface="楷体" panose="02010609060101010101" pitchFamily="49" charset="-122"/>
              </a:rPr>
              <a:t>-</a:t>
            </a:r>
            <a:r>
              <a:rPr lang="zh-CN" altLang="en-US" sz="1400" b="1" dirty="0">
                <a:solidFill>
                  <a:srgbClr val="C00000"/>
                </a:solidFill>
                <a:latin typeface="楷体" panose="02010609060101010101" pitchFamily="49" charset="-122"/>
                <a:ea typeface="楷体" panose="02010609060101010101" pitchFamily="49" charset="-122"/>
              </a:rPr>
              <a:t>判断总电阻变化</a:t>
            </a:r>
            <a:r>
              <a:rPr lang="en-US" altLang="zh-CN" sz="1400" b="1" dirty="0">
                <a:solidFill>
                  <a:srgbClr val="C00000"/>
                </a:solidFill>
                <a:latin typeface="楷体" panose="02010609060101010101" pitchFamily="49" charset="-122"/>
                <a:ea typeface="楷体" panose="02010609060101010101" pitchFamily="49" charset="-122"/>
              </a:rPr>
              <a:t>】</a:t>
            </a:r>
            <a:r>
              <a:rPr lang="zh-CN" altLang="en-US" sz="1400" b="1" dirty="0">
                <a:solidFill>
                  <a:srgbClr val="C00000"/>
                </a:solidFill>
                <a:latin typeface="楷体" panose="02010609060101010101" pitchFamily="49" charset="-122"/>
                <a:ea typeface="楷体" panose="02010609060101010101" pitchFamily="49" charset="-122"/>
              </a:rPr>
              <a:t>！</a:t>
            </a:r>
            <a:endParaRPr lang="en-US" altLang="zh-CN" sz="1400" b="1" dirty="0">
              <a:solidFill>
                <a:srgbClr val="C00000"/>
              </a:solidFill>
              <a:latin typeface="楷体" panose="02010609060101010101" pitchFamily="49" charset="-122"/>
              <a:ea typeface="楷体" panose="02010609060101010101" pitchFamily="49" charset="-122"/>
            </a:endParaRPr>
          </a:p>
          <a:p>
            <a:r>
              <a:rPr lang="zh-CN" altLang="en-US" sz="1400" b="1" dirty="0">
                <a:solidFill>
                  <a:srgbClr val="C00000"/>
                </a:solidFill>
                <a:latin typeface="楷体" panose="02010609060101010101" pitchFamily="49" charset="-122"/>
                <a:ea typeface="楷体" panose="02010609060101010101" pitchFamily="49" charset="-122"/>
              </a:rPr>
              <a:t>*注意：移动方向！</a:t>
            </a:r>
            <a:endParaRPr lang="en-US" altLang="zh-CN" sz="1400" b="1" dirty="0">
              <a:solidFill>
                <a:srgbClr val="C00000"/>
              </a:solidFill>
              <a:latin typeface="楷体" panose="02010609060101010101" pitchFamily="49" charset="-122"/>
              <a:ea typeface="楷体" panose="02010609060101010101" pitchFamily="49" charset="-122"/>
            </a:endParaRPr>
          </a:p>
        </p:txBody>
      </p:sp>
      <p:cxnSp>
        <p:nvCxnSpPr>
          <p:cNvPr id="13" name="直线箭头连接符 12">
            <a:extLst>
              <a:ext uri="{FF2B5EF4-FFF2-40B4-BE49-F238E27FC236}">
                <a16:creationId xmlns:a16="http://schemas.microsoft.com/office/drawing/2014/main" id="{DAF92CE6-D7A4-CF45-A050-BCEF5B33DF66}"/>
              </a:ext>
            </a:extLst>
          </p:cNvPr>
          <p:cNvCxnSpPr>
            <a:cxnSpLocks/>
          </p:cNvCxnSpPr>
          <p:nvPr/>
        </p:nvCxnSpPr>
        <p:spPr>
          <a:xfrm>
            <a:off x="8208762" y="2821759"/>
            <a:ext cx="0" cy="429958"/>
          </a:xfrm>
          <a:prstGeom prst="straightConnector1">
            <a:avLst/>
          </a:prstGeom>
          <a:ln>
            <a:solidFill>
              <a:srgbClr val="A41AD4"/>
            </a:solidFill>
            <a:tailEnd type="triangle"/>
          </a:ln>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E154BDD5-BF02-4549-B5B1-0294AD844E17}"/>
              </a:ext>
            </a:extLst>
          </p:cNvPr>
          <p:cNvPicPr>
            <a:picLocks noChangeAspect="1"/>
          </p:cNvPicPr>
          <p:nvPr/>
        </p:nvPicPr>
        <p:blipFill>
          <a:blip r:embed="rId2"/>
          <a:stretch>
            <a:fillRect/>
          </a:stretch>
        </p:blipFill>
        <p:spPr>
          <a:xfrm>
            <a:off x="8788273" y="1320373"/>
            <a:ext cx="1944397" cy="1286407"/>
          </a:xfrm>
          <a:prstGeom prst="rect">
            <a:avLst/>
          </a:prstGeom>
        </p:spPr>
      </p:pic>
      <p:pic>
        <p:nvPicPr>
          <p:cNvPr id="8" name="图片 7">
            <a:extLst>
              <a:ext uri="{FF2B5EF4-FFF2-40B4-BE49-F238E27FC236}">
                <a16:creationId xmlns:a16="http://schemas.microsoft.com/office/drawing/2014/main" id="{39B264AA-E036-2742-8541-C9F2925155D8}"/>
              </a:ext>
            </a:extLst>
          </p:cNvPr>
          <p:cNvPicPr>
            <a:picLocks noChangeAspect="1"/>
          </p:cNvPicPr>
          <p:nvPr/>
        </p:nvPicPr>
        <p:blipFill>
          <a:blip r:embed="rId3"/>
          <a:stretch>
            <a:fillRect/>
          </a:stretch>
        </p:blipFill>
        <p:spPr>
          <a:xfrm>
            <a:off x="8812372" y="4783364"/>
            <a:ext cx="1902169" cy="1254177"/>
          </a:xfrm>
          <a:prstGeom prst="rect">
            <a:avLst/>
          </a:prstGeom>
        </p:spPr>
      </p:pic>
      <p:sp>
        <p:nvSpPr>
          <p:cNvPr id="12" name="文本框 11">
            <a:extLst>
              <a:ext uri="{FF2B5EF4-FFF2-40B4-BE49-F238E27FC236}">
                <a16:creationId xmlns:a16="http://schemas.microsoft.com/office/drawing/2014/main" id="{C3EEDFE5-8851-C849-A0ED-134B697C0FF4}"/>
              </a:ext>
            </a:extLst>
          </p:cNvPr>
          <p:cNvSpPr txBox="1"/>
          <p:nvPr/>
        </p:nvSpPr>
        <p:spPr>
          <a:xfrm>
            <a:off x="693908" y="3251717"/>
            <a:ext cx="4049323" cy="2031325"/>
          </a:xfrm>
          <a:prstGeom prst="rect">
            <a:avLst/>
          </a:prstGeom>
          <a:noFill/>
        </p:spPr>
        <p:txBody>
          <a:bodyPr wrap="square" rtlCol="0">
            <a:spAutoFit/>
          </a:bodyPr>
          <a:lstStyle/>
          <a:p>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作图</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】6</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种题型</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光学作图</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作力的示意图</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3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杠杆作图及滑轮绕线</a:t>
            </a:r>
          </a:p>
          <a:p>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4 </a:t>
            </a:r>
            <a:r>
              <a:rPr kumimoji="1" lang="zh-CN" altLang="en-US" sz="1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连接实物图与画电路图</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5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磁感线、磁场、磁极方向的判断</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6 </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作力的图示</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4852513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F595439-DC2D-814E-A9B9-7FC87B21C31C}"/>
              </a:ext>
            </a:extLst>
          </p:cNvPr>
          <p:cNvSpPr txBox="1"/>
          <p:nvPr/>
        </p:nvSpPr>
        <p:spPr>
          <a:xfrm>
            <a:off x="417830" y="748030"/>
            <a:ext cx="4942702" cy="2031325"/>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1——</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声</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2——</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密度</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3——</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光</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4——</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热</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5——</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力</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6——</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电</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7——</a:t>
            </a:r>
            <a:r>
              <a:rPr kumimoji="1" lang="zh-CN" altLang="en-US"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磁</a:t>
            </a:r>
            <a:endParaRPr kumimoji="1" lang="en-US" altLang="zh-CN" sz="1400" b="1" u="sng"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8——</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作图</a:t>
            </a:r>
            <a:endPar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模块</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9——</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设计实验</a:t>
            </a:r>
          </a:p>
        </p:txBody>
      </p:sp>
      <p:sp>
        <p:nvSpPr>
          <p:cNvPr id="5" name="矩形 4">
            <a:extLst>
              <a:ext uri="{FF2B5EF4-FFF2-40B4-BE49-F238E27FC236}">
                <a16:creationId xmlns:a16="http://schemas.microsoft.com/office/drawing/2014/main" id="{48A01008-C526-154C-9A89-2460719D1A35}"/>
              </a:ext>
            </a:extLst>
          </p:cNvPr>
          <p:cNvSpPr/>
          <p:nvPr/>
        </p:nvSpPr>
        <p:spPr>
          <a:xfrm>
            <a:off x="417830" y="2821759"/>
            <a:ext cx="11177270" cy="3553641"/>
          </a:xfrm>
          <a:prstGeom prst="rect">
            <a:avLst/>
          </a:prstGeom>
          <a:solidFill>
            <a:srgbClr val="E8F0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3B27CFF8-40B3-3A40-9872-17E184753673}"/>
              </a:ext>
            </a:extLst>
          </p:cNvPr>
          <p:cNvSpPr/>
          <p:nvPr/>
        </p:nvSpPr>
        <p:spPr>
          <a:xfrm>
            <a:off x="693629" y="2882386"/>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A573DF6B-D1C2-994B-83B9-DB30AB109901}"/>
              </a:ext>
            </a:extLst>
          </p:cNvPr>
          <p:cNvSpPr txBox="1"/>
          <p:nvPr/>
        </p:nvSpPr>
        <p:spPr>
          <a:xfrm>
            <a:off x="693908" y="3251717"/>
            <a:ext cx="4162637" cy="3323987"/>
          </a:xfrm>
          <a:prstGeom prst="rect">
            <a:avLst/>
          </a:prstGeom>
          <a:noFill/>
        </p:spPr>
        <p:txBody>
          <a:bodyPr wrap="square" rtlCol="0">
            <a:spAutoFit/>
          </a:bodyPr>
          <a:lstStyle/>
          <a:p>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设计实验</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】3</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种题型</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 设计实验</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探究型</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 设计实验</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证伪型</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题型 </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3</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设计实验</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开放步骤</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计算表达式</a:t>
            </a:r>
          </a:p>
          <a:p>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endParaRPr lang="en-US" altLang="zh-CN" sz="1400" b="1" dirty="0">
              <a:solidFill>
                <a:schemeClr val="tx1">
                  <a:lumMod val="50000"/>
                  <a:lumOff val="50000"/>
                </a:schemeClr>
              </a:solidFill>
              <a:latin typeface="楷体" panose="02010609060101010101" pitchFamily="49" charset="-122"/>
              <a:ea typeface="楷体" panose="02010609060101010101" pitchFamily="49" charset="-122"/>
            </a:endParaRPr>
          </a:p>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要点：</a:t>
            </a:r>
            <a:endParaRPr lang="en-US" altLang="zh-CN" sz="1400" b="1" dirty="0">
              <a:solidFill>
                <a:schemeClr val="tx1">
                  <a:lumMod val="50000"/>
                  <a:lumOff val="50000"/>
                </a:schemeClr>
              </a:solidFill>
              <a:latin typeface="楷体" panose="02010609060101010101" pitchFamily="49" charset="-122"/>
              <a:ea typeface="楷体" panose="02010609060101010101" pitchFamily="49" charset="-122"/>
            </a:endParaRPr>
          </a:p>
          <a:p>
            <a:r>
              <a:rPr lang="zh-CN" altLang="en-US" sz="1400" b="1" dirty="0">
                <a:solidFill>
                  <a:srgbClr val="C00000"/>
                </a:solidFill>
                <a:latin typeface="楷体" panose="02010609060101010101" pitchFamily="49" charset="-122"/>
                <a:ea typeface="楷体" panose="02010609060101010101" pitchFamily="49" charset="-122"/>
              </a:rPr>
              <a:t>*掌握基本物理概念</a:t>
            </a:r>
            <a:endParaRPr lang="en-US" altLang="zh-CN" sz="1400" b="1" dirty="0">
              <a:solidFill>
                <a:srgbClr val="C00000"/>
              </a:solidFill>
              <a:latin typeface="楷体" panose="02010609060101010101" pitchFamily="49" charset="-122"/>
              <a:ea typeface="楷体" panose="02010609060101010101" pitchFamily="49" charset="-122"/>
            </a:endParaRPr>
          </a:p>
          <a:p>
            <a:r>
              <a:rPr lang="zh-CN" altLang="en-US" sz="1400" b="1" dirty="0">
                <a:solidFill>
                  <a:srgbClr val="C00000"/>
                </a:solidFill>
                <a:latin typeface="楷体" panose="02010609060101010101" pitchFamily="49" charset="-122"/>
                <a:ea typeface="楷体" panose="02010609060101010101" pitchFamily="49" charset="-122"/>
              </a:rPr>
              <a:t>*掌握基本实验方法</a:t>
            </a:r>
            <a:endParaRPr lang="en-US" altLang="zh-CN" sz="1400" b="1" dirty="0">
              <a:solidFill>
                <a:srgbClr val="C00000"/>
              </a:solidFill>
              <a:latin typeface="楷体" panose="02010609060101010101" pitchFamily="49" charset="-122"/>
              <a:ea typeface="楷体" panose="02010609060101010101" pitchFamily="49" charset="-122"/>
            </a:endParaRPr>
          </a:p>
          <a:p>
            <a:r>
              <a:rPr lang="zh-CN" altLang="en-US" sz="1400" b="1" dirty="0">
                <a:solidFill>
                  <a:srgbClr val="C00000"/>
                </a:solidFill>
                <a:latin typeface="楷体" panose="02010609060101010101" pitchFamily="49" charset="-122"/>
                <a:ea typeface="楷体" panose="02010609060101010101" pitchFamily="49" charset="-122"/>
              </a:rPr>
              <a:t>*灵活变换公式</a:t>
            </a:r>
            <a:r>
              <a:rPr lang="en-US" altLang="zh-CN" sz="1400" b="1" dirty="0">
                <a:solidFill>
                  <a:srgbClr val="C00000"/>
                </a:solidFill>
                <a:latin typeface="楷体" panose="02010609060101010101" pitchFamily="49" charset="-122"/>
                <a:ea typeface="楷体" panose="02010609060101010101" pitchFamily="49" charset="-122"/>
              </a:rPr>
              <a:t>-</a:t>
            </a:r>
            <a:r>
              <a:rPr lang="zh-CN" altLang="en-US" sz="1400" b="1" dirty="0">
                <a:solidFill>
                  <a:srgbClr val="C00000"/>
                </a:solidFill>
                <a:latin typeface="楷体" panose="02010609060101010101" pitchFamily="49" charset="-122"/>
                <a:ea typeface="楷体" panose="02010609060101010101" pitchFamily="49" charset="-122"/>
              </a:rPr>
              <a:t> 梳理公式需要测量量 </a:t>
            </a:r>
            <a:r>
              <a:rPr lang="en-US" altLang="zh-CN" sz="1400" b="1" dirty="0">
                <a:solidFill>
                  <a:srgbClr val="C00000"/>
                </a:solidFill>
                <a:latin typeface="楷体" panose="02010609060101010101" pitchFamily="49" charset="-122"/>
                <a:ea typeface="楷体" panose="02010609060101010101" pitchFamily="49" charset="-122"/>
              </a:rPr>
              <a:t>–</a:t>
            </a:r>
            <a:r>
              <a:rPr lang="zh-CN" altLang="en-US" sz="1400" b="1" dirty="0">
                <a:solidFill>
                  <a:srgbClr val="C00000"/>
                </a:solidFill>
                <a:latin typeface="楷体" panose="02010609060101010101" pitchFamily="49" charset="-122"/>
                <a:ea typeface="楷体" panose="02010609060101010101" pitchFamily="49" charset="-122"/>
              </a:rPr>
              <a:t> </a:t>
            </a:r>
            <a:endParaRPr lang="en-US" altLang="zh-CN" sz="1400" b="1" dirty="0">
              <a:solidFill>
                <a:srgbClr val="C00000"/>
              </a:solidFill>
              <a:latin typeface="楷体" panose="02010609060101010101" pitchFamily="49" charset="-122"/>
              <a:ea typeface="楷体" panose="02010609060101010101" pitchFamily="49" charset="-122"/>
            </a:endParaRPr>
          </a:p>
          <a:p>
            <a:r>
              <a:rPr lang="zh-CN" altLang="en-US" sz="1400" b="1" dirty="0">
                <a:solidFill>
                  <a:srgbClr val="C00000"/>
                </a:solidFill>
                <a:latin typeface="楷体" panose="02010609060101010101" pitchFamily="49" charset="-122"/>
                <a:ea typeface="楷体" panose="02010609060101010101" pitchFamily="49" charset="-122"/>
              </a:rPr>
              <a:t>计算出所需结果：</a:t>
            </a:r>
            <a:endParaRPr lang="en-US" altLang="zh-CN" sz="1400" b="1" dirty="0">
              <a:solidFill>
                <a:srgbClr val="C00000"/>
              </a:solidFill>
              <a:latin typeface="楷体" panose="02010609060101010101" pitchFamily="49" charset="-122"/>
              <a:ea typeface="楷体" panose="02010609060101010101" pitchFamily="49" charset="-122"/>
            </a:endParaRPr>
          </a:p>
          <a:p>
            <a:r>
              <a:rPr lang="zh-CN" altLang="en-US" sz="1400" b="1" dirty="0">
                <a:solidFill>
                  <a:srgbClr val="C00000"/>
                </a:solidFill>
                <a:latin typeface="楷体" panose="02010609060101010101" pitchFamily="49" charset="-122"/>
                <a:ea typeface="楷体" panose="02010609060101010101" pitchFamily="49" charset="-122"/>
              </a:rPr>
              <a:t>质量相等</a:t>
            </a:r>
            <a:r>
              <a:rPr lang="en-US" altLang="zh-CN" sz="1400" b="1" dirty="0">
                <a:solidFill>
                  <a:srgbClr val="C00000"/>
                </a:solidFill>
                <a:latin typeface="楷体" panose="02010609060101010101" pitchFamily="49" charset="-122"/>
                <a:ea typeface="楷体" panose="02010609060101010101" pitchFamily="49" charset="-122"/>
              </a:rPr>
              <a:t>-</a:t>
            </a:r>
            <a:r>
              <a:rPr lang="zh-CN" altLang="en-US" sz="1400" b="1" dirty="0">
                <a:solidFill>
                  <a:srgbClr val="C00000"/>
                </a:solidFill>
                <a:latin typeface="楷体" panose="02010609060101010101" pitchFamily="49" charset="-122"/>
                <a:ea typeface="楷体" panose="02010609060101010101" pitchFamily="49" charset="-122"/>
              </a:rPr>
              <a:t>列出等式</a:t>
            </a:r>
            <a:r>
              <a:rPr lang="en-US" altLang="zh-CN" sz="1400" b="1" dirty="0">
                <a:solidFill>
                  <a:srgbClr val="C00000"/>
                </a:solidFill>
                <a:latin typeface="楷体" panose="02010609060101010101" pitchFamily="49" charset="-122"/>
                <a:ea typeface="楷体" panose="02010609060101010101" pitchFamily="49" charset="-122"/>
              </a:rPr>
              <a:t>-</a:t>
            </a:r>
            <a:r>
              <a:rPr lang="zh-CN" altLang="en-US" sz="1400" b="1" dirty="0">
                <a:solidFill>
                  <a:srgbClr val="C00000"/>
                </a:solidFill>
                <a:latin typeface="楷体" panose="02010609060101010101" pitchFamily="49" charset="-122"/>
                <a:ea typeface="楷体" panose="02010609060101010101" pitchFamily="49" charset="-122"/>
              </a:rPr>
              <a:t>联立计算</a:t>
            </a:r>
            <a:endParaRPr lang="en-US" altLang="zh-CN" sz="1400" b="1" dirty="0">
              <a:solidFill>
                <a:srgbClr val="C00000"/>
              </a:solidFill>
              <a:latin typeface="楷体" panose="02010609060101010101" pitchFamily="49" charset="-122"/>
              <a:ea typeface="楷体" panose="02010609060101010101" pitchFamily="49" charset="-122"/>
            </a:endParaRPr>
          </a:p>
          <a:p>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2" name="矩形 1">
            <a:extLst>
              <a:ext uri="{FF2B5EF4-FFF2-40B4-BE49-F238E27FC236}">
                <a16:creationId xmlns:a16="http://schemas.microsoft.com/office/drawing/2014/main" id="{6062C0DD-F18A-494E-B6D2-F7DF2CAB57A2}"/>
              </a:ext>
            </a:extLst>
          </p:cNvPr>
          <p:cNvSpPr/>
          <p:nvPr/>
        </p:nvSpPr>
        <p:spPr>
          <a:xfrm>
            <a:off x="5177825" y="429481"/>
            <a:ext cx="6096000" cy="2154436"/>
          </a:xfrm>
          <a:prstGeom prst="rect">
            <a:avLst/>
          </a:prstGeom>
          <a:solidFill>
            <a:schemeClr val="bg1"/>
          </a:solidFill>
          <a:ln>
            <a:solidFill>
              <a:srgbClr val="A41AD4"/>
            </a:solidFill>
          </a:ln>
        </p:spPr>
        <p:txBody>
          <a:bodyPr>
            <a:spAutoFit/>
          </a:bodyPr>
          <a:lstStyle/>
          <a:p>
            <a:r>
              <a:rPr lang="zh-CN" altLang="en-US" b="1" dirty="0">
                <a:solidFill>
                  <a:srgbClr val="C00000"/>
                </a:solidFill>
                <a:latin typeface="楷体" panose="02010609060101010101" pitchFamily="49" charset="-122"/>
                <a:ea typeface="楷体" panose="02010609060101010101" pitchFamily="49" charset="-122"/>
              </a:rPr>
              <a:t>利用</a:t>
            </a:r>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力学</a:t>
            </a:r>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电路</a:t>
            </a:r>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杠杆</a:t>
            </a:r>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浮力</a:t>
            </a:r>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相关知识</a:t>
            </a:r>
            <a:endParaRPr lang="en-US" altLang="zh-CN" b="1" dirty="0">
              <a:solidFill>
                <a:srgbClr val="C00000"/>
              </a:solidFill>
              <a:latin typeface="楷体" panose="02010609060101010101" pitchFamily="49" charset="-122"/>
              <a:ea typeface="楷体" panose="02010609060101010101" pitchFamily="49" charset="-122"/>
            </a:endParaRPr>
          </a:p>
          <a:p>
            <a:r>
              <a:rPr lang="zh-CN" altLang="en-US" b="1" dirty="0">
                <a:solidFill>
                  <a:srgbClr val="C00000"/>
                </a:solidFill>
                <a:latin typeface="楷体" panose="02010609060101010101" pitchFamily="49" charset="-122"/>
                <a:ea typeface="楷体" panose="02010609060101010101" pitchFamily="49" charset="-122"/>
              </a:rPr>
              <a:t>灵活运用！</a:t>
            </a:r>
            <a:endParaRPr lang="en-US" altLang="zh-CN" b="1" dirty="0">
              <a:solidFill>
                <a:srgbClr val="C00000"/>
              </a:solidFill>
              <a:latin typeface="楷体" panose="02010609060101010101" pitchFamily="49" charset="-122"/>
              <a:ea typeface="楷体" panose="02010609060101010101" pitchFamily="49" charset="-122"/>
            </a:endParaRPr>
          </a:p>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例：小红想测量一小金属块的密度，她在实验室里找到了一架天平，但没有砝码，除此之外还有如下器材：两个质量相近的烧杯、量筒、细线、滴管和足量的水（已知水的密度为</a:t>
            </a:r>
            <a:r>
              <a:rPr lang="el-GR" altLang="zh-CN" sz="1400" b="1" dirty="0">
                <a:solidFill>
                  <a:schemeClr val="tx1">
                    <a:lumMod val="50000"/>
                    <a:lumOff val="50000"/>
                  </a:schemeClr>
                </a:solidFill>
                <a:latin typeface="楷体" panose="02010609060101010101" pitchFamily="49" charset="-122"/>
                <a:ea typeface="楷体" panose="02010609060101010101" pitchFamily="49" charset="-122"/>
              </a:rPr>
              <a:t>ρ</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水）请利用上述器材帮她设计一个实验方案，比较精确地测量金属块的密度。 </a:t>
            </a:r>
          </a:p>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要求： </a:t>
            </a:r>
          </a:p>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1</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）写出主要实验步骤及所需测量的物理量； </a:t>
            </a:r>
          </a:p>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2</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）写出金属块密度的数学表达式（用已知量和测量量表示）</a:t>
            </a:r>
            <a:endParaRPr lang="en-US" altLang="zh-CN" sz="1400" dirty="0">
              <a:solidFill>
                <a:schemeClr val="tx1">
                  <a:lumMod val="50000"/>
                  <a:lumOff val="50000"/>
                </a:schemeClr>
              </a:solidFill>
              <a:latin typeface="楷体" panose="02010609060101010101" pitchFamily="49" charset="-122"/>
              <a:ea typeface="楷体" panose="02010609060101010101" pitchFamily="49" charset="-122"/>
            </a:endParaRPr>
          </a:p>
        </p:txBody>
      </p:sp>
      <p:sp>
        <p:nvSpPr>
          <p:cNvPr id="9" name="矩形 8">
            <a:extLst>
              <a:ext uri="{FF2B5EF4-FFF2-40B4-BE49-F238E27FC236}">
                <a16:creationId xmlns:a16="http://schemas.microsoft.com/office/drawing/2014/main" id="{3DA9D5CE-2BF0-4343-8F06-9D4EB04216CD}"/>
              </a:ext>
            </a:extLst>
          </p:cNvPr>
          <p:cNvSpPr/>
          <p:nvPr/>
        </p:nvSpPr>
        <p:spPr>
          <a:xfrm>
            <a:off x="5177825" y="3609865"/>
            <a:ext cx="6096000" cy="2462213"/>
          </a:xfrm>
          <a:prstGeom prst="rect">
            <a:avLst/>
          </a:prstGeom>
          <a:solidFill>
            <a:schemeClr val="bg1"/>
          </a:solidFill>
          <a:ln>
            <a:solidFill>
              <a:srgbClr val="A41AD4"/>
            </a:solidFill>
            <a:prstDash val="dash"/>
          </a:ln>
        </p:spPr>
        <p:txBody>
          <a:bodyPr>
            <a:spAutoFit/>
          </a:bodyPr>
          <a:lstStyle/>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1</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）解析主要实验步骤及</a:t>
            </a:r>
            <a:r>
              <a:rPr lang="zh-CN" altLang="en-US" sz="1400" b="1" dirty="0">
                <a:solidFill>
                  <a:srgbClr val="C00000"/>
                </a:solidFill>
                <a:latin typeface="楷体" panose="02010609060101010101" pitchFamily="49" charset="-122"/>
                <a:ea typeface="楷体" panose="02010609060101010101" pitchFamily="49" charset="-122"/>
              </a:rPr>
              <a:t>所需测量的物理量</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 </a:t>
            </a:r>
          </a:p>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①调节天平平衡； </a:t>
            </a:r>
          </a:p>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②将两烧杯分别放在天平的两个盘中，并用滴管向质量较小的烧杯中加水，使天平再次平衡； </a:t>
            </a:r>
          </a:p>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③用细线系住金属块，放入质量较大的烧杯中，向量筒中加入适量水，记下体积 </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V1</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再将量筒中的水加入质量较小的烧杯中，直到天平平衡，记下此时量筒中剩余水的体积</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V2</a:t>
            </a:r>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 </a:t>
            </a:r>
          </a:p>
          <a:p>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④</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向量筒再加入适量水，记下体积</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V3</a:t>
            </a:r>
          </a:p>
          <a:p>
            <a:r>
              <a:rPr lang="zh-CN" altLang="fr-FR" sz="1400" b="1" dirty="0">
                <a:solidFill>
                  <a:schemeClr val="tx1">
                    <a:lumMod val="50000"/>
                    <a:lumOff val="50000"/>
                  </a:schemeClr>
                </a:solidFill>
                <a:latin typeface="楷体" panose="02010609060101010101" pitchFamily="49" charset="-122"/>
                <a:ea typeface="楷体" panose="02010609060101010101" pitchFamily="49" charset="-122"/>
              </a:rPr>
              <a:t>，</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将金属块完全浸没在量筒的水中，记下体积</a:t>
            </a:r>
            <a:r>
              <a:rPr lang="fr-FR" altLang="zh-CN" sz="1400" b="1" dirty="0">
                <a:solidFill>
                  <a:schemeClr val="tx1">
                    <a:lumMod val="50000"/>
                    <a:lumOff val="50000"/>
                  </a:schemeClr>
                </a:solidFill>
                <a:latin typeface="楷体" panose="02010609060101010101" pitchFamily="49" charset="-122"/>
                <a:ea typeface="楷体" panose="02010609060101010101" pitchFamily="49" charset="-122"/>
              </a:rPr>
              <a:t>V4</a:t>
            </a:r>
          </a:p>
          <a:p>
            <a:endParaRPr lang="en-US" altLang="zh-CN" sz="1400" b="1" dirty="0">
              <a:solidFill>
                <a:schemeClr val="tx1">
                  <a:lumMod val="50000"/>
                  <a:lumOff val="50000"/>
                </a:schemeClr>
              </a:solidFill>
              <a:latin typeface="楷体" panose="02010609060101010101" pitchFamily="49" charset="-122"/>
              <a:ea typeface="楷体" panose="02010609060101010101" pitchFamily="49" charset="-122"/>
            </a:endParaRPr>
          </a:p>
          <a:p>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a:t>
            </a:r>
            <a:r>
              <a:rPr lang="en-US" altLang="zh-CN" sz="1400" b="1" dirty="0">
                <a:solidFill>
                  <a:schemeClr val="tx1">
                    <a:lumMod val="50000"/>
                    <a:lumOff val="50000"/>
                  </a:schemeClr>
                </a:solidFill>
                <a:latin typeface="楷体" panose="02010609060101010101" pitchFamily="49" charset="-122"/>
                <a:ea typeface="楷体" panose="02010609060101010101" pitchFamily="49" charset="-122"/>
              </a:rPr>
              <a:t>2</a:t>
            </a:r>
            <a:r>
              <a:rPr lang="zh-CN" altLang="en-US" sz="1400" b="1" dirty="0">
                <a:solidFill>
                  <a:schemeClr val="tx1">
                    <a:lumMod val="50000"/>
                    <a:lumOff val="50000"/>
                  </a:schemeClr>
                </a:solidFill>
                <a:latin typeface="楷体" panose="02010609060101010101" pitchFamily="49" charset="-122"/>
                <a:ea typeface="楷体" panose="02010609060101010101" pitchFamily="49" charset="-122"/>
              </a:rPr>
              <a:t>）</a:t>
            </a:r>
          </a:p>
        </p:txBody>
      </p:sp>
      <p:cxnSp>
        <p:nvCxnSpPr>
          <p:cNvPr id="13" name="直线箭头连接符 12">
            <a:extLst>
              <a:ext uri="{FF2B5EF4-FFF2-40B4-BE49-F238E27FC236}">
                <a16:creationId xmlns:a16="http://schemas.microsoft.com/office/drawing/2014/main" id="{DAF92CE6-D7A4-CF45-A050-BCEF5B33DF66}"/>
              </a:ext>
            </a:extLst>
          </p:cNvPr>
          <p:cNvCxnSpPr>
            <a:cxnSpLocks/>
          </p:cNvCxnSpPr>
          <p:nvPr/>
        </p:nvCxnSpPr>
        <p:spPr>
          <a:xfrm>
            <a:off x="8208762" y="2661142"/>
            <a:ext cx="0" cy="767858"/>
          </a:xfrm>
          <a:prstGeom prst="straightConnector1">
            <a:avLst/>
          </a:prstGeom>
          <a:ln>
            <a:solidFill>
              <a:srgbClr val="A41AD4"/>
            </a:solidFill>
            <a:tailEnd type="triangle"/>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a16="http://schemas.microsoft.com/office/drawing/2014/main" id="{18FEFBD3-009F-C148-A864-B85F595299C5}"/>
              </a:ext>
            </a:extLst>
          </p:cNvPr>
          <p:cNvPicPr>
            <a:picLocks noChangeAspect="1"/>
          </p:cNvPicPr>
          <p:nvPr/>
        </p:nvPicPr>
        <p:blipFill>
          <a:blip r:embed="rId2">
            <a:alphaModFix amt="70000"/>
          </a:blip>
          <a:stretch>
            <a:fillRect/>
          </a:stretch>
        </p:blipFill>
        <p:spPr>
          <a:xfrm>
            <a:off x="5651500" y="5666415"/>
            <a:ext cx="5478463" cy="362890"/>
          </a:xfrm>
          <a:prstGeom prst="rect">
            <a:avLst/>
          </a:prstGeom>
        </p:spPr>
      </p:pic>
    </p:spTree>
    <p:extLst>
      <p:ext uri="{BB962C8B-B14F-4D97-AF65-F5344CB8AC3E}">
        <p14:creationId xmlns:p14="http://schemas.microsoft.com/office/powerpoint/2010/main" val="13809322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863725" y="1590675"/>
            <a:ext cx="8239125" cy="3415030"/>
          </a:xfrm>
          <a:prstGeom prst="rect">
            <a:avLst/>
          </a:prstGeom>
          <a:noFill/>
          <a:ln>
            <a:noFill/>
          </a:ln>
        </p:spPr>
        <p:txBody>
          <a:bodyPr wrap="square" rtlCol="0" anchor="t">
            <a:spAutoFit/>
          </a:bodyPr>
          <a:lstStyle/>
          <a:p>
            <a:pPr algn="ctr"/>
            <a:r>
              <a:rPr lang="en-US" altLang="zh-CN" sz="7200" b="1" dirty="0">
                <a:solidFill>
                  <a:srgbClr val="7030A0"/>
                </a:solidFill>
                <a:effectLst>
                  <a:reflection blurRad="6350" stA="53000" endA="300" endPos="35500" dir="5400000" sy="-90000" algn="bl" rotWithShape="0"/>
                </a:effectLst>
              </a:rPr>
              <a:t>Chapter-7</a:t>
            </a:r>
          </a:p>
          <a:p>
            <a:pPr algn="ctr"/>
            <a:r>
              <a:rPr lang="en-US" altLang="zh-CN" sz="7200" b="1" dirty="0">
                <a:solidFill>
                  <a:srgbClr val="7030A0"/>
                </a:solidFill>
                <a:effectLst>
                  <a:reflection blurRad="6350" stA="53000" endA="300" endPos="35500" dir="5400000" sy="-90000" algn="bl" rotWithShape="0"/>
                </a:effectLst>
              </a:rPr>
              <a:t> </a:t>
            </a:r>
          </a:p>
          <a:p>
            <a:pPr algn="ctr"/>
            <a:r>
              <a:rPr lang="zh-CN" altLang="en-US" sz="7200" b="1" dirty="0">
                <a:solidFill>
                  <a:srgbClr val="7030A0"/>
                </a:solidFill>
                <a:effectLst>
                  <a:reflection blurRad="6350" stA="53000" endA="300" endPos="35500" dir="5400000" sy="-90000" algn="bl" rotWithShape="0"/>
                </a:effectLst>
              </a:rPr>
              <a:t>真题方法</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23EA399C-7DF0-2640-8EAD-1D6AA1817B54}"/>
              </a:ext>
            </a:extLst>
          </p:cNvPr>
          <p:cNvSpPr/>
          <p:nvPr/>
        </p:nvSpPr>
        <p:spPr>
          <a:xfrm>
            <a:off x="417830" y="4438868"/>
            <a:ext cx="11356340" cy="1615100"/>
          </a:xfrm>
          <a:prstGeom prst="rect">
            <a:avLst/>
          </a:prstGeom>
          <a:solidFill>
            <a:srgbClr val="EBFF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文本框 2">
            <a:extLst>
              <a:ext uri="{FF2B5EF4-FFF2-40B4-BE49-F238E27FC236}">
                <a16:creationId xmlns:a16="http://schemas.microsoft.com/office/drawing/2014/main" id="{3F150AB8-D8D1-1542-AD12-C7B5ACDB517E}"/>
              </a:ext>
            </a:extLst>
          </p:cNvPr>
          <p:cNvSpPr txBox="1"/>
          <p:nvPr/>
        </p:nvSpPr>
        <p:spPr>
          <a:xfrm>
            <a:off x="417830" y="748030"/>
            <a:ext cx="4942702" cy="307777"/>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初中中考真题</a:t>
            </a:r>
          </a:p>
        </p:txBody>
      </p:sp>
      <p:sp>
        <p:nvSpPr>
          <p:cNvPr id="4" name="文本框 3">
            <a:extLst>
              <a:ext uri="{FF2B5EF4-FFF2-40B4-BE49-F238E27FC236}">
                <a16:creationId xmlns:a16="http://schemas.microsoft.com/office/drawing/2014/main" id="{2A995DB2-C901-AD41-8949-4826090408EB}"/>
              </a:ext>
            </a:extLst>
          </p:cNvPr>
          <p:cNvSpPr txBox="1"/>
          <p:nvPr/>
        </p:nvSpPr>
        <p:spPr>
          <a:xfrm>
            <a:off x="417830" y="1055807"/>
            <a:ext cx="11212183" cy="1881284"/>
          </a:xfrm>
          <a:prstGeom prst="rect">
            <a:avLst/>
          </a:prstGeom>
          <a:noFill/>
        </p:spPr>
        <p:txBody>
          <a:bodyPr wrap="square" rtlCol="0">
            <a:spAutoFit/>
          </a:bodyPr>
          <a:lstStyle/>
          <a:p>
            <a:pPr>
              <a:lnSpc>
                <a:spcPct val="150000"/>
              </a:lnSpc>
            </a:pPr>
            <a:r>
              <a:rPr kumimoji="1" lang="en-US" altLang="zh-CN" sz="1600" dirty="0">
                <a:latin typeface="KaiTi" panose="02010609060101010101" pitchFamily="49" charset="-122"/>
                <a:ea typeface="KaiTi" panose="02010609060101010101" pitchFamily="49" charset="-122"/>
              </a:rPr>
              <a:t>1</a:t>
            </a:r>
            <a:r>
              <a:rPr kumimoji="1" lang="zh-CN" altLang="en-US" sz="1600" dirty="0">
                <a:latin typeface="KaiTi" panose="02010609060101010101" pitchFamily="49" charset="-122"/>
                <a:ea typeface="KaiTi" panose="02010609060101010101" pitchFamily="49" charset="-122"/>
              </a:rPr>
              <a:t>）基础概念题</a:t>
            </a:r>
            <a:r>
              <a:rPr kumimoji="1" lang="en-US" altLang="zh-CN" sz="1600" dirty="0">
                <a:latin typeface="KaiTi" panose="02010609060101010101" pitchFamily="49" charset="-122"/>
                <a:ea typeface="KaiTi" panose="02010609060101010101" pitchFamily="49" charset="-122"/>
              </a:rPr>
              <a:t>+</a:t>
            </a:r>
            <a:r>
              <a:rPr kumimoji="1" lang="zh-CN" altLang="en-US" sz="1600" dirty="0">
                <a:latin typeface="KaiTi" panose="02010609060101010101" pitchFamily="49" charset="-122"/>
                <a:ea typeface="KaiTi" panose="02010609060101010101" pitchFamily="49" charset="-122"/>
              </a:rPr>
              <a:t>新型分析</a:t>
            </a:r>
            <a:endParaRPr kumimoji="1" lang="en-US" altLang="zh-CN" sz="1600" dirty="0">
              <a:latin typeface="KaiTi" panose="02010609060101010101" pitchFamily="49" charset="-122"/>
              <a:ea typeface="KaiTi" panose="02010609060101010101" pitchFamily="49" charset="-122"/>
            </a:endParaRPr>
          </a:p>
          <a:p>
            <a:pPr>
              <a:lnSpc>
                <a:spcPct val="150000"/>
              </a:lnSpc>
            </a:pPr>
            <a:r>
              <a:rPr kumimoji="1" lang="en-US" altLang="zh-CN" sz="1600" dirty="0">
                <a:solidFill>
                  <a:srgbClr val="223AAC"/>
                </a:solidFill>
                <a:latin typeface="KaiTi" panose="02010609060101010101" pitchFamily="49" charset="-122"/>
                <a:ea typeface="KaiTi" panose="02010609060101010101" pitchFamily="49" charset="-122"/>
              </a:rPr>
              <a:t>【2023.</a:t>
            </a:r>
            <a:r>
              <a:rPr kumimoji="1" lang="zh-CN" altLang="en-US" sz="1600" dirty="0">
                <a:solidFill>
                  <a:srgbClr val="223AAC"/>
                </a:solidFill>
                <a:latin typeface="KaiTi" panose="02010609060101010101" pitchFamily="49" charset="-122"/>
                <a:ea typeface="KaiTi" panose="02010609060101010101" pitchFamily="49" charset="-122"/>
              </a:rPr>
              <a:t>四川成都高考真题</a:t>
            </a:r>
            <a:r>
              <a:rPr kumimoji="1" lang="en-US" altLang="zh-CN" sz="1600" dirty="0">
                <a:solidFill>
                  <a:srgbClr val="223AAC"/>
                </a:solidFill>
                <a:latin typeface="KaiTi" panose="02010609060101010101" pitchFamily="49" charset="-122"/>
                <a:ea typeface="KaiTi" panose="02010609060101010101" pitchFamily="49" charset="-122"/>
              </a:rPr>
              <a:t>】</a:t>
            </a:r>
          </a:p>
          <a:p>
            <a:pPr>
              <a:lnSpc>
                <a:spcPct val="150000"/>
              </a:lnSpc>
            </a:pP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17. </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如图甲是我国自主研发的“极目一号”</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Ⅲ</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型浮空艇，其内部有两个气囊，主气囊内充满氦气（密度小于空气），副气囊内充有空气。当驻空的浮空艇要上浮时，排出副气囊内的部分空气，使浮空艇受到的重力</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______</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浮力，实现上浮。图乙是国产大飞机</a:t>
            </a:r>
            <a:r>
              <a:rPr kumimoji="1" lang="fr-FR"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C919</a:t>
            </a:r>
            <a:r>
              <a:rPr kumimoji="1" lang="zh-CN" altLang="fr-FR"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飞机在空中飞行时，机翼上表面的空气流速大，压强</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______</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，机翼的上下表面形成压力差，使飞机获得升力。</a:t>
            </a:r>
          </a:p>
        </p:txBody>
      </p:sp>
      <p:cxnSp>
        <p:nvCxnSpPr>
          <p:cNvPr id="7" name="直线连接符 6">
            <a:extLst>
              <a:ext uri="{FF2B5EF4-FFF2-40B4-BE49-F238E27FC236}">
                <a16:creationId xmlns:a16="http://schemas.microsoft.com/office/drawing/2014/main" id="{B47786F8-6C85-3C46-95ED-567BE89F2562}"/>
              </a:ext>
            </a:extLst>
          </p:cNvPr>
          <p:cNvCxnSpPr>
            <a:cxnSpLocks/>
          </p:cNvCxnSpPr>
          <p:nvPr/>
        </p:nvCxnSpPr>
        <p:spPr>
          <a:xfrm>
            <a:off x="582977" y="700757"/>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8" name="直线连接符 7">
            <a:extLst>
              <a:ext uri="{FF2B5EF4-FFF2-40B4-BE49-F238E27FC236}">
                <a16:creationId xmlns:a16="http://schemas.microsoft.com/office/drawing/2014/main" id="{2587DEE8-447E-D04E-98FA-D7B7A6720502}"/>
              </a:ext>
            </a:extLst>
          </p:cNvPr>
          <p:cNvCxnSpPr>
            <a:cxnSpLocks/>
          </p:cNvCxnSpPr>
          <p:nvPr/>
        </p:nvCxnSpPr>
        <p:spPr>
          <a:xfrm>
            <a:off x="575980" y="6214484"/>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9" name="直线连接符 8">
            <a:extLst>
              <a:ext uri="{FF2B5EF4-FFF2-40B4-BE49-F238E27FC236}">
                <a16:creationId xmlns:a16="http://schemas.microsoft.com/office/drawing/2014/main" id="{CED2EFBB-D731-FB45-B41D-D90FE0FB084E}"/>
              </a:ext>
            </a:extLst>
          </p:cNvPr>
          <p:cNvCxnSpPr>
            <a:cxnSpLocks/>
          </p:cNvCxnSpPr>
          <p:nvPr/>
        </p:nvCxnSpPr>
        <p:spPr>
          <a:xfrm>
            <a:off x="575980" y="4316146"/>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E1D35ACD-135F-314A-9F1E-FE71E76D5812}"/>
              </a:ext>
            </a:extLst>
          </p:cNvPr>
          <p:cNvSpPr txBox="1"/>
          <p:nvPr/>
        </p:nvSpPr>
        <p:spPr>
          <a:xfrm>
            <a:off x="417830" y="4438868"/>
            <a:ext cx="11198190" cy="1426801"/>
          </a:xfrm>
          <a:prstGeom prst="rect">
            <a:avLst/>
          </a:prstGeom>
          <a:noFill/>
        </p:spPr>
        <p:txBody>
          <a:bodyPr wrap="square" rtlCol="0">
            <a:spAutoFit/>
          </a:bodyPr>
          <a:lstStyle/>
          <a:p>
            <a:pPr>
              <a:lnSpc>
                <a:spcPct val="150000"/>
              </a:lnSpc>
            </a:pPr>
            <a:r>
              <a:rPr kumimoji="1" lang="zh-CN" altLang="en-US" sz="1600" dirty="0">
                <a:latin typeface="KaiTi" panose="02010609060101010101" pitchFamily="49" charset="-122"/>
                <a:ea typeface="KaiTi" panose="02010609060101010101" pitchFamily="49" charset="-122"/>
              </a:rPr>
              <a:t>核心：</a:t>
            </a:r>
            <a:endParaRPr kumimoji="1" lang="en-US" altLang="zh-CN" sz="1600" dirty="0">
              <a:latin typeface="KaiTi" panose="02010609060101010101" pitchFamily="49" charset="-122"/>
              <a:ea typeface="KaiTi" panose="02010609060101010101" pitchFamily="49" charset="-122"/>
            </a:endParaRPr>
          </a:p>
          <a:p>
            <a:pPr>
              <a:lnSpc>
                <a:spcPct val="150000"/>
              </a:lnSpc>
            </a:pP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在「基础概念」题里，应该怎么</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快速解题：「理解」概念本质</a:t>
            </a:r>
            <a:r>
              <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「实际情况」对应理论</a:t>
            </a:r>
            <a:endPar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endParaRPr>
          </a:p>
          <a:p>
            <a:pPr>
              <a:lnSpc>
                <a:spcPct val="150000"/>
              </a:lnSpc>
            </a:pPr>
            <a:r>
              <a:rPr kumimoji="1" lang="zh-CN" altLang="en-US" sz="14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a:t>
            </a:r>
            <a:r>
              <a:rPr kumimoji="1" lang="en-US" altLang="zh-CN" sz="14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[1</a:t>
            </a:r>
            <a:r>
              <a:rPr kumimoji="1" lang="en-US" altLang="zh-CN" sz="1400" dirty="0">
                <a:solidFill>
                  <a:schemeClr val="tx1">
                    <a:lumMod val="50000"/>
                    <a:lumOff val="50000"/>
                  </a:schemeClr>
                </a:solidFill>
                <a:highlight>
                  <a:srgbClr val="FDF5D6"/>
                </a:highlight>
                <a:latin typeface="KaiTi" panose="02010609060101010101" pitchFamily="49" charset="-122"/>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highlight>
                  <a:srgbClr val="FDF5D6"/>
                </a:highlight>
                <a:latin typeface="KaiTi" panose="02010609060101010101" pitchFamily="49" charset="-122"/>
                <a:ea typeface="KaiTi" panose="02010609060101010101" pitchFamily="49" charset="-122"/>
                <a:cs typeface="Times New Roman" panose="02020603050405020304" pitchFamily="18" charset="0"/>
              </a:rPr>
              <a:t>浮沉条件</a:t>
            </a:r>
            <a:r>
              <a:rPr kumimoji="1" lang="en-US" altLang="zh-CN" sz="1400" dirty="0">
                <a:solidFill>
                  <a:schemeClr val="tx1">
                    <a:lumMod val="50000"/>
                    <a:lumOff val="50000"/>
                  </a:schemeClr>
                </a:solidFill>
                <a:highlight>
                  <a:srgbClr val="FDF5D6"/>
                </a:highlight>
                <a:latin typeface="KaiTi" panose="02010609060101010101" pitchFamily="49" charset="-122"/>
                <a:ea typeface="KaiTi" panose="02010609060101010101" pitchFamily="49" charset="-122"/>
                <a:cs typeface="Times New Roman" panose="02020603050405020304" pitchFamily="18" charset="0"/>
              </a:rPr>
              <a:t>: </a:t>
            </a:r>
            <a:r>
              <a:rPr kumimoji="1" lang="zh-CN" altLang="en-US" sz="1400" dirty="0">
                <a:solidFill>
                  <a:schemeClr val="tx1">
                    <a:lumMod val="50000"/>
                    <a:lumOff val="50000"/>
                  </a:schemeClr>
                </a:solidFill>
                <a:highlight>
                  <a:srgbClr val="FDF5D6"/>
                </a:highlight>
                <a:latin typeface="KaiTi" panose="02010609060101010101" pitchFamily="49" charset="-122"/>
                <a:ea typeface="KaiTi" panose="02010609060101010101" pitchFamily="49" charset="-122"/>
                <a:cs typeface="Times New Roman" panose="02020603050405020304" pitchFamily="18" charset="0"/>
              </a:rPr>
              <a:t>浮空艇要上浮时，排出副气囊内的部分空气，重力小于浮力，实现上浮。</a:t>
            </a:r>
            <a:endParaRPr kumimoji="1" lang="en-US" altLang="zh-CN" sz="1400" dirty="0">
              <a:solidFill>
                <a:schemeClr val="tx1">
                  <a:lumMod val="50000"/>
                  <a:lumOff val="50000"/>
                </a:schemeClr>
              </a:solidFill>
              <a:highlight>
                <a:srgbClr val="FDF5D6"/>
              </a:highlight>
              <a:latin typeface="KaiTi" panose="02010609060101010101" pitchFamily="49" charset="-122"/>
              <a:ea typeface="KaiTi" panose="02010609060101010101" pitchFamily="49" charset="-122"/>
              <a:cs typeface="Times New Roman" panose="02020603050405020304" pitchFamily="18" charset="0"/>
            </a:endParaRPr>
          </a:p>
          <a:p>
            <a:pPr>
              <a:lnSpc>
                <a:spcPct val="150000"/>
              </a:lnSpc>
            </a:pPr>
            <a:r>
              <a:rPr kumimoji="1" lang="en-US" altLang="zh-CN" sz="1400" dirty="0">
                <a:solidFill>
                  <a:schemeClr val="tx1">
                    <a:lumMod val="50000"/>
                    <a:lumOff val="50000"/>
                  </a:schemeClr>
                </a:solidFill>
                <a:highlight>
                  <a:srgbClr val="FDF5D6"/>
                </a:highlight>
                <a:latin typeface="KaiTi" panose="02010609060101010101" pitchFamily="49" charset="-122"/>
                <a:ea typeface="KaiTi" panose="02010609060101010101" pitchFamily="49" charset="-122"/>
                <a:cs typeface="Times New Roman" panose="02020603050405020304" pitchFamily="18" charset="0"/>
              </a:rPr>
              <a:t>[2]</a:t>
            </a:r>
            <a:r>
              <a:rPr kumimoji="1" lang="zh-CN" altLang="en-US" sz="1400" dirty="0">
                <a:solidFill>
                  <a:schemeClr val="tx1">
                    <a:lumMod val="50000"/>
                    <a:lumOff val="50000"/>
                  </a:schemeClr>
                </a:solidFill>
                <a:highlight>
                  <a:srgbClr val="FDF5D6"/>
                </a:highlight>
                <a:latin typeface="KaiTi" panose="02010609060101010101" pitchFamily="49" charset="-122"/>
                <a:ea typeface="KaiTi" panose="02010609060101010101" pitchFamily="49" charset="-122"/>
                <a:cs typeface="Times New Roman" panose="02020603050405020304" pitchFamily="18" charset="0"/>
              </a:rPr>
              <a:t>流速大（小）的地方压强小（大），飞机在空中飞行时，机翼上表面空气流速大，压强小，机翼的上下表面形成压力差，使飞机获得升力。</a:t>
            </a:r>
          </a:p>
        </p:txBody>
      </p:sp>
      <p:pic>
        <p:nvPicPr>
          <p:cNvPr id="11" name="图片 10">
            <a:extLst>
              <a:ext uri="{FF2B5EF4-FFF2-40B4-BE49-F238E27FC236}">
                <a16:creationId xmlns:a16="http://schemas.microsoft.com/office/drawing/2014/main" id="{4FFB5B66-05E0-474C-BC67-8FBA880869CF}"/>
              </a:ext>
            </a:extLst>
          </p:cNvPr>
          <p:cNvPicPr/>
          <p:nvPr/>
        </p:nvPicPr>
        <p:blipFill>
          <a:blip r:embed="rId2"/>
          <a:stretch>
            <a:fillRect/>
          </a:stretch>
        </p:blipFill>
        <p:spPr>
          <a:xfrm>
            <a:off x="4281487" y="2972406"/>
            <a:ext cx="3629025" cy="1266825"/>
          </a:xfrm>
          <a:prstGeom prst="rect">
            <a:avLst/>
          </a:prstGeom>
        </p:spPr>
      </p:pic>
      <p:sp>
        <p:nvSpPr>
          <p:cNvPr id="2" name="矩形 1">
            <a:extLst>
              <a:ext uri="{FF2B5EF4-FFF2-40B4-BE49-F238E27FC236}">
                <a16:creationId xmlns:a16="http://schemas.microsoft.com/office/drawing/2014/main" id="{647B0AA0-95FC-1448-B014-D1351C1D83F0}"/>
              </a:ext>
            </a:extLst>
          </p:cNvPr>
          <p:cNvSpPr/>
          <p:nvPr/>
        </p:nvSpPr>
        <p:spPr>
          <a:xfrm>
            <a:off x="9281180" y="3908357"/>
            <a:ext cx="2492990" cy="369332"/>
          </a:xfrm>
          <a:prstGeom prst="rect">
            <a:avLst/>
          </a:prstGeom>
        </p:spPr>
        <p:txBody>
          <a:bodyPr wrap="none">
            <a:spAutoFit/>
          </a:bodyPr>
          <a:lstStyle/>
          <a:p>
            <a:r>
              <a:rPr lang="en-US" altLang="zh-CN" kern="100" dirty="0">
                <a:solidFill>
                  <a:srgbClr val="C00000"/>
                </a:solidFill>
                <a:latin typeface="KaiTi" panose="02010609060101010101" pitchFamily="49" charset="-122"/>
                <a:ea typeface="KaiTi" panose="02010609060101010101" pitchFamily="49" charset="-122"/>
                <a:cs typeface="宋体" panose="02010600030101010101" pitchFamily="2" charset="-122"/>
              </a:rPr>
              <a:t> ①. </a:t>
            </a:r>
            <a:r>
              <a:rPr lang="zh-CN" altLang="zh-CN" kern="100" dirty="0">
                <a:solidFill>
                  <a:srgbClr val="C00000"/>
                </a:solidFill>
                <a:latin typeface="KaiTi" panose="02010609060101010101" pitchFamily="49" charset="-122"/>
                <a:ea typeface="KaiTi" panose="02010609060101010101" pitchFamily="49" charset="-122"/>
              </a:rPr>
              <a:t>小于</a:t>
            </a:r>
            <a:r>
              <a:rPr lang="en-US" altLang="zh-CN" kern="100" dirty="0">
                <a:solidFill>
                  <a:srgbClr val="C00000"/>
                </a:solidFill>
                <a:latin typeface="KaiTi" panose="02010609060101010101" pitchFamily="49" charset="-122"/>
                <a:ea typeface="KaiTi" panose="02010609060101010101" pitchFamily="49" charset="-122"/>
                <a:cs typeface="宋体" panose="02010600030101010101" pitchFamily="2" charset="-122"/>
              </a:rPr>
              <a:t>    ②. </a:t>
            </a:r>
            <a:r>
              <a:rPr lang="zh-CN" altLang="zh-CN" kern="100" dirty="0">
                <a:solidFill>
                  <a:srgbClr val="C00000"/>
                </a:solidFill>
                <a:latin typeface="KaiTi" panose="02010609060101010101" pitchFamily="49" charset="-122"/>
                <a:ea typeface="KaiTi" panose="02010609060101010101" pitchFamily="49" charset="-122"/>
              </a:rPr>
              <a:t>小</a:t>
            </a:r>
            <a:r>
              <a:rPr lang="zh-CN" altLang="zh-CN" dirty="0">
                <a:solidFill>
                  <a:srgbClr val="C00000"/>
                </a:solidFill>
                <a:latin typeface="KaiTi" panose="02010609060101010101" pitchFamily="49" charset="-122"/>
                <a:ea typeface="KaiTi" panose="02010609060101010101" pitchFamily="49" charset="-122"/>
              </a:rPr>
              <a:t> </a:t>
            </a:r>
            <a:endParaRPr lang="zh-CN" altLang="en-US" dirty="0">
              <a:solidFill>
                <a:srgbClr val="C00000"/>
              </a:solidFill>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32190372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23EA399C-7DF0-2640-8EAD-1D6AA1817B54}"/>
              </a:ext>
            </a:extLst>
          </p:cNvPr>
          <p:cNvSpPr/>
          <p:nvPr/>
        </p:nvSpPr>
        <p:spPr>
          <a:xfrm>
            <a:off x="417830" y="4438867"/>
            <a:ext cx="11356340" cy="2143739"/>
          </a:xfrm>
          <a:prstGeom prst="rect">
            <a:avLst/>
          </a:prstGeom>
          <a:solidFill>
            <a:srgbClr val="EBFF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文本框 2">
            <a:extLst>
              <a:ext uri="{FF2B5EF4-FFF2-40B4-BE49-F238E27FC236}">
                <a16:creationId xmlns:a16="http://schemas.microsoft.com/office/drawing/2014/main" id="{3F150AB8-D8D1-1542-AD12-C7B5ACDB517E}"/>
              </a:ext>
            </a:extLst>
          </p:cNvPr>
          <p:cNvSpPr txBox="1"/>
          <p:nvPr/>
        </p:nvSpPr>
        <p:spPr>
          <a:xfrm>
            <a:off x="417830" y="748030"/>
            <a:ext cx="4942702" cy="307777"/>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初中中考真题</a:t>
            </a:r>
          </a:p>
        </p:txBody>
      </p:sp>
      <p:sp>
        <p:nvSpPr>
          <p:cNvPr id="4" name="文本框 3">
            <a:extLst>
              <a:ext uri="{FF2B5EF4-FFF2-40B4-BE49-F238E27FC236}">
                <a16:creationId xmlns:a16="http://schemas.microsoft.com/office/drawing/2014/main" id="{2A995DB2-C901-AD41-8949-4826090408EB}"/>
              </a:ext>
            </a:extLst>
          </p:cNvPr>
          <p:cNvSpPr txBox="1"/>
          <p:nvPr/>
        </p:nvSpPr>
        <p:spPr>
          <a:xfrm>
            <a:off x="417830" y="1055807"/>
            <a:ext cx="11212183" cy="2989280"/>
          </a:xfrm>
          <a:prstGeom prst="rect">
            <a:avLst/>
          </a:prstGeom>
          <a:noFill/>
        </p:spPr>
        <p:txBody>
          <a:bodyPr wrap="square" rtlCol="0">
            <a:spAutoFit/>
          </a:bodyPr>
          <a:lstStyle/>
          <a:p>
            <a:pPr>
              <a:lnSpc>
                <a:spcPct val="150000"/>
              </a:lnSpc>
            </a:pPr>
            <a:r>
              <a:rPr kumimoji="1" lang="en-US" altLang="zh-CN" sz="1600" dirty="0">
                <a:latin typeface="KaiTi" panose="02010609060101010101" pitchFamily="49" charset="-122"/>
                <a:ea typeface="KaiTi" panose="02010609060101010101" pitchFamily="49" charset="-122"/>
              </a:rPr>
              <a:t>2</a:t>
            </a:r>
            <a:r>
              <a:rPr kumimoji="1" lang="zh-CN" altLang="en-US" sz="1600" dirty="0">
                <a:latin typeface="KaiTi" panose="02010609060101010101" pitchFamily="49" charset="-122"/>
                <a:ea typeface="KaiTi" panose="02010609060101010101" pitchFamily="49" charset="-122"/>
              </a:rPr>
              <a:t>）分析计算题</a:t>
            </a:r>
            <a:r>
              <a:rPr kumimoji="1" lang="en-US" altLang="zh-CN" sz="1600" dirty="0">
                <a:latin typeface="KaiTi" panose="02010609060101010101" pitchFamily="49" charset="-122"/>
                <a:ea typeface="KaiTi" panose="02010609060101010101" pitchFamily="49" charset="-122"/>
              </a:rPr>
              <a:t>+</a:t>
            </a:r>
            <a:r>
              <a:rPr kumimoji="1" lang="zh-CN" altLang="en-US" sz="1600" dirty="0">
                <a:latin typeface="KaiTi" panose="02010609060101010101" pitchFamily="49" charset="-122"/>
                <a:ea typeface="KaiTi" panose="02010609060101010101" pitchFamily="49" charset="-122"/>
              </a:rPr>
              <a:t>拆解复杂步骤</a:t>
            </a:r>
            <a:endParaRPr kumimoji="1" lang="en-US" altLang="zh-CN" sz="1600" dirty="0">
              <a:latin typeface="KaiTi" panose="02010609060101010101" pitchFamily="49" charset="-122"/>
              <a:ea typeface="KaiTi" panose="02010609060101010101" pitchFamily="49" charset="-122"/>
            </a:endParaRPr>
          </a:p>
          <a:p>
            <a:pPr>
              <a:lnSpc>
                <a:spcPct val="150000"/>
              </a:lnSpc>
            </a:pPr>
            <a:r>
              <a:rPr kumimoji="1" lang="en-US" altLang="zh-CN" sz="1600" dirty="0">
                <a:solidFill>
                  <a:srgbClr val="223AAC"/>
                </a:solidFill>
                <a:latin typeface="KaiTi" panose="02010609060101010101" pitchFamily="49" charset="-122"/>
                <a:ea typeface="KaiTi" panose="02010609060101010101" pitchFamily="49" charset="-122"/>
              </a:rPr>
              <a:t>【2023.</a:t>
            </a:r>
            <a:r>
              <a:rPr kumimoji="1" lang="zh-CN" altLang="en-US" sz="1600" dirty="0">
                <a:solidFill>
                  <a:srgbClr val="223AAC"/>
                </a:solidFill>
                <a:latin typeface="KaiTi" panose="02010609060101010101" pitchFamily="49" charset="-122"/>
                <a:ea typeface="KaiTi" panose="02010609060101010101" pitchFamily="49" charset="-122"/>
              </a:rPr>
              <a:t>四川成都高考真题</a:t>
            </a:r>
            <a:r>
              <a:rPr kumimoji="1" lang="en-US" altLang="zh-CN" sz="1600" dirty="0">
                <a:solidFill>
                  <a:srgbClr val="223AAC"/>
                </a:solidFill>
                <a:latin typeface="KaiTi" panose="02010609060101010101" pitchFamily="49" charset="-122"/>
                <a:ea typeface="KaiTi" panose="02010609060101010101" pitchFamily="49" charset="-122"/>
              </a:rPr>
              <a:t>】</a:t>
            </a:r>
          </a:p>
          <a:p>
            <a:pPr>
              <a:lnSpc>
                <a:spcPct val="150000"/>
              </a:lnSpc>
            </a:pP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33. </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如图所示，薄壁长方体容器</a:t>
            </a:r>
            <a:r>
              <a:rPr kumimoji="1" lang="fr-FR"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A</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放在水平桌面上，底面积为</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36cm</a:t>
            </a:r>
            <a:r>
              <a:rPr kumimoji="1" lang="en-US" altLang="zh-CN" sz="1600" baseline="300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2</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，高为</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12</a:t>
            </a:r>
            <a:r>
              <a:rPr kumimoji="1" lang="fr-FR"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cm</a:t>
            </a:r>
            <a:r>
              <a:rPr kumimoji="1" lang="zh-CN" altLang="fr-FR"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质量为</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m</a:t>
            </a:r>
            <a:r>
              <a:rPr kumimoji="1" lang="en-US" altLang="zh-CN" sz="1600" baseline="-250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A</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=72g</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 。容器</a:t>
            </a:r>
            <a:r>
              <a:rPr kumimoji="1" lang="fr-FR"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A</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内装有</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144</a:t>
            </a:r>
            <a:r>
              <a:rPr kumimoji="1" lang="fr-FR"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g</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水。均匀实心立方体</a:t>
            </a:r>
            <a:r>
              <a:rPr kumimoji="1" lang="fr-FR"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B</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和</a:t>
            </a:r>
            <a:r>
              <a:rPr kumimoji="1" lang="fr-FR"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C</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的边长都为</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4</a:t>
            </a:r>
            <a:r>
              <a:rPr kumimoji="1" lang="fr-FR"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cm</a:t>
            </a:r>
            <a:r>
              <a:rPr kumimoji="1" lang="zh-CN" altLang="fr-FR"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质量分别为</a:t>
            </a:r>
            <a:r>
              <a:rPr kumimoji="1" lang="en-US" altLang="zh-CN" sz="1600" dirty="0" err="1">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m</a:t>
            </a:r>
            <a:r>
              <a:rPr kumimoji="1" lang="en-US" altLang="zh-CN" sz="1600" baseline="-25000" dirty="0" err="1">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B</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=54g</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a:t>
            </a:r>
            <a:r>
              <a:rPr kumimoji="1" lang="en-US" altLang="zh-CN" sz="1600" dirty="0" err="1">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m</a:t>
            </a:r>
            <a:r>
              <a:rPr kumimoji="1" lang="en-US" altLang="zh-CN" sz="1600" baseline="-25000" dirty="0" err="1">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C</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=72g</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 。已知</a:t>
            </a:r>
            <a:r>
              <a:rPr lang="el-GR" altLang="zh-CN" sz="1600" b="1" dirty="0">
                <a:solidFill>
                  <a:schemeClr val="tx1">
                    <a:lumMod val="50000"/>
                    <a:lumOff val="50000"/>
                  </a:schemeClr>
                </a:solidFill>
                <a:latin typeface="楷体" panose="02010609060101010101" pitchFamily="49" charset="-122"/>
                <a:ea typeface="楷体" panose="02010609060101010101" pitchFamily="49" charset="-122"/>
              </a:rPr>
              <a:t>ρ</a:t>
            </a:r>
            <a:r>
              <a:rPr lang="zh-CN" altLang="en-US" sz="1600" b="1" dirty="0">
                <a:solidFill>
                  <a:schemeClr val="tx1">
                    <a:lumMod val="50000"/>
                    <a:lumOff val="50000"/>
                  </a:schemeClr>
                </a:solidFill>
                <a:latin typeface="楷体" panose="02010609060101010101" pitchFamily="49" charset="-122"/>
                <a:ea typeface="楷体" panose="02010609060101010101" pitchFamily="49" charset="-122"/>
              </a:rPr>
              <a:t>水</a:t>
            </a:r>
            <a:r>
              <a:rPr lang="en-US" altLang="zh-CN" sz="1600" b="1" dirty="0">
                <a:solidFill>
                  <a:schemeClr val="tx1">
                    <a:lumMod val="50000"/>
                    <a:lumOff val="50000"/>
                  </a:schemeClr>
                </a:solidFill>
                <a:latin typeface="楷体" panose="02010609060101010101" pitchFamily="49" charset="-122"/>
                <a:ea typeface="楷体" panose="02010609060101010101" pitchFamily="49" charset="-122"/>
              </a:rPr>
              <a:t>=1.0×10</a:t>
            </a:r>
            <a:r>
              <a:rPr lang="en-US" altLang="zh-CN" sz="1600" b="1" baseline="30000" dirty="0">
                <a:solidFill>
                  <a:schemeClr val="tx1">
                    <a:lumMod val="50000"/>
                    <a:lumOff val="50000"/>
                  </a:schemeClr>
                </a:solidFill>
                <a:latin typeface="楷体" panose="02010609060101010101" pitchFamily="49" charset="-122"/>
                <a:ea typeface="楷体" panose="02010609060101010101" pitchFamily="49" charset="-122"/>
              </a:rPr>
              <a:t>3</a:t>
            </a:r>
            <a:r>
              <a:rPr lang="en-US" altLang="zh-CN" sz="1600" b="1" dirty="0">
                <a:solidFill>
                  <a:schemeClr val="tx1">
                    <a:lumMod val="50000"/>
                    <a:lumOff val="50000"/>
                  </a:schemeClr>
                </a:solidFill>
                <a:latin typeface="楷体" panose="02010609060101010101" pitchFamily="49" charset="-122"/>
                <a:ea typeface="楷体" panose="02010609060101010101" pitchFamily="49" charset="-122"/>
              </a:rPr>
              <a:t>kg/m</a:t>
            </a:r>
            <a:r>
              <a:rPr lang="en-US" altLang="zh-CN" sz="1600" b="1" baseline="30000" dirty="0">
                <a:solidFill>
                  <a:schemeClr val="tx1">
                    <a:lumMod val="50000"/>
                    <a:lumOff val="50000"/>
                  </a:schemeClr>
                </a:solidFill>
                <a:latin typeface="楷体" panose="02010609060101010101" pitchFamily="49" charset="-122"/>
                <a:ea typeface="楷体" panose="02010609060101010101" pitchFamily="49" charset="-122"/>
              </a:rPr>
              <a:t>3</a:t>
            </a:r>
            <a:r>
              <a:rPr lang="fr-FR" altLang="zh-CN" sz="1600" b="1" dirty="0">
                <a:solidFill>
                  <a:schemeClr val="tx1">
                    <a:lumMod val="50000"/>
                    <a:lumOff val="50000"/>
                  </a:schemeClr>
                </a:solidFill>
                <a:latin typeface="楷体" panose="02010609060101010101" pitchFamily="49" charset="-122"/>
                <a:ea typeface="楷体" panose="02010609060101010101" pitchFamily="49" charset="-122"/>
              </a:rPr>
              <a:t> </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g=10N/kg</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 。忽略实心立方体吸水、容器壁厚度等次要因素。</a:t>
            </a:r>
          </a:p>
          <a:p>
            <a:pPr>
              <a:lnSpc>
                <a:spcPct val="150000"/>
              </a:lnSpc>
            </a:pP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1</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）求容器</a:t>
            </a:r>
            <a:r>
              <a:rPr kumimoji="1" lang="fr-FR"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A</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对水平桌面的压强。</a:t>
            </a:r>
          </a:p>
          <a:p>
            <a:pPr>
              <a:lnSpc>
                <a:spcPct val="150000"/>
              </a:lnSpc>
            </a:pP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2</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）若将</a:t>
            </a:r>
            <a:r>
              <a:rPr kumimoji="1" lang="fr-FR"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B</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缓慢放入容器中，请分析</a:t>
            </a:r>
            <a:r>
              <a:rPr kumimoji="1" lang="fr-FR"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B</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平衡时的状态，并求出</a:t>
            </a:r>
            <a:r>
              <a:rPr kumimoji="1" lang="fr-FR"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B</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放入前后水对容器底部压强的变化量。</a:t>
            </a:r>
          </a:p>
          <a:p>
            <a:pPr>
              <a:lnSpc>
                <a:spcPct val="150000"/>
              </a:lnSpc>
            </a:pP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3</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）若将</a:t>
            </a:r>
            <a:r>
              <a:rPr kumimoji="1" lang="fr-FR"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C</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放在</a:t>
            </a:r>
            <a:r>
              <a:rPr kumimoji="1" lang="fr-FR"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B</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上，再将它们缓慢放入容器中，平衡时</a:t>
            </a:r>
            <a:r>
              <a:rPr kumimoji="1" lang="fr-FR"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C</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与</a:t>
            </a:r>
            <a:r>
              <a:rPr kumimoji="1" lang="fr-FR"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B</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的接触面水平，求</a:t>
            </a:r>
            <a:r>
              <a:rPr kumimoji="1" lang="fr-FR"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C</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对</a:t>
            </a:r>
            <a:r>
              <a:rPr kumimoji="1" lang="fr-FR"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B</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的压力。</a:t>
            </a:r>
          </a:p>
        </p:txBody>
      </p:sp>
      <p:cxnSp>
        <p:nvCxnSpPr>
          <p:cNvPr id="7" name="直线连接符 6">
            <a:extLst>
              <a:ext uri="{FF2B5EF4-FFF2-40B4-BE49-F238E27FC236}">
                <a16:creationId xmlns:a16="http://schemas.microsoft.com/office/drawing/2014/main" id="{B47786F8-6C85-3C46-95ED-567BE89F2562}"/>
              </a:ext>
            </a:extLst>
          </p:cNvPr>
          <p:cNvCxnSpPr>
            <a:cxnSpLocks/>
          </p:cNvCxnSpPr>
          <p:nvPr/>
        </p:nvCxnSpPr>
        <p:spPr>
          <a:xfrm>
            <a:off x="582977" y="700757"/>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8" name="直线连接符 7">
            <a:extLst>
              <a:ext uri="{FF2B5EF4-FFF2-40B4-BE49-F238E27FC236}">
                <a16:creationId xmlns:a16="http://schemas.microsoft.com/office/drawing/2014/main" id="{2587DEE8-447E-D04E-98FA-D7B7A6720502}"/>
              </a:ext>
            </a:extLst>
          </p:cNvPr>
          <p:cNvCxnSpPr>
            <a:cxnSpLocks/>
          </p:cNvCxnSpPr>
          <p:nvPr/>
        </p:nvCxnSpPr>
        <p:spPr>
          <a:xfrm>
            <a:off x="575980" y="6682903"/>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9" name="直线连接符 8">
            <a:extLst>
              <a:ext uri="{FF2B5EF4-FFF2-40B4-BE49-F238E27FC236}">
                <a16:creationId xmlns:a16="http://schemas.microsoft.com/office/drawing/2014/main" id="{CED2EFBB-D731-FB45-B41D-D90FE0FB084E}"/>
              </a:ext>
            </a:extLst>
          </p:cNvPr>
          <p:cNvCxnSpPr>
            <a:cxnSpLocks/>
          </p:cNvCxnSpPr>
          <p:nvPr/>
        </p:nvCxnSpPr>
        <p:spPr>
          <a:xfrm>
            <a:off x="575980" y="4316146"/>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E1D35ACD-135F-314A-9F1E-FE71E76D5812}"/>
              </a:ext>
            </a:extLst>
          </p:cNvPr>
          <p:cNvSpPr txBox="1"/>
          <p:nvPr/>
        </p:nvSpPr>
        <p:spPr>
          <a:xfrm>
            <a:off x="438820" y="4438868"/>
            <a:ext cx="11198190" cy="2073132"/>
          </a:xfrm>
          <a:prstGeom prst="rect">
            <a:avLst/>
          </a:prstGeom>
          <a:noFill/>
        </p:spPr>
        <p:txBody>
          <a:bodyPr wrap="square" rtlCol="0">
            <a:spAutoFit/>
          </a:bodyPr>
          <a:lstStyle/>
          <a:p>
            <a:pPr>
              <a:lnSpc>
                <a:spcPct val="150000"/>
              </a:lnSpc>
            </a:pPr>
            <a:r>
              <a:rPr kumimoji="1" lang="zh-CN" altLang="en-US" sz="1600" dirty="0">
                <a:latin typeface="KaiTi" panose="02010609060101010101" pitchFamily="49" charset="-122"/>
                <a:ea typeface="KaiTi" panose="02010609060101010101" pitchFamily="49" charset="-122"/>
              </a:rPr>
              <a:t>核心：</a:t>
            </a:r>
            <a:endParaRPr kumimoji="1" lang="en-US" altLang="zh-CN" sz="1600" dirty="0">
              <a:latin typeface="KaiTi" panose="02010609060101010101" pitchFamily="49" charset="-122"/>
              <a:ea typeface="KaiTi" panose="02010609060101010101" pitchFamily="49" charset="-122"/>
            </a:endParaRPr>
          </a:p>
          <a:p>
            <a:pPr>
              <a:lnSpc>
                <a:spcPct val="150000"/>
              </a:lnSpc>
            </a:pP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在「基础概念」题里，应该怎么</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快速解题：「拆分」做题步骤</a:t>
            </a:r>
            <a:r>
              <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「假设」验证，分类讨论</a:t>
            </a:r>
            <a:endPar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endParaRPr>
          </a:p>
          <a:p>
            <a:pPr>
              <a:lnSpc>
                <a:spcPct val="150000"/>
              </a:lnSpc>
            </a:pPr>
            <a:r>
              <a:rPr kumimoji="1" lang="zh-CN" altLang="en-US" sz="14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a:t>
            </a:r>
            <a:r>
              <a:rPr kumimoji="1" lang="en-US" altLang="zh-CN" sz="14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[1</a:t>
            </a:r>
            <a:r>
              <a:rPr kumimoji="1" lang="en-US" altLang="zh-CN" sz="1400" dirty="0">
                <a:solidFill>
                  <a:schemeClr val="tx1">
                    <a:lumMod val="50000"/>
                    <a:lumOff val="50000"/>
                  </a:schemeClr>
                </a:solidFill>
                <a:highlight>
                  <a:srgbClr val="FDF5D6"/>
                </a:highlight>
                <a:latin typeface="KaiTi" panose="02010609060101010101" pitchFamily="49" charset="-122"/>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容器</a:t>
            </a:r>
            <a:r>
              <a:rPr kumimoji="1" lang="fr-FR"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A</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对水平桌面的压力 </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容器</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A</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对水平桌面的压强</a:t>
            </a:r>
            <a:endParaRPr kumimoji="1" lang="en-US" altLang="zh-CN" sz="1400" dirty="0">
              <a:solidFill>
                <a:schemeClr val="tx1">
                  <a:lumMod val="50000"/>
                  <a:lumOff val="50000"/>
                </a:schemeClr>
              </a:solidFill>
              <a:highlight>
                <a:srgbClr val="FDF5D6"/>
              </a:highlight>
              <a:latin typeface="KaiTi" panose="02010609060101010101" pitchFamily="49" charset="-122"/>
              <a:ea typeface="KaiTi" panose="02010609060101010101" pitchFamily="49" charset="-122"/>
              <a:cs typeface="Times New Roman" panose="02020603050405020304" pitchFamily="18" charset="0"/>
            </a:endParaRPr>
          </a:p>
          <a:p>
            <a:pPr>
              <a:lnSpc>
                <a:spcPct val="150000"/>
              </a:lnSpc>
            </a:pPr>
            <a:r>
              <a:rPr kumimoji="1" lang="en-US" altLang="zh-CN" sz="1400" dirty="0">
                <a:solidFill>
                  <a:schemeClr val="tx1">
                    <a:lumMod val="50000"/>
                    <a:lumOff val="50000"/>
                  </a:schemeClr>
                </a:solidFill>
                <a:highlight>
                  <a:srgbClr val="FDF5D6"/>
                </a:highlight>
                <a:latin typeface="KaiTi" panose="02010609060101010101" pitchFamily="49" charset="-122"/>
                <a:ea typeface="KaiTi" panose="02010609060101010101" pitchFamily="49" charset="-122"/>
                <a:cs typeface="Times New Roman" panose="02020603050405020304" pitchFamily="18" charset="0"/>
              </a:rPr>
              <a:t>[2]</a:t>
            </a:r>
            <a:r>
              <a:rPr kumimoji="1" lang="fr-FR"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 B</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的密度</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假设</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B</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漂浮，受到的浮力</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排开水的体积</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 B</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的底面积</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此时需要的最少水量</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容器</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A</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内装有水的体积</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判断条件</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 B</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一定处于漂浮状态</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水对容器底部的压强变化量 </a:t>
            </a:r>
            <a:endPar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endParaRPr>
          </a:p>
          <a:p>
            <a:pPr>
              <a:lnSpc>
                <a:spcPct val="150000"/>
              </a:lnSpc>
            </a:pP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[3]BC</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整体法</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假设法：沉底受浮力</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判断浮力和总重力</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隔离法求</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C</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：浮力</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C</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对</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B</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压力</a:t>
            </a:r>
            <a:endParaRPr kumimoji="1" lang="zh-CN" altLang="en-US" sz="1400" dirty="0">
              <a:solidFill>
                <a:schemeClr val="tx1">
                  <a:lumMod val="50000"/>
                  <a:lumOff val="50000"/>
                </a:schemeClr>
              </a:solidFill>
              <a:highlight>
                <a:srgbClr val="FDF5D6"/>
              </a:highlight>
              <a:latin typeface="KaiTi" panose="02010609060101010101" pitchFamily="49" charset="-122"/>
              <a:ea typeface="KaiTi" panose="02010609060101010101" pitchFamily="49" charset="-122"/>
              <a:cs typeface="Times New Roman" panose="02020603050405020304" pitchFamily="18" charset="0"/>
            </a:endParaRPr>
          </a:p>
        </p:txBody>
      </p:sp>
      <p:sp>
        <p:nvSpPr>
          <p:cNvPr id="2" name="矩形 1">
            <a:extLst>
              <a:ext uri="{FF2B5EF4-FFF2-40B4-BE49-F238E27FC236}">
                <a16:creationId xmlns:a16="http://schemas.microsoft.com/office/drawing/2014/main" id="{647B0AA0-95FC-1448-B014-D1351C1D83F0}"/>
              </a:ext>
            </a:extLst>
          </p:cNvPr>
          <p:cNvSpPr/>
          <p:nvPr/>
        </p:nvSpPr>
        <p:spPr>
          <a:xfrm>
            <a:off x="6583873" y="3947267"/>
            <a:ext cx="5032147" cy="369332"/>
          </a:xfrm>
          <a:prstGeom prst="rect">
            <a:avLst/>
          </a:prstGeom>
        </p:spPr>
        <p:txBody>
          <a:bodyPr wrap="none">
            <a:spAutoFit/>
          </a:bodyPr>
          <a:lstStyle/>
          <a:p>
            <a:r>
              <a:rPr lang="en-US" altLang="zh-CN" kern="100" dirty="0">
                <a:solidFill>
                  <a:srgbClr val="C00000"/>
                </a:solidFill>
                <a:latin typeface="KaiTi" panose="02010609060101010101" pitchFamily="49" charset="-122"/>
                <a:ea typeface="KaiTi" panose="02010609060101010101" pitchFamily="49" charset="-122"/>
                <a:cs typeface="宋体" panose="02010600030101010101" pitchFamily="2" charset="-122"/>
              </a:rPr>
              <a:t> 1</a:t>
            </a:r>
            <a:r>
              <a:rPr lang="zh-CN" altLang="en-US" kern="100" dirty="0">
                <a:solidFill>
                  <a:srgbClr val="C00000"/>
                </a:solidFill>
                <a:latin typeface="KaiTi" panose="02010609060101010101" pitchFamily="49" charset="-122"/>
                <a:ea typeface="KaiTi" panose="02010609060101010101" pitchFamily="49" charset="-122"/>
                <a:cs typeface="宋体" panose="02010600030101010101" pitchFamily="2" charset="-122"/>
              </a:rPr>
              <a:t>）</a:t>
            </a:r>
            <a:r>
              <a:rPr lang="en-US" altLang="zh-CN" kern="100" dirty="0">
                <a:solidFill>
                  <a:srgbClr val="C00000"/>
                </a:solidFill>
                <a:latin typeface="KaiTi" panose="02010609060101010101" pitchFamily="49" charset="-122"/>
                <a:ea typeface="KaiTi" panose="02010609060101010101" pitchFamily="49" charset="-122"/>
                <a:cs typeface="宋体" panose="02010600030101010101" pitchFamily="2" charset="-122"/>
              </a:rPr>
              <a:t>600Pa  2</a:t>
            </a:r>
            <a:r>
              <a:rPr lang="zh-CN" altLang="en-US" kern="100" dirty="0">
                <a:solidFill>
                  <a:srgbClr val="C00000"/>
                </a:solidFill>
                <a:latin typeface="KaiTi" panose="02010609060101010101" pitchFamily="49" charset="-122"/>
                <a:ea typeface="KaiTi" panose="02010609060101010101" pitchFamily="49" charset="-122"/>
                <a:cs typeface="宋体" panose="02010600030101010101" pitchFamily="2" charset="-122"/>
              </a:rPr>
              <a:t>）漂浮状态；</a:t>
            </a:r>
            <a:r>
              <a:rPr lang="en-US" altLang="zh-CN" kern="100" dirty="0">
                <a:solidFill>
                  <a:srgbClr val="C00000"/>
                </a:solidFill>
                <a:latin typeface="KaiTi" panose="02010609060101010101" pitchFamily="49" charset="-122"/>
                <a:ea typeface="KaiTi" panose="02010609060101010101" pitchFamily="49" charset="-122"/>
                <a:cs typeface="宋体" panose="02010600030101010101" pitchFamily="2" charset="-122"/>
              </a:rPr>
              <a:t>150Pa</a:t>
            </a:r>
            <a:r>
              <a:rPr lang="zh-CN" altLang="en-US" kern="100" dirty="0">
                <a:solidFill>
                  <a:srgbClr val="C00000"/>
                </a:solidFill>
                <a:latin typeface="KaiTi" panose="02010609060101010101" pitchFamily="49" charset="-122"/>
                <a:ea typeface="KaiTi" panose="02010609060101010101" pitchFamily="49" charset="-122"/>
                <a:cs typeface="宋体" panose="02010600030101010101" pitchFamily="2" charset="-122"/>
              </a:rPr>
              <a:t>  </a:t>
            </a:r>
            <a:r>
              <a:rPr lang="en-US" altLang="zh-CN" kern="100" dirty="0">
                <a:solidFill>
                  <a:srgbClr val="C00000"/>
                </a:solidFill>
                <a:latin typeface="KaiTi" panose="02010609060101010101" pitchFamily="49" charset="-122"/>
                <a:ea typeface="KaiTi" panose="02010609060101010101" pitchFamily="49" charset="-122"/>
                <a:cs typeface="宋体" panose="02010600030101010101" pitchFamily="2" charset="-122"/>
              </a:rPr>
              <a:t>3</a:t>
            </a:r>
            <a:r>
              <a:rPr lang="zh-CN" altLang="en-US" kern="100" dirty="0">
                <a:solidFill>
                  <a:srgbClr val="C00000"/>
                </a:solidFill>
                <a:latin typeface="KaiTi" panose="02010609060101010101" pitchFamily="49" charset="-122"/>
                <a:ea typeface="KaiTi" panose="02010609060101010101" pitchFamily="49" charset="-122"/>
                <a:cs typeface="宋体" panose="02010600030101010101" pitchFamily="2" charset="-122"/>
              </a:rPr>
              <a:t>）</a:t>
            </a:r>
            <a:r>
              <a:rPr lang="fr-FR" altLang="zh-CN" kern="100" dirty="0">
                <a:solidFill>
                  <a:srgbClr val="C00000"/>
                </a:solidFill>
                <a:latin typeface="KaiTi" panose="02010609060101010101" pitchFamily="49" charset="-122"/>
                <a:ea typeface="KaiTi" panose="02010609060101010101" pitchFamily="49" charset="-122"/>
                <a:cs typeface="宋体" panose="02010600030101010101" pitchFamily="2" charset="-122"/>
              </a:rPr>
              <a:t> 0.208N</a:t>
            </a:r>
            <a:r>
              <a:rPr lang="zh-CN" altLang="en-US" kern="100" dirty="0">
                <a:solidFill>
                  <a:srgbClr val="C00000"/>
                </a:solidFill>
                <a:latin typeface="KaiTi" panose="02010609060101010101" pitchFamily="49" charset="-122"/>
                <a:ea typeface="KaiTi" panose="02010609060101010101" pitchFamily="49" charset="-122"/>
                <a:cs typeface="宋体" panose="02010600030101010101" pitchFamily="2" charset="-122"/>
              </a:rPr>
              <a:t> </a:t>
            </a:r>
            <a:endParaRPr lang="zh-CN" altLang="en-US" dirty="0">
              <a:solidFill>
                <a:srgbClr val="C00000"/>
              </a:solidFill>
              <a:latin typeface="KaiTi" panose="02010609060101010101" pitchFamily="49" charset="-122"/>
              <a:ea typeface="KaiTi" panose="02010609060101010101" pitchFamily="49" charset="-122"/>
            </a:endParaRPr>
          </a:p>
        </p:txBody>
      </p:sp>
      <p:sp>
        <p:nvSpPr>
          <p:cNvPr id="90" name="Rectangle 80">
            <a:extLst>
              <a:ext uri="{FF2B5EF4-FFF2-40B4-BE49-F238E27FC236}">
                <a16:creationId xmlns:a16="http://schemas.microsoft.com/office/drawing/2014/main" id="{BC73C762-CC34-094B-A3C8-23AACC947CA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92" name="图片 91">
            <a:extLst>
              <a:ext uri="{FF2B5EF4-FFF2-40B4-BE49-F238E27FC236}">
                <a16:creationId xmlns:a16="http://schemas.microsoft.com/office/drawing/2014/main" id="{7CE7F7E1-F617-8640-9D70-FEBC399B7004}"/>
              </a:ext>
            </a:extLst>
          </p:cNvPr>
          <p:cNvPicPr/>
          <p:nvPr/>
        </p:nvPicPr>
        <p:blipFill>
          <a:blip r:embed="rId2"/>
          <a:stretch>
            <a:fillRect/>
          </a:stretch>
        </p:blipFill>
        <p:spPr>
          <a:xfrm>
            <a:off x="9627562" y="2675421"/>
            <a:ext cx="1800225" cy="1171575"/>
          </a:xfrm>
          <a:prstGeom prst="rect">
            <a:avLst/>
          </a:prstGeom>
        </p:spPr>
      </p:pic>
    </p:spTree>
    <p:extLst>
      <p:ext uri="{BB962C8B-B14F-4D97-AF65-F5344CB8AC3E}">
        <p14:creationId xmlns:p14="http://schemas.microsoft.com/office/powerpoint/2010/main" val="1215603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23EA399C-7DF0-2640-8EAD-1D6AA1817B54}"/>
              </a:ext>
            </a:extLst>
          </p:cNvPr>
          <p:cNvSpPr/>
          <p:nvPr/>
        </p:nvSpPr>
        <p:spPr>
          <a:xfrm>
            <a:off x="417830" y="2256094"/>
            <a:ext cx="11356340" cy="4177299"/>
          </a:xfrm>
          <a:prstGeom prst="rect">
            <a:avLst/>
          </a:prstGeom>
          <a:solidFill>
            <a:srgbClr val="EBFF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文本框 2">
            <a:extLst>
              <a:ext uri="{FF2B5EF4-FFF2-40B4-BE49-F238E27FC236}">
                <a16:creationId xmlns:a16="http://schemas.microsoft.com/office/drawing/2014/main" id="{3F150AB8-D8D1-1542-AD12-C7B5ACDB517E}"/>
              </a:ext>
            </a:extLst>
          </p:cNvPr>
          <p:cNvSpPr txBox="1"/>
          <p:nvPr/>
        </p:nvSpPr>
        <p:spPr>
          <a:xfrm>
            <a:off x="417830" y="748030"/>
            <a:ext cx="4942702" cy="307777"/>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初中中考真题</a:t>
            </a:r>
          </a:p>
        </p:txBody>
      </p:sp>
      <p:sp>
        <p:nvSpPr>
          <p:cNvPr id="4" name="文本框 3">
            <a:extLst>
              <a:ext uri="{FF2B5EF4-FFF2-40B4-BE49-F238E27FC236}">
                <a16:creationId xmlns:a16="http://schemas.microsoft.com/office/drawing/2014/main" id="{2A995DB2-C901-AD41-8949-4826090408EB}"/>
              </a:ext>
            </a:extLst>
          </p:cNvPr>
          <p:cNvSpPr txBox="1"/>
          <p:nvPr/>
        </p:nvSpPr>
        <p:spPr>
          <a:xfrm>
            <a:off x="417830" y="1055807"/>
            <a:ext cx="11212183" cy="1142620"/>
          </a:xfrm>
          <a:prstGeom prst="rect">
            <a:avLst/>
          </a:prstGeom>
          <a:noFill/>
        </p:spPr>
        <p:txBody>
          <a:bodyPr wrap="square" rtlCol="0">
            <a:spAutoFit/>
          </a:bodyPr>
          <a:lstStyle/>
          <a:p>
            <a:pPr>
              <a:lnSpc>
                <a:spcPct val="150000"/>
              </a:lnSpc>
            </a:pP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1</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）求容器</a:t>
            </a:r>
            <a:r>
              <a:rPr kumimoji="1" lang="fr-FR"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A</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对水平桌面的压强。</a:t>
            </a:r>
          </a:p>
          <a:p>
            <a:pPr>
              <a:lnSpc>
                <a:spcPct val="150000"/>
              </a:lnSpc>
            </a:pP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2</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）若将</a:t>
            </a:r>
            <a:r>
              <a:rPr kumimoji="1" lang="fr-FR"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B</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缓慢放入容器中，请分析</a:t>
            </a:r>
            <a:r>
              <a:rPr kumimoji="1" lang="fr-FR"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B</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平衡时的状态，并求出</a:t>
            </a:r>
            <a:r>
              <a:rPr kumimoji="1" lang="fr-FR"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B</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放入前后水对容器底部压强的变化量。</a:t>
            </a:r>
          </a:p>
          <a:p>
            <a:pPr>
              <a:lnSpc>
                <a:spcPct val="150000"/>
              </a:lnSpc>
            </a:pP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3</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）若将</a:t>
            </a:r>
            <a:r>
              <a:rPr kumimoji="1" lang="fr-FR"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C</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放在</a:t>
            </a:r>
            <a:r>
              <a:rPr kumimoji="1" lang="fr-FR"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B</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上，再将它们缓慢放入容器中，平衡时</a:t>
            </a:r>
            <a:r>
              <a:rPr kumimoji="1" lang="fr-FR"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C</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与</a:t>
            </a:r>
            <a:r>
              <a:rPr kumimoji="1" lang="fr-FR"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B</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的接触面水平，求</a:t>
            </a:r>
            <a:r>
              <a:rPr kumimoji="1" lang="fr-FR"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C</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对</a:t>
            </a:r>
            <a:r>
              <a:rPr kumimoji="1" lang="fr-FR"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B</a:t>
            </a: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的压力。</a:t>
            </a:r>
          </a:p>
        </p:txBody>
      </p:sp>
      <p:cxnSp>
        <p:nvCxnSpPr>
          <p:cNvPr id="7" name="直线连接符 6">
            <a:extLst>
              <a:ext uri="{FF2B5EF4-FFF2-40B4-BE49-F238E27FC236}">
                <a16:creationId xmlns:a16="http://schemas.microsoft.com/office/drawing/2014/main" id="{B47786F8-6C85-3C46-95ED-567BE89F2562}"/>
              </a:ext>
            </a:extLst>
          </p:cNvPr>
          <p:cNvCxnSpPr>
            <a:cxnSpLocks/>
          </p:cNvCxnSpPr>
          <p:nvPr/>
        </p:nvCxnSpPr>
        <p:spPr>
          <a:xfrm>
            <a:off x="582977" y="700757"/>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8" name="直线连接符 7">
            <a:extLst>
              <a:ext uri="{FF2B5EF4-FFF2-40B4-BE49-F238E27FC236}">
                <a16:creationId xmlns:a16="http://schemas.microsoft.com/office/drawing/2014/main" id="{2587DEE8-447E-D04E-98FA-D7B7A6720502}"/>
              </a:ext>
            </a:extLst>
          </p:cNvPr>
          <p:cNvCxnSpPr>
            <a:cxnSpLocks/>
          </p:cNvCxnSpPr>
          <p:nvPr/>
        </p:nvCxnSpPr>
        <p:spPr>
          <a:xfrm>
            <a:off x="575980" y="6394147"/>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9" name="直线连接符 8">
            <a:extLst>
              <a:ext uri="{FF2B5EF4-FFF2-40B4-BE49-F238E27FC236}">
                <a16:creationId xmlns:a16="http://schemas.microsoft.com/office/drawing/2014/main" id="{CED2EFBB-D731-FB45-B41D-D90FE0FB084E}"/>
              </a:ext>
            </a:extLst>
          </p:cNvPr>
          <p:cNvCxnSpPr>
            <a:cxnSpLocks/>
          </p:cNvCxnSpPr>
          <p:nvPr/>
        </p:nvCxnSpPr>
        <p:spPr>
          <a:xfrm>
            <a:off x="575980" y="2234403"/>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E1D35ACD-135F-314A-9F1E-FE71E76D5812}"/>
              </a:ext>
            </a:extLst>
          </p:cNvPr>
          <p:cNvSpPr txBox="1"/>
          <p:nvPr/>
        </p:nvSpPr>
        <p:spPr>
          <a:xfrm>
            <a:off x="438820" y="2242889"/>
            <a:ext cx="11198190" cy="3374514"/>
          </a:xfrm>
          <a:prstGeom prst="rect">
            <a:avLst/>
          </a:prstGeom>
          <a:noFill/>
        </p:spPr>
        <p:txBody>
          <a:bodyPr wrap="square" rtlCol="0">
            <a:spAutoFit/>
          </a:bodyPr>
          <a:lstStyle/>
          <a:p>
            <a:pPr>
              <a:lnSpc>
                <a:spcPct val="150000"/>
              </a:lnSpc>
            </a:pPr>
            <a:r>
              <a:rPr kumimoji="1" lang="zh-CN" altLang="en-US" sz="1600" dirty="0">
                <a:latin typeface="KaiTi" panose="02010609060101010101" pitchFamily="49" charset="-122"/>
                <a:ea typeface="KaiTi" panose="02010609060101010101" pitchFamily="49" charset="-122"/>
              </a:rPr>
              <a:t>核心：</a:t>
            </a:r>
            <a:endParaRPr kumimoji="1" lang="en-US" altLang="zh-CN" sz="1600" dirty="0">
              <a:latin typeface="KaiTi" panose="02010609060101010101" pitchFamily="49" charset="-122"/>
              <a:ea typeface="KaiTi" panose="02010609060101010101" pitchFamily="49" charset="-122"/>
            </a:endParaRPr>
          </a:p>
          <a:p>
            <a:pPr>
              <a:lnSpc>
                <a:spcPct val="150000"/>
              </a:lnSpc>
            </a:pPr>
            <a:r>
              <a:rPr kumimoji="1" lang="zh-CN" altLang="en-US" sz="14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a:t>
            </a:r>
            <a:r>
              <a:rPr kumimoji="1" lang="en-US" altLang="zh-CN" sz="14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[1</a:t>
            </a:r>
            <a:r>
              <a:rPr kumimoji="1" lang="en-US" altLang="zh-CN" sz="1400" dirty="0">
                <a:solidFill>
                  <a:schemeClr val="tx1">
                    <a:lumMod val="50000"/>
                    <a:lumOff val="50000"/>
                  </a:schemeClr>
                </a:solidFill>
                <a:highlight>
                  <a:srgbClr val="FDF5D6"/>
                </a:highlight>
                <a:latin typeface="KaiTi" panose="02010609060101010101" pitchFamily="49" charset="-122"/>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容器</a:t>
            </a:r>
            <a:r>
              <a:rPr kumimoji="1" lang="fr-FR"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A</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对水平桌面的压力 </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容器</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A</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对水平桌面的压强</a:t>
            </a:r>
            <a:endPar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endParaRPr>
          </a:p>
          <a:p>
            <a:pPr>
              <a:lnSpc>
                <a:spcPct val="150000"/>
              </a:lnSpc>
            </a:pPr>
            <a:endParaRPr kumimoji="1" lang="en-US" altLang="zh-CN" sz="1400" dirty="0">
              <a:solidFill>
                <a:schemeClr val="tx1">
                  <a:lumMod val="50000"/>
                  <a:lumOff val="50000"/>
                </a:schemeClr>
              </a:solidFill>
              <a:highlight>
                <a:srgbClr val="FDF5D6"/>
              </a:highlight>
              <a:latin typeface="KaiTi" panose="02010609060101010101" pitchFamily="49" charset="-122"/>
              <a:ea typeface="KaiTi" panose="02010609060101010101" pitchFamily="49" charset="-122"/>
              <a:cs typeface="Times New Roman" panose="02020603050405020304" pitchFamily="18" charset="0"/>
            </a:endParaRPr>
          </a:p>
          <a:p>
            <a:pPr>
              <a:lnSpc>
                <a:spcPct val="150000"/>
              </a:lnSpc>
            </a:pPr>
            <a:r>
              <a:rPr kumimoji="1" lang="en-US" altLang="zh-CN" sz="1400" dirty="0">
                <a:solidFill>
                  <a:schemeClr val="tx1">
                    <a:lumMod val="50000"/>
                    <a:lumOff val="50000"/>
                  </a:schemeClr>
                </a:solidFill>
                <a:highlight>
                  <a:srgbClr val="FDF5D6"/>
                </a:highlight>
                <a:latin typeface="KaiTi" panose="02010609060101010101" pitchFamily="49" charset="-122"/>
                <a:ea typeface="KaiTi" panose="02010609060101010101" pitchFamily="49" charset="-122"/>
                <a:cs typeface="Times New Roman" panose="02020603050405020304" pitchFamily="18" charset="0"/>
              </a:rPr>
              <a:t>[2]</a:t>
            </a:r>
            <a:r>
              <a:rPr kumimoji="1" lang="fr-FR"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 B</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的密度</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假设</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B</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漂浮，受到的浮力</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排开水的体积</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 B</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的底面积</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此时需要的最少水量</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容器</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A</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内装有水的体积</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判断条件</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 B</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一定处于漂浮状态</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水对容器底部的压强变化量 </a:t>
            </a:r>
            <a:endPar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endParaRPr>
          </a:p>
          <a:p>
            <a:pPr>
              <a:lnSpc>
                <a:spcPct val="150000"/>
              </a:lnSpc>
            </a:pPr>
            <a:endPar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endParaRPr>
          </a:p>
          <a:p>
            <a:pPr>
              <a:lnSpc>
                <a:spcPct val="150000"/>
              </a:lnSpc>
            </a:pPr>
            <a:endPar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endParaRPr>
          </a:p>
          <a:p>
            <a:pPr>
              <a:lnSpc>
                <a:spcPct val="150000"/>
              </a:lnSpc>
            </a:pPr>
            <a:endPar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endParaRPr>
          </a:p>
          <a:p>
            <a:pPr>
              <a:lnSpc>
                <a:spcPct val="150000"/>
              </a:lnSpc>
            </a:pPr>
            <a:endPar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endParaRPr>
          </a:p>
          <a:p>
            <a:pPr>
              <a:lnSpc>
                <a:spcPct val="150000"/>
              </a:lnSpc>
            </a:pP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[3]BC</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整体法</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假设法：沉底受浮力</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判断浮力和总重力</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隔离法求</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C</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：浮力</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C</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对</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B</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压力</a:t>
            </a:r>
            <a:endParaRPr kumimoji="1" lang="zh-CN" altLang="en-US" sz="1400" dirty="0">
              <a:solidFill>
                <a:schemeClr val="tx1">
                  <a:lumMod val="50000"/>
                  <a:lumOff val="50000"/>
                </a:schemeClr>
              </a:solidFill>
              <a:highlight>
                <a:srgbClr val="FDF5D6"/>
              </a:highlight>
              <a:latin typeface="KaiTi" panose="02010609060101010101" pitchFamily="49" charset="-122"/>
              <a:ea typeface="KaiTi" panose="02010609060101010101" pitchFamily="49" charset="-122"/>
              <a:cs typeface="Times New Roman" panose="02020603050405020304" pitchFamily="18" charset="0"/>
            </a:endParaRPr>
          </a:p>
        </p:txBody>
      </p:sp>
      <p:sp>
        <p:nvSpPr>
          <p:cNvPr id="90" name="Rectangle 80">
            <a:extLst>
              <a:ext uri="{FF2B5EF4-FFF2-40B4-BE49-F238E27FC236}">
                <a16:creationId xmlns:a16="http://schemas.microsoft.com/office/drawing/2014/main" id="{BC73C762-CC34-094B-A3C8-23AACC947CA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92" name="图片 91">
            <a:extLst>
              <a:ext uri="{FF2B5EF4-FFF2-40B4-BE49-F238E27FC236}">
                <a16:creationId xmlns:a16="http://schemas.microsoft.com/office/drawing/2014/main" id="{7CE7F7E1-F617-8640-9D70-FEBC399B7004}"/>
              </a:ext>
            </a:extLst>
          </p:cNvPr>
          <p:cNvPicPr/>
          <p:nvPr/>
        </p:nvPicPr>
        <p:blipFill>
          <a:blip r:embed="rId3"/>
          <a:stretch>
            <a:fillRect/>
          </a:stretch>
        </p:blipFill>
        <p:spPr>
          <a:xfrm>
            <a:off x="9793224" y="848663"/>
            <a:ext cx="1800225" cy="1171575"/>
          </a:xfrm>
          <a:prstGeom prst="rect">
            <a:avLst/>
          </a:prstGeom>
        </p:spPr>
      </p:pic>
      <p:sp>
        <p:nvSpPr>
          <p:cNvPr id="5" name="Rectangle 2">
            <a:extLst>
              <a:ext uri="{FF2B5EF4-FFF2-40B4-BE49-F238E27FC236}">
                <a16:creationId xmlns:a16="http://schemas.microsoft.com/office/drawing/2014/main" id="{370F3332-BF3F-2A4E-B17C-4CD4E2AEF25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 name="对象 10">
            <a:extLst>
              <a:ext uri="{FF2B5EF4-FFF2-40B4-BE49-F238E27FC236}">
                <a16:creationId xmlns:a16="http://schemas.microsoft.com/office/drawing/2014/main" id="{E531CD18-8482-7B48-8BD9-8375F6A232AE}"/>
              </a:ext>
            </a:extLst>
          </p:cNvPr>
          <p:cNvGraphicFramePr>
            <a:graphicFrameLocks noChangeAspect="1"/>
          </p:cNvGraphicFramePr>
          <p:nvPr>
            <p:extLst>
              <p:ext uri="{D42A27DB-BD31-4B8C-83A1-F6EECF244321}">
                <p14:modId xmlns:p14="http://schemas.microsoft.com/office/powerpoint/2010/main" val="2054414592"/>
              </p:ext>
            </p:extLst>
          </p:nvPr>
        </p:nvGraphicFramePr>
        <p:xfrm>
          <a:off x="717481" y="3000544"/>
          <a:ext cx="4343400" cy="279400"/>
        </p:xfrm>
        <a:graphic>
          <a:graphicData uri="http://schemas.openxmlformats.org/presentationml/2006/ole">
            <mc:AlternateContent xmlns:mc="http://schemas.openxmlformats.org/markup-compatibility/2006">
              <mc:Choice xmlns:v="urn:schemas-microsoft-com:vml" Requires="v">
                <p:oleObj spid="_x0000_s2916" r:id="rId4" imgW="4356100" imgH="279400" progId="Equation.DSMT4">
                  <p:embed/>
                </p:oleObj>
              </mc:Choice>
              <mc:Fallback>
                <p:oleObj r:id="rId4" imgW="4356100" imgH="279400" progId="Equation.DSMT4">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7481" y="3000544"/>
                        <a:ext cx="4343400"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Rectangle 4">
            <a:extLst>
              <a:ext uri="{FF2B5EF4-FFF2-40B4-BE49-F238E27FC236}">
                <a16:creationId xmlns:a16="http://schemas.microsoft.com/office/drawing/2014/main" id="{944F3B3A-E504-9045-B9BE-1F03D19BE296}"/>
              </a:ext>
            </a:extLst>
          </p:cNvPr>
          <p:cNvSpPr>
            <a:spLocks noChangeArrowheads="1"/>
          </p:cNvSpPr>
          <p:nvPr/>
        </p:nvSpPr>
        <p:spPr bwMode="auto">
          <a:xfrm>
            <a:off x="5758774" y="318017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3" name="对象 12">
            <a:extLst>
              <a:ext uri="{FF2B5EF4-FFF2-40B4-BE49-F238E27FC236}">
                <a16:creationId xmlns:a16="http://schemas.microsoft.com/office/drawing/2014/main" id="{1CB502CE-3599-074C-B9A0-8CC069CF2900}"/>
              </a:ext>
            </a:extLst>
          </p:cNvPr>
          <p:cNvGraphicFramePr>
            <a:graphicFrameLocks noChangeAspect="1"/>
          </p:cNvGraphicFramePr>
          <p:nvPr>
            <p:extLst>
              <p:ext uri="{D42A27DB-BD31-4B8C-83A1-F6EECF244321}">
                <p14:modId xmlns:p14="http://schemas.microsoft.com/office/powerpoint/2010/main" val="3699588364"/>
              </p:ext>
            </p:extLst>
          </p:nvPr>
        </p:nvGraphicFramePr>
        <p:xfrm>
          <a:off x="5758774" y="2891418"/>
          <a:ext cx="1866900" cy="393700"/>
        </p:xfrm>
        <a:graphic>
          <a:graphicData uri="http://schemas.openxmlformats.org/presentationml/2006/ole">
            <mc:AlternateContent xmlns:mc="http://schemas.openxmlformats.org/markup-compatibility/2006">
              <mc:Choice xmlns:v="urn:schemas-microsoft-com:vml" Requires="v">
                <p:oleObj spid="_x0000_s2917" r:id="rId6" imgW="1866900" imgH="393700" progId="Equation.DSMT4">
                  <p:embed/>
                </p:oleObj>
              </mc:Choice>
              <mc:Fallback>
                <p:oleObj r:id="rId6" imgW="1866900" imgH="393700" progId="Equation.DSMT4">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58774" y="2891418"/>
                        <a:ext cx="1866900" cy="393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Rectangle 6">
            <a:extLst>
              <a:ext uri="{FF2B5EF4-FFF2-40B4-BE49-F238E27FC236}">
                <a16:creationId xmlns:a16="http://schemas.microsoft.com/office/drawing/2014/main" id="{D5940D31-5474-3948-863D-AC7847356D7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5" name="对象 14">
            <a:extLst>
              <a:ext uri="{FF2B5EF4-FFF2-40B4-BE49-F238E27FC236}">
                <a16:creationId xmlns:a16="http://schemas.microsoft.com/office/drawing/2014/main" id="{4498E254-0756-DD41-9EB9-9D33C00B4760}"/>
              </a:ext>
            </a:extLst>
          </p:cNvPr>
          <p:cNvGraphicFramePr>
            <a:graphicFrameLocks noChangeAspect="1"/>
          </p:cNvGraphicFramePr>
          <p:nvPr>
            <p:extLst>
              <p:ext uri="{D42A27DB-BD31-4B8C-83A1-F6EECF244321}">
                <p14:modId xmlns:p14="http://schemas.microsoft.com/office/powerpoint/2010/main" val="2312171915"/>
              </p:ext>
            </p:extLst>
          </p:nvPr>
        </p:nvGraphicFramePr>
        <p:xfrm>
          <a:off x="708829" y="3912944"/>
          <a:ext cx="2286000" cy="431800"/>
        </p:xfrm>
        <a:graphic>
          <a:graphicData uri="http://schemas.openxmlformats.org/presentationml/2006/ole">
            <mc:AlternateContent xmlns:mc="http://schemas.openxmlformats.org/markup-compatibility/2006">
              <mc:Choice xmlns:v="urn:schemas-microsoft-com:vml" Requires="v">
                <p:oleObj spid="_x0000_s2918" r:id="rId8" imgW="2286000" imgH="431800" progId="Equation.DSMT4">
                  <p:embed/>
                </p:oleObj>
              </mc:Choice>
              <mc:Fallback>
                <p:oleObj r:id="rId8" imgW="2286000" imgH="431800"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8829" y="3912944"/>
                        <a:ext cx="228600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8">
            <a:extLst>
              <a:ext uri="{FF2B5EF4-FFF2-40B4-BE49-F238E27FC236}">
                <a16:creationId xmlns:a16="http://schemas.microsoft.com/office/drawing/2014/main" id="{49DA1927-9CC8-9843-BFE6-50D02EF24410}"/>
              </a:ext>
            </a:extLst>
          </p:cNvPr>
          <p:cNvSpPr>
            <a:spLocks noChangeArrowheads="1"/>
          </p:cNvSpPr>
          <p:nvPr/>
        </p:nvSpPr>
        <p:spPr bwMode="auto">
          <a:xfrm>
            <a:off x="3708331" y="437513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7" name="对象 16">
            <a:extLst>
              <a:ext uri="{FF2B5EF4-FFF2-40B4-BE49-F238E27FC236}">
                <a16:creationId xmlns:a16="http://schemas.microsoft.com/office/drawing/2014/main" id="{FF5D67A1-31D9-C941-8616-D6A6E7A3962F}"/>
              </a:ext>
            </a:extLst>
          </p:cNvPr>
          <p:cNvGraphicFramePr>
            <a:graphicFrameLocks noChangeAspect="1"/>
          </p:cNvGraphicFramePr>
          <p:nvPr>
            <p:extLst>
              <p:ext uri="{D42A27DB-BD31-4B8C-83A1-F6EECF244321}">
                <p14:modId xmlns:p14="http://schemas.microsoft.com/office/powerpoint/2010/main" val="4075027980"/>
              </p:ext>
            </p:extLst>
          </p:nvPr>
        </p:nvGraphicFramePr>
        <p:xfrm>
          <a:off x="3708331" y="4008557"/>
          <a:ext cx="2705100" cy="228600"/>
        </p:xfrm>
        <a:graphic>
          <a:graphicData uri="http://schemas.openxmlformats.org/presentationml/2006/ole">
            <mc:AlternateContent xmlns:mc="http://schemas.openxmlformats.org/markup-compatibility/2006">
              <mc:Choice xmlns:v="urn:schemas-microsoft-com:vml" Requires="v">
                <p:oleObj spid="_x0000_s2919" r:id="rId10" imgW="2705100" imgH="228600" progId="Equation.DSMT4">
                  <p:embed/>
                </p:oleObj>
              </mc:Choice>
              <mc:Fallback>
                <p:oleObj r:id="rId10" imgW="2705100" imgH="228600" progId="Equation.DSMT4">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08331" y="4008557"/>
                        <a:ext cx="270510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0">
            <a:extLst>
              <a:ext uri="{FF2B5EF4-FFF2-40B4-BE49-F238E27FC236}">
                <a16:creationId xmlns:a16="http://schemas.microsoft.com/office/drawing/2014/main" id="{F37BBB22-B58A-7D4C-BF51-7CBE095511D2}"/>
              </a:ext>
            </a:extLst>
          </p:cNvPr>
          <p:cNvSpPr>
            <a:spLocks noChangeArrowheads="1"/>
          </p:cNvSpPr>
          <p:nvPr/>
        </p:nvSpPr>
        <p:spPr bwMode="auto">
          <a:xfrm>
            <a:off x="7126933" y="427952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9" name="对象 18">
            <a:extLst>
              <a:ext uri="{FF2B5EF4-FFF2-40B4-BE49-F238E27FC236}">
                <a16:creationId xmlns:a16="http://schemas.microsoft.com/office/drawing/2014/main" id="{94032FD7-5ED2-744F-A69B-FBA611CBE9E4}"/>
              </a:ext>
            </a:extLst>
          </p:cNvPr>
          <p:cNvGraphicFramePr>
            <a:graphicFrameLocks noChangeAspect="1"/>
          </p:cNvGraphicFramePr>
          <p:nvPr>
            <p:extLst>
              <p:ext uri="{D42A27DB-BD31-4B8C-83A1-F6EECF244321}">
                <p14:modId xmlns:p14="http://schemas.microsoft.com/office/powerpoint/2010/main" val="913325838"/>
              </p:ext>
            </p:extLst>
          </p:nvPr>
        </p:nvGraphicFramePr>
        <p:xfrm>
          <a:off x="7126933" y="3912944"/>
          <a:ext cx="3619500" cy="457200"/>
        </p:xfrm>
        <a:graphic>
          <a:graphicData uri="http://schemas.openxmlformats.org/presentationml/2006/ole">
            <mc:AlternateContent xmlns:mc="http://schemas.openxmlformats.org/markup-compatibility/2006">
              <mc:Choice xmlns:v="urn:schemas-microsoft-com:vml" Requires="v">
                <p:oleObj spid="_x0000_s2920" r:id="rId12" imgW="3619500" imgH="457200" progId="Equation.DSMT4">
                  <p:embed/>
                </p:oleObj>
              </mc:Choice>
              <mc:Fallback>
                <p:oleObj r:id="rId12" imgW="3619500" imgH="457200" progId="Equation.DSMT4">
                  <p:embed/>
                  <p:pic>
                    <p:nvPicPr>
                      <p:cNvPr id="0"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126933" y="3912944"/>
                        <a:ext cx="36195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矩形 19">
            <a:extLst>
              <a:ext uri="{FF2B5EF4-FFF2-40B4-BE49-F238E27FC236}">
                <a16:creationId xmlns:a16="http://schemas.microsoft.com/office/drawing/2014/main" id="{41A0FB10-FE45-C843-BF6B-9A0527C629AB}"/>
              </a:ext>
            </a:extLst>
          </p:cNvPr>
          <p:cNvSpPr/>
          <p:nvPr/>
        </p:nvSpPr>
        <p:spPr>
          <a:xfrm>
            <a:off x="816822" y="4297708"/>
            <a:ext cx="1734770" cy="415498"/>
          </a:xfrm>
          <a:prstGeom prst="rect">
            <a:avLst/>
          </a:prstGeom>
        </p:spPr>
        <p:txBody>
          <a:bodyPr wrap="none">
            <a:spAutoFit/>
          </a:bodyPr>
          <a:lstStyle/>
          <a:p>
            <a:pPr algn="ctr" fontAlgn="ctr">
              <a:lnSpc>
                <a:spcPct val="150000"/>
              </a:lnSpc>
              <a:spcAft>
                <a:spcPts val="0"/>
              </a:spcAft>
            </a:pPr>
            <a:r>
              <a:rPr lang="en-US" altLang="zh-CN" sz="1400" i="1" kern="1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a:t>
            </a:r>
            <a:r>
              <a:rPr lang="en-US" altLang="zh-CN" sz="1400" kern="100"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B</a:t>
            </a:r>
            <a:r>
              <a:rPr lang="en-US" altLang="zh-CN" sz="1400" kern="1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=4cm×4cm=16cm</a:t>
            </a:r>
            <a:r>
              <a:rPr lang="en-US" altLang="zh-CN" sz="1400" kern="100" baseline="30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a:t>
            </a:r>
            <a:endParaRPr lang="zh-CN" altLang="zh-CN" sz="1400" kern="100" dirty="0">
              <a:latin typeface="Times New Roman" panose="02020603050405020304" pitchFamily="18" charset="0"/>
              <a:ea typeface="宋体" panose="02010600030101010101" pitchFamily="2" charset="-122"/>
              <a:cs typeface="宋体" panose="02010600030101010101" pitchFamily="2" charset="-122"/>
            </a:endParaRPr>
          </a:p>
        </p:txBody>
      </p:sp>
      <p:sp>
        <p:nvSpPr>
          <p:cNvPr id="21" name="Rectangle 12">
            <a:extLst>
              <a:ext uri="{FF2B5EF4-FFF2-40B4-BE49-F238E27FC236}">
                <a16:creationId xmlns:a16="http://schemas.microsoft.com/office/drawing/2014/main" id="{745845A1-E6D4-DC4E-B7EE-1C30BEDBD48C}"/>
              </a:ext>
            </a:extLst>
          </p:cNvPr>
          <p:cNvSpPr>
            <a:spLocks noChangeArrowheads="1"/>
          </p:cNvSpPr>
          <p:nvPr/>
        </p:nvSpPr>
        <p:spPr bwMode="auto">
          <a:xfrm>
            <a:off x="3332173" y="474543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2" name="对象 21">
            <a:extLst>
              <a:ext uri="{FF2B5EF4-FFF2-40B4-BE49-F238E27FC236}">
                <a16:creationId xmlns:a16="http://schemas.microsoft.com/office/drawing/2014/main" id="{EFAF4C36-5992-9344-A490-E1117C16A36B}"/>
              </a:ext>
            </a:extLst>
          </p:cNvPr>
          <p:cNvGraphicFramePr>
            <a:graphicFrameLocks noChangeAspect="1"/>
          </p:cNvGraphicFramePr>
          <p:nvPr>
            <p:extLst>
              <p:ext uri="{D42A27DB-BD31-4B8C-83A1-F6EECF244321}">
                <p14:modId xmlns:p14="http://schemas.microsoft.com/office/powerpoint/2010/main" val="4124064444"/>
              </p:ext>
            </p:extLst>
          </p:nvPr>
        </p:nvGraphicFramePr>
        <p:xfrm>
          <a:off x="3332173" y="4378861"/>
          <a:ext cx="3657600" cy="457200"/>
        </p:xfrm>
        <a:graphic>
          <a:graphicData uri="http://schemas.openxmlformats.org/presentationml/2006/ole">
            <mc:AlternateContent xmlns:mc="http://schemas.openxmlformats.org/markup-compatibility/2006">
              <mc:Choice xmlns:v="urn:schemas-microsoft-com:vml" Requires="v">
                <p:oleObj spid="_x0000_s2921" r:id="rId14" imgW="3670300" imgH="457200" progId="Equation.DSMT4">
                  <p:embed/>
                </p:oleObj>
              </mc:Choice>
              <mc:Fallback>
                <p:oleObj r:id="rId14" imgW="3670300" imgH="457200" progId="Equation.DSMT4">
                  <p:embed/>
                  <p:pic>
                    <p:nvPicPr>
                      <p:cNvPr id="0" name="Object 1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332173" y="4378861"/>
                        <a:ext cx="36576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Rectangle 14">
            <a:extLst>
              <a:ext uri="{FF2B5EF4-FFF2-40B4-BE49-F238E27FC236}">
                <a16:creationId xmlns:a16="http://schemas.microsoft.com/office/drawing/2014/main" id="{C0078F3B-5E28-4747-ACAD-A4B24E89BE90}"/>
              </a:ext>
            </a:extLst>
          </p:cNvPr>
          <p:cNvSpPr>
            <a:spLocks noChangeArrowheads="1"/>
          </p:cNvSpPr>
          <p:nvPr/>
        </p:nvSpPr>
        <p:spPr bwMode="auto">
          <a:xfrm>
            <a:off x="7300253" y="474543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4" name="对象 23">
            <a:extLst>
              <a:ext uri="{FF2B5EF4-FFF2-40B4-BE49-F238E27FC236}">
                <a16:creationId xmlns:a16="http://schemas.microsoft.com/office/drawing/2014/main" id="{2B99D9AF-95AE-C940-B591-FE041EA7A2AB}"/>
              </a:ext>
            </a:extLst>
          </p:cNvPr>
          <p:cNvGraphicFramePr>
            <a:graphicFrameLocks noChangeAspect="1"/>
          </p:cNvGraphicFramePr>
          <p:nvPr>
            <p:extLst>
              <p:ext uri="{D42A27DB-BD31-4B8C-83A1-F6EECF244321}">
                <p14:modId xmlns:p14="http://schemas.microsoft.com/office/powerpoint/2010/main" val="2077981477"/>
              </p:ext>
            </p:extLst>
          </p:nvPr>
        </p:nvGraphicFramePr>
        <p:xfrm>
          <a:off x="7300253" y="4378861"/>
          <a:ext cx="1752600" cy="457200"/>
        </p:xfrm>
        <a:graphic>
          <a:graphicData uri="http://schemas.openxmlformats.org/presentationml/2006/ole">
            <mc:AlternateContent xmlns:mc="http://schemas.openxmlformats.org/markup-compatibility/2006">
              <mc:Choice xmlns:v="urn:schemas-microsoft-com:vml" Requires="v">
                <p:oleObj spid="_x0000_s2922" r:id="rId16" imgW="1752600" imgH="457200" progId="Equation.DSMT4">
                  <p:embed/>
                </p:oleObj>
              </mc:Choice>
              <mc:Fallback>
                <p:oleObj r:id="rId16" imgW="1752600" imgH="457200" progId="Equation.DSMT4">
                  <p:embed/>
                  <p:pic>
                    <p:nvPicPr>
                      <p:cNvPr id="0" name="Object 1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300253" y="4378861"/>
                        <a:ext cx="17526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Rectangle 16">
            <a:extLst>
              <a:ext uri="{FF2B5EF4-FFF2-40B4-BE49-F238E27FC236}">
                <a16:creationId xmlns:a16="http://schemas.microsoft.com/office/drawing/2014/main" id="{4B7E763A-443B-494D-893B-8C9F82BA6F9C}"/>
              </a:ext>
            </a:extLst>
          </p:cNvPr>
          <p:cNvSpPr>
            <a:spLocks noChangeArrowheads="1"/>
          </p:cNvSpPr>
          <p:nvPr/>
        </p:nvSpPr>
        <p:spPr bwMode="auto">
          <a:xfrm>
            <a:off x="9372601" y="486451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6" name="对象 25">
            <a:extLst>
              <a:ext uri="{FF2B5EF4-FFF2-40B4-BE49-F238E27FC236}">
                <a16:creationId xmlns:a16="http://schemas.microsoft.com/office/drawing/2014/main" id="{4B82FF63-EBEF-5D44-8FCC-52F62A5E6850}"/>
              </a:ext>
            </a:extLst>
          </p:cNvPr>
          <p:cNvGraphicFramePr>
            <a:graphicFrameLocks noChangeAspect="1"/>
          </p:cNvGraphicFramePr>
          <p:nvPr>
            <p:extLst>
              <p:ext uri="{D42A27DB-BD31-4B8C-83A1-F6EECF244321}">
                <p14:modId xmlns:p14="http://schemas.microsoft.com/office/powerpoint/2010/main" val="3637212896"/>
              </p:ext>
            </p:extLst>
          </p:nvPr>
        </p:nvGraphicFramePr>
        <p:xfrm>
          <a:off x="9372601" y="4497941"/>
          <a:ext cx="533400" cy="241300"/>
        </p:xfrm>
        <a:graphic>
          <a:graphicData uri="http://schemas.openxmlformats.org/presentationml/2006/ole">
            <mc:AlternateContent xmlns:mc="http://schemas.openxmlformats.org/markup-compatibility/2006">
              <mc:Choice xmlns:v="urn:schemas-microsoft-com:vml" Requires="v">
                <p:oleObj spid="_x0000_s2923" r:id="rId18" imgW="533400" imgH="241300" progId="Equation.DSMT4">
                  <p:embed/>
                </p:oleObj>
              </mc:Choice>
              <mc:Fallback>
                <p:oleObj r:id="rId18" imgW="533400" imgH="241300" progId="Equation.DSMT4">
                  <p:embed/>
                  <p:pic>
                    <p:nvPicPr>
                      <p:cNvPr id="0" name="Object 1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9372601" y="4497941"/>
                        <a:ext cx="533400" cy="241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Rectangle 18">
            <a:extLst>
              <a:ext uri="{FF2B5EF4-FFF2-40B4-BE49-F238E27FC236}">
                <a16:creationId xmlns:a16="http://schemas.microsoft.com/office/drawing/2014/main" id="{08221CC4-A3A8-C144-8815-EE98F37511D2}"/>
              </a:ext>
            </a:extLst>
          </p:cNvPr>
          <p:cNvSpPr>
            <a:spLocks noChangeArrowheads="1"/>
          </p:cNvSpPr>
          <p:nvPr/>
        </p:nvSpPr>
        <p:spPr bwMode="auto">
          <a:xfrm>
            <a:off x="1034597" y="50725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8" name="对象 27">
            <a:extLst>
              <a:ext uri="{FF2B5EF4-FFF2-40B4-BE49-F238E27FC236}">
                <a16:creationId xmlns:a16="http://schemas.microsoft.com/office/drawing/2014/main" id="{3997A17B-B25D-EB4F-8EA0-9D1C693961B9}"/>
              </a:ext>
            </a:extLst>
          </p:cNvPr>
          <p:cNvGraphicFramePr>
            <a:graphicFrameLocks noChangeAspect="1"/>
          </p:cNvGraphicFramePr>
          <p:nvPr>
            <p:extLst>
              <p:ext uri="{D42A27DB-BD31-4B8C-83A1-F6EECF244321}">
                <p14:modId xmlns:p14="http://schemas.microsoft.com/office/powerpoint/2010/main" val="3734159456"/>
              </p:ext>
            </p:extLst>
          </p:nvPr>
        </p:nvGraphicFramePr>
        <p:xfrm>
          <a:off x="1034597" y="4783819"/>
          <a:ext cx="1701800" cy="457200"/>
        </p:xfrm>
        <a:graphic>
          <a:graphicData uri="http://schemas.openxmlformats.org/presentationml/2006/ole">
            <mc:AlternateContent xmlns:mc="http://schemas.openxmlformats.org/markup-compatibility/2006">
              <mc:Choice xmlns:v="urn:schemas-microsoft-com:vml" Requires="v">
                <p:oleObj spid="_x0000_s2924" r:id="rId20" imgW="1701800" imgH="457200" progId="Equation.DSMT4">
                  <p:embed/>
                </p:oleObj>
              </mc:Choice>
              <mc:Fallback>
                <p:oleObj r:id="rId20" imgW="1701800" imgH="457200" progId="Equation.DSMT4">
                  <p:embed/>
                  <p:pic>
                    <p:nvPicPr>
                      <p:cNvPr id="0" name="Object 1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034597" y="4783819"/>
                        <a:ext cx="17018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 name="Rectangle 20">
            <a:extLst>
              <a:ext uri="{FF2B5EF4-FFF2-40B4-BE49-F238E27FC236}">
                <a16:creationId xmlns:a16="http://schemas.microsoft.com/office/drawing/2014/main" id="{97A17862-1A1F-1347-8A24-4DB6470ABFB9}"/>
              </a:ext>
            </a:extLst>
          </p:cNvPr>
          <p:cNvSpPr>
            <a:spLocks noChangeArrowheads="1"/>
          </p:cNvSpPr>
          <p:nvPr/>
        </p:nvSpPr>
        <p:spPr bwMode="auto">
          <a:xfrm>
            <a:off x="3379575" y="519543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0" name="对象 29">
            <a:extLst>
              <a:ext uri="{FF2B5EF4-FFF2-40B4-BE49-F238E27FC236}">
                <a16:creationId xmlns:a16="http://schemas.microsoft.com/office/drawing/2014/main" id="{A50AC0FA-C914-CF47-8D58-E8D6AA2A4292}"/>
              </a:ext>
            </a:extLst>
          </p:cNvPr>
          <p:cNvGraphicFramePr>
            <a:graphicFrameLocks noChangeAspect="1"/>
          </p:cNvGraphicFramePr>
          <p:nvPr>
            <p:extLst>
              <p:ext uri="{D42A27DB-BD31-4B8C-83A1-F6EECF244321}">
                <p14:modId xmlns:p14="http://schemas.microsoft.com/office/powerpoint/2010/main" val="3343081479"/>
              </p:ext>
            </p:extLst>
          </p:nvPr>
        </p:nvGraphicFramePr>
        <p:xfrm>
          <a:off x="3379575" y="4906674"/>
          <a:ext cx="3721100" cy="254000"/>
        </p:xfrm>
        <a:graphic>
          <a:graphicData uri="http://schemas.openxmlformats.org/presentationml/2006/ole">
            <mc:AlternateContent xmlns:mc="http://schemas.openxmlformats.org/markup-compatibility/2006">
              <mc:Choice xmlns:v="urn:schemas-microsoft-com:vml" Requires="v">
                <p:oleObj spid="_x0000_s2925" r:id="rId22" imgW="3721100" imgH="254000" progId="Equation.DSMT4">
                  <p:embed/>
                </p:oleObj>
              </mc:Choice>
              <mc:Fallback>
                <p:oleObj r:id="rId22" imgW="3721100" imgH="254000" progId="Equation.DSMT4">
                  <p:embed/>
                  <p:pic>
                    <p:nvPicPr>
                      <p:cNvPr id="0" name="Object 19"/>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379575" y="4906674"/>
                        <a:ext cx="3721100" cy="25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 name="Rectangle 22">
            <a:extLst>
              <a:ext uri="{FF2B5EF4-FFF2-40B4-BE49-F238E27FC236}">
                <a16:creationId xmlns:a16="http://schemas.microsoft.com/office/drawing/2014/main" id="{CFFFCAA4-C53D-4243-9314-FA1F4B8D2559}"/>
              </a:ext>
            </a:extLst>
          </p:cNvPr>
          <p:cNvSpPr>
            <a:spLocks noChangeArrowheads="1"/>
          </p:cNvSpPr>
          <p:nvPr/>
        </p:nvSpPr>
        <p:spPr bwMode="auto">
          <a:xfrm>
            <a:off x="708829" y="589610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2" name="对象 31">
            <a:extLst>
              <a:ext uri="{FF2B5EF4-FFF2-40B4-BE49-F238E27FC236}">
                <a16:creationId xmlns:a16="http://schemas.microsoft.com/office/drawing/2014/main" id="{D126904F-E5A3-3449-9C6C-4E71A7D5D0B0}"/>
              </a:ext>
            </a:extLst>
          </p:cNvPr>
          <p:cNvGraphicFramePr>
            <a:graphicFrameLocks noChangeAspect="1"/>
          </p:cNvGraphicFramePr>
          <p:nvPr>
            <p:extLst>
              <p:ext uri="{D42A27DB-BD31-4B8C-83A1-F6EECF244321}">
                <p14:modId xmlns:p14="http://schemas.microsoft.com/office/powerpoint/2010/main" val="2081488850"/>
              </p:ext>
            </p:extLst>
          </p:nvPr>
        </p:nvGraphicFramePr>
        <p:xfrm>
          <a:off x="708829" y="5471884"/>
          <a:ext cx="2882900" cy="457200"/>
        </p:xfrm>
        <a:graphic>
          <a:graphicData uri="http://schemas.openxmlformats.org/presentationml/2006/ole">
            <mc:AlternateContent xmlns:mc="http://schemas.openxmlformats.org/markup-compatibility/2006">
              <mc:Choice xmlns:v="urn:schemas-microsoft-com:vml" Requires="v">
                <p:oleObj spid="_x0000_s2926" r:id="rId24" imgW="2882900" imgH="457200" progId="Equation.DSMT4">
                  <p:embed/>
                </p:oleObj>
              </mc:Choice>
              <mc:Fallback>
                <p:oleObj r:id="rId24" imgW="2882900" imgH="457200" progId="Equation.DSMT4">
                  <p:embed/>
                  <p:pic>
                    <p:nvPicPr>
                      <p:cNvPr id="0" name="Object 21"/>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08829" y="5471884"/>
                        <a:ext cx="28829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 name="Rectangle 24">
            <a:extLst>
              <a:ext uri="{FF2B5EF4-FFF2-40B4-BE49-F238E27FC236}">
                <a16:creationId xmlns:a16="http://schemas.microsoft.com/office/drawing/2014/main" id="{FABF26F9-E86E-C245-B3AA-A13E680DFD37}"/>
              </a:ext>
            </a:extLst>
          </p:cNvPr>
          <p:cNvSpPr>
            <a:spLocks noChangeArrowheads="1"/>
          </p:cNvSpPr>
          <p:nvPr/>
        </p:nvSpPr>
        <p:spPr bwMode="auto">
          <a:xfrm>
            <a:off x="4102031" y="600959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4" name="对象 33">
            <a:extLst>
              <a:ext uri="{FF2B5EF4-FFF2-40B4-BE49-F238E27FC236}">
                <a16:creationId xmlns:a16="http://schemas.microsoft.com/office/drawing/2014/main" id="{C05A079E-DA53-8A4C-B7C4-4A4BF8AE6DC2}"/>
              </a:ext>
            </a:extLst>
          </p:cNvPr>
          <p:cNvGraphicFramePr>
            <a:graphicFrameLocks noChangeAspect="1"/>
          </p:cNvGraphicFramePr>
          <p:nvPr>
            <p:extLst>
              <p:ext uri="{D42A27DB-BD31-4B8C-83A1-F6EECF244321}">
                <p14:modId xmlns:p14="http://schemas.microsoft.com/office/powerpoint/2010/main" val="3635040409"/>
              </p:ext>
            </p:extLst>
          </p:nvPr>
        </p:nvGraphicFramePr>
        <p:xfrm>
          <a:off x="4102031" y="5585377"/>
          <a:ext cx="4622800" cy="254000"/>
        </p:xfrm>
        <a:graphic>
          <a:graphicData uri="http://schemas.openxmlformats.org/presentationml/2006/ole">
            <mc:AlternateContent xmlns:mc="http://schemas.openxmlformats.org/markup-compatibility/2006">
              <mc:Choice xmlns:v="urn:schemas-microsoft-com:vml" Requires="v">
                <p:oleObj spid="_x0000_s2927" r:id="rId26" imgW="4622800" imgH="254000" progId="Equation.DSMT4">
                  <p:embed/>
                </p:oleObj>
              </mc:Choice>
              <mc:Fallback>
                <p:oleObj r:id="rId26" imgW="4622800" imgH="254000" progId="Equation.DSMT4">
                  <p:embed/>
                  <p:pic>
                    <p:nvPicPr>
                      <p:cNvPr id="0" name="Object 23"/>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102031" y="5585377"/>
                        <a:ext cx="4622800" cy="25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 name="矩形 34">
            <a:extLst>
              <a:ext uri="{FF2B5EF4-FFF2-40B4-BE49-F238E27FC236}">
                <a16:creationId xmlns:a16="http://schemas.microsoft.com/office/drawing/2014/main" id="{B8F2657D-285F-DE4D-ACFB-82B53F56D03E}"/>
              </a:ext>
            </a:extLst>
          </p:cNvPr>
          <p:cNvSpPr/>
          <p:nvPr/>
        </p:nvSpPr>
        <p:spPr>
          <a:xfrm>
            <a:off x="6951112" y="2290901"/>
            <a:ext cx="4685898" cy="442878"/>
          </a:xfrm>
          <a:prstGeom prst="rect">
            <a:avLst/>
          </a:prstGeom>
        </p:spPr>
        <p:txBody>
          <a:bodyPr wrap="none">
            <a:spAutoFit/>
          </a:bodyPr>
          <a:lstStyle/>
          <a:p>
            <a:pPr>
              <a:lnSpc>
                <a:spcPct val="150000"/>
              </a:lnSpc>
            </a:pPr>
            <a:r>
              <a:rPr kumimoji="1" lang="zh-CN" altLang="en-US" dirty="0">
                <a:solidFill>
                  <a:srgbClr val="A41AD4"/>
                </a:solidFill>
                <a:latin typeface="KaiTi" panose="02010609060101010101" pitchFamily="49" charset="-122"/>
                <a:ea typeface="KaiTi" panose="02010609060101010101" pitchFamily="49" charset="-122"/>
                <a:cs typeface="Times New Roman" panose="02020603050405020304" pitchFamily="18" charset="0"/>
              </a:rPr>
              <a:t>「拆分」做题步骤</a:t>
            </a:r>
            <a:r>
              <a:rPr kumimoji="1" lang="en-US" altLang="zh-CN"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dirty="0">
                <a:solidFill>
                  <a:srgbClr val="A41AD4"/>
                </a:solidFill>
                <a:latin typeface="KaiTi" panose="02010609060101010101" pitchFamily="49" charset="-122"/>
                <a:ea typeface="KaiTi" panose="02010609060101010101" pitchFamily="49" charset="-122"/>
                <a:cs typeface="Times New Roman" panose="02020603050405020304" pitchFamily="18" charset="0"/>
              </a:rPr>
              <a:t>「假设」验证，分类讨论</a:t>
            </a:r>
            <a:endParaRPr kumimoji="1" lang="en-US" altLang="zh-CN" dirty="0">
              <a:solidFill>
                <a:srgbClr val="A41AD4"/>
              </a:solidFill>
              <a:latin typeface="KaiTi" panose="02010609060101010101" pitchFamily="49" charset="-122"/>
              <a:ea typeface="KaiTi" panose="02010609060101010101" pitchFamily="49" charset="-122"/>
              <a:cs typeface="Times New Roman" panose="02020603050405020304" pitchFamily="18" charset="0"/>
            </a:endParaRPr>
          </a:p>
        </p:txBody>
      </p:sp>
      <p:sp>
        <p:nvSpPr>
          <p:cNvPr id="36" name="Rectangle 26">
            <a:extLst>
              <a:ext uri="{FF2B5EF4-FFF2-40B4-BE49-F238E27FC236}">
                <a16:creationId xmlns:a16="http://schemas.microsoft.com/office/drawing/2014/main" id="{C8BA04C3-CF4D-6941-A5A0-968877BA3CD9}"/>
              </a:ext>
            </a:extLst>
          </p:cNvPr>
          <p:cNvSpPr>
            <a:spLocks noChangeArrowheads="1"/>
          </p:cNvSpPr>
          <p:nvPr/>
        </p:nvSpPr>
        <p:spPr bwMode="auto">
          <a:xfrm>
            <a:off x="9666690" y="555567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7" name="对象 36">
            <a:extLst>
              <a:ext uri="{FF2B5EF4-FFF2-40B4-BE49-F238E27FC236}">
                <a16:creationId xmlns:a16="http://schemas.microsoft.com/office/drawing/2014/main" id="{61692A02-2A59-424B-A36F-255C0CE6DB12}"/>
              </a:ext>
            </a:extLst>
          </p:cNvPr>
          <p:cNvGraphicFramePr>
            <a:graphicFrameLocks noChangeAspect="1"/>
          </p:cNvGraphicFramePr>
          <p:nvPr>
            <p:extLst>
              <p:ext uri="{D42A27DB-BD31-4B8C-83A1-F6EECF244321}">
                <p14:modId xmlns:p14="http://schemas.microsoft.com/office/powerpoint/2010/main" val="1878537072"/>
              </p:ext>
            </p:extLst>
          </p:nvPr>
        </p:nvGraphicFramePr>
        <p:xfrm>
          <a:off x="9666690" y="5555676"/>
          <a:ext cx="1689100" cy="254000"/>
        </p:xfrm>
        <a:graphic>
          <a:graphicData uri="http://schemas.openxmlformats.org/presentationml/2006/ole">
            <mc:AlternateContent xmlns:mc="http://schemas.openxmlformats.org/markup-compatibility/2006">
              <mc:Choice xmlns:v="urn:schemas-microsoft-com:vml" Requires="v">
                <p:oleObj spid="_x0000_s2928" r:id="rId28" imgW="1689100" imgH="254000" progId="Equation.DSMT4">
                  <p:embed/>
                </p:oleObj>
              </mc:Choice>
              <mc:Fallback>
                <p:oleObj r:id="rId28" imgW="1689100" imgH="254000" progId="Equation.DSMT4">
                  <p:embed/>
                  <p:pic>
                    <p:nvPicPr>
                      <p:cNvPr id="0" name="Object 25"/>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9666690" y="5555676"/>
                        <a:ext cx="1689100" cy="25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 name="Rectangle 28">
            <a:extLst>
              <a:ext uri="{FF2B5EF4-FFF2-40B4-BE49-F238E27FC236}">
                <a16:creationId xmlns:a16="http://schemas.microsoft.com/office/drawing/2014/main" id="{5CD456EB-9F71-5D41-BB45-BE68DE6CE4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9" name="对象 38">
            <a:extLst>
              <a:ext uri="{FF2B5EF4-FFF2-40B4-BE49-F238E27FC236}">
                <a16:creationId xmlns:a16="http://schemas.microsoft.com/office/drawing/2014/main" id="{56155EA5-3020-774B-B173-180651CD0F95}"/>
              </a:ext>
            </a:extLst>
          </p:cNvPr>
          <p:cNvGraphicFramePr>
            <a:graphicFrameLocks noChangeAspect="1"/>
          </p:cNvGraphicFramePr>
          <p:nvPr>
            <p:extLst>
              <p:ext uri="{D42A27DB-BD31-4B8C-83A1-F6EECF244321}">
                <p14:modId xmlns:p14="http://schemas.microsoft.com/office/powerpoint/2010/main" val="1115953731"/>
              </p:ext>
            </p:extLst>
          </p:nvPr>
        </p:nvGraphicFramePr>
        <p:xfrm>
          <a:off x="1225097" y="6045657"/>
          <a:ext cx="660400" cy="228600"/>
        </p:xfrm>
        <a:graphic>
          <a:graphicData uri="http://schemas.openxmlformats.org/presentationml/2006/ole">
            <mc:AlternateContent xmlns:mc="http://schemas.openxmlformats.org/markup-compatibility/2006">
              <mc:Choice xmlns:v="urn:schemas-microsoft-com:vml" Requires="v">
                <p:oleObj spid="_x0000_s2929" r:id="rId30" imgW="660400" imgH="228600" progId="Equation.DSMT4">
                  <p:embed/>
                </p:oleObj>
              </mc:Choice>
              <mc:Fallback>
                <p:oleObj r:id="rId30" imgW="660400" imgH="228600" progId="Equation.DSMT4">
                  <p:embed/>
                  <p:pic>
                    <p:nvPicPr>
                      <p:cNvPr id="0" name="Object 27"/>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225097" y="6045657"/>
                        <a:ext cx="66040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 name="Rectangle 30">
            <a:extLst>
              <a:ext uri="{FF2B5EF4-FFF2-40B4-BE49-F238E27FC236}">
                <a16:creationId xmlns:a16="http://schemas.microsoft.com/office/drawing/2014/main" id="{C1B71897-DAD8-7243-9174-01EFD9D57F50}"/>
              </a:ext>
            </a:extLst>
          </p:cNvPr>
          <p:cNvSpPr>
            <a:spLocks noChangeArrowheads="1"/>
          </p:cNvSpPr>
          <p:nvPr/>
        </p:nvSpPr>
        <p:spPr bwMode="auto">
          <a:xfrm>
            <a:off x="4083078" y="606170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1" name="对象 40">
            <a:extLst>
              <a:ext uri="{FF2B5EF4-FFF2-40B4-BE49-F238E27FC236}">
                <a16:creationId xmlns:a16="http://schemas.microsoft.com/office/drawing/2014/main" id="{A92938E0-2331-9244-BD07-49E25B310099}"/>
              </a:ext>
            </a:extLst>
          </p:cNvPr>
          <p:cNvGraphicFramePr>
            <a:graphicFrameLocks noChangeAspect="1"/>
          </p:cNvGraphicFramePr>
          <p:nvPr>
            <p:extLst>
              <p:ext uri="{D42A27DB-BD31-4B8C-83A1-F6EECF244321}">
                <p14:modId xmlns:p14="http://schemas.microsoft.com/office/powerpoint/2010/main" val="2921672700"/>
              </p:ext>
            </p:extLst>
          </p:nvPr>
        </p:nvGraphicFramePr>
        <p:xfrm>
          <a:off x="2207429" y="6065257"/>
          <a:ext cx="1574800" cy="177800"/>
        </p:xfrm>
        <a:graphic>
          <a:graphicData uri="http://schemas.openxmlformats.org/presentationml/2006/ole">
            <mc:AlternateContent xmlns:mc="http://schemas.openxmlformats.org/markup-compatibility/2006">
              <mc:Choice xmlns:v="urn:schemas-microsoft-com:vml" Requires="v">
                <p:oleObj spid="_x0000_s2930" r:id="rId32" imgW="36283900" imgH="4102100" progId="Equation.DSMT4">
                  <p:embed/>
                </p:oleObj>
              </mc:Choice>
              <mc:Fallback>
                <p:oleObj r:id="rId32" imgW="36283900" imgH="4102100" progId="Equation.DSMT4">
                  <p:embed/>
                  <p:pic>
                    <p:nvPicPr>
                      <p:cNvPr id="0" name="Object 29"/>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2207429" y="6065257"/>
                        <a:ext cx="15748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2" name="Rectangle 32">
            <a:extLst>
              <a:ext uri="{FF2B5EF4-FFF2-40B4-BE49-F238E27FC236}">
                <a16:creationId xmlns:a16="http://schemas.microsoft.com/office/drawing/2014/main" id="{C93EFD72-DD08-4640-BC28-283CB5CB98D6}"/>
              </a:ext>
            </a:extLst>
          </p:cNvPr>
          <p:cNvSpPr>
            <a:spLocks noChangeArrowheads="1"/>
          </p:cNvSpPr>
          <p:nvPr/>
        </p:nvSpPr>
        <p:spPr bwMode="auto">
          <a:xfrm>
            <a:off x="6269567" y="601007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3" name="对象 42">
            <a:extLst>
              <a:ext uri="{FF2B5EF4-FFF2-40B4-BE49-F238E27FC236}">
                <a16:creationId xmlns:a16="http://schemas.microsoft.com/office/drawing/2014/main" id="{755D3024-13D7-584E-88DD-048898AE56FA}"/>
              </a:ext>
            </a:extLst>
          </p:cNvPr>
          <p:cNvGraphicFramePr>
            <a:graphicFrameLocks noChangeAspect="1"/>
          </p:cNvGraphicFramePr>
          <p:nvPr>
            <p:extLst>
              <p:ext uri="{D42A27DB-BD31-4B8C-83A1-F6EECF244321}">
                <p14:modId xmlns:p14="http://schemas.microsoft.com/office/powerpoint/2010/main" val="1428310683"/>
              </p:ext>
            </p:extLst>
          </p:nvPr>
        </p:nvGraphicFramePr>
        <p:xfrm>
          <a:off x="4102031" y="6010073"/>
          <a:ext cx="4622800" cy="254000"/>
        </p:xfrm>
        <a:graphic>
          <a:graphicData uri="http://schemas.openxmlformats.org/presentationml/2006/ole">
            <mc:AlternateContent xmlns:mc="http://schemas.openxmlformats.org/markup-compatibility/2006">
              <mc:Choice xmlns:v="urn:schemas-microsoft-com:vml" Requires="v">
                <p:oleObj spid="_x0000_s2931" r:id="rId34" imgW="4622800" imgH="254000" progId="Equation.DSMT4">
                  <p:embed/>
                </p:oleObj>
              </mc:Choice>
              <mc:Fallback>
                <p:oleObj r:id="rId34" imgW="4622800" imgH="254000" progId="Equation.DSMT4">
                  <p:embed/>
                  <p:pic>
                    <p:nvPicPr>
                      <p:cNvPr id="0" name="Object 31"/>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4102031" y="6010073"/>
                        <a:ext cx="4622800" cy="25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4" name="Rectangle 34">
            <a:extLst>
              <a:ext uri="{FF2B5EF4-FFF2-40B4-BE49-F238E27FC236}">
                <a16:creationId xmlns:a16="http://schemas.microsoft.com/office/drawing/2014/main" id="{E1C30799-DF13-184D-848D-1AB146187F23}"/>
              </a:ext>
            </a:extLst>
          </p:cNvPr>
          <p:cNvSpPr>
            <a:spLocks noChangeArrowheads="1"/>
          </p:cNvSpPr>
          <p:nvPr/>
        </p:nvSpPr>
        <p:spPr bwMode="auto">
          <a:xfrm>
            <a:off x="9025680" y="60116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5" name="对象 44">
            <a:extLst>
              <a:ext uri="{FF2B5EF4-FFF2-40B4-BE49-F238E27FC236}">
                <a16:creationId xmlns:a16="http://schemas.microsoft.com/office/drawing/2014/main" id="{C7B46D3C-154B-6544-9AA9-28FC6C078AF3}"/>
              </a:ext>
            </a:extLst>
          </p:cNvPr>
          <p:cNvGraphicFramePr>
            <a:graphicFrameLocks noChangeAspect="1"/>
          </p:cNvGraphicFramePr>
          <p:nvPr>
            <p:extLst>
              <p:ext uri="{D42A27DB-BD31-4B8C-83A1-F6EECF244321}">
                <p14:modId xmlns:p14="http://schemas.microsoft.com/office/powerpoint/2010/main" val="2806295288"/>
              </p:ext>
            </p:extLst>
          </p:nvPr>
        </p:nvGraphicFramePr>
        <p:xfrm>
          <a:off x="9025680" y="6011613"/>
          <a:ext cx="2679700" cy="228600"/>
        </p:xfrm>
        <a:graphic>
          <a:graphicData uri="http://schemas.openxmlformats.org/presentationml/2006/ole">
            <mc:AlternateContent xmlns:mc="http://schemas.openxmlformats.org/markup-compatibility/2006">
              <mc:Choice xmlns:v="urn:schemas-microsoft-com:vml" Requires="v">
                <p:oleObj spid="_x0000_s2932" r:id="rId36" imgW="2679700" imgH="228600" progId="Equation.DSMT4">
                  <p:embed/>
                </p:oleObj>
              </mc:Choice>
              <mc:Fallback>
                <p:oleObj r:id="rId36" imgW="2679700" imgH="228600" progId="Equation.DSMT4">
                  <p:embed/>
                  <p:pic>
                    <p:nvPicPr>
                      <p:cNvPr id="0" name="Object 33"/>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9025680" y="6011613"/>
                        <a:ext cx="267970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15468571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F595439-DC2D-814E-A9B9-7FC87B21C31C}"/>
              </a:ext>
            </a:extLst>
          </p:cNvPr>
          <p:cNvSpPr txBox="1"/>
          <p:nvPr/>
        </p:nvSpPr>
        <p:spPr>
          <a:xfrm>
            <a:off x="417830" y="748030"/>
            <a:ext cx="4942702" cy="307777"/>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高考真题</a:t>
            </a:r>
          </a:p>
        </p:txBody>
      </p:sp>
      <p:sp>
        <p:nvSpPr>
          <p:cNvPr id="4" name="文本框 3">
            <a:extLst>
              <a:ext uri="{FF2B5EF4-FFF2-40B4-BE49-F238E27FC236}">
                <a16:creationId xmlns:a16="http://schemas.microsoft.com/office/drawing/2014/main" id="{394ED3DE-6190-BC48-90C9-6C82B154923E}"/>
              </a:ext>
            </a:extLst>
          </p:cNvPr>
          <p:cNvSpPr txBox="1"/>
          <p:nvPr/>
        </p:nvSpPr>
        <p:spPr>
          <a:xfrm>
            <a:off x="489045" y="1182807"/>
            <a:ext cx="9503133" cy="1142620"/>
          </a:xfrm>
          <a:prstGeom prst="rect">
            <a:avLst/>
          </a:prstGeom>
          <a:noFill/>
        </p:spPr>
        <p:txBody>
          <a:bodyPr wrap="square" rtlCol="0">
            <a:spAutoFit/>
          </a:bodyPr>
          <a:lstStyle/>
          <a:p>
            <a:pPr>
              <a:lnSpc>
                <a:spcPct val="150000"/>
              </a:lnSpc>
            </a:pPr>
            <a:r>
              <a:rPr kumimoji="1" lang="en-US" altLang="zh-CN"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1</a:t>
            </a:r>
            <a:r>
              <a:rPr kumimoji="1" lang="zh-CN" altLang="en-US"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）单项选择</a:t>
            </a:r>
            <a:r>
              <a:rPr kumimoji="1" lang="en-US" altLang="zh-CN"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基础概念</a:t>
            </a:r>
            <a:r>
              <a:rPr kumimoji="1" lang="en-US" altLang="zh-CN"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p>
          <a:p>
            <a:pPr>
              <a:lnSpc>
                <a:spcPct val="150000"/>
              </a:lnSpc>
            </a:pP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核心方法</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「记忆准确」</a:t>
            </a:r>
            <a:r>
              <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「理解」 </a:t>
            </a:r>
            <a:endPar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endParaRPr>
          </a:p>
          <a:p>
            <a:pPr>
              <a:lnSpc>
                <a:spcPct val="150000"/>
              </a:lnSpc>
            </a:pPr>
            <a:r>
              <a:rPr kumimoji="1" lang="zh-CN" altLang="en-US"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善于使用</a:t>
            </a:r>
            <a:r>
              <a:rPr kumimoji="1" lang="en-US" altLang="zh-CN"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圈点勾画、排除法</a:t>
            </a:r>
            <a:endParaRPr kumimoji="1" lang="en-US" altLang="zh-CN"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endParaRPr>
          </a:p>
        </p:txBody>
      </p:sp>
      <p:sp>
        <p:nvSpPr>
          <p:cNvPr id="5" name="矩形 4">
            <a:extLst>
              <a:ext uri="{FF2B5EF4-FFF2-40B4-BE49-F238E27FC236}">
                <a16:creationId xmlns:a16="http://schemas.microsoft.com/office/drawing/2014/main" id="{48A01008-C526-154C-9A89-2460719D1A35}"/>
              </a:ext>
            </a:extLst>
          </p:cNvPr>
          <p:cNvSpPr/>
          <p:nvPr/>
        </p:nvSpPr>
        <p:spPr>
          <a:xfrm>
            <a:off x="417830" y="2821759"/>
            <a:ext cx="11177270" cy="3553641"/>
          </a:xfrm>
          <a:prstGeom prst="rect">
            <a:avLst/>
          </a:prstGeom>
          <a:solidFill>
            <a:srgbClr val="E8F0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3B27CFF8-40B3-3A40-9872-17E184753673}"/>
              </a:ext>
            </a:extLst>
          </p:cNvPr>
          <p:cNvSpPr/>
          <p:nvPr/>
        </p:nvSpPr>
        <p:spPr>
          <a:xfrm>
            <a:off x="693629" y="2882386"/>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A573DF6B-D1C2-994B-83B9-DB30AB109901}"/>
              </a:ext>
            </a:extLst>
          </p:cNvPr>
          <p:cNvSpPr txBox="1"/>
          <p:nvPr/>
        </p:nvSpPr>
        <p:spPr>
          <a:xfrm>
            <a:off x="693908" y="3251717"/>
            <a:ext cx="6773286" cy="3139321"/>
          </a:xfrm>
          <a:prstGeom prst="rect">
            <a:avLst/>
          </a:prstGeom>
          <a:noFill/>
        </p:spPr>
        <p:txBody>
          <a:bodyPr wrap="square" rtlCol="0">
            <a:spAutoFit/>
          </a:bodyPr>
          <a:lstStyle/>
          <a:p>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【2024</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高考广东卷物理</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单选</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3.</a:t>
            </a:r>
          </a:p>
          <a:p>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理解：波长、周期、相对平衡位置等核心概念</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p>
          <a:p>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题目怎么按</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流程</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解答？</a:t>
            </a:r>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pPr marL="342900" indent="-342900">
              <a:buFont typeface="+mj-ea"/>
              <a:buAutoNum type="circleNumDbPlain"/>
            </a:pP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由图可知简谐波的波长为入</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-2</a:t>
            </a:r>
            <a:r>
              <a:rPr kumimoji="1" lang="fr-FR" altLang="zh-CN" sz="1400" dirty="0">
                <a:latin typeface="Times New Roman" panose="02020603050405020304" pitchFamily="18" charset="0"/>
                <a:ea typeface="KaiTi" panose="02010609060101010101" pitchFamily="49" charset="-122"/>
                <a:cs typeface="Times New Roman" panose="02020603050405020304" pitchFamily="18" charset="0"/>
              </a:rPr>
              <a:t>m</a:t>
            </a:r>
            <a:r>
              <a:rPr kumimoji="1" lang="zh-CN" altLang="fr-FR" sz="1400" dirty="0">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所以</a:t>
            </a:r>
            <a:r>
              <a:rPr kumimoji="1" lang="zh-CN" altLang="en-US" sz="1400" dirty="0">
                <a:solidFill>
                  <a:srgbClr val="A41AD4"/>
                </a:solidFill>
                <a:latin typeface="Times New Roman" panose="02020603050405020304" pitchFamily="18" charset="0"/>
                <a:ea typeface="KaiTi" panose="02010609060101010101" pitchFamily="49" charset="-122"/>
                <a:cs typeface="Times New Roman" panose="02020603050405020304" pitchFamily="18" charset="0"/>
              </a:rPr>
              <a:t>周期</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为</a:t>
            </a:r>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pPr marL="342900" indent="-342900">
              <a:buFont typeface="+mj-ea"/>
              <a:buAutoNum type="circleNumDbPlain"/>
            </a:pP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当</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t=1s</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时，</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x=1.5m</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处的质点运动</a:t>
            </a:r>
            <a:r>
              <a:rPr kumimoji="1" lang="zh-CN" altLang="en-US" sz="1400" dirty="0">
                <a:solidFill>
                  <a:srgbClr val="A41AD4"/>
                </a:solidFill>
                <a:latin typeface="Times New Roman" panose="02020603050405020304" pitchFamily="18" charset="0"/>
                <a:ea typeface="KaiTi" panose="02010609060101010101" pitchFamily="49" charset="-122"/>
                <a:cs typeface="Times New Roman" panose="02020603050405020304" pitchFamily="18" charset="0"/>
              </a:rPr>
              <a:t>半个周期</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到达波峰处，</a:t>
            </a:r>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pPr marL="342900" indent="-342900">
              <a:buFont typeface="+mj-ea"/>
              <a:buAutoNum type="circleNumDbPlain"/>
            </a:pP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故</a:t>
            </a:r>
            <a:r>
              <a:rPr kumimoji="1" lang="zh-CN" altLang="en-US" sz="1400" dirty="0">
                <a:solidFill>
                  <a:srgbClr val="A41AD4"/>
                </a:solidFill>
                <a:latin typeface="Times New Roman" panose="02020603050405020304" pitchFamily="18" charset="0"/>
                <a:ea typeface="KaiTi" panose="02010609060101010101" pitchFamily="49" charset="-122"/>
                <a:cs typeface="Times New Roman" panose="02020603050405020304" pitchFamily="18" charset="0"/>
              </a:rPr>
              <a:t>相对平衡位置的位移</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为</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0.1</a:t>
            </a:r>
            <a:r>
              <a:rPr kumimoji="1" lang="fr-FR" altLang="zh-CN" sz="1400" dirty="0">
                <a:latin typeface="Times New Roman" panose="02020603050405020304" pitchFamily="18" charset="0"/>
                <a:ea typeface="KaiTi" panose="02010609060101010101" pitchFamily="49" charset="-122"/>
                <a:cs typeface="Times New Roman" panose="02020603050405020304" pitchFamily="18" charset="0"/>
              </a:rPr>
              <a:t>m</a:t>
            </a:r>
            <a:r>
              <a:rPr kumimoji="1" lang="zh-CN" altLang="fr-FR" sz="1400" dirty="0">
                <a:latin typeface="Times New Roman" panose="02020603050405020304" pitchFamily="18" charset="0"/>
                <a:ea typeface="KaiTi" panose="02010609060101010101" pitchFamily="49" charset="-122"/>
                <a:cs typeface="Times New Roman" panose="02020603050405020304" pitchFamily="18" charset="0"/>
              </a:rPr>
              <a:t>。</a:t>
            </a:r>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pPr marL="342900" indent="-342900">
              <a:buFont typeface="+mj-ea"/>
              <a:buAutoNum type="circleNumDbPlain"/>
            </a:pPr>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pPr marL="342900" indent="-342900">
              <a:buFont typeface="+mj-ea"/>
              <a:buAutoNum type="circleNumDbPlain"/>
            </a:pPr>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｜｜计算选项：</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r>
              <a:rPr lang="zh-CN" altLang="en-US" sz="1200" b="1" dirty="0">
                <a:solidFill>
                  <a:srgbClr val="A41AD4"/>
                </a:solidFill>
                <a:latin typeface="Times New Roman" panose="02020603050405020304" pitchFamily="18" charset="0"/>
                <a:cs typeface="Times New Roman" panose="02020603050405020304" pitchFamily="18" charset="0"/>
              </a:rPr>
              <a:t>答案：</a:t>
            </a:r>
            <a:r>
              <a:rPr lang="en-US" altLang="zh-CN" sz="1200" b="1" dirty="0">
                <a:solidFill>
                  <a:srgbClr val="A41AD4"/>
                </a:solidFill>
                <a:latin typeface="Times New Roman" panose="02020603050405020304" pitchFamily="18" charset="0"/>
                <a:cs typeface="Times New Roman" panose="02020603050405020304" pitchFamily="18" charset="0"/>
              </a:rPr>
              <a:t>B</a:t>
            </a:r>
          </a:p>
          <a:p>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基础题目</a:t>
            </a:r>
            <a:r>
              <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：尽量在</a:t>
            </a:r>
            <a:r>
              <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2min</a:t>
            </a:r>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内计算出！</a:t>
            </a:r>
            <a:endPar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熟练流程</a:t>
            </a:r>
            <a:r>
              <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在平常就要进行</a:t>
            </a:r>
            <a:r>
              <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限时训练</a:t>
            </a:r>
            <a:r>
              <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p>
        </p:txBody>
      </p:sp>
      <p:pic>
        <p:nvPicPr>
          <p:cNvPr id="22" name="图片 21">
            <a:extLst>
              <a:ext uri="{FF2B5EF4-FFF2-40B4-BE49-F238E27FC236}">
                <a16:creationId xmlns:a16="http://schemas.microsoft.com/office/drawing/2014/main" id="{B70F5877-6EAB-BC4B-8693-9D0AE865EDC3}"/>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4602997" y="1182807"/>
            <a:ext cx="6992103" cy="1719832"/>
          </a:xfrm>
          <a:prstGeom prst="rect">
            <a:avLst/>
          </a:prstGeom>
          <a:ln>
            <a:solidFill>
              <a:srgbClr val="7030A0"/>
            </a:solidFill>
          </a:ln>
        </p:spPr>
      </p:pic>
      <p:pic>
        <p:nvPicPr>
          <p:cNvPr id="23" name="图片 22">
            <a:extLst>
              <a:ext uri="{FF2B5EF4-FFF2-40B4-BE49-F238E27FC236}">
                <a16:creationId xmlns:a16="http://schemas.microsoft.com/office/drawing/2014/main" id="{CA0927B7-69D2-8F46-95C8-F282FF11412A}"/>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4852262" y="4009492"/>
            <a:ext cx="1538207" cy="482215"/>
          </a:xfrm>
          <a:prstGeom prst="rect">
            <a:avLst/>
          </a:prstGeom>
        </p:spPr>
      </p:pic>
    </p:spTree>
    <p:extLst>
      <p:ext uri="{BB962C8B-B14F-4D97-AF65-F5344CB8AC3E}">
        <p14:creationId xmlns:p14="http://schemas.microsoft.com/office/powerpoint/2010/main" val="398794185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F595439-DC2D-814E-A9B9-7FC87B21C31C}"/>
              </a:ext>
            </a:extLst>
          </p:cNvPr>
          <p:cNvSpPr txBox="1"/>
          <p:nvPr/>
        </p:nvSpPr>
        <p:spPr>
          <a:xfrm>
            <a:off x="417830" y="748030"/>
            <a:ext cx="4942702" cy="307777"/>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高考真题</a:t>
            </a:r>
          </a:p>
        </p:txBody>
      </p:sp>
      <p:sp>
        <p:nvSpPr>
          <p:cNvPr id="4" name="文本框 3">
            <a:extLst>
              <a:ext uri="{FF2B5EF4-FFF2-40B4-BE49-F238E27FC236}">
                <a16:creationId xmlns:a16="http://schemas.microsoft.com/office/drawing/2014/main" id="{394ED3DE-6190-BC48-90C9-6C82B154923E}"/>
              </a:ext>
            </a:extLst>
          </p:cNvPr>
          <p:cNvSpPr txBox="1"/>
          <p:nvPr/>
        </p:nvSpPr>
        <p:spPr>
          <a:xfrm>
            <a:off x="489045" y="1182807"/>
            <a:ext cx="9503133" cy="1142620"/>
          </a:xfrm>
          <a:prstGeom prst="rect">
            <a:avLst/>
          </a:prstGeom>
          <a:noFill/>
        </p:spPr>
        <p:txBody>
          <a:bodyPr wrap="square" rtlCol="0">
            <a:spAutoFit/>
          </a:bodyPr>
          <a:lstStyle/>
          <a:p>
            <a:pPr>
              <a:lnSpc>
                <a:spcPct val="150000"/>
              </a:lnSpc>
            </a:pPr>
            <a:r>
              <a:rPr kumimoji="1" lang="en-US" altLang="zh-CN"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2</a:t>
            </a:r>
            <a:r>
              <a:rPr kumimoji="1" lang="zh-CN" altLang="en-US"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）单项选择</a:t>
            </a:r>
            <a:r>
              <a:rPr kumimoji="1" lang="en-US" altLang="zh-CN"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新颖背景</a:t>
            </a:r>
            <a:r>
              <a:rPr kumimoji="1" lang="en-US" altLang="zh-CN"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基础计算</a:t>
            </a:r>
            <a:r>
              <a:rPr kumimoji="1" lang="en-US" altLang="zh-CN"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p>
          <a:p>
            <a:pPr>
              <a:lnSpc>
                <a:spcPct val="150000"/>
              </a:lnSpc>
            </a:pP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核心方法</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「理解题目」</a:t>
            </a:r>
            <a:r>
              <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「熟练公式」 </a:t>
            </a:r>
            <a:endPar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endParaRPr>
          </a:p>
          <a:p>
            <a:pPr>
              <a:lnSpc>
                <a:spcPct val="150000"/>
              </a:lnSpc>
            </a:pPr>
            <a:r>
              <a:rPr kumimoji="1" lang="zh-CN" altLang="en-US"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善于使用</a:t>
            </a:r>
            <a:r>
              <a:rPr kumimoji="1" lang="en-US" altLang="zh-CN"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拆解条件</a:t>
            </a:r>
            <a:endParaRPr kumimoji="1" lang="en-US" altLang="zh-CN"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endParaRPr>
          </a:p>
        </p:txBody>
      </p:sp>
      <p:sp>
        <p:nvSpPr>
          <p:cNvPr id="5" name="矩形 4">
            <a:extLst>
              <a:ext uri="{FF2B5EF4-FFF2-40B4-BE49-F238E27FC236}">
                <a16:creationId xmlns:a16="http://schemas.microsoft.com/office/drawing/2014/main" id="{48A01008-C526-154C-9A89-2460719D1A35}"/>
              </a:ext>
            </a:extLst>
          </p:cNvPr>
          <p:cNvSpPr/>
          <p:nvPr/>
        </p:nvSpPr>
        <p:spPr>
          <a:xfrm>
            <a:off x="417830" y="2821759"/>
            <a:ext cx="11177270" cy="3553641"/>
          </a:xfrm>
          <a:prstGeom prst="rect">
            <a:avLst/>
          </a:prstGeom>
          <a:solidFill>
            <a:srgbClr val="E8F0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3B27CFF8-40B3-3A40-9872-17E184753673}"/>
              </a:ext>
            </a:extLst>
          </p:cNvPr>
          <p:cNvSpPr/>
          <p:nvPr/>
        </p:nvSpPr>
        <p:spPr>
          <a:xfrm>
            <a:off x="693629" y="2882386"/>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A573DF6B-D1C2-994B-83B9-DB30AB109901}"/>
              </a:ext>
            </a:extLst>
          </p:cNvPr>
          <p:cNvSpPr txBox="1"/>
          <p:nvPr/>
        </p:nvSpPr>
        <p:spPr>
          <a:xfrm>
            <a:off x="693908" y="3251717"/>
            <a:ext cx="6773286" cy="3139321"/>
          </a:xfrm>
          <a:prstGeom prst="rect">
            <a:avLst/>
          </a:prstGeom>
          <a:noFill/>
        </p:spPr>
        <p:txBody>
          <a:bodyPr wrap="square" rtlCol="0">
            <a:spAutoFit/>
          </a:bodyPr>
          <a:lstStyle/>
          <a:p>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【2024</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高考广东卷物理</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单选</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5.</a:t>
            </a:r>
          </a:p>
          <a:p>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拆解：半径、线速度、弹簧伸长量等核心概念</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p>
          <a:p>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题目怎么按</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拆解</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用公式</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解答？</a:t>
            </a:r>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pPr marL="342900" indent="-342900">
              <a:buFont typeface="+mj-ea"/>
              <a:buAutoNum type="circleNumDbPlain"/>
            </a:pP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当插销刚卡紧固定端盖时弹簧的伸长量为</a:t>
            </a:r>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pPr marL="342900" indent="-342900">
              <a:buFont typeface="+mj-ea"/>
              <a:buAutoNum type="circleNumDbPlain"/>
            </a:pP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根据胡克定律：</a:t>
            </a:r>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pPr marL="342900" indent="-342900">
              <a:buFont typeface="+mj-ea"/>
              <a:buAutoNum type="circleNumDbPlain"/>
            </a:pP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插销与卷轴同轴转动，角速度相同，对插销有弹力提供向心力，对卷轴有</a:t>
            </a:r>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pPr marL="342900" indent="-342900">
              <a:buFont typeface="+mj-ea"/>
              <a:buAutoNum type="circleNumDbPlain"/>
            </a:pP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联立计算：</a:t>
            </a:r>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pPr marL="342900" indent="-342900">
              <a:buFont typeface="+mj-ea"/>
              <a:buAutoNum type="circleNumDbPlain"/>
            </a:pPr>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｜｜计算选项：</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r>
              <a:rPr lang="zh-CN" altLang="en-US" sz="1200" b="1" dirty="0">
                <a:solidFill>
                  <a:srgbClr val="A41AD4"/>
                </a:solidFill>
                <a:latin typeface="Times New Roman" panose="02020603050405020304" pitchFamily="18" charset="0"/>
                <a:cs typeface="Times New Roman" panose="02020603050405020304" pitchFamily="18" charset="0"/>
              </a:rPr>
              <a:t>答案：</a:t>
            </a:r>
            <a:r>
              <a:rPr lang="en-US" altLang="zh-CN" sz="1200" b="1" dirty="0">
                <a:solidFill>
                  <a:srgbClr val="A41AD4"/>
                </a:solidFill>
                <a:latin typeface="Times New Roman" panose="02020603050405020304" pitchFamily="18" charset="0"/>
                <a:cs typeface="Times New Roman" panose="02020603050405020304" pitchFamily="18" charset="0"/>
              </a:rPr>
              <a:t>A</a:t>
            </a:r>
          </a:p>
          <a:p>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基础题目</a:t>
            </a:r>
            <a:r>
              <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：尽量在</a:t>
            </a:r>
            <a:r>
              <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0.5min</a:t>
            </a:r>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理解题意，</a:t>
            </a:r>
            <a:r>
              <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2</a:t>
            </a:r>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3min</a:t>
            </a:r>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内计算出！</a:t>
            </a:r>
            <a:endPar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考试心态</a:t>
            </a:r>
            <a:r>
              <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将不熟悉的</a:t>
            </a:r>
            <a:r>
              <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转换</a:t>
            </a:r>
            <a:r>
              <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为熟悉的题型！</a:t>
            </a:r>
            <a:endPar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p:txBody>
      </p:sp>
      <p:pic>
        <p:nvPicPr>
          <p:cNvPr id="22" name="图片 21">
            <a:extLst>
              <a:ext uri="{FF2B5EF4-FFF2-40B4-BE49-F238E27FC236}">
                <a16:creationId xmlns:a16="http://schemas.microsoft.com/office/drawing/2014/main" id="{B70F5877-6EAB-BC4B-8693-9D0AE865EDC3}"/>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a:stretch/>
        </p:blipFill>
        <p:spPr>
          <a:xfrm>
            <a:off x="4852262" y="466962"/>
            <a:ext cx="6744217" cy="3139321"/>
          </a:xfrm>
          <a:prstGeom prst="rect">
            <a:avLst/>
          </a:prstGeom>
          <a:ln>
            <a:solidFill>
              <a:srgbClr val="7030A0"/>
            </a:solidFill>
          </a:ln>
        </p:spPr>
      </p:pic>
      <p:pic>
        <p:nvPicPr>
          <p:cNvPr id="2" name="图片 1">
            <a:extLst>
              <a:ext uri="{FF2B5EF4-FFF2-40B4-BE49-F238E27FC236}">
                <a16:creationId xmlns:a16="http://schemas.microsoft.com/office/drawing/2014/main" id="{8967DFAA-D444-6A47-9DC2-4564D06B1770}"/>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4276646" y="4049254"/>
            <a:ext cx="575616" cy="425956"/>
          </a:xfrm>
          <a:prstGeom prst="rect">
            <a:avLst/>
          </a:prstGeom>
        </p:spPr>
      </p:pic>
      <p:pic>
        <p:nvPicPr>
          <p:cNvPr id="8" name="图片 7">
            <a:extLst>
              <a:ext uri="{FF2B5EF4-FFF2-40B4-BE49-F238E27FC236}">
                <a16:creationId xmlns:a16="http://schemas.microsoft.com/office/drawing/2014/main" id="{1DE76A76-E712-2B47-B6FF-40DBD03FEACE}"/>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6792875" y="4457131"/>
            <a:ext cx="1251817" cy="530431"/>
          </a:xfrm>
          <a:prstGeom prst="rect">
            <a:avLst/>
          </a:prstGeom>
        </p:spPr>
      </p:pic>
      <p:pic>
        <p:nvPicPr>
          <p:cNvPr id="9" name="图片 8">
            <a:extLst>
              <a:ext uri="{FF2B5EF4-FFF2-40B4-BE49-F238E27FC236}">
                <a16:creationId xmlns:a16="http://schemas.microsoft.com/office/drawing/2014/main" id="{3B68EB77-3A8F-4949-A7BF-E5013914E942}"/>
              </a:ext>
            </a:extLst>
          </p:cNvPr>
          <p:cNvPicPr>
            <a:picLocks noChangeAspect="1"/>
          </p:cNvPicPr>
          <p:nvPr/>
        </p:nvPicPr>
        <p:blipFill>
          <a:blip r:embed="rId7">
            <a:clrChange>
              <a:clrFrom>
                <a:srgbClr val="FFFFFF"/>
              </a:clrFrom>
              <a:clrTo>
                <a:srgbClr val="FFFFFF">
                  <a:alpha val="0"/>
                </a:srgbClr>
              </a:clrTo>
            </a:clrChange>
          </a:blip>
          <a:stretch>
            <a:fillRect/>
          </a:stretch>
        </p:blipFill>
        <p:spPr>
          <a:xfrm>
            <a:off x="2411794" y="4315683"/>
            <a:ext cx="954774" cy="282896"/>
          </a:xfrm>
          <a:prstGeom prst="rect">
            <a:avLst/>
          </a:prstGeom>
        </p:spPr>
      </p:pic>
      <p:pic>
        <p:nvPicPr>
          <p:cNvPr id="10" name="图片 9">
            <a:extLst>
              <a:ext uri="{FF2B5EF4-FFF2-40B4-BE49-F238E27FC236}">
                <a16:creationId xmlns:a16="http://schemas.microsoft.com/office/drawing/2014/main" id="{CA61ECA2-5C51-C946-ACAC-3BFBA49B92D3}"/>
              </a:ext>
            </a:extLst>
          </p:cNvPr>
          <p:cNvPicPr>
            <a:picLocks noChangeAspect="1"/>
          </p:cNvPicPr>
          <p:nvPr/>
        </p:nvPicPr>
        <p:blipFill>
          <a:blip r:embed="rId8">
            <a:clrChange>
              <a:clrFrom>
                <a:srgbClr val="FFFFFF"/>
              </a:clrFrom>
              <a:clrTo>
                <a:srgbClr val="FFFFFF">
                  <a:alpha val="0"/>
                </a:srgbClr>
              </a:clrTo>
            </a:clrChange>
          </a:blip>
          <a:stretch>
            <a:fillRect/>
          </a:stretch>
        </p:blipFill>
        <p:spPr>
          <a:xfrm>
            <a:off x="1982561" y="4783369"/>
            <a:ext cx="954774" cy="898910"/>
          </a:xfrm>
          <a:prstGeom prst="rect">
            <a:avLst/>
          </a:prstGeom>
        </p:spPr>
      </p:pic>
    </p:spTree>
    <p:extLst>
      <p:ext uri="{BB962C8B-B14F-4D97-AF65-F5344CB8AC3E}">
        <p14:creationId xmlns:p14="http://schemas.microsoft.com/office/powerpoint/2010/main" val="106601599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F595439-DC2D-814E-A9B9-7FC87B21C31C}"/>
              </a:ext>
            </a:extLst>
          </p:cNvPr>
          <p:cNvSpPr txBox="1"/>
          <p:nvPr/>
        </p:nvSpPr>
        <p:spPr>
          <a:xfrm>
            <a:off x="417830" y="748030"/>
            <a:ext cx="4942702" cy="307777"/>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高考真题</a:t>
            </a:r>
          </a:p>
        </p:txBody>
      </p:sp>
      <p:sp>
        <p:nvSpPr>
          <p:cNvPr id="4" name="文本框 3">
            <a:extLst>
              <a:ext uri="{FF2B5EF4-FFF2-40B4-BE49-F238E27FC236}">
                <a16:creationId xmlns:a16="http://schemas.microsoft.com/office/drawing/2014/main" id="{394ED3DE-6190-BC48-90C9-6C82B154923E}"/>
              </a:ext>
            </a:extLst>
          </p:cNvPr>
          <p:cNvSpPr txBox="1"/>
          <p:nvPr/>
        </p:nvSpPr>
        <p:spPr>
          <a:xfrm>
            <a:off x="489045" y="1182807"/>
            <a:ext cx="9503133" cy="1142620"/>
          </a:xfrm>
          <a:prstGeom prst="rect">
            <a:avLst/>
          </a:prstGeom>
          <a:noFill/>
        </p:spPr>
        <p:txBody>
          <a:bodyPr wrap="square" rtlCol="0">
            <a:spAutoFit/>
          </a:bodyPr>
          <a:lstStyle/>
          <a:p>
            <a:pPr>
              <a:lnSpc>
                <a:spcPct val="150000"/>
              </a:lnSpc>
            </a:pPr>
            <a:r>
              <a:rPr kumimoji="1" lang="en-US" altLang="zh-CN"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3</a:t>
            </a:r>
            <a:r>
              <a:rPr kumimoji="1" lang="zh-CN" altLang="en-US"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）多项选择</a:t>
            </a:r>
            <a:r>
              <a:rPr kumimoji="1" lang="en-US" altLang="zh-CN"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多种模型思维</a:t>
            </a:r>
            <a:r>
              <a:rPr kumimoji="1" lang="en-US" altLang="zh-CN"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难度应对</a:t>
            </a:r>
            <a:r>
              <a:rPr kumimoji="1" lang="en-US" altLang="zh-CN"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p>
          <a:p>
            <a:pPr>
              <a:lnSpc>
                <a:spcPct val="150000"/>
              </a:lnSpc>
            </a:pP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核心方法</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「善用模型」</a:t>
            </a:r>
            <a:r>
              <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「时间策略」 </a:t>
            </a:r>
            <a:endPar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endParaRPr>
          </a:p>
          <a:p>
            <a:pPr>
              <a:lnSpc>
                <a:spcPct val="150000"/>
              </a:lnSpc>
            </a:pPr>
            <a:r>
              <a:rPr kumimoji="1" lang="zh-CN" altLang="en-US"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善于思考</a:t>
            </a:r>
            <a:r>
              <a:rPr kumimoji="1" lang="en-US" altLang="zh-CN"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合适的模型</a:t>
            </a:r>
            <a:endParaRPr kumimoji="1" lang="en-US" altLang="zh-CN"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endParaRPr>
          </a:p>
        </p:txBody>
      </p:sp>
      <p:sp>
        <p:nvSpPr>
          <p:cNvPr id="5" name="矩形 4">
            <a:extLst>
              <a:ext uri="{FF2B5EF4-FFF2-40B4-BE49-F238E27FC236}">
                <a16:creationId xmlns:a16="http://schemas.microsoft.com/office/drawing/2014/main" id="{48A01008-C526-154C-9A89-2460719D1A35}"/>
              </a:ext>
            </a:extLst>
          </p:cNvPr>
          <p:cNvSpPr/>
          <p:nvPr/>
        </p:nvSpPr>
        <p:spPr>
          <a:xfrm>
            <a:off x="417830" y="2821759"/>
            <a:ext cx="11177270" cy="3780519"/>
          </a:xfrm>
          <a:prstGeom prst="rect">
            <a:avLst/>
          </a:prstGeom>
          <a:solidFill>
            <a:srgbClr val="E8F0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3B27CFF8-40B3-3A40-9872-17E184753673}"/>
              </a:ext>
            </a:extLst>
          </p:cNvPr>
          <p:cNvSpPr/>
          <p:nvPr/>
        </p:nvSpPr>
        <p:spPr>
          <a:xfrm>
            <a:off x="693629" y="2882386"/>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A573DF6B-D1C2-994B-83B9-DB30AB109901}"/>
              </a:ext>
            </a:extLst>
          </p:cNvPr>
          <p:cNvSpPr txBox="1"/>
          <p:nvPr/>
        </p:nvSpPr>
        <p:spPr>
          <a:xfrm>
            <a:off x="969707" y="2920733"/>
            <a:ext cx="10804463" cy="3570208"/>
          </a:xfrm>
          <a:prstGeom prst="rect">
            <a:avLst/>
          </a:prstGeom>
          <a:noFill/>
        </p:spPr>
        <p:txBody>
          <a:bodyPr wrap="square" rtlCol="0">
            <a:spAutoFit/>
          </a:bodyPr>
          <a:lstStyle/>
          <a:p>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【2024</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高考广东卷物理</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多选</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10.</a:t>
            </a:r>
          </a:p>
          <a:p>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拆解：半径、线速度、弹簧伸长量等核心概念</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题目怎么按</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拆解</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用公式</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解答？</a:t>
            </a:r>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pPr marL="342900" indent="-342900">
              <a:buFont typeface="+mj-ea"/>
              <a:buAutoNum type="circleNumDbPlain"/>
            </a:pP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两滑块在光滑斜坡上加速度相同，同时由静止开始下滑，则相对速度为</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0</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，故</a:t>
            </a:r>
            <a:r>
              <a:rPr kumimoji="1" lang="fr-FR" altLang="zh-CN" sz="1400" dirty="0">
                <a:latin typeface="Times New Roman" panose="02020603050405020304" pitchFamily="18" charset="0"/>
                <a:ea typeface="KaiTi" panose="02010609060101010101" pitchFamily="49" charset="-122"/>
                <a:cs typeface="Times New Roman" panose="02020603050405020304" pitchFamily="18" charset="0"/>
              </a:rPr>
              <a:t>A</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正确</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常规模型</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p>
          <a:p>
            <a:pPr marL="342900" indent="-342900">
              <a:buFont typeface="+mj-ea"/>
              <a:buAutoNum type="circleNumDbPlain"/>
            </a:pP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两滑块滑到水平面后均做匀减速运动，由于两滑块质量相同，且发生弹性碰撞，可知碰后两滑块交换速度即碰撞后瞬间甲的速度等于碰撞前瞬间乙的速度，故</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B</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正确</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二级结论</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p>
          <a:p>
            <a:pPr marL="342900" indent="-342900">
              <a:buFont typeface="+mj-ea"/>
              <a:buAutoNum type="circleNumDbPlain"/>
            </a:pP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设斜面倾角 </a:t>
            </a:r>
            <a:r>
              <a:rPr kumimoji="1" lang="el-GR" altLang="zh-CN" sz="1400" dirty="0">
                <a:latin typeface="Times New Roman" panose="02020603050405020304" pitchFamily="18" charset="0"/>
                <a:ea typeface="KaiTi" panose="02010609060101010101" pitchFamily="49" charset="-122"/>
                <a:cs typeface="Times New Roman" panose="02020603050405020304" pitchFamily="18" charset="0"/>
              </a:rPr>
              <a:t>θ</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，乙下滑过程有                                在水平面运动一段时间</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后与甲相碰，碰后以甲碰前速度做匀减速运动</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乙运动的时间为                       </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   假设</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H</a:t>
            </a:r>
            <a:r>
              <a:rPr kumimoji="1" lang="zh-CN" altLang="en-US" sz="1400" baseline="-25000" dirty="0">
                <a:latin typeface="Times New Roman" panose="02020603050405020304" pitchFamily="18" charset="0"/>
                <a:ea typeface="KaiTi" panose="02010609060101010101" pitchFamily="49" charset="-122"/>
                <a:cs typeface="Times New Roman" panose="02020603050405020304" pitchFamily="18" charset="0"/>
              </a:rPr>
              <a:t>乙</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无限大：</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t</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必定与</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t1</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有关</a:t>
            </a:r>
          </a:p>
          <a:p>
            <a:pPr marL="342900" indent="-342900">
              <a:buFont typeface="+mj-ea"/>
              <a:buAutoNum type="circleNumDbPlain"/>
            </a:pP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由于</a:t>
            </a:r>
            <a:r>
              <a:rPr kumimoji="1" lang="fr-FR" altLang="zh-CN" sz="1400" dirty="0">
                <a:latin typeface="Times New Roman" panose="02020603050405020304" pitchFamily="18" charset="0"/>
                <a:ea typeface="KaiTi" panose="02010609060101010101" pitchFamily="49" charset="-122"/>
                <a:cs typeface="Times New Roman" panose="02020603050405020304" pitchFamily="18" charset="0"/>
              </a:rPr>
              <a:t>t1</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与</a:t>
            </a:r>
            <a:r>
              <a:rPr kumimoji="1" lang="fr-FR" altLang="zh-CN" sz="1400" dirty="0">
                <a:latin typeface="Times New Roman" panose="02020603050405020304" pitchFamily="18" charset="0"/>
                <a:ea typeface="KaiTi" panose="02010609060101010101" pitchFamily="49" charset="-122"/>
                <a:cs typeface="Times New Roman" panose="02020603050405020304" pitchFamily="18" charset="0"/>
              </a:rPr>
              <a:t>H</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乙有关，则总时间与</a:t>
            </a:r>
            <a:r>
              <a:rPr kumimoji="1" lang="fr-FR" altLang="zh-CN" sz="1400" dirty="0">
                <a:latin typeface="Times New Roman" panose="02020603050405020304" pitchFamily="18" charset="0"/>
                <a:ea typeface="KaiTi" panose="02010609060101010101" pitchFamily="49" charset="-122"/>
                <a:cs typeface="Times New Roman" panose="02020603050405020304" pitchFamily="18" charset="0"/>
              </a:rPr>
              <a:t>H</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乙有关，故</a:t>
            </a:r>
            <a:r>
              <a:rPr kumimoji="1" lang="fr-FR" altLang="zh-CN" sz="1400" dirty="0">
                <a:latin typeface="Times New Roman" panose="02020603050405020304" pitchFamily="18" charset="0"/>
                <a:ea typeface="KaiTi" panose="02010609060101010101" pitchFamily="49" charset="-122"/>
                <a:cs typeface="Times New Roman" panose="02020603050405020304" pitchFamily="18" charset="0"/>
              </a:rPr>
              <a:t>C</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错误</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极限法</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p>
          <a:p>
            <a:pPr marL="342900" indent="-342900">
              <a:buFont typeface="+mj-ea"/>
              <a:buAutoNum type="circleNumDbPlain"/>
            </a:pP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乙下滑过程有</a:t>
            </a:r>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由于甲和乙发生弹性碰撞，交换速度，则可知甲最终停止位置与不发生碰撞时乙最终停止 位置相同</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则如果不发生碰撞，乙在水平面运动到停止有                                        </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等效替代法</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p>
          <a:p>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｜｜计算选项：</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r>
              <a:rPr lang="zh-CN" altLang="en-US" sz="1200" b="1" dirty="0">
                <a:solidFill>
                  <a:srgbClr val="A41AD4"/>
                </a:solidFill>
                <a:latin typeface="Times New Roman" panose="02020603050405020304" pitchFamily="18" charset="0"/>
                <a:cs typeface="Times New Roman" panose="02020603050405020304" pitchFamily="18" charset="0"/>
              </a:rPr>
              <a:t>答案：</a:t>
            </a:r>
            <a:r>
              <a:rPr lang="en-US" altLang="zh-CN" sz="1200" b="1" dirty="0">
                <a:solidFill>
                  <a:srgbClr val="A41AD4"/>
                </a:solidFill>
                <a:latin typeface="Times New Roman" panose="02020603050405020304" pitchFamily="18" charset="0"/>
                <a:cs typeface="Times New Roman" panose="02020603050405020304" pitchFamily="18" charset="0"/>
              </a:rPr>
              <a:t>ABD</a:t>
            </a:r>
          </a:p>
          <a:p>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压轴题目</a:t>
            </a:r>
            <a:r>
              <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2</a:t>
            </a:r>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3min</a:t>
            </a:r>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内没思路</a:t>
            </a:r>
            <a:r>
              <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不死磕！</a:t>
            </a:r>
            <a:endPar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考试策略</a:t>
            </a:r>
            <a:r>
              <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选对有把握的</a:t>
            </a:r>
            <a:r>
              <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部分选项</a:t>
            </a:r>
            <a:r>
              <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即可！</a:t>
            </a:r>
            <a:endPar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p:txBody>
      </p:sp>
      <p:pic>
        <p:nvPicPr>
          <p:cNvPr id="22" name="图片 21">
            <a:extLst>
              <a:ext uri="{FF2B5EF4-FFF2-40B4-BE49-F238E27FC236}">
                <a16:creationId xmlns:a16="http://schemas.microsoft.com/office/drawing/2014/main" id="{B70F5877-6EAB-BC4B-8693-9D0AE865EDC3}"/>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a:stretch/>
        </p:blipFill>
        <p:spPr>
          <a:xfrm>
            <a:off x="4852262" y="599755"/>
            <a:ext cx="6744217" cy="2873735"/>
          </a:xfrm>
          <a:prstGeom prst="rect">
            <a:avLst/>
          </a:prstGeom>
          <a:ln>
            <a:solidFill>
              <a:srgbClr val="7030A0"/>
            </a:solidFill>
          </a:ln>
        </p:spPr>
      </p:pic>
      <p:pic>
        <p:nvPicPr>
          <p:cNvPr id="11" name="图片 10">
            <a:extLst>
              <a:ext uri="{FF2B5EF4-FFF2-40B4-BE49-F238E27FC236}">
                <a16:creationId xmlns:a16="http://schemas.microsoft.com/office/drawing/2014/main" id="{0D057203-8AB9-8E46-B58D-FA3E4F9C0F21}"/>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3679206" y="4047345"/>
            <a:ext cx="1480564" cy="537067"/>
          </a:xfrm>
          <a:prstGeom prst="rect">
            <a:avLst/>
          </a:prstGeom>
        </p:spPr>
      </p:pic>
      <p:pic>
        <p:nvPicPr>
          <p:cNvPr id="12" name="图片 11">
            <a:extLst>
              <a:ext uri="{FF2B5EF4-FFF2-40B4-BE49-F238E27FC236}">
                <a16:creationId xmlns:a16="http://schemas.microsoft.com/office/drawing/2014/main" id="{780599AD-8D09-0940-8E96-49B3B7DD970A}"/>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1485447" y="4424167"/>
            <a:ext cx="1224723" cy="338169"/>
          </a:xfrm>
          <a:prstGeom prst="rect">
            <a:avLst/>
          </a:prstGeom>
        </p:spPr>
      </p:pic>
      <p:pic>
        <p:nvPicPr>
          <p:cNvPr id="13" name="图片 12">
            <a:extLst>
              <a:ext uri="{FF2B5EF4-FFF2-40B4-BE49-F238E27FC236}">
                <a16:creationId xmlns:a16="http://schemas.microsoft.com/office/drawing/2014/main" id="{FF560CB1-5115-C043-B27C-F3577EE1FFE4}"/>
              </a:ext>
            </a:extLst>
          </p:cNvPr>
          <p:cNvPicPr>
            <a:picLocks noChangeAspect="1"/>
          </p:cNvPicPr>
          <p:nvPr/>
        </p:nvPicPr>
        <p:blipFill>
          <a:blip r:embed="rId7">
            <a:clrChange>
              <a:clrFrom>
                <a:srgbClr val="FFFFFF"/>
              </a:clrFrom>
              <a:clrTo>
                <a:srgbClr val="FFFFFF">
                  <a:alpha val="0"/>
                </a:srgbClr>
              </a:clrTo>
            </a:clrChange>
          </a:blip>
          <a:stretch>
            <a:fillRect/>
          </a:stretch>
        </p:blipFill>
        <p:spPr>
          <a:xfrm>
            <a:off x="2419363" y="4822042"/>
            <a:ext cx="1115048" cy="404826"/>
          </a:xfrm>
          <a:prstGeom prst="rect">
            <a:avLst/>
          </a:prstGeom>
        </p:spPr>
      </p:pic>
      <p:pic>
        <p:nvPicPr>
          <p:cNvPr id="14" name="图片 13">
            <a:extLst>
              <a:ext uri="{FF2B5EF4-FFF2-40B4-BE49-F238E27FC236}">
                <a16:creationId xmlns:a16="http://schemas.microsoft.com/office/drawing/2014/main" id="{C04B7DE5-1949-3041-895E-D82B624F694C}"/>
              </a:ext>
            </a:extLst>
          </p:cNvPr>
          <p:cNvPicPr>
            <a:picLocks noChangeAspect="1"/>
          </p:cNvPicPr>
          <p:nvPr/>
        </p:nvPicPr>
        <p:blipFill rotWithShape="1">
          <a:blip r:embed="rId8">
            <a:clrChange>
              <a:clrFrom>
                <a:srgbClr val="FFFFFF"/>
              </a:clrFrom>
              <a:clrTo>
                <a:srgbClr val="FFFFFF">
                  <a:alpha val="0"/>
                </a:srgbClr>
              </a:clrTo>
            </a:clrChange>
          </a:blip>
          <a:srcRect b="60140"/>
          <a:stretch/>
        </p:blipFill>
        <p:spPr>
          <a:xfrm>
            <a:off x="1764939" y="5249717"/>
            <a:ext cx="1022721" cy="404826"/>
          </a:xfrm>
          <a:prstGeom prst="rect">
            <a:avLst/>
          </a:prstGeom>
        </p:spPr>
      </p:pic>
      <p:pic>
        <p:nvPicPr>
          <p:cNvPr id="16" name="图片 15">
            <a:extLst>
              <a:ext uri="{FF2B5EF4-FFF2-40B4-BE49-F238E27FC236}">
                <a16:creationId xmlns:a16="http://schemas.microsoft.com/office/drawing/2014/main" id="{81921F19-0F3A-AB41-9EC3-DB5124E903E3}"/>
              </a:ext>
            </a:extLst>
          </p:cNvPr>
          <p:cNvPicPr>
            <a:picLocks noChangeAspect="1"/>
          </p:cNvPicPr>
          <p:nvPr/>
        </p:nvPicPr>
        <p:blipFill rotWithShape="1">
          <a:blip r:embed="rId8">
            <a:clrChange>
              <a:clrFrom>
                <a:srgbClr val="FFFFFF"/>
              </a:clrFrom>
              <a:clrTo>
                <a:srgbClr val="FFFFFF">
                  <a:alpha val="0"/>
                </a:srgbClr>
              </a:clrTo>
            </a:clrChange>
          </a:blip>
          <a:srcRect t="38783"/>
          <a:stretch/>
        </p:blipFill>
        <p:spPr>
          <a:xfrm>
            <a:off x="2552377" y="5141267"/>
            <a:ext cx="1022721" cy="621725"/>
          </a:xfrm>
          <a:prstGeom prst="rect">
            <a:avLst/>
          </a:prstGeom>
        </p:spPr>
      </p:pic>
      <p:sp>
        <p:nvSpPr>
          <p:cNvPr id="15" name="矩形 14">
            <a:extLst>
              <a:ext uri="{FF2B5EF4-FFF2-40B4-BE49-F238E27FC236}">
                <a16:creationId xmlns:a16="http://schemas.microsoft.com/office/drawing/2014/main" id="{4E810F4A-AD9E-6F4F-9C73-0B666A1D4807}"/>
              </a:ext>
            </a:extLst>
          </p:cNvPr>
          <p:cNvSpPr/>
          <p:nvPr/>
        </p:nvSpPr>
        <p:spPr>
          <a:xfrm>
            <a:off x="8261948" y="5479851"/>
            <a:ext cx="3058940" cy="923330"/>
          </a:xfrm>
          <a:prstGeom prst="rect">
            <a:avLst/>
          </a:prstGeom>
          <a:solidFill>
            <a:schemeClr val="bg1"/>
          </a:solidFill>
          <a:ln>
            <a:solidFill>
              <a:srgbClr val="7030A0"/>
            </a:solidFill>
          </a:ln>
        </p:spPr>
        <p:txBody>
          <a:bodyPr wrap="square">
            <a:spAutoFit/>
          </a:bodyPr>
          <a:lstStyle/>
          <a:p>
            <a:r>
              <a:rPr kumimoji="1" lang="zh-CN" altLang="en-US"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如何提高</a:t>
            </a:r>
            <a:r>
              <a:rPr kumimoji="1" lang="en-US" altLang="zh-CN"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积累？</a:t>
            </a:r>
            <a:endParaRPr kumimoji="1" lang="en-US" altLang="zh-CN"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平常就要记忆：</a:t>
            </a:r>
            <a:endParaRPr kumimoji="1" lang="en-US" altLang="zh-CN"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en-US" altLang="zh-CN"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总结模型</a:t>
            </a:r>
            <a:r>
              <a:rPr kumimoji="1" lang="en-US" altLang="zh-CN"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二级结论</a:t>
            </a:r>
            <a:r>
              <a:rPr kumimoji="1" lang="en-US" altLang="zh-CN"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endParaRPr lang="zh-CN" altLang="en-US" dirty="0"/>
          </a:p>
        </p:txBody>
      </p:sp>
    </p:spTree>
    <p:extLst>
      <p:ext uri="{BB962C8B-B14F-4D97-AF65-F5344CB8AC3E}">
        <p14:creationId xmlns:p14="http://schemas.microsoft.com/office/powerpoint/2010/main" val="412849088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F595439-DC2D-814E-A9B9-7FC87B21C31C}"/>
              </a:ext>
            </a:extLst>
          </p:cNvPr>
          <p:cNvSpPr txBox="1"/>
          <p:nvPr/>
        </p:nvSpPr>
        <p:spPr>
          <a:xfrm>
            <a:off x="417830" y="748030"/>
            <a:ext cx="4942702" cy="307777"/>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高考真题</a:t>
            </a:r>
          </a:p>
        </p:txBody>
      </p:sp>
      <p:sp>
        <p:nvSpPr>
          <p:cNvPr id="4" name="文本框 3">
            <a:extLst>
              <a:ext uri="{FF2B5EF4-FFF2-40B4-BE49-F238E27FC236}">
                <a16:creationId xmlns:a16="http://schemas.microsoft.com/office/drawing/2014/main" id="{394ED3DE-6190-BC48-90C9-6C82B154923E}"/>
              </a:ext>
            </a:extLst>
          </p:cNvPr>
          <p:cNvSpPr txBox="1"/>
          <p:nvPr/>
        </p:nvSpPr>
        <p:spPr>
          <a:xfrm>
            <a:off x="489045" y="1182807"/>
            <a:ext cx="9503133" cy="1142620"/>
          </a:xfrm>
          <a:prstGeom prst="rect">
            <a:avLst/>
          </a:prstGeom>
          <a:noFill/>
        </p:spPr>
        <p:txBody>
          <a:bodyPr wrap="square" rtlCol="0">
            <a:spAutoFit/>
          </a:bodyPr>
          <a:lstStyle/>
          <a:p>
            <a:pPr>
              <a:lnSpc>
                <a:spcPct val="150000"/>
              </a:lnSpc>
            </a:pPr>
            <a:r>
              <a:rPr kumimoji="1" lang="en-US" altLang="zh-CN"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3</a:t>
            </a:r>
            <a:r>
              <a:rPr kumimoji="1" lang="zh-CN" altLang="en-US"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）实验题</a:t>
            </a:r>
            <a:r>
              <a:rPr kumimoji="1" lang="en-US" altLang="zh-CN"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多种模型思维</a:t>
            </a:r>
            <a:r>
              <a:rPr kumimoji="1" lang="en-US" altLang="zh-CN"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难度应对</a:t>
            </a:r>
            <a:r>
              <a:rPr kumimoji="1" lang="en-US" altLang="zh-CN"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p>
          <a:p>
            <a:pPr>
              <a:lnSpc>
                <a:spcPct val="150000"/>
              </a:lnSpc>
            </a:pP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核心方法</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「善用模型」</a:t>
            </a:r>
            <a:r>
              <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「时间策略」 </a:t>
            </a:r>
            <a:endPar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endParaRPr>
          </a:p>
          <a:p>
            <a:pPr>
              <a:lnSpc>
                <a:spcPct val="150000"/>
              </a:lnSpc>
            </a:pPr>
            <a:r>
              <a:rPr kumimoji="1" lang="zh-CN" altLang="en-US"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善于思考</a:t>
            </a:r>
            <a:r>
              <a:rPr kumimoji="1" lang="en-US" altLang="zh-CN"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合适的模型</a:t>
            </a:r>
            <a:endParaRPr kumimoji="1" lang="en-US" altLang="zh-CN"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endParaRPr>
          </a:p>
        </p:txBody>
      </p:sp>
      <p:sp>
        <p:nvSpPr>
          <p:cNvPr id="5" name="矩形 4">
            <a:extLst>
              <a:ext uri="{FF2B5EF4-FFF2-40B4-BE49-F238E27FC236}">
                <a16:creationId xmlns:a16="http://schemas.microsoft.com/office/drawing/2014/main" id="{48A01008-C526-154C-9A89-2460719D1A35}"/>
              </a:ext>
            </a:extLst>
          </p:cNvPr>
          <p:cNvSpPr/>
          <p:nvPr/>
        </p:nvSpPr>
        <p:spPr>
          <a:xfrm>
            <a:off x="417830" y="2821759"/>
            <a:ext cx="11177270" cy="3780519"/>
          </a:xfrm>
          <a:prstGeom prst="rect">
            <a:avLst/>
          </a:prstGeom>
          <a:solidFill>
            <a:srgbClr val="E8F0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3B27CFF8-40B3-3A40-9872-17E184753673}"/>
              </a:ext>
            </a:extLst>
          </p:cNvPr>
          <p:cNvSpPr/>
          <p:nvPr/>
        </p:nvSpPr>
        <p:spPr>
          <a:xfrm>
            <a:off x="693629" y="2882386"/>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A573DF6B-D1C2-994B-83B9-DB30AB109901}"/>
              </a:ext>
            </a:extLst>
          </p:cNvPr>
          <p:cNvSpPr txBox="1"/>
          <p:nvPr/>
        </p:nvSpPr>
        <p:spPr>
          <a:xfrm>
            <a:off x="790637" y="3141894"/>
            <a:ext cx="10804463" cy="3293209"/>
          </a:xfrm>
          <a:prstGeom prst="rect">
            <a:avLst/>
          </a:prstGeom>
          <a:noFill/>
        </p:spPr>
        <p:txBody>
          <a:bodyPr wrap="square" rtlCol="0">
            <a:spAutoFit/>
          </a:bodyPr>
          <a:lstStyle/>
          <a:p>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【2024</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高考广东卷物理</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实验</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11.</a:t>
            </a:r>
          </a:p>
          <a:p>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考察：加速度、长度测量、干涉等</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必做实验步骤</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实验题解答？</a:t>
            </a:r>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pPr marL="342900" indent="-342900">
              <a:buFont typeface="+mj-ea"/>
              <a:buAutoNum type="circleNumDbPlain"/>
            </a:pP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木板右端拾高的目的是：平衡摩擦力</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                                                                     </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记忆背诵</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p>
          <a:p>
            <a:pPr marL="342900" indent="-342900">
              <a:buFont typeface="+mj-ea"/>
              <a:buAutoNum type="circleNumDbPlain"/>
            </a:pP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小车的加速度大小                                                                                                     </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模版化计算</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p>
          <a:p>
            <a:pPr marL="342900" indent="-342900">
              <a:buFont typeface="+mj-ea"/>
              <a:buAutoNum type="circleNumDbPlain"/>
            </a:pP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pPr marL="342900" indent="-342900">
              <a:buFont typeface="+mj-ea"/>
              <a:buAutoNum type="circleNumDbPlain"/>
            </a:pP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游标卡尺读数为                                                      </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                                                   </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规范测量</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p>
          <a:p>
            <a:pPr marL="342900" indent="-342900">
              <a:buFont typeface="+mj-ea"/>
              <a:buAutoNum type="circleNumDbPlain"/>
            </a:pP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用双缝干涉实验测量光的波长”实验调节，在光具座上安装光源、遮光筒和光屏，遮光筒不可调节，打开并调节光源，使光束沿遮光筒的轴线把光屏照亮，取下光屏，装上、双缝和测量头，调节测量头，并缓慢调节单缝的角度直到目镜中观察到</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sym typeface="Wingdings" pitchFamily="2" charset="2"/>
              </a:rPr>
              <a:t></a:t>
            </a:r>
          </a:p>
          <a:p>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干涉条纹。</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                                                                                                                         ——【</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规范作答</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p>
          <a:p>
            <a:endParaRPr lang="en-US" altLang="zh-CN" sz="1200" b="1" dirty="0">
              <a:solidFill>
                <a:srgbClr val="A41AD4"/>
              </a:solidFill>
              <a:latin typeface="KaiTi" panose="02010609060101010101" pitchFamily="49" charset="-122"/>
              <a:ea typeface="KaiTi" panose="02010609060101010101" pitchFamily="49" charset="-122"/>
              <a:cs typeface="Times New Roman" panose="02020603050405020304" pitchFamily="18" charset="0"/>
            </a:endParaRPr>
          </a:p>
          <a:p>
            <a:endParaRPr lang="en-US" altLang="zh-CN" sz="1200" b="1" dirty="0">
              <a:solidFill>
                <a:srgbClr val="A41AD4"/>
              </a:solidFill>
              <a:latin typeface="KaiTi" panose="02010609060101010101" pitchFamily="49" charset="-122"/>
              <a:ea typeface="KaiTi" panose="02010609060101010101" pitchFamily="49" charset="-122"/>
              <a:cs typeface="Times New Roman" panose="02020603050405020304" pitchFamily="18" charset="0"/>
            </a:endParaRPr>
          </a:p>
          <a:p>
            <a:r>
              <a:rPr lang="zh-CN" altLang="en-US" sz="12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答案</a:t>
            </a:r>
            <a:r>
              <a:rPr lang="zh-CN" altLang="en-US" sz="1200" b="1" dirty="0">
                <a:solidFill>
                  <a:srgbClr val="A41AD4"/>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 （</a:t>
            </a:r>
            <a:r>
              <a:rPr lang="en-US" altLang="zh-CN" sz="1200" b="1" dirty="0">
                <a:solidFill>
                  <a:srgbClr val="A41AD4"/>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1</a:t>
            </a:r>
            <a:r>
              <a:rPr lang="zh-CN" altLang="en-US" sz="1200" b="1" dirty="0">
                <a:solidFill>
                  <a:srgbClr val="A41AD4"/>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a:t>
            </a:r>
            <a:r>
              <a:rPr lang="zh-CN" altLang="en-US" sz="12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① 平衡摩擦力  ② </a:t>
            </a:r>
            <a:r>
              <a:rPr lang="en-US" altLang="zh-CN" sz="12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2.86</a:t>
            </a:r>
            <a:r>
              <a:rPr lang="zh-CN" altLang="en-US" sz="12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    （</a:t>
            </a:r>
            <a:r>
              <a:rPr lang="en-US" altLang="zh-CN" sz="12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2</a:t>
            </a:r>
            <a:r>
              <a:rPr lang="zh-CN" altLang="en-US" sz="12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lang="en-US" altLang="zh-CN" sz="12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4.108</a:t>
            </a:r>
            <a:r>
              <a:rPr lang="zh-CN" altLang="en-US" sz="12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    （</a:t>
            </a:r>
            <a:r>
              <a:rPr lang="en-US" altLang="zh-CN" sz="12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3</a:t>
            </a:r>
            <a:r>
              <a:rPr lang="zh-CN" altLang="en-US" sz="12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 ①光源   ② 干涉条纹</a:t>
            </a:r>
            <a:endParaRPr lang="en-US" altLang="zh-CN" sz="1200" b="1" dirty="0">
              <a:solidFill>
                <a:srgbClr val="A41AD4"/>
              </a:solidFill>
              <a:latin typeface="KaiTi" panose="02010609060101010101" pitchFamily="49" charset="-122"/>
              <a:ea typeface="KaiTi" panose="02010609060101010101" pitchFamily="49" charset="-122"/>
              <a:cs typeface="Times New Roman" panose="02020603050405020304" pitchFamily="18" charset="0"/>
            </a:endParaRPr>
          </a:p>
          <a:p>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实验</a:t>
            </a:r>
            <a:r>
              <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：熟练记忆</a:t>
            </a:r>
            <a:r>
              <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步骤、流程</a:t>
            </a:r>
            <a:r>
              <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读数</a:t>
            </a:r>
            <a:r>
              <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操作描述</a:t>
            </a:r>
            <a:r>
              <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准确！</a:t>
            </a:r>
            <a:endPar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计算</a:t>
            </a:r>
            <a:r>
              <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仔细看题「细节」</a:t>
            </a:r>
            <a:r>
              <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「要求」</a:t>
            </a:r>
            <a:endPar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p:txBody>
      </p:sp>
      <p:pic>
        <p:nvPicPr>
          <p:cNvPr id="22" name="图片 21">
            <a:extLst>
              <a:ext uri="{FF2B5EF4-FFF2-40B4-BE49-F238E27FC236}">
                <a16:creationId xmlns:a16="http://schemas.microsoft.com/office/drawing/2014/main" id="{B70F5877-6EAB-BC4B-8693-9D0AE865EDC3}"/>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a:stretch/>
        </p:blipFill>
        <p:spPr>
          <a:xfrm>
            <a:off x="4969905" y="95749"/>
            <a:ext cx="5862040" cy="3475102"/>
          </a:xfrm>
          <a:prstGeom prst="rect">
            <a:avLst/>
          </a:prstGeom>
          <a:ln>
            <a:solidFill>
              <a:srgbClr val="7030A0"/>
            </a:solidFill>
          </a:ln>
        </p:spPr>
      </p:pic>
      <p:sp>
        <p:nvSpPr>
          <p:cNvPr id="15" name="矩形 14">
            <a:extLst>
              <a:ext uri="{FF2B5EF4-FFF2-40B4-BE49-F238E27FC236}">
                <a16:creationId xmlns:a16="http://schemas.microsoft.com/office/drawing/2014/main" id="{4E810F4A-AD9E-6F4F-9C73-0B666A1D4807}"/>
              </a:ext>
            </a:extLst>
          </p:cNvPr>
          <p:cNvSpPr/>
          <p:nvPr/>
        </p:nvSpPr>
        <p:spPr>
          <a:xfrm>
            <a:off x="7175715" y="5479851"/>
            <a:ext cx="4145173" cy="1200329"/>
          </a:xfrm>
          <a:prstGeom prst="rect">
            <a:avLst/>
          </a:prstGeom>
          <a:solidFill>
            <a:schemeClr val="bg1"/>
          </a:solidFill>
          <a:ln>
            <a:solidFill>
              <a:srgbClr val="7030A0"/>
            </a:solidFill>
          </a:ln>
        </p:spPr>
        <p:txBody>
          <a:bodyPr wrap="square">
            <a:spAutoFit/>
          </a:bodyPr>
          <a:lstStyle/>
          <a:p>
            <a:r>
              <a:rPr kumimoji="1" lang="zh-CN" altLang="en-US"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如何积累？</a:t>
            </a:r>
            <a:endParaRPr kumimoji="1" lang="en-US" altLang="zh-CN"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平常限时训练、反复记忆：</a:t>
            </a:r>
            <a:endParaRPr kumimoji="1" lang="en-US" altLang="zh-CN"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en-US" altLang="zh-CN"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力学实验</a:t>
            </a:r>
            <a:r>
              <a:rPr kumimoji="1" lang="en-US" altLang="zh-CN"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电学实验</a:t>
            </a:r>
            <a:r>
              <a:rPr kumimoji="1" lang="en-US" altLang="zh-CN"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p>
          <a:p>
            <a:r>
              <a:rPr kumimoji="1" lang="zh-CN" altLang="en-US"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（波光热原）知识点综合考察！</a:t>
            </a:r>
            <a:endParaRPr lang="zh-CN" altLang="en-US" dirty="0"/>
          </a:p>
        </p:txBody>
      </p:sp>
      <p:pic>
        <p:nvPicPr>
          <p:cNvPr id="2" name="图片 1">
            <a:extLst>
              <a:ext uri="{FF2B5EF4-FFF2-40B4-BE49-F238E27FC236}">
                <a16:creationId xmlns:a16="http://schemas.microsoft.com/office/drawing/2014/main" id="{3A48694C-428F-3E44-B6AD-D0F5DA0A3339}"/>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2638452" y="4014755"/>
            <a:ext cx="4301642" cy="412657"/>
          </a:xfrm>
          <a:prstGeom prst="rect">
            <a:avLst/>
          </a:prstGeom>
        </p:spPr>
      </p:pic>
      <p:pic>
        <p:nvPicPr>
          <p:cNvPr id="8" name="图片 7">
            <a:extLst>
              <a:ext uri="{FF2B5EF4-FFF2-40B4-BE49-F238E27FC236}">
                <a16:creationId xmlns:a16="http://schemas.microsoft.com/office/drawing/2014/main" id="{5878F7B4-FC42-1647-B26E-7E4DE2F92252}"/>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2638452" y="4391976"/>
            <a:ext cx="2045182" cy="293333"/>
          </a:xfrm>
          <a:prstGeom prst="rect">
            <a:avLst/>
          </a:prstGeom>
        </p:spPr>
      </p:pic>
    </p:spTree>
    <p:extLst>
      <p:ext uri="{BB962C8B-B14F-4D97-AF65-F5344CB8AC3E}">
        <p14:creationId xmlns:p14="http://schemas.microsoft.com/office/powerpoint/2010/main" val="344587026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F595439-DC2D-814E-A9B9-7FC87B21C31C}"/>
              </a:ext>
            </a:extLst>
          </p:cNvPr>
          <p:cNvSpPr txBox="1"/>
          <p:nvPr/>
        </p:nvSpPr>
        <p:spPr>
          <a:xfrm>
            <a:off x="417830" y="748030"/>
            <a:ext cx="4942702" cy="307777"/>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高考真题</a:t>
            </a:r>
          </a:p>
        </p:txBody>
      </p:sp>
      <p:sp>
        <p:nvSpPr>
          <p:cNvPr id="4" name="文本框 3">
            <a:extLst>
              <a:ext uri="{FF2B5EF4-FFF2-40B4-BE49-F238E27FC236}">
                <a16:creationId xmlns:a16="http://schemas.microsoft.com/office/drawing/2014/main" id="{394ED3DE-6190-BC48-90C9-6C82B154923E}"/>
              </a:ext>
            </a:extLst>
          </p:cNvPr>
          <p:cNvSpPr txBox="1"/>
          <p:nvPr/>
        </p:nvSpPr>
        <p:spPr>
          <a:xfrm>
            <a:off x="489045" y="1182807"/>
            <a:ext cx="9503133" cy="1142620"/>
          </a:xfrm>
          <a:prstGeom prst="rect">
            <a:avLst/>
          </a:prstGeom>
          <a:noFill/>
        </p:spPr>
        <p:txBody>
          <a:bodyPr wrap="square" rtlCol="0">
            <a:spAutoFit/>
          </a:bodyPr>
          <a:lstStyle/>
          <a:p>
            <a:pPr>
              <a:lnSpc>
                <a:spcPct val="150000"/>
              </a:lnSpc>
            </a:pPr>
            <a:r>
              <a:rPr kumimoji="1" lang="en-US" altLang="zh-CN"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4</a:t>
            </a:r>
            <a:r>
              <a:rPr kumimoji="1" lang="zh-CN" altLang="en-US"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）计算题</a:t>
            </a:r>
            <a:r>
              <a:rPr kumimoji="1" lang="en-US" altLang="zh-CN"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模型思维</a:t>
            </a:r>
            <a:r>
              <a:rPr kumimoji="1" lang="en-US" altLang="zh-CN"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图像化</a:t>
            </a:r>
            <a:r>
              <a:rPr kumimoji="1" lang="en-US" altLang="zh-CN"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p>
          <a:p>
            <a:pPr>
              <a:lnSpc>
                <a:spcPct val="150000"/>
              </a:lnSpc>
            </a:pP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核心方法：</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「受力」</a:t>
            </a:r>
            <a:r>
              <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「运动」</a:t>
            </a:r>
            <a:r>
              <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「画图」 </a:t>
            </a:r>
            <a:endPar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endParaRPr>
          </a:p>
          <a:p>
            <a:pPr>
              <a:lnSpc>
                <a:spcPct val="150000"/>
              </a:lnSpc>
            </a:pPr>
            <a:r>
              <a:rPr kumimoji="1" lang="zh-CN" altLang="en-US"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善于数形结合</a:t>
            </a:r>
            <a:r>
              <a:rPr kumimoji="1" lang="en-US" altLang="zh-CN"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用图表示动态过程！</a:t>
            </a:r>
            <a:endParaRPr kumimoji="1" lang="en-US" altLang="zh-CN"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endParaRPr>
          </a:p>
        </p:txBody>
      </p:sp>
      <p:sp>
        <p:nvSpPr>
          <p:cNvPr id="5" name="矩形 4">
            <a:extLst>
              <a:ext uri="{FF2B5EF4-FFF2-40B4-BE49-F238E27FC236}">
                <a16:creationId xmlns:a16="http://schemas.microsoft.com/office/drawing/2014/main" id="{48A01008-C526-154C-9A89-2460719D1A35}"/>
              </a:ext>
            </a:extLst>
          </p:cNvPr>
          <p:cNvSpPr/>
          <p:nvPr/>
        </p:nvSpPr>
        <p:spPr>
          <a:xfrm>
            <a:off x="417830" y="2821759"/>
            <a:ext cx="11177270" cy="3780519"/>
          </a:xfrm>
          <a:prstGeom prst="rect">
            <a:avLst/>
          </a:prstGeom>
          <a:solidFill>
            <a:srgbClr val="E8F0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3B27CFF8-40B3-3A40-9872-17E184753673}"/>
              </a:ext>
            </a:extLst>
          </p:cNvPr>
          <p:cNvSpPr/>
          <p:nvPr/>
        </p:nvSpPr>
        <p:spPr>
          <a:xfrm>
            <a:off x="693629" y="2882386"/>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A573DF6B-D1C2-994B-83B9-DB30AB109901}"/>
              </a:ext>
            </a:extLst>
          </p:cNvPr>
          <p:cNvSpPr txBox="1"/>
          <p:nvPr/>
        </p:nvSpPr>
        <p:spPr>
          <a:xfrm>
            <a:off x="790637" y="3141894"/>
            <a:ext cx="10804463" cy="2646878"/>
          </a:xfrm>
          <a:prstGeom prst="rect">
            <a:avLst/>
          </a:prstGeom>
          <a:noFill/>
        </p:spPr>
        <p:txBody>
          <a:bodyPr wrap="square" rtlCol="0">
            <a:spAutoFit/>
          </a:bodyPr>
          <a:lstStyle/>
          <a:p>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【2024</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高考广东卷物理</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实验</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11.</a:t>
            </a:r>
          </a:p>
          <a:p>
            <a:endParaRPr lang="en-US" altLang="zh-CN" sz="1200" b="1" dirty="0">
              <a:solidFill>
                <a:srgbClr val="A41AD4"/>
              </a:solidFill>
              <a:latin typeface="KaiTi" panose="02010609060101010101" pitchFamily="49" charset="-122"/>
              <a:ea typeface="KaiTi" panose="02010609060101010101" pitchFamily="49" charset="-122"/>
              <a:cs typeface="Times New Roman" panose="02020603050405020304" pitchFamily="18" charset="0"/>
            </a:endParaRPr>
          </a:p>
          <a:p>
            <a:endParaRPr lang="en-US" altLang="zh-CN" sz="1200" b="1" dirty="0">
              <a:solidFill>
                <a:srgbClr val="A41AD4"/>
              </a:solidFill>
              <a:latin typeface="KaiTi" panose="02010609060101010101" pitchFamily="49" charset="-122"/>
              <a:ea typeface="KaiTi" panose="02010609060101010101" pitchFamily="49" charset="-122"/>
              <a:cs typeface="Times New Roman" panose="02020603050405020304" pitchFamily="18" charset="0"/>
            </a:endParaRPr>
          </a:p>
          <a:p>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迅速完成（</a:t>
            </a:r>
            <a:r>
              <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1</a:t>
            </a:r>
            <a:r>
              <a:rPr kumimoji="1" lang="zh-CN" altLang="en-US"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）小题</a:t>
            </a:r>
            <a:r>
              <a:rPr kumimoji="1" lang="en-US" altLang="zh-CN" sz="16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p>
          <a:p>
            <a:r>
              <a:rPr kumimoji="1" lang="en-US" altLang="zh-CN" sz="16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考察：左手定则</a:t>
            </a:r>
            <a:r>
              <a:rPr kumimoji="1" lang="en-US" altLang="zh-CN" sz="16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endParaRPr kumimoji="1" lang="en-US" altLang="zh-CN" sz="1600" dirty="0">
              <a:latin typeface="Times New Roman" panose="02020603050405020304" pitchFamily="18" charset="0"/>
              <a:ea typeface="KaiTi" panose="02010609060101010101" pitchFamily="49" charset="-122"/>
              <a:cs typeface="Times New Roman" panose="02020603050405020304" pitchFamily="18" charset="0"/>
            </a:endParaRPr>
          </a:p>
          <a:p>
            <a:pPr marL="342900" indent="-342900">
              <a:buAutoNum type="arabicParenBoth"/>
            </a:pPr>
            <a:r>
              <a:rPr kumimoji="1" lang="zh-CN" altLang="en-US" sz="1600" dirty="0">
                <a:latin typeface="Times New Roman" panose="02020603050405020304" pitchFamily="18" charset="0"/>
                <a:ea typeface="KaiTi" panose="02010609060101010101" pitchFamily="49" charset="-122"/>
                <a:cs typeface="Times New Roman" panose="02020603050405020304" pitchFamily="18" charset="0"/>
              </a:rPr>
              <a:t>根据带电粒子在右侧磁场中的</a:t>
            </a:r>
            <a:endParaRPr kumimoji="1" lang="en-US" altLang="zh-CN" sz="1600" dirty="0">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600" dirty="0">
                <a:latin typeface="Times New Roman" panose="02020603050405020304" pitchFamily="18" charset="0"/>
                <a:ea typeface="KaiTi" panose="02010609060101010101" pitchFamily="49" charset="-122"/>
                <a:cs typeface="Times New Roman" panose="02020603050405020304" pitchFamily="18" charset="0"/>
              </a:rPr>
              <a:t>运动轨迹结合左手定则可知，</a:t>
            </a:r>
            <a:endParaRPr kumimoji="1" lang="en-US" altLang="zh-CN" sz="1600" dirty="0">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600" dirty="0">
                <a:latin typeface="Times New Roman" panose="02020603050405020304" pitchFamily="18" charset="0"/>
                <a:ea typeface="KaiTi" panose="02010609060101010101" pitchFamily="49" charset="-122"/>
                <a:cs typeface="Times New Roman" panose="02020603050405020304" pitchFamily="18" charset="0"/>
              </a:rPr>
              <a:t>粒子带正电</a:t>
            </a:r>
            <a:r>
              <a:rPr kumimoji="1" lang="en-US" altLang="zh-CN" sz="1600" dirty="0">
                <a:latin typeface="Times New Roman" panose="02020603050405020304" pitchFamily="18" charset="0"/>
                <a:ea typeface="KaiTi" panose="02010609060101010101" pitchFamily="49" charset="-122"/>
                <a:cs typeface="Times New Roman" panose="02020603050405020304" pitchFamily="18" charset="0"/>
              </a:rPr>
              <a:t>;</a:t>
            </a:r>
          </a:p>
          <a:p>
            <a:r>
              <a:rPr kumimoji="1" lang="zh-CN" altLang="en-US" sz="1600" dirty="0">
                <a:latin typeface="Times New Roman" panose="02020603050405020304" pitchFamily="18" charset="0"/>
                <a:ea typeface="KaiTi" panose="02010609060101010101" pitchFamily="49" charset="-122"/>
                <a:cs typeface="Times New Roman" panose="02020603050405020304" pitchFamily="18" charset="0"/>
              </a:rPr>
              <a:t>周期</a:t>
            </a:r>
            <a:endParaRPr kumimoji="1" lang="en-US" altLang="zh-CN" sz="1600" dirty="0">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600" dirty="0">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600" dirty="0">
                <a:latin typeface="Times New Roman" panose="02020603050405020304" pitchFamily="18" charset="0"/>
                <a:ea typeface="KaiTi" panose="02010609060101010101" pitchFamily="49" charset="-122"/>
                <a:cs typeface="Times New Roman" panose="02020603050405020304" pitchFamily="18" charset="0"/>
              </a:rPr>
              <a:t>联立解得：</a:t>
            </a:r>
            <a:endParaRPr kumimoji="1" lang="en-US" altLang="zh-CN" sz="1600" dirty="0">
              <a:latin typeface="Times New Roman" panose="02020603050405020304" pitchFamily="18" charset="0"/>
              <a:ea typeface="KaiTi" panose="02010609060101010101" pitchFamily="49" charset="-122"/>
              <a:cs typeface="Times New Roman" panose="02020603050405020304" pitchFamily="18" charset="0"/>
            </a:endParaRPr>
          </a:p>
        </p:txBody>
      </p:sp>
      <p:pic>
        <p:nvPicPr>
          <p:cNvPr id="9" name="图片 8">
            <a:extLst>
              <a:ext uri="{FF2B5EF4-FFF2-40B4-BE49-F238E27FC236}">
                <a16:creationId xmlns:a16="http://schemas.microsoft.com/office/drawing/2014/main" id="{7FAF2279-79C5-2A47-835D-F0E0C53F6F71}"/>
              </a:ext>
            </a:extLst>
          </p:cNvPr>
          <p:cNvPicPr>
            <a:picLocks noChangeAspect="1"/>
          </p:cNvPicPr>
          <p:nvPr/>
        </p:nvPicPr>
        <p:blipFill>
          <a:blip r:embed="rId3"/>
          <a:stretch>
            <a:fillRect/>
          </a:stretch>
        </p:blipFill>
        <p:spPr>
          <a:xfrm>
            <a:off x="9634557" y="3213937"/>
            <a:ext cx="2068397" cy="2310444"/>
          </a:xfrm>
          <a:prstGeom prst="rect">
            <a:avLst/>
          </a:prstGeom>
          <a:ln>
            <a:solidFill>
              <a:srgbClr val="7030A0"/>
            </a:solidFill>
          </a:ln>
        </p:spPr>
      </p:pic>
      <p:pic>
        <p:nvPicPr>
          <p:cNvPr id="12" name="图片 11">
            <a:extLst>
              <a:ext uri="{FF2B5EF4-FFF2-40B4-BE49-F238E27FC236}">
                <a16:creationId xmlns:a16="http://schemas.microsoft.com/office/drawing/2014/main" id="{6BCB07D5-6B7B-ED4C-92B2-16151902D5A3}"/>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762575" y="4918115"/>
            <a:ext cx="969500" cy="1637669"/>
          </a:xfrm>
          <a:prstGeom prst="rect">
            <a:avLst/>
          </a:prstGeom>
        </p:spPr>
      </p:pic>
      <p:sp>
        <p:nvSpPr>
          <p:cNvPr id="16" name="矩形 15">
            <a:extLst>
              <a:ext uri="{FF2B5EF4-FFF2-40B4-BE49-F238E27FC236}">
                <a16:creationId xmlns:a16="http://schemas.microsoft.com/office/drawing/2014/main" id="{BA15AF96-AF1C-5243-984E-45FCA624746C}"/>
              </a:ext>
            </a:extLst>
          </p:cNvPr>
          <p:cNvSpPr/>
          <p:nvPr/>
        </p:nvSpPr>
        <p:spPr>
          <a:xfrm>
            <a:off x="5360532" y="5795224"/>
            <a:ext cx="6413638" cy="646331"/>
          </a:xfrm>
          <a:prstGeom prst="rect">
            <a:avLst/>
          </a:prstGeom>
          <a:solidFill>
            <a:schemeClr val="bg1"/>
          </a:solidFill>
          <a:ln>
            <a:solidFill>
              <a:srgbClr val="7030A0"/>
            </a:solidFill>
          </a:ln>
        </p:spPr>
        <p:txBody>
          <a:bodyPr wrap="square">
            <a:spAutoFit/>
          </a:bodyPr>
          <a:lstStyle/>
          <a:p>
            <a:r>
              <a:rPr kumimoji="1" lang="zh-CN" altLang="en-US"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做题策略？</a:t>
            </a:r>
            <a:endParaRPr kumimoji="1" lang="en-US" altLang="zh-CN"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第一小问一定要</a:t>
            </a:r>
            <a:r>
              <a:rPr kumimoji="1" lang="en-US" altLang="zh-CN"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留时间</a:t>
            </a:r>
            <a:r>
              <a:rPr kumimoji="1" lang="en-US" altLang="zh-CN"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迅速做完</a:t>
            </a:r>
            <a:r>
              <a:rPr kumimoji="1" lang="en-US" altLang="zh-CN"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endParaRPr lang="zh-CN" altLang="en-US" dirty="0"/>
          </a:p>
        </p:txBody>
      </p:sp>
      <p:pic>
        <p:nvPicPr>
          <p:cNvPr id="13" name="图片 12">
            <a:extLst>
              <a:ext uri="{FF2B5EF4-FFF2-40B4-BE49-F238E27FC236}">
                <a16:creationId xmlns:a16="http://schemas.microsoft.com/office/drawing/2014/main" id="{7B65B43D-8B00-F74D-A478-07DF9B9B4F08}"/>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5360532" y="881713"/>
            <a:ext cx="6342422" cy="2114140"/>
          </a:xfrm>
          <a:prstGeom prst="rect">
            <a:avLst/>
          </a:prstGeom>
          <a:ln>
            <a:solidFill>
              <a:srgbClr val="7030A0"/>
            </a:solidFill>
          </a:ln>
        </p:spPr>
      </p:pic>
    </p:spTree>
    <p:extLst>
      <p:ext uri="{BB962C8B-B14F-4D97-AF65-F5344CB8AC3E}">
        <p14:creationId xmlns:p14="http://schemas.microsoft.com/office/powerpoint/2010/main" val="161436243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F595439-DC2D-814E-A9B9-7FC87B21C31C}"/>
              </a:ext>
            </a:extLst>
          </p:cNvPr>
          <p:cNvSpPr txBox="1"/>
          <p:nvPr/>
        </p:nvSpPr>
        <p:spPr>
          <a:xfrm>
            <a:off x="417830" y="748030"/>
            <a:ext cx="4942702" cy="307777"/>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高考真题</a:t>
            </a:r>
          </a:p>
        </p:txBody>
      </p:sp>
      <p:sp>
        <p:nvSpPr>
          <p:cNvPr id="4" name="文本框 3">
            <a:extLst>
              <a:ext uri="{FF2B5EF4-FFF2-40B4-BE49-F238E27FC236}">
                <a16:creationId xmlns:a16="http://schemas.microsoft.com/office/drawing/2014/main" id="{394ED3DE-6190-BC48-90C9-6C82B154923E}"/>
              </a:ext>
            </a:extLst>
          </p:cNvPr>
          <p:cNvSpPr txBox="1"/>
          <p:nvPr/>
        </p:nvSpPr>
        <p:spPr>
          <a:xfrm>
            <a:off x="489045" y="1182807"/>
            <a:ext cx="9503133" cy="1142620"/>
          </a:xfrm>
          <a:prstGeom prst="rect">
            <a:avLst/>
          </a:prstGeom>
          <a:noFill/>
        </p:spPr>
        <p:txBody>
          <a:bodyPr wrap="square" rtlCol="0">
            <a:spAutoFit/>
          </a:bodyPr>
          <a:lstStyle/>
          <a:p>
            <a:pPr>
              <a:lnSpc>
                <a:spcPct val="150000"/>
              </a:lnSpc>
            </a:pPr>
            <a:r>
              <a:rPr kumimoji="1" lang="en-US" altLang="zh-CN"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4</a:t>
            </a:r>
            <a:r>
              <a:rPr kumimoji="1" lang="zh-CN" altLang="en-US"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）计算题</a:t>
            </a:r>
            <a:r>
              <a:rPr kumimoji="1" lang="en-US" altLang="zh-CN"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模型思维</a:t>
            </a:r>
            <a:r>
              <a:rPr kumimoji="1" lang="en-US" altLang="zh-CN"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图像化</a:t>
            </a:r>
            <a:r>
              <a:rPr kumimoji="1" lang="en-US" altLang="zh-CN"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p>
          <a:p>
            <a:pPr>
              <a:lnSpc>
                <a:spcPct val="150000"/>
              </a:lnSpc>
            </a:pP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核心方法：</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「受力」</a:t>
            </a:r>
            <a:r>
              <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「运动」</a:t>
            </a:r>
            <a:r>
              <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「画图」 </a:t>
            </a:r>
            <a:endPar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endParaRPr>
          </a:p>
          <a:p>
            <a:pPr>
              <a:lnSpc>
                <a:spcPct val="150000"/>
              </a:lnSpc>
            </a:pPr>
            <a:r>
              <a:rPr kumimoji="1" lang="zh-CN" altLang="en-US"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善于数形结合</a:t>
            </a:r>
            <a:r>
              <a:rPr kumimoji="1" lang="en-US" altLang="zh-CN"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用图表示动态过程！</a:t>
            </a:r>
            <a:endParaRPr kumimoji="1" lang="en-US" altLang="zh-CN"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endParaRPr>
          </a:p>
        </p:txBody>
      </p:sp>
      <p:sp>
        <p:nvSpPr>
          <p:cNvPr id="5" name="矩形 4">
            <a:extLst>
              <a:ext uri="{FF2B5EF4-FFF2-40B4-BE49-F238E27FC236}">
                <a16:creationId xmlns:a16="http://schemas.microsoft.com/office/drawing/2014/main" id="{48A01008-C526-154C-9A89-2460719D1A35}"/>
              </a:ext>
            </a:extLst>
          </p:cNvPr>
          <p:cNvSpPr/>
          <p:nvPr/>
        </p:nvSpPr>
        <p:spPr>
          <a:xfrm>
            <a:off x="417830" y="2821759"/>
            <a:ext cx="11177270" cy="3780519"/>
          </a:xfrm>
          <a:prstGeom prst="rect">
            <a:avLst/>
          </a:prstGeom>
          <a:solidFill>
            <a:srgbClr val="E8F0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6" name="矩形 5">
            <a:extLst>
              <a:ext uri="{FF2B5EF4-FFF2-40B4-BE49-F238E27FC236}">
                <a16:creationId xmlns:a16="http://schemas.microsoft.com/office/drawing/2014/main" id="{3B27CFF8-40B3-3A40-9872-17E184753673}"/>
              </a:ext>
            </a:extLst>
          </p:cNvPr>
          <p:cNvSpPr/>
          <p:nvPr/>
        </p:nvSpPr>
        <p:spPr>
          <a:xfrm>
            <a:off x="389151" y="2851519"/>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A573DF6B-D1C2-994B-83B9-DB30AB109901}"/>
              </a:ext>
            </a:extLst>
          </p:cNvPr>
          <p:cNvSpPr txBox="1"/>
          <p:nvPr/>
        </p:nvSpPr>
        <p:spPr>
          <a:xfrm>
            <a:off x="596900" y="2890033"/>
            <a:ext cx="10804463" cy="800219"/>
          </a:xfrm>
          <a:prstGeom prst="rect">
            <a:avLst/>
          </a:prstGeom>
          <a:noFill/>
        </p:spPr>
        <p:txBody>
          <a:bodyPr wrap="square" rtlCol="0">
            <a:spAutoFit/>
          </a:bodyPr>
          <a:lstStyle/>
          <a:p>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【2024</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高考广东卷物理</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实验</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11.</a:t>
            </a:r>
            <a:endParaRPr lang="en-US" altLang="zh-CN" sz="1200" b="1" dirty="0">
              <a:solidFill>
                <a:srgbClr val="A41AD4"/>
              </a:solidFill>
              <a:latin typeface="KaiTi" panose="02010609060101010101" pitchFamily="49" charset="-122"/>
              <a:ea typeface="KaiTi" panose="02010609060101010101" pitchFamily="49" charset="-122"/>
              <a:cs typeface="Times New Roman" panose="02020603050405020304" pitchFamily="18" charset="0"/>
            </a:endParaRPr>
          </a:p>
          <a:p>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分析、画图</a:t>
            </a: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sym typeface="Wingdings" pitchFamily="2" charset="2"/>
              </a:rPr>
              <a:t></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2</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3</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）小题</a:t>
            </a: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6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考察：运动学</a:t>
            </a:r>
            <a:r>
              <a:rPr kumimoji="1" lang="en-US" altLang="zh-CN" sz="16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力学分析</a:t>
            </a:r>
            <a:r>
              <a:rPr kumimoji="1" lang="en-US" altLang="zh-CN" sz="16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p>
          <a:p>
            <a:endParaRPr kumimoji="1" lang="en-US" altLang="zh-CN" sz="1600" dirty="0">
              <a:latin typeface="Times New Roman" panose="02020603050405020304" pitchFamily="18" charset="0"/>
              <a:ea typeface="KaiTi" panose="02010609060101010101" pitchFamily="49" charset="-122"/>
              <a:cs typeface="Times New Roman" panose="02020603050405020304" pitchFamily="18" charset="0"/>
            </a:endParaRPr>
          </a:p>
        </p:txBody>
      </p:sp>
      <p:pic>
        <p:nvPicPr>
          <p:cNvPr id="22" name="图片 21">
            <a:extLst>
              <a:ext uri="{FF2B5EF4-FFF2-40B4-BE49-F238E27FC236}">
                <a16:creationId xmlns:a16="http://schemas.microsoft.com/office/drawing/2014/main" id="{B70F5877-6EAB-BC4B-8693-9D0AE865EDC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360532" y="881713"/>
            <a:ext cx="6342422" cy="2114140"/>
          </a:xfrm>
          <a:prstGeom prst="rect">
            <a:avLst/>
          </a:prstGeom>
          <a:ln>
            <a:solidFill>
              <a:srgbClr val="7030A0"/>
            </a:solidFill>
          </a:ln>
        </p:spPr>
      </p:pic>
      <p:pic>
        <p:nvPicPr>
          <p:cNvPr id="9" name="图片 8">
            <a:extLst>
              <a:ext uri="{FF2B5EF4-FFF2-40B4-BE49-F238E27FC236}">
                <a16:creationId xmlns:a16="http://schemas.microsoft.com/office/drawing/2014/main" id="{7FAF2279-79C5-2A47-835D-F0E0C53F6F71}"/>
              </a:ext>
            </a:extLst>
          </p:cNvPr>
          <p:cNvPicPr>
            <a:picLocks noChangeAspect="1"/>
          </p:cNvPicPr>
          <p:nvPr/>
        </p:nvPicPr>
        <p:blipFill>
          <a:blip r:embed="rId4"/>
          <a:stretch>
            <a:fillRect/>
          </a:stretch>
        </p:blipFill>
        <p:spPr>
          <a:xfrm>
            <a:off x="9634557" y="3213937"/>
            <a:ext cx="2068397" cy="2310444"/>
          </a:xfrm>
          <a:prstGeom prst="rect">
            <a:avLst/>
          </a:prstGeom>
          <a:ln>
            <a:solidFill>
              <a:srgbClr val="7030A0"/>
            </a:solidFill>
          </a:ln>
        </p:spPr>
      </p:pic>
      <p:sp>
        <p:nvSpPr>
          <p:cNvPr id="16" name="矩形 15">
            <a:extLst>
              <a:ext uri="{FF2B5EF4-FFF2-40B4-BE49-F238E27FC236}">
                <a16:creationId xmlns:a16="http://schemas.microsoft.com/office/drawing/2014/main" id="{BA15AF96-AF1C-5243-984E-45FCA624746C}"/>
              </a:ext>
            </a:extLst>
          </p:cNvPr>
          <p:cNvSpPr/>
          <p:nvPr/>
        </p:nvSpPr>
        <p:spPr>
          <a:xfrm>
            <a:off x="5360532" y="5795224"/>
            <a:ext cx="6413638" cy="646331"/>
          </a:xfrm>
          <a:prstGeom prst="rect">
            <a:avLst/>
          </a:prstGeom>
          <a:solidFill>
            <a:schemeClr val="bg1"/>
          </a:solidFill>
          <a:ln>
            <a:solidFill>
              <a:srgbClr val="7030A0"/>
            </a:solidFill>
          </a:ln>
        </p:spPr>
        <p:txBody>
          <a:bodyPr wrap="square">
            <a:spAutoFit/>
          </a:bodyPr>
          <a:lstStyle/>
          <a:p>
            <a:r>
              <a:rPr kumimoji="1" lang="zh-CN" altLang="en-US"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做题策略？</a:t>
            </a:r>
            <a:endParaRPr kumimoji="1" lang="en-US" altLang="zh-CN"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最后两问先</a:t>
            </a:r>
            <a:r>
              <a:rPr kumimoji="1" lang="en-US" altLang="zh-CN"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慢想清楚</a:t>
            </a:r>
            <a:r>
              <a:rPr kumimoji="1" lang="en-US" altLang="zh-CN"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再</a:t>
            </a:r>
            <a:r>
              <a:rPr kumimoji="1" lang="en-US" altLang="zh-CN"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清晰画图</a:t>
            </a:r>
            <a:r>
              <a:rPr kumimoji="1" lang="en-US" altLang="zh-CN"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，再</a:t>
            </a:r>
            <a:r>
              <a:rPr kumimoji="1" lang="en-US" altLang="zh-CN"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迅速计算</a:t>
            </a:r>
            <a:r>
              <a:rPr kumimoji="1" lang="en-US" altLang="zh-CN"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endParaRPr lang="zh-CN" altLang="en-US" dirty="0"/>
          </a:p>
        </p:txBody>
      </p:sp>
      <p:grpSp>
        <p:nvGrpSpPr>
          <p:cNvPr id="10" name="组合 9">
            <a:extLst>
              <a:ext uri="{FF2B5EF4-FFF2-40B4-BE49-F238E27FC236}">
                <a16:creationId xmlns:a16="http://schemas.microsoft.com/office/drawing/2014/main" id="{B9F9E8C3-9F91-A84B-9F51-59086B3E7F18}"/>
              </a:ext>
            </a:extLst>
          </p:cNvPr>
          <p:cNvGrpSpPr/>
          <p:nvPr/>
        </p:nvGrpSpPr>
        <p:grpSpPr>
          <a:xfrm>
            <a:off x="5360532" y="3450280"/>
            <a:ext cx="3717471" cy="1907717"/>
            <a:chOff x="4337643" y="3213937"/>
            <a:chExt cx="4532357" cy="2325897"/>
          </a:xfrm>
        </p:grpSpPr>
        <p:pic>
          <p:nvPicPr>
            <p:cNvPr id="11" name="图片 10">
              <a:extLst>
                <a:ext uri="{FF2B5EF4-FFF2-40B4-BE49-F238E27FC236}">
                  <a16:creationId xmlns:a16="http://schemas.microsoft.com/office/drawing/2014/main" id="{3E2299E0-61CC-4D43-B7FD-975731AC55EA}"/>
                </a:ext>
              </a:extLst>
            </p:cNvPr>
            <p:cNvPicPr>
              <a:picLocks noChangeAspect="1"/>
            </p:cNvPicPr>
            <p:nvPr/>
          </p:nvPicPr>
          <p:blipFill>
            <a:blip r:embed="rId5"/>
            <a:stretch>
              <a:fillRect/>
            </a:stretch>
          </p:blipFill>
          <p:spPr>
            <a:xfrm>
              <a:off x="4355023" y="3213937"/>
              <a:ext cx="4514977" cy="2325897"/>
            </a:xfrm>
            <a:prstGeom prst="rect">
              <a:avLst/>
            </a:prstGeom>
            <a:ln>
              <a:solidFill>
                <a:srgbClr val="7030A0"/>
              </a:solidFill>
            </a:ln>
          </p:spPr>
        </p:pic>
        <p:sp>
          <p:nvSpPr>
            <p:cNvPr id="2" name="矩形 1">
              <a:extLst>
                <a:ext uri="{FF2B5EF4-FFF2-40B4-BE49-F238E27FC236}">
                  <a16:creationId xmlns:a16="http://schemas.microsoft.com/office/drawing/2014/main" id="{8ABD50D0-D9D2-5948-9DEE-61AB7BA67858}"/>
                </a:ext>
              </a:extLst>
            </p:cNvPr>
            <p:cNvSpPr/>
            <p:nvPr/>
          </p:nvSpPr>
          <p:spPr>
            <a:xfrm>
              <a:off x="4337643" y="4204551"/>
              <a:ext cx="1082348" cy="307777"/>
            </a:xfrm>
            <a:prstGeom prst="rect">
              <a:avLst/>
            </a:prstGeom>
          </p:spPr>
          <p:txBody>
            <a:bodyPr wrap="none">
              <a:spAutoFit/>
            </a:bodyPr>
            <a:lstStyle/>
            <a:p>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匀变速直线</a:t>
              </a:r>
              <a:endParaRPr lang="zh-CN" altLang="en-US" sz="1400" dirty="0"/>
            </a:p>
          </p:txBody>
        </p:sp>
        <p:sp>
          <p:nvSpPr>
            <p:cNvPr id="13" name="矩形 12">
              <a:extLst>
                <a:ext uri="{FF2B5EF4-FFF2-40B4-BE49-F238E27FC236}">
                  <a16:creationId xmlns:a16="http://schemas.microsoft.com/office/drawing/2014/main" id="{DBF2C5D5-FBB2-0341-AD11-BC87E3D64556}"/>
                </a:ext>
              </a:extLst>
            </p:cNvPr>
            <p:cNvSpPr/>
            <p:nvPr/>
          </p:nvSpPr>
          <p:spPr>
            <a:xfrm>
              <a:off x="5710403" y="4953709"/>
              <a:ext cx="1172116" cy="307777"/>
            </a:xfrm>
            <a:prstGeom prst="rect">
              <a:avLst/>
            </a:prstGeom>
          </p:spPr>
          <p:txBody>
            <a:bodyPr wrap="none">
              <a:spAutoFit/>
            </a:bodyPr>
            <a:lstStyle/>
            <a:p>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类平抛（</a:t>
              </a: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1</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endParaRPr lang="zh-CN" altLang="en-US" sz="1400" dirty="0"/>
            </a:p>
          </p:txBody>
        </p:sp>
        <p:sp>
          <p:nvSpPr>
            <p:cNvPr id="14" name="矩形 13">
              <a:extLst>
                <a:ext uri="{FF2B5EF4-FFF2-40B4-BE49-F238E27FC236}">
                  <a16:creationId xmlns:a16="http://schemas.microsoft.com/office/drawing/2014/main" id="{1262AA52-B206-0049-B533-56BFA3119912}"/>
                </a:ext>
              </a:extLst>
            </p:cNvPr>
            <p:cNvSpPr/>
            <p:nvPr/>
          </p:nvSpPr>
          <p:spPr>
            <a:xfrm>
              <a:off x="7042939" y="4058817"/>
              <a:ext cx="1172116" cy="307777"/>
            </a:xfrm>
            <a:prstGeom prst="rect">
              <a:avLst/>
            </a:prstGeom>
          </p:spPr>
          <p:txBody>
            <a:bodyPr wrap="none">
              <a:spAutoFit/>
            </a:bodyPr>
            <a:lstStyle/>
            <a:p>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类平抛（</a:t>
              </a: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2</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endParaRPr lang="zh-CN" altLang="en-US" sz="1400" dirty="0"/>
            </a:p>
          </p:txBody>
        </p:sp>
        <p:sp>
          <p:nvSpPr>
            <p:cNvPr id="15" name="矩形 14">
              <a:extLst>
                <a:ext uri="{FF2B5EF4-FFF2-40B4-BE49-F238E27FC236}">
                  <a16:creationId xmlns:a16="http://schemas.microsoft.com/office/drawing/2014/main" id="{10DD0E12-5BF6-F84C-B06B-D121E64D6D27}"/>
                </a:ext>
              </a:extLst>
            </p:cNvPr>
            <p:cNvSpPr/>
            <p:nvPr/>
          </p:nvSpPr>
          <p:spPr>
            <a:xfrm>
              <a:off x="8064596" y="4596211"/>
              <a:ext cx="723275" cy="307777"/>
            </a:xfrm>
            <a:prstGeom prst="rect">
              <a:avLst/>
            </a:prstGeom>
          </p:spPr>
          <p:txBody>
            <a:bodyPr wrap="none">
              <a:spAutoFit/>
            </a:bodyPr>
            <a:lstStyle/>
            <a:p>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类圆周</a:t>
              </a:r>
              <a:endParaRPr lang="zh-CN" altLang="en-US" sz="1400" dirty="0"/>
            </a:p>
          </p:txBody>
        </p:sp>
      </p:grpSp>
      <p:pic>
        <p:nvPicPr>
          <p:cNvPr id="8" name="图片 7">
            <a:extLst>
              <a:ext uri="{FF2B5EF4-FFF2-40B4-BE49-F238E27FC236}">
                <a16:creationId xmlns:a16="http://schemas.microsoft.com/office/drawing/2014/main" id="{969174F3-9D81-014A-BF1A-A6967C257A38}"/>
              </a:ext>
            </a:extLst>
          </p:cNvPr>
          <p:cNvPicPr>
            <a:picLocks noChangeAspect="1"/>
          </p:cNvPicPr>
          <p:nvPr/>
        </p:nvPicPr>
        <p:blipFill rotWithShape="1">
          <a:blip r:embed="rId6">
            <a:clrChange>
              <a:clrFrom>
                <a:srgbClr val="FFFFFF"/>
              </a:clrFrom>
              <a:clrTo>
                <a:srgbClr val="FFFFFF">
                  <a:alpha val="0"/>
                </a:srgbClr>
              </a:clrTo>
            </a:clrChange>
          </a:blip>
          <a:srcRect l="2204"/>
          <a:stretch/>
        </p:blipFill>
        <p:spPr>
          <a:xfrm>
            <a:off x="717604" y="3425544"/>
            <a:ext cx="3311774" cy="3176734"/>
          </a:xfrm>
          <a:prstGeom prst="rect">
            <a:avLst/>
          </a:prstGeom>
        </p:spPr>
      </p:pic>
      <p:sp>
        <p:nvSpPr>
          <p:cNvPr id="17" name="右大括号 16">
            <a:extLst>
              <a:ext uri="{FF2B5EF4-FFF2-40B4-BE49-F238E27FC236}">
                <a16:creationId xmlns:a16="http://schemas.microsoft.com/office/drawing/2014/main" id="{A38BDD10-1953-EC40-A54B-3C9586B57660}"/>
              </a:ext>
            </a:extLst>
          </p:cNvPr>
          <p:cNvSpPr/>
          <p:nvPr/>
        </p:nvSpPr>
        <p:spPr>
          <a:xfrm>
            <a:off x="4029378" y="3921071"/>
            <a:ext cx="232656" cy="66296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19" name="矩形 18">
            <a:extLst>
              <a:ext uri="{FF2B5EF4-FFF2-40B4-BE49-F238E27FC236}">
                <a16:creationId xmlns:a16="http://schemas.microsoft.com/office/drawing/2014/main" id="{0FF70B5C-5D56-594B-911E-6DCCADFB4452}"/>
              </a:ext>
            </a:extLst>
          </p:cNvPr>
          <p:cNvSpPr/>
          <p:nvPr/>
        </p:nvSpPr>
        <p:spPr>
          <a:xfrm>
            <a:off x="4272344" y="4106438"/>
            <a:ext cx="902811" cy="307777"/>
          </a:xfrm>
          <a:prstGeom prst="rect">
            <a:avLst/>
          </a:prstGeom>
          <a:ln>
            <a:solidFill>
              <a:srgbClr val="223AAC"/>
            </a:solidFill>
          </a:ln>
        </p:spPr>
        <p:txBody>
          <a:bodyPr wrap="none">
            <a:spAutoFit/>
          </a:bodyPr>
          <a:lstStyle/>
          <a:p>
            <a:r>
              <a:rPr kumimoji="1" lang="zh-CN" altLang="en-US" sz="1400" b="1"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计算位移</a:t>
            </a:r>
            <a:endParaRPr lang="zh-CN" altLang="en-US" sz="1400" dirty="0">
              <a:solidFill>
                <a:srgbClr val="223AAC"/>
              </a:solidFill>
            </a:endParaRPr>
          </a:p>
        </p:txBody>
      </p:sp>
      <p:sp>
        <p:nvSpPr>
          <p:cNvPr id="20" name="右大括号 19">
            <a:extLst>
              <a:ext uri="{FF2B5EF4-FFF2-40B4-BE49-F238E27FC236}">
                <a16:creationId xmlns:a16="http://schemas.microsoft.com/office/drawing/2014/main" id="{F5B3F507-02C9-E549-934E-25547327A72F}"/>
              </a:ext>
            </a:extLst>
          </p:cNvPr>
          <p:cNvSpPr/>
          <p:nvPr/>
        </p:nvSpPr>
        <p:spPr>
          <a:xfrm>
            <a:off x="4026072" y="4768530"/>
            <a:ext cx="232656" cy="66296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21" name="矩形 20">
            <a:extLst>
              <a:ext uri="{FF2B5EF4-FFF2-40B4-BE49-F238E27FC236}">
                <a16:creationId xmlns:a16="http://schemas.microsoft.com/office/drawing/2014/main" id="{E9B7E0AE-2548-F34F-B03C-05E22245D027}"/>
              </a:ext>
            </a:extLst>
          </p:cNvPr>
          <p:cNvSpPr/>
          <p:nvPr/>
        </p:nvSpPr>
        <p:spPr>
          <a:xfrm>
            <a:off x="4269038" y="4953897"/>
            <a:ext cx="1051891" cy="307777"/>
          </a:xfrm>
          <a:prstGeom prst="rect">
            <a:avLst/>
          </a:prstGeom>
          <a:ln>
            <a:solidFill>
              <a:srgbClr val="223AAC"/>
            </a:solidFill>
          </a:ln>
        </p:spPr>
        <p:txBody>
          <a:bodyPr wrap="none">
            <a:spAutoFit/>
          </a:bodyPr>
          <a:lstStyle/>
          <a:p>
            <a:r>
              <a:rPr kumimoji="1" lang="zh-CN" altLang="en-US" sz="1400" b="1"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力</a:t>
            </a:r>
            <a:r>
              <a:rPr kumimoji="1" lang="en-US" altLang="zh-CN" sz="1400" b="1"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&amp;</a:t>
            </a:r>
            <a:r>
              <a:rPr kumimoji="1" lang="zh-CN" altLang="en-US" sz="1400" b="1"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加速度</a:t>
            </a:r>
            <a:endParaRPr lang="zh-CN" altLang="en-US" sz="1400" dirty="0">
              <a:solidFill>
                <a:srgbClr val="223AAC"/>
              </a:solidFill>
            </a:endParaRPr>
          </a:p>
        </p:txBody>
      </p:sp>
      <p:sp>
        <p:nvSpPr>
          <p:cNvPr id="18" name="矩形 17">
            <a:extLst>
              <a:ext uri="{FF2B5EF4-FFF2-40B4-BE49-F238E27FC236}">
                <a16:creationId xmlns:a16="http://schemas.microsoft.com/office/drawing/2014/main" id="{38AFE2A3-F850-7446-92CC-FC80456F340B}"/>
              </a:ext>
            </a:extLst>
          </p:cNvPr>
          <p:cNvSpPr/>
          <p:nvPr/>
        </p:nvSpPr>
        <p:spPr>
          <a:xfrm>
            <a:off x="2836190" y="4349203"/>
            <a:ext cx="170482" cy="188334"/>
          </a:xfrm>
          <a:prstGeom prst="rect">
            <a:avLst/>
          </a:prstGeom>
          <a:noFill/>
          <a:ln>
            <a:solidFill>
              <a:srgbClr val="223A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矩形 22">
            <a:extLst>
              <a:ext uri="{FF2B5EF4-FFF2-40B4-BE49-F238E27FC236}">
                <a16:creationId xmlns:a16="http://schemas.microsoft.com/office/drawing/2014/main" id="{6815AF3D-738E-C340-97AE-0A9870382D5B}"/>
              </a:ext>
            </a:extLst>
          </p:cNvPr>
          <p:cNvSpPr/>
          <p:nvPr/>
        </p:nvSpPr>
        <p:spPr>
          <a:xfrm>
            <a:off x="3037668" y="5339031"/>
            <a:ext cx="170482" cy="188334"/>
          </a:xfrm>
          <a:prstGeom prst="rect">
            <a:avLst/>
          </a:prstGeom>
          <a:noFill/>
          <a:ln>
            <a:solidFill>
              <a:srgbClr val="223A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右大括号 23">
            <a:extLst>
              <a:ext uri="{FF2B5EF4-FFF2-40B4-BE49-F238E27FC236}">
                <a16:creationId xmlns:a16="http://schemas.microsoft.com/office/drawing/2014/main" id="{7EBEE94E-91B0-9741-8342-63B60BA04DE9}"/>
              </a:ext>
            </a:extLst>
          </p:cNvPr>
          <p:cNvSpPr/>
          <p:nvPr/>
        </p:nvSpPr>
        <p:spPr>
          <a:xfrm>
            <a:off x="4023581" y="5742455"/>
            <a:ext cx="232656" cy="66296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25" name="矩形 24">
            <a:extLst>
              <a:ext uri="{FF2B5EF4-FFF2-40B4-BE49-F238E27FC236}">
                <a16:creationId xmlns:a16="http://schemas.microsoft.com/office/drawing/2014/main" id="{B06469B2-A384-7C42-B173-153039994611}"/>
              </a:ext>
            </a:extLst>
          </p:cNvPr>
          <p:cNvSpPr/>
          <p:nvPr/>
        </p:nvSpPr>
        <p:spPr>
          <a:xfrm>
            <a:off x="4266547" y="5927822"/>
            <a:ext cx="543739" cy="307777"/>
          </a:xfrm>
          <a:prstGeom prst="rect">
            <a:avLst/>
          </a:prstGeom>
          <a:ln>
            <a:solidFill>
              <a:srgbClr val="223AAC"/>
            </a:solidFill>
          </a:ln>
        </p:spPr>
        <p:txBody>
          <a:bodyPr wrap="none">
            <a:spAutoFit/>
          </a:bodyPr>
          <a:lstStyle/>
          <a:p>
            <a:r>
              <a:rPr lang="zh-CN" altLang="en-US" sz="1400" dirty="0">
                <a:solidFill>
                  <a:srgbClr val="223AAC"/>
                </a:solidFill>
                <a:latin typeface="KaiTi" panose="02010609060101010101" pitchFamily="49" charset="-122"/>
                <a:ea typeface="KaiTi" panose="02010609060101010101" pitchFamily="49" charset="-122"/>
              </a:rPr>
              <a:t>联立</a:t>
            </a:r>
          </a:p>
        </p:txBody>
      </p:sp>
    </p:spTree>
    <p:extLst>
      <p:ext uri="{BB962C8B-B14F-4D97-AF65-F5344CB8AC3E}">
        <p14:creationId xmlns:p14="http://schemas.microsoft.com/office/powerpoint/2010/main" val="50761972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F595439-DC2D-814E-A9B9-7FC87B21C31C}"/>
              </a:ext>
            </a:extLst>
          </p:cNvPr>
          <p:cNvSpPr txBox="1"/>
          <p:nvPr/>
        </p:nvSpPr>
        <p:spPr>
          <a:xfrm>
            <a:off x="417830" y="748030"/>
            <a:ext cx="4942702" cy="307777"/>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高考真题</a:t>
            </a:r>
          </a:p>
        </p:txBody>
      </p:sp>
      <p:sp>
        <p:nvSpPr>
          <p:cNvPr id="4" name="文本框 3">
            <a:extLst>
              <a:ext uri="{FF2B5EF4-FFF2-40B4-BE49-F238E27FC236}">
                <a16:creationId xmlns:a16="http://schemas.microsoft.com/office/drawing/2014/main" id="{394ED3DE-6190-BC48-90C9-6C82B154923E}"/>
              </a:ext>
            </a:extLst>
          </p:cNvPr>
          <p:cNvSpPr txBox="1"/>
          <p:nvPr/>
        </p:nvSpPr>
        <p:spPr>
          <a:xfrm>
            <a:off x="489045" y="1182807"/>
            <a:ext cx="9503133" cy="1142620"/>
          </a:xfrm>
          <a:prstGeom prst="rect">
            <a:avLst/>
          </a:prstGeom>
          <a:noFill/>
        </p:spPr>
        <p:txBody>
          <a:bodyPr wrap="square" rtlCol="0">
            <a:spAutoFit/>
          </a:bodyPr>
          <a:lstStyle/>
          <a:p>
            <a:pPr>
              <a:lnSpc>
                <a:spcPct val="150000"/>
              </a:lnSpc>
            </a:pPr>
            <a:r>
              <a:rPr kumimoji="1" lang="en-US" altLang="zh-CN"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4</a:t>
            </a:r>
            <a:r>
              <a:rPr kumimoji="1" lang="zh-CN" altLang="en-US"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）计算题</a:t>
            </a:r>
            <a:r>
              <a:rPr kumimoji="1" lang="en-US" altLang="zh-CN"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模型思维</a:t>
            </a:r>
            <a:r>
              <a:rPr kumimoji="1" lang="en-US" altLang="zh-CN"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图像化</a:t>
            </a:r>
            <a:r>
              <a:rPr kumimoji="1" lang="en-US" altLang="zh-CN" sz="16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p>
          <a:p>
            <a:pPr>
              <a:lnSpc>
                <a:spcPct val="150000"/>
              </a:lnSpc>
            </a:pP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核心方法：</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「受力」</a:t>
            </a:r>
            <a:r>
              <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「运动」</a:t>
            </a:r>
            <a:r>
              <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「画图」 </a:t>
            </a:r>
            <a:endPar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endParaRPr>
          </a:p>
          <a:p>
            <a:pPr>
              <a:lnSpc>
                <a:spcPct val="150000"/>
              </a:lnSpc>
            </a:pPr>
            <a:r>
              <a:rPr kumimoji="1" lang="zh-CN" altLang="en-US"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善于数形结合</a:t>
            </a:r>
            <a:r>
              <a:rPr kumimoji="1" lang="en-US" altLang="zh-CN"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用图表示动态过程！</a:t>
            </a:r>
            <a:endParaRPr kumimoji="1" lang="en-US" altLang="zh-CN"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endParaRPr>
          </a:p>
        </p:txBody>
      </p:sp>
      <p:sp>
        <p:nvSpPr>
          <p:cNvPr id="5" name="矩形 4">
            <a:extLst>
              <a:ext uri="{FF2B5EF4-FFF2-40B4-BE49-F238E27FC236}">
                <a16:creationId xmlns:a16="http://schemas.microsoft.com/office/drawing/2014/main" id="{48A01008-C526-154C-9A89-2460719D1A35}"/>
              </a:ext>
            </a:extLst>
          </p:cNvPr>
          <p:cNvSpPr/>
          <p:nvPr/>
        </p:nvSpPr>
        <p:spPr>
          <a:xfrm>
            <a:off x="417830" y="2821759"/>
            <a:ext cx="11177270" cy="3780519"/>
          </a:xfrm>
          <a:prstGeom prst="rect">
            <a:avLst/>
          </a:prstGeom>
          <a:solidFill>
            <a:srgbClr val="E8F0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6" name="矩形 5">
            <a:extLst>
              <a:ext uri="{FF2B5EF4-FFF2-40B4-BE49-F238E27FC236}">
                <a16:creationId xmlns:a16="http://schemas.microsoft.com/office/drawing/2014/main" id="{3B27CFF8-40B3-3A40-9872-17E184753673}"/>
              </a:ext>
            </a:extLst>
          </p:cNvPr>
          <p:cNvSpPr/>
          <p:nvPr/>
        </p:nvSpPr>
        <p:spPr>
          <a:xfrm>
            <a:off x="389151" y="2851519"/>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A573DF6B-D1C2-994B-83B9-DB30AB109901}"/>
              </a:ext>
            </a:extLst>
          </p:cNvPr>
          <p:cNvSpPr txBox="1"/>
          <p:nvPr/>
        </p:nvSpPr>
        <p:spPr>
          <a:xfrm>
            <a:off x="596900" y="2890033"/>
            <a:ext cx="10804463" cy="800219"/>
          </a:xfrm>
          <a:prstGeom prst="rect">
            <a:avLst/>
          </a:prstGeom>
          <a:noFill/>
        </p:spPr>
        <p:txBody>
          <a:bodyPr wrap="square" rtlCol="0">
            <a:spAutoFit/>
          </a:bodyPr>
          <a:lstStyle/>
          <a:p>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【2024</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高考广东卷物理</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实验</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11.</a:t>
            </a:r>
            <a:endParaRPr lang="en-US" altLang="zh-CN" sz="1200" b="1" dirty="0">
              <a:solidFill>
                <a:srgbClr val="A41AD4"/>
              </a:solidFill>
              <a:latin typeface="KaiTi" panose="02010609060101010101" pitchFamily="49" charset="-122"/>
              <a:ea typeface="KaiTi" panose="02010609060101010101" pitchFamily="49" charset="-122"/>
              <a:cs typeface="Times New Roman" panose="02020603050405020304" pitchFamily="18" charset="0"/>
            </a:endParaRPr>
          </a:p>
          <a:p>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分析、画图</a:t>
            </a: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sym typeface="Wingdings" pitchFamily="2" charset="2"/>
              </a:rPr>
              <a:t></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2</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3</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）小题</a:t>
            </a: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6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考察：运动学</a:t>
            </a:r>
            <a:r>
              <a:rPr kumimoji="1" lang="en-US" altLang="zh-CN" sz="16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力学分析</a:t>
            </a:r>
            <a:r>
              <a:rPr kumimoji="1" lang="en-US" altLang="zh-CN" sz="16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p>
          <a:p>
            <a:endParaRPr kumimoji="1" lang="en-US" altLang="zh-CN" sz="1600" dirty="0">
              <a:latin typeface="Times New Roman" panose="02020603050405020304" pitchFamily="18" charset="0"/>
              <a:ea typeface="KaiTi" panose="02010609060101010101" pitchFamily="49" charset="-122"/>
              <a:cs typeface="Times New Roman" panose="02020603050405020304" pitchFamily="18" charset="0"/>
            </a:endParaRPr>
          </a:p>
        </p:txBody>
      </p:sp>
      <p:pic>
        <p:nvPicPr>
          <p:cNvPr id="22" name="图片 21">
            <a:extLst>
              <a:ext uri="{FF2B5EF4-FFF2-40B4-BE49-F238E27FC236}">
                <a16:creationId xmlns:a16="http://schemas.microsoft.com/office/drawing/2014/main" id="{B70F5877-6EAB-BC4B-8693-9D0AE865EDC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360532" y="881713"/>
            <a:ext cx="6342422" cy="2114140"/>
          </a:xfrm>
          <a:prstGeom prst="rect">
            <a:avLst/>
          </a:prstGeom>
          <a:ln>
            <a:solidFill>
              <a:srgbClr val="7030A0"/>
            </a:solidFill>
          </a:ln>
        </p:spPr>
      </p:pic>
      <p:pic>
        <p:nvPicPr>
          <p:cNvPr id="9" name="图片 8">
            <a:extLst>
              <a:ext uri="{FF2B5EF4-FFF2-40B4-BE49-F238E27FC236}">
                <a16:creationId xmlns:a16="http://schemas.microsoft.com/office/drawing/2014/main" id="{7FAF2279-79C5-2A47-835D-F0E0C53F6F71}"/>
              </a:ext>
            </a:extLst>
          </p:cNvPr>
          <p:cNvPicPr>
            <a:picLocks noChangeAspect="1"/>
          </p:cNvPicPr>
          <p:nvPr/>
        </p:nvPicPr>
        <p:blipFill>
          <a:blip r:embed="rId4"/>
          <a:stretch>
            <a:fillRect/>
          </a:stretch>
        </p:blipFill>
        <p:spPr>
          <a:xfrm>
            <a:off x="10244380" y="3561591"/>
            <a:ext cx="1431586" cy="1599112"/>
          </a:xfrm>
          <a:prstGeom prst="rect">
            <a:avLst/>
          </a:prstGeom>
          <a:ln>
            <a:solidFill>
              <a:srgbClr val="7030A0"/>
            </a:solidFill>
          </a:ln>
        </p:spPr>
      </p:pic>
      <p:sp>
        <p:nvSpPr>
          <p:cNvPr id="16" name="矩形 15">
            <a:extLst>
              <a:ext uri="{FF2B5EF4-FFF2-40B4-BE49-F238E27FC236}">
                <a16:creationId xmlns:a16="http://schemas.microsoft.com/office/drawing/2014/main" id="{BA15AF96-AF1C-5243-984E-45FCA624746C}"/>
              </a:ext>
            </a:extLst>
          </p:cNvPr>
          <p:cNvSpPr/>
          <p:nvPr/>
        </p:nvSpPr>
        <p:spPr>
          <a:xfrm>
            <a:off x="5414827" y="5565883"/>
            <a:ext cx="6413638" cy="646331"/>
          </a:xfrm>
          <a:prstGeom prst="rect">
            <a:avLst/>
          </a:prstGeom>
          <a:solidFill>
            <a:schemeClr val="bg1"/>
          </a:solidFill>
          <a:ln>
            <a:solidFill>
              <a:srgbClr val="7030A0"/>
            </a:solidFill>
          </a:ln>
        </p:spPr>
        <p:txBody>
          <a:bodyPr wrap="square">
            <a:spAutoFit/>
          </a:bodyPr>
          <a:lstStyle/>
          <a:p>
            <a:r>
              <a:rPr kumimoji="1" lang="zh-CN" altLang="en-US"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做题策略？</a:t>
            </a:r>
            <a:endParaRPr kumimoji="1" lang="en-US" altLang="zh-CN"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最后两问先</a:t>
            </a:r>
            <a:r>
              <a:rPr kumimoji="1" lang="en-US" altLang="zh-CN"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慢想清楚</a:t>
            </a:r>
            <a:r>
              <a:rPr kumimoji="1" lang="en-US" altLang="zh-CN"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再</a:t>
            </a:r>
            <a:r>
              <a:rPr kumimoji="1" lang="en-US" altLang="zh-CN"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清晰画图</a:t>
            </a:r>
            <a:r>
              <a:rPr kumimoji="1" lang="en-US" altLang="zh-CN"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，再</a:t>
            </a:r>
            <a:r>
              <a:rPr kumimoji="1" lang="en-US" altLang="zh-CN"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迅速计算</a:t>
            </a:r>
            <a:r>
              <a:rPr kumimoji="1" lang="en-US" altLang="zh-CN"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endParaRPr lang="zh-CN" altLang="en-US" dirty="0"/>
          </a:p>
        </p:txBody>
      </p:sp>
      <p:grpSp>
        <p:nvGrpSpPr>
          <p:cNvPr id="10" name="组合 9">
            <a:extLst>
              <a:ext uri="{FF2B5EF4-FFF2-40B4-BE49-F238E27FC236}">
                <a16:creationId xmlns:a16="http://schemas.microsoft.com/office/drawing/2014/main" id="{B9F9E8C3-9F91-A84B-9F51-59086B3E7F18}"/>
              </a:ext>
            </a:extLst>
          </p:cNvPr>
          <p:cNvGrpSpPr/>
          <p:nvPr/>
        </p:nvGrpSpPr>
        <p:grpSpPr>
          <a:xfrm>
            <a:off x="6982286" y="3630410"/>
            <a:ext cx="2982003" cy="1530292"/>
            <a:chOff x="4337643" y="3213937"/>
            <a:chExt cx="4532357" cy="2325897"/>
          </a:xfrm>
        </p:grpSpPr>
        <p:pic>
          <p:nvPicPr>
            <p:cNvPr id="11" name="图片 10">
              <a:extLst>
                <a:ext uri="{FF2B5EF4-FFF2-40B4-BE49-F238E27FC236}">
                  <a16:creationId xmlns:a16="http://schemas.microsoft.com/office/drawing/2014/main" id="{3E2299E0-61CC-4D43-B7FD-975731AC55EA}"/>
                </a:ext>
              </a:extLst>
            </p:cNvPr>
            <p:cNvPicPr>
              <a:picLocks noChangeAspect="1"/>
            </p:cNvPicPr>
            <p:nvPr/>
          </p:nvPicPr>
          <p:blipFill>
            <a:blip r:embed="rId5"/>
            <a:stretch>
              <a:fillRect/>
            </a:stretch>
          </p:blipFill>
          <p:spPr>
            <a:xfrm>
              <a:off x="4355023" y="3213937"/>
              <a:ext cx="4514977" cy="2325897"/>
            </a:xfrm>
            <a:prstGeom prst="rect">
              <a:avLst/>
            </a:prstGeom>
            <a:ln>
              <a:solidFill>
                <a:srgbClr val="7030A0"/>
              </a:solidFill>
            </a:ln>
          </p:spPr>
        </p:pic>
        <p:sp>
          <p:nvSpPr>
            <p:cNvPr id="2" name="矩形 1">
              <a:extLst>
                <a:ext uri="{FF2B5EF4-FFF2-40B4-BE49-F238E27FC236}">
                  <a16:creationId xmlns:a16="http://schemas.microsoft.com/office/drawing/2014/main" id="{8ABD50D0-D9D2-5948-9DEE-61AB7BA67858}"/>
                </a:ext>
              </a:extLst>
            </p:cNvPr>
            <p:cNvSpPr/>
            <p:nvPr/>
          </p:nvSpPr>
          <p:spPr>
            <a:xfrm>
              <a:off x="4337643" y="4204551"/>
              <a:ext cx="1082348" cy="307777"/>
            </a:xfrm>
            <a:prstGeom prst="rect">
              <a:avLst/>
            </a:prstGeom>
          </p:spPr>
          <p:txBody>
            <a:bodyPr wrap="none">
              <a:spAutoFit/>
            </a:bodyPr>
            <a:lstStyle/>
            <a:p>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匀变速直线</a:t>
              </a:r>
              <a:endParaRPr lang="zh-CN" altLang="en-US" sz="1400" dirty="0"/>
            </a:p>
          </p:txBody>
        </p:sp>
        <p:sp>
          <p:nvSpPr>
            <p:cNvPr id="13" name="矩形 12">
              <a:extLst>
                <a:ext uri="{FF2B5EF4-FFF2-40B4-BE49-F238E27FC236}">
                  <a16:creationId xmlns:a16="http://schemas.microsoft.com/office/drawing/2014/main" id="{DBF2C5D5-FBB2-0341-AD11-BC87E3D64556}"/>
                </a:ext>
              </a:extLst>
            </p:cNvPr>
            <p:cNvSpPr/>
            <p:nvPr/>
          </p:nvSpPr>
          <p:spPr>
            <a:xfrm>
              <a:off x="5710403" y="4953709"/>
              <a:ext cx="1172116" cy="307777"/>
            </a:xfrm>
            <a:prstGeom prst="rect">
              <a:avLst/>
            </a:prstGeom>
          </p:spPr>
          <p:txBody>
            <a:bodyPr wrap="none">
              <a:spAutoFit/>
            </a:bodyPr>
            <a:lstStyle/>
            <a:p>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类平抛（</a:t>
              </a: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1</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endParaRPr lang="zh-CN" altLang="en-US" sz="1400" dirty="0"/>
            </a:p>
          </p:txBody>
        </p:sp>
        <p:sp>
          <p:nvSpPr>
            <p:cNvPr id="14" name="矩形 13">
              <a:extLst>
                <a:ext uri="{FF2B5EF4-FFF2-40B4-BE49-F238E27FC236}">
                  <a16:creationId xmlns:a16="http://schemas.microsoft.com/office/drawing/2014/main" id="{1262AA52-B206-0049-B533-56BFA3119912}"/>
                </a:ext>
              </a:extLst>
            </p:cNvPr>
            <p:cNvSpPr/>
            <p:nvPr/>
          </p:nvSpPr>
          <p:spPr>
            <a:xfrm>
              <a:off x="7042939" y="4058817"/>
              <a:ext cx="1172116" cy="307777"/>
            </a:xfrm>
            <a:prstGeom prst="rect">
              <a:avLst/>
            </a:prstGeom>
          </p:spPr>
          <p:txBody>
            <a:bodyPr wrap="none">
              <a:spAutoFit/>
            </a:bodyPr>
            <a:lstStyle/>
            <a:p>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类平抛（</a:t>
              </a: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2</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endParaRPr lang="zh-CN" altLang="en-US" sz="1400" dirty="0"/>
            </a:p>
          </p:txBody>
        </p:sp>
        <p:sp>
          <p:nvSpPr>
            <p:cNvPr id="15" name="矩形 14">
              <a:extLst>
                <a:ext uri="{FF2B5EF4-FFF2-40B4-BE49-F238E27FC236}">
                  <a16:creationId xmlns:a16="http://schemas.microsoft.com/office/drawing/2014/main" id="{10DD0E12-5BF6-F84C-B06B-D121E64D6D27}"/>
                </a:ext>
              </a:extLst>
            </p:cNvPr>
            <p:cNvSpPr/>
            <p:nvPr/>
          </p:nvSpPr>
          <p:spPr>
            <a:xfrm>
              <a:off x="8064596" y="4596211"/>
              <a:ext cx="723275" cy="307777"/>
            </a:xfrm>
            <a:prstGeom prst="rect">
              <a:avLst/>
            </a:prstGeom>
          </p:spPr>
          <p:txBody>
            <a:bodyPr wrap="none">
              <a:spAutoFit/>
            </a:bodyPr>
            <a:lstStyle/>
            <a:p>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类圆周</a:t>
              </a:r>
              <a:endParaRPr lang="zh-CN" altLang="en-US" sz="1400" dirty="0"/>
            </a:p>
          </p:txBody>
        </p:sp>
      </p:grpSp>
      <p:pic>
        <p:nvPicPr>
          <p:cNvPr id="12" name="图片 11">
            <a:extLst>
              <a:ext uri="{FF2B5EF4-FFF2-40B4-BE49-F238E27FC236}">
                <a16:creationId xmlns:a16="http://schemas.microsoft.com/office/drawing/2014/main" id="{AFABB9A6-9EC6-2742-9C28-ECE0DD011365}"/>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570141" y="3590792"/>
            <a:ext cx="6248400" cy="1663700"/>
          </a:xfrm>
          <a:prstGeom prst="rect">
            <a:avLst/>
          </a:prstGeom>
        </p:spPr>
      </p:pic>
      <p:sp>
        <p:nvSpPr>
          <p:cNvPr id="26" name="矩形 25">
            <a:extLst>
              <a:ext uri="{FF2B5EF4-FFF2-40B4-BE49-F238E27FC236}">
                <a16:creationId xmlns:a16="http://schemas.microsoft.com/office/drawing/2014/main" id="{D4B6F4F8-69B3-794F-8E22-4F4108598902}"/>
              </a:ext>
            </a:extLst>
          </p:cNvPr>
          <p:cNvSpPr/>
          <p:nvPr/>
        </p:nvSpPr>
        <p:spPr>
          <a:xfrm>
            <a:off x="696161" y="5484789"/>
            <a:ext cx="902811" cy="307777"/>
          </a:xfrm>
          <a:prstGeom prst="rect">
            <a:avLst/>
          </a:prstGeom>
          <a:ln>
            <a:solidFill>
              <a:srgbClr val="223AAC"/>
            </a:solidFill>
          </a:ln>
        </p:spPr>
        <p:txBody>
          <a:bodyPr wrap="none">
            <a:spAutoFit/>
          </a:bodyPr>
          <a:lstStyle/>
          <a:p>
            <a:r>
              <a:rPr kumimoji="1" lang="zh-CN" altLang="en-US" sz="1400" b="1"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几何关系</a:t>
            </a:r>
            <a:endParaRPr lang="zh-CN" altLang="en-US" sz="1400" dirty="0">
              <a:solidFill>
                <a:srgbClr val="223AAC"/>
              </a:solidFill>
            </a:endParaRPr>
          </a:p>
        </p:txBody>
      </p:sp>
      <p:sp>
        <p:nvSpPr>
          <p:cNvPr id="27" name="矩形 26">
            <a:extLst>
              <a:ext uri="{FF2B5EF4-FFF2-40B4-BE49-F238E27FC236}">
                <a16:creationId xmlns:a16="http://schemas.microsoft.com/office/drawing/2014/main" id="{D706B55B-A20C-7A46-8809-580D21CD01C8}"/>
              </a:ext>
            </a:extLst>
          </p:cNvPr>
          <p:cNvSpPr/>
          <p:nvPr/>
        </p:nvSpPr>
        <p:spPr>
          <a:xfrm>
            <a:off x="1893342" y="5493013"/>
            <a:ext cx="1723549" cy="307777"/>
          </a:xfrm>
          <a:prstGeom prst="rect">
            <a:avLst/>
          </a:prstGeom>
          <a:ln>
            <a:solidFill>
              <a:srgbClr val="223AAC"/>
            </a:solidFill>
          </a:ln>
        </p:spPr>
        <p:txBody>
          <a:bodyPr wrap="none">
            <a:spAutoFit/>
          </a:bodyPr>
          <a:lstStyle/>
          <a:p>
            <a:r>
              <a:rPr kumimoji="1" lang="zh-CN" altLang="en-US" sz="1400" b="1"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求出时间</a:t>
            </a:r>
            <a:r>
              <a:rPr kumimoji="1" lang="en-US" altLang="zh-CN" sz="1400" b="1"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b="1"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对应轨迹</a:t>
            </a:r>
            <a:endParaRPr lang="zh-CN" altLang="en-US" sz="1400" dirty="0">
              <a:solidFill>
                <a:srgbClr val="223AAC"/>
              </a:solidFill>
            </a:endParaRPr>
          </a:p>
        </p:txBody>
      </p:sp>
      <p:sp>
        <p:nvSpPr>
          <p:cNvPr id="28" name="矩形 27">
            <a:extLst>
              <a:ext uri="{FF2B5EF4-FFF2-40B4-BE49-F238E27FC236}">
                <a16:creationId xmlns:a16="http://schemas.microsoft.com/office/drawing/2014/main" id="{6FBFE011-829F-4440-8BE2-95ACDBFD5F3F}"/>
              </a:ext>
            </a:extLst>
          </p:cNvPr>
          <p:cNvSpPr/>
          <p:nvPr/>
        </p:nvSpPr>
        <p:spPr>
          <a:xfrm>
            <a:off x="3911261" y="5492212"/>
            <a:ext cx="1261884" cy="307777"/>
          </a:xfrm>
          <a:prstGeom prst="rect">
            <a:avLst/>
          </a:prstGeom>
          <a:ln>
            <a:solidFill>
              <a:srgbClr val="223AAC"/>
            </a:solidFill>
          </a:ln>
        </p:spPr>
        <p:txBody>
          <a:bodyPr wrap="none">
            <a:spAutoFit/>
          </a:bodyPr>
          <a:lstStyle/>
          <a:p>
            <a:r>
              <a:rPr lang="zh-CN" altLang="en-US" sz="1400" b="1" dirty="0">
                <a:solidFill>
                  <a:srgbClr val="223AAC"/>
                </a:solidFill>
                <a:latin typeface="KaiTi" panose="02010609060101010101" pitchFamily="49" charset="-122"/>
                <a:ea typeface="KaiTi" panose="02010609060101010101" pitchFamily="49" charset="-122"/>
              </a:rPr>
              <a:t>动态化轨迹！</a:t>
            </a:r>
          </a:p>
        </p:txBody>
      </p:sp>
      <p:sp>
        <p:nvSpPr>
          <p:cNvPr id="29" name="矩形 28">
            <a:extLst>
              <a:ext uri="{FF2B5EF4-FFF2-40B4-BE49-F238E27FC236}">
                <a16:creationId xmlns:a16="http://schemas.microsoft.com/office/drawing/2014/main" id="{EE005941-9B64-7144-AE54-574F63B80243}"/>
              </a:ext>
            </a:extLst>
          </p:cNvPr>
          <p:cNvSpPr/>
          <p:nvPr/>
        </p:nvSpPr>
        <p:spPr>
          <a:xfrm>
            <a:off x="4931456" y="3590792"/>
            <a:ext cx="601439" cy="271356"/>
          </a:xfrm>
          <a:prstGeom prst="rect">
            <a:avLst/>
          </a:prstGeom>
          <a:noFill/>
          <a:ln>
            <a:solidFill>
              <a:srgbClr val="223A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矩形 29">
            <a:extLst>
              <a:ext uri="{FF2B5EF4-FFF2-40B4-BE49-F238E27FC236}">
                <a16:creationId xmlns:a16="http://schemas.microsoft.com/office/drawing/2014/main" id="{8A7EA77D-70F8-5743-B4ED-4E0253BC5F16}"/>
              </a:ext>
            </a:extLst>
          </p:cNvPr>
          <p:cNvSpPr/>
          <p:nvPr/>
        </p:nvSpPr>
        <p:spPr>
          <a:xfrm>
            <a:off x="2357903" y="3957111"/>
            <a:ext cx="601439" cy="271356"/>
          </a:xfrm>
          <a:prstGeom prst="rect">
            <a:avLst/>
          </a:prstGeom>
          <a:noFill/>
          <a:ln>
            <a:solidFill>
              <a:srgbClr val="223A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矩形 30">
            <a:extLst>
              <a:ext uri="{FF2B5EF4-FFF2-40B4-BE49-F238E27FC236}">
                <a16:creationId xmlns:a16="http://schemas.microsoft.com/office/drawing/2014/main" id="{DEA138B1-F8D9-0A4C-8EDA-F83AC8C9A517}"/>
              </a:ext>
            </a:extLst>
          </p:cNvPr>
          <p:cNvSpPr/>
          <p:nvPr/>
        </p:nvSpPr>
        <p:spPr>
          <a:xfrm>
            <a:off x="4620522" y="3924705"/>
            <a:ext cx="1764659" cy="230586"/>
          </a:xfrm>
          <a:prstGeom prst="rect">
            <a:avLst/>
          </a:prstGeom>
          <a:noFill/>
          <a:ln>
            <a:solidFill>
              <a:srgbClr val="223A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矩形 31">
            <a:extLst>
              <a:ext uri="{FF2B5EF4-FFF2-40B4-BE49-F238E27FC236}">
                <a16:creationId xmlns:a16="http://schemas.microsoft.com/office/drawing/2014/main" id="{97E902AE-DC5E-B642-8336-A23981F18AE6}"/>
              </a:ext>
            </a:extLst>
          </p:cNvPr>
          <p:cNvSpPr/>
          <p:nvPr/>
        </p:nvSpPr>
        <p:spPr>
          <a:xfrm>
            <a:off x="1742124" y="4134980"/>
            <a:ext cx="601439" cy="271356"/>
          </a:xfrm>
          <a:prstGeom prst="rect">
            <a:avLst/>
          </a:prstGeom>
          <a:noFill/>
          <a:ln>
            <a:solidFill>
              <a:srgbClr val="223A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矩形 33">
            <a:extLst>
              <a:ext uri="{FF2B5EF4-FFF2-40B4-BE49-F238E27FC236}">
                <a16:creationId xmlns:a16="http://schemas.microsoft.com/office/drawing/2014/main" id="{331B6C30-25B3-D541-B4AF-579C07A35A8E}"/>
              </a:ext>
            </a:extLst>
          </p:cNvPr>
          <p:cNvSpPr/>
          <p:nvPr/>
        </p:nvSpPr>
        <p:spPr>
          <a:xfrm>
            <a:off x="3560505" y="5989345"/>
            <a:ext cx="1620957" cy="307777"/>
          </a:xfrm>
          <a:prstGeom prst="rect">
            <a:avLst/>
          </a:prstGeom>
          <a:ln>
            <a:solidFill>
              <a:srgbClr val="223AAC"/>
            </a:solidFill>
          </a:ln>
        </p:spPr>
        <p:txBody>
          <a:bodyPr wrap="none">
            <a:spAutoFit/>
          </a:bodyPr>
          <a:lstStyle/>
          <a:p>
            <a:r>
              <a:rPr kumimoji="1" lang="zh-CN" altLang="en-US" sz="1400" b="1"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等效替代：抵消！</a:t>
            </a:r>
            <a:endParaRPr lang="zh-CN" altLang="en-US" sz="1400" dirty="0">
              <a:solidFill>
                <a:srgbClr val="223AAC"/>
              </a:solidFill>
            </a:endParaRPr>
          </a:p>
        </p:txBody>
      </p:sp>
      <p:sp>
        <p:nvSpPr>
          <p:cNvPr id="35" name="矩形 34">
            <a:extLst>
              <a:ext uri="{FF2B5EF4-FFF2-40B4-BE49-F238E27FC236}">
                <a16:creationId xmlns:a16="http://schemas.microsoft.com/office/drawing/2014/main" id="{23657323-D061-B346-A123-E99143510480}"/>
              </a:ext>
            </a:extLst>
          </p:cNvPr>
          <p:cNvSpPr/>
          <p:nvPr/>
        </p:nvSpPr>
        <p:spPr>
          <a:xfrm>
            <a:off x="1742124" y="5989345"/>
            <a:ext cx="1351652" cy="307777"/>
          </a:xfrm>
          <a:prstGeom prst="rect">
            <a:avLst/>
          </a:prstGeom>
          <a:ln>
            <a:solidFill>
              <a:srgbClr val="223AAC"/>
            </a:solidFill>
          </a:ln>
        </p:spPr>
        <p:txBody>
          <a:bodyPr wrap="none">
            <a:spAutoFit/>
          </a:bodyPr>
          <a:lstStyle/>
          <a:p>
            <a:r>
              <a:rPr lang="zh-CN" altLang="en-US" sz="1400" b="1" dirty="0">
                <a:solidFill>
                  <a:srgbClr val="223AAC"/>
                </a:solidFill>
                <a:latin typeface="KaiTi" panose="02010609060101010101" pitchFamily="49" charset="-122"/>
                <a:ea typeface="KaiTi" panose="02010609060101010101" pitchFamily="49" charset="-122"/>
              </a:rPr>
              <a:t>周期性</a:t>
            </a:r>
            <a:r>
              <a:rPr lang="en-US" altLang="zh-CN" sz="1400" b="1" dirty="0">
                <a:solidFill>
                  <a:srgbClr val="223AAC"/>
                </a:solidFill>
                <a:latin typeface="KaiTi" panose="02010609060101010101" pitchFamily="49" charset="-122"/>
                <a:ea typeface="KaiTi" panose="02010609060101010101" pitchFamily="49" charset="-122"/>
              </a:rPr>
              <a:t>+</a:t>
            </a:r>
            <a:r>
              <a:rPr lang="zh-CN" altLang="en-US" sz="1400" b="1" dirty="0">
                <a:solidFill>
                  <a:srgbClr val="223AAC"/>
                </a:solidFill>
                <a:latin typeface="KaiTi" panose="02010609060101010101" pitchFamily="49" charset="-122"/>
                <a:ea typeface="KaiTi" panose="02010609060101010101" pitchFamily="49" charset="-122"/>
              </a:rPr>
              <a:t>对称性</a:t>
            </a:r>
          </a:p>
        </p:txBody>
      </p:sp>
      <p:sp>
        <p:nvSpPr>
          <p:cNvPr id="36" name="矩形 35">
            <a:extLst>
              <a:ext uri="{FF2B5EF4-FFF2-40B4-BE49-F238E27FC236}">
                <a16:creationId xmlns:a16="http://schemas.microsoft.com/office/drawing/2014/main" id="{F409CED3-9796-BA47-9DB5-1308F0523877}"/>
              </a:ext>
            </a:extLst>
          </p:cNvPr>
          <p:cNvSpPr/>
          <p:nvPr/>
        </p:nvSpPr>
        <p:spPr>
          <a:xfrm>
            <a:off x="2649329" y="4355133"/>
            <a:ext cx="1076050" cy="20662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A41AD4"/>
              </a:solidFill>
            </a:endParaRPr>
          </a:p>
        </p:txBody>
      </p:sp>
      <p:sp>
        <p:nvSpPr>
          <p:cNvPr id="37" name="矩形 36">
            <a:extLst>
              <a:ext uri="{FF2B5EF4-FFF2-40B4-BE49-F238E27FC236}">
                <a16:creationId xmlns:a16="http://schemas.microsoft.com/office/drawing/2014/main" id="{2D946ABD-FDC0-A545-ABF6-904D22052E64}"/>
              </a:ext>
            </a:extLst>
          </p:cNvPr>
          <p:cNvSpPr/>
          <p:nvPr/>
        </p:nvSpPr>
        <p:spPr>
          <a:xfrm>
            <a:off x="4193817" y="4198352"/>
            <a:ext cx="2368992" cy="14549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A41AD4"/>
              </a:solidFill>
            </a:endParaRPr>
          </a:p>
        </p:txBody>
      </p:sp>
      <p:sp>
        <p:nvSpPr>
          <p:cNvPr id="38" name="文本框 37">
            <a:extLst>
              <a:ext uri="{FF2B5EF4-FFF2-40B4-BE49-F238E27FC236}">
                <a16:creationId xmlns:a16="http://schemas.microsoft.com/office/drawing/2014/main" id="{2E1364DC-E6C7-2E45-982C-9E3271B831CC}"/>
              </a:ext>
            </a:extLst>
          </p:cNvPr>
          <p:cNvSpPr txBox="1"/>
          <p:nvPr/>
        </p:nvSpPr>
        <p:spPr>
          <a:xfrm>
            <a:off x="453110" y="5953138"/>
            <a:ext cx="1338828" cy="369332"/>
          </a:xfrm>
          <a:prstGeom prst="rect">
            <a:avLst/>
          </a:prstGeom>
          <a:noFill/>
        </p:spPr>
        <p:txBody>
          <a:bodyPr wrap="none" rtlCol="0">
            <a:spAutoFit/>
          </a:bodyPr>
          <a:lstStyle/>
          <a:p>
            <a:r>
              <a:rPr kumimoji="1" lang="zh-CN" altLang="en-US" dirty="0">
                <a:solidFill>
                  <a:srgbClr val="A41AD4"/>
                </a:solidFill>
                <a:latin typeface="KaiTi" panose="02010609060101010101" pitchFamily="49" charset="-122"/>
                <a:ea typeface="KaiTi" panose="02010609060101010101" pitchFamily="49" charset="-122"/>
              </a:rPr>
              <a:t>解题技巧：</a:t>
            </a:r>
          </a:p>
        </p:txBody>
      </p:sp>
      <p:cxnSp>
        <p:nvCxnSpPr>
          <p:cNvPr id="40" name="直线连接符 39">
            <a:extLst>
              <a:ext uri="{FF2B5EF4-FFF2-40B4-BE49-F238E27FC236}">
                <a16:creationId xmlns:a16="http://schemas.microsoft.com/office/drawing/2014/main" id="{913343BF-5089-F546-A49F-A23D2AE032C4}"/>
              </a:ext>
            </a:extLst>
          </p:cNvPr>
          <p:cNvCxnSpPr/>
          <p:nvPr/>
        </p:nvCxnSpPr>
        <p:spPr>
          <a:xfrm>
            <a:off x="4931456" y="4561755"/>
            <a:ext cx="1887085"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1" name="直线连接符 40">
            <a:extLst>
              <a:ext uri="{FF2B5EF4-FFF2-40B4-BE49-F238E27FC236}">
                <a16:creationId xmlns:a16="http://schemas.microsoft.com/office/drawing/2014/main" id="{6AAAC3C3-D89A-9D4A-8739-6A95F79F7E1C}"/>
              </a:ext>
            </a:extLst>
          </p:cNvPr>
          <p:cNvCxnSpPr/>
          <p:nvPr/>
        </p:nvCxnSpPr>
        <p:spPr>
          <a:xfrm>
            <a:off x="489045" y="4714030"/>
            <a:ext cx="1887085"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107259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863725" y="1590675"/>
            <a:ext cx="8239125" cy="4524315"/>
          </a:xfrm>
          <a:prstGeom prst="rect">
            <a:avLst/>
          </a:prstGeom>
          <a:noFill/>
          <a:ln>
            <a:noFill/>
          </a:ln>
        </p:spPr>
        <p:txBody>
          <a:bodyPr wrap="square" rtlCol="0" anchor="t">
            <a:spAutoFit/>
          </a:bodyPr>
          <a:lstStyle/>
          <a:p>
            <a:pPr algn="ctr"/>
            <a:r>
              <a:rPr lang="en-US" altLang="zh-CN" sz="7200" b="1" dirty="0">
                <a:solidFill>
                  <a:srgbClr val="7030A0"/>
                </a:solidFill>
                <a:effectLst>
                  <a:reflection blurRad="6350" stA="53000" endA="300" endPos="35500" dir="5400000" sy="-90000" algn="bl" rotWithShape="0"/>
                </a:effectLst>
              </a:rPr>
              <a:t>Chapter-8</a:t>
            </a:r>
          </a:p>
          <a:p>
            <a:pPr algn="ctr"/>
            <a:r>
              <a:rPr lang="en-US" altLang="zh-CN" sz="7200" b="1" dirty="0">
                <a:solidFill>
                  <a:srgbClr val="7030A0"/>
                </a:solidFill>
                <a:effectLst>
                  <a:reflection blurRad="6350" stA="53000" endA="300" endPos="35500" dir="5400000" sy="-90000" algn="bl" rotWithShape="0"/>
                </a:effectLst>
              </a:rPr>
              <a:t> </a:t>
            </a:r>
          </a:p>
          <a:p>
            <a:pPr algn="ctr"/>
            <a:r>
              <a:rPr lang="zh-CN" altLang="en-US" sz="7200" b="1" dirty="0">
                <a:solidFill>
                  <a:srgbClr val="7030A0"/>
                </a:solidFill>
                <a:effectLst>
                  <a:reflection blurRad="6350" stA="53000" endA="300" endPos="35500" dir="5400000" sy="-90000" algn="bl" rotWithShape="0"/>
                </a:effectLst>
              </a:rPr>
              <a:t>模型化思维</a:t>
            </a:r>
            <a:endParaRPr lang="en-US" altLang="zh-CN" sz="7200" b="1" dirty="0">
              <a:solidFill>
                <a:srgbClr val="7030A0"/>
              </a:solidFill>
              <a:effectLst>
                <a:reflection blurRad="6350" stA="53000" endA="300" endPos="35500" dir="5400000" sy="-90000" algn="bl" rotWithShape="0"/>
              </a:effectLst>
            </a:endParaRPr>
          </a:p>
          <a:p>
            <a:pPr algn="ctr"/>
            <a:r>
              <a:rPr lang="zh-CN" altLang="en-US" sz="7200" b="1" dirty="0">
                <a:solidFill>
                  <a:srgbClr val="7030A0"/>
                </a:solidFill>
                <a:effectLst>
                  <a:reflection blurRad="6350" stA="53000" endA="300" endPos="35500" dir="5400000" sy="-90000" algn="bl" rotWithShape="0"/>
                </a:effectLst>
              </a:rPr>
              <a:t>「最重要！！」</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60DF424D-BFBA-CB46-B712-34609529CD49}"/>
              </a:ext>
            </a:extLst>
          </p:cNvPr>
          <p:cNvSpPr/>
          <p:nvPr/>
        </p:nvSpPr>
        <p:spPr>
          <a:xfrm>
            <a:off x="609559" y="3428999"/>
            <a:ext cx="11129686" cy="2940685"/>
          </a:xfrm>
          <a:prstGeom prst="rect">
            <a:avLst/>
          </a:prstGeom>
          <a:solidFill>
            <a:srgbClr val="FDF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1E89F494-C652-6141-9C75-FA5D64779B05}"/>
              </a:ext>
            </a:extLst>
          </p:cNvPr>
          <p:cNvSpPr txBox="1"/>
          <p:nvPr/>
        </p:nvSpPr>
        <p:spPr>
          <a:xfrm>
            <a:off x="413574" y="500970"/>
            <a:ext cx="4942702" cy="307777"/>
          </a:xfrm>
          <a:prstGeom prst="rect">
            <a:avLst/>
          </a:prstGeom>
          <a:noFill/>
        </p:spPr>
        <p:txBody>
          <a:bodyPr wrap="square" rtlCol="0">
            <a:spAutoFit/>
          </a:bodyPr>
          <a:lstStyle/>
          <a:p>
            <a:r>
              <a:rPr kumimoji="1" lang="en-US" altLang="zh-CN" sz="1400" u="sng" dirty="0">
                <a:solidFill>
                  <a:schemeClr val="tx1">
                    <a:lumMod val="75000"/>
                    <a:lumOff val="25000"/>
                  </a:schemeClr>
                </a:solidFill>
                <a:highlight>
                  <a:srgbClr val="FDF5D6"/>
                </a:highlight>
                <a:latin typeface="KaiTi" panose="02010609060101010101" pitchFamily="49" charset="-122"/>
                <a:ea typeface="KaiTi" panose="02010609060101010101" pitchFamily="49" charset="-122"/>
                <a:cs typeface="Times New Roman" panose="02020603050405020304" pitchFamily="18" charset="0"/>
              </a:rPr>
              <a:t>{</a:t>
            </a:r>
            <a:r>
              <a:rPr kumimoji="1" lang="zh-CN" altLang="en-US" sz="1400" u="sng" dirty="0">
                <a:solidFill>
                  <a:schemeClr val="tx1">
                    <a:lumMod val="75000"/>
                    <a:lumOff val="25000"/>
                  </a:schemeClr>
                </a:solidFill>
                <a:highlight>
                  <a:srgbClr val="FDF5D6"/>
                </a:highlight>
                <a:latin typeface="KaiTi" panose="02010609060101010101" pitchFamily="49" charset="-122"/>
                <a:ea typeface="KaiTi" panose="02010609060101010101" pitchFamily="49" charset="-122"/>
                <a:cs typeface="Times New Roman" panose="02020603050405020304" pitchFamily="18" charset="0"/>
              </a:rPr>
              <a:t>模型化思维</a:t>
            </a:r>
            <a:r>
              <a:rPr kumimoji="1" lang="en-US" altLang="zh-CN" sz="1400" u="sng" dirty="0">
                <a:solidFill>
                  <a:schemeClr val="tx1">
                    <a:lumMod val="75000"/>
                    <a:lumOff val="25000"/>
                  </a:schemeClr>
                </a:solidFill>
                <a:highlight>
                  <a:srgbClr val="FDF5D6"/>
                </a:highlight>
                <a:latin typeface="KaiTi" panose="02010609060101010101" pitchFamily="49" charset="-122"/>
                <a:ea typeface="KaiTi" panose="02010609060101010101" pitchFamily="49" charset="-122"/>
                <a:cs typeface="Times New Roman" panose="02020603050405020304" pitchFamily="18" charset="0"/>
              </a:rPr>
              <a:t>}</a:t>
            </a:r>
            <a:endParaRPr kumimoji="1" lang="zh-CN" altLang="en-US" sz="1400" u="sng" dirty="0">
              <a:solidFill>
                <a:schemeClr val="tx1">
                  <a:lumMod val="75000"/>
                  <a:lumOff val="25000"/>
                </a:schemeClr>
              </a:solidFill>
              <a:highlight>
                <a:srgbClr val="FDF5D6"/>
              </a:highlight>
              <a:latin typeface="KaiTi" panose="02010609060101010101" pitchFamily="49" charset="-122"/>
              <a:ea typeface="KaiTi" panose="02010609060101010101" pitchFamily="49" charset="-122"/>
              <a:cs typeface="Times New Roman" panose="02020603050405020304" pitchFamily="18" charset="0"/>
            </a:endParaRPr>
          </a:p>
        </p:txBody>
      </p:sp>
      <p:sp>
        <p:nvSpPr>
          <p:cNvPr id="7" name="文本框 6">
            <a:extLst>
              <a:ext uri="{FF2B5EF4-FFF2-40B4-BE49-F238E27FC236}">
                <a16:creationId xmlns:a16="http://schemas.microsoft.com/office/drawing/2014/main" id="{0AFF5F1A-A7B6-724D-99FD-327E9E5829F2}"/>
              </a:ext>
            </a:extLst>
          </p:cNvPr>
          <p:cNvSpPr txBox="1"/>
          <p:nvPr/>
        </p:nvSpPr>
        <p:spPr>
          <a:xfrm>
            <a:off x="413574" y="808747"/>
            <a:ext cx="9503133" cy="1657633"/>
          </a:xfrm>
          <a:prstGeom prst="rect">
            <a:avLst/>
          </a:prstGeom>
          <a:noFill/>
        </p:spPr>
        <p:txBody>
          <a:bodyPr wrap="square" rtlCol="0">
            <a:spAutoFit/>
          </a:bodyPr>
          <a:lstStyle/>
          <a:p>
            <a:pPr>
              <a:lnSpc>
                <a:spcPct val="150000"/>
              </a:lnSpc>
            </a:pP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最重要的：</a:t>
            </a:r>
            <a:endPar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marL="857250" lvl="1" indent="-400050">
              <a:lnSpc>
                <a:spcPct val="150000"/>
              </a:lnSpc>
              <a:buFont typeface="+mj-lt"/>
              <a:buAutoNum type="romanUcPeriod"/>
            </a:pPr>
            <a:r>
              <a:rPr kumimoji="1" lang="zh-CN" altLang="en-US" sz="1400" dirty="0">
                <a:solidFill>
                  <a:srgbClr val="A41AD4"/>
                </a:solidFill>
                <a:latin typeface="KaiTi" panose="02010609060101010101" pitchFamily="49" charset="-122"/>
                <a:ea typeface="KaiTi" panose="02010609060101010101" pitchFamily="49" charset="-122"/>
                <a:cs typeface="Times New Roman" panose="02020603050405020304" pitchFamily="18" charset="0"/>
              </a:rPr>
              <a:t>力与运动板块</a:t>
            </a:r>
            <a:r>
              <a:rPr kumimoji="1" lang="en-US" altLang="zh-CN" sz="1400"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400" dirty="0">
                <a:solidFill>
                  <a:srgbClr val="A41AD4"/>
                </a:solidFill>
                <a:latin typeface="KaiTi" panose="02010609060101010101" pitchFamily="49" charset="-122"/>
                <a:ea typeface="KaiTi" panose="02010609060101010101" pitchFamily="49" charset="-122"/>
                <a:cs typeface="Times New Roman" panose="02020603050405020304" pitchFamily="18" charset="0"/>
              </a:rPr>
              <a:t>「受力分析」、「运动分析」、「模型化解题」</a:t>
            </a:r>
            <a:r>
              <a:rPr kumimoji="1" lang="en-US" altLang="zh-CN" sz="1400"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p>
          <a:p>
            <a:pPr marL="857250" lvl="1" indent="-400050">
              <a:lnSpc>
                <a:spcPct val="150000"/>
              </a:lnSpc>
              <a:buFont typeface="+mj-lt"/>
              <a:buAutoNum type="romanUcPeriod"/>
            </a:pP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电与磁场板块</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 「轨迹分析」、「运动方向」</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a:t>
            </a:r>
          </a:p>
          <a:p>
            <a:pPr>
              <a:lnSpc>
                <a:spcPct val="150000"/>
              </a:lnSpc>
            </a:pPr>
            <a:endPar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a:lnSpc>
                <a:spcPct val="150000"/>
              </a:lnSpc>
            </a:pPr>
            <a:r>
              <a:rPr kumimoji="1" lang="zh-CN" altLang="en-US" sz="14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模型 </a:t>
            </a:r>
            <a:r>
              <a:rPr kumimoji="1" lang="en-US" altLang="zh-CN" sz="14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 迅速识别 </a:t>
            </a:r>
            <a:r>
              <a:rPr kumimoji="1" lang="en-US" altLang="zh-CN" sz="14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 清晰分过程分析！</a:t>
            </a:r>
            <a:endParaRPr kumimoji="1" lang="en-US" altLang="zh-CN" sz="14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endParaRPr>
          </a:p>
        </p:txBody>
      </p:sp>
      <p:sp>
        <p:nvSpPr>
          <p:cNvPr id="10" name="文本框 9">
            <a:extLst>
              <a:ext uri="{FF2B5EF4-FFF2-40B4-BE49-F238E27FC236}">
                <a16:creationId xmlns:a16="http://schemas.microsoft.com/office/drawing/2014/main" id="{7F082232-C9C1-BC40-9C11-F2AD67B0E1F5}"/>
              </a:ext>
            </a:extLst>
          </p:cNvPr>
          <p:cNvSpPr txBox="1"/>
          <p:nvPr/>
        </p:nvSpPr>
        <p:spPr>
          <a:xfrm>
            <a:off x="991404" y="2573517"/>
            <a:ext cx="9503133" cy="3273460"/>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kumimoji="1" lang="zh-CN" altLang="en-US" sz="1400" dirty="0">
                <a:solidFill>
                  <a:srgbClr val="C00000"/>
                </a:solidFill>
                <a:latin typeface="KaiTi" panose="02010609060101010101" pitchFamily="49" charset="-122"/>
                <a:ea typeface="KaiTi" panose="02010609060101010101" pitchFamily="49" charset="-122"/>
                <a:cs typeface="Times New Roman" panose="02020603050405020304" pitchFamily="18" charset="0"/>
              </a:rPr>
              <a:t>我们要怎么做：</a:t>
            </a:r>
            <a:endParaRPr kumimoji="1" lang="en-US" altLang="zh-CN" sz="1400"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a:lnSpc>
                <a:spcPct val="150000"/>
              </a:lnSpc>
            </a:pPr>
            <a:r>
              <a:rPr kumimoji="1" lang="en-US" altLang="zh-CN" sz="1400" u="sng" dirty="0">
                <a:solidFill>
                  <a:schemeClr val="tx1">
                    <a:lumMod val="75000"/>
                    <a:lumOff val="25000"/>
                  </a:schemeClr>
                </a:solidFill>
                <a:latin typeface="KaiTi" panose="02010609060101010101" pitchFamily="49" charset="-122"/>
                <a:ea typeface="KaiTi" panose="02010609060101010101" pitchFamily="49" charset="-122"/>
                <a:cs typeface="Times New Roman" panose="02020603050405020304" pitchFamily="18" charset="0"/>
              </a:rPr>
              <a:t>1.</a:t>
            </a:r>
            <a:r>
              <a:rPr kumimoji="1" lang="zh-CN" altLang="en-US" sz="1400" u="sng" dirty="0">
                <a:solidFill>
                  <a:schemeClr val="tx1">
                    <a:lumMod val="75000"/>
                    <a:lumOff val="25000"/>
                  </a:schemeClr>
                </a:solidFill>
                <a:latin typeface="KaiTi" panose="02010609060101010101" pitchFamily="49" charset="-122"/>
                <a:ea typeface="KaiTi" panose="02010609060101010101" pitchFamily="49" charset="-122"/>
                <a:cs typeface="Times New Roman" panose="02020603050405020304" pitchFamily="18" charset="0"/>
              </a:rPr>
              <a:t>分阶段画图</a:t>
            </a:r>
            <a:endParaRPr kumimoji="1" lang="en-US" altLang="zh-CN" sz="1400" u="sng" dirty="0">
              <a:solidFill>
                <a:schemeClr val="tx1">
                  <a:lumMod val="75000"/>
                  <a:lumOff val="25000"/>
                </a:schemeClr>
              </a:solidFill>
              <a:latin typeface="KaiTi" panose="02010609060101010101" pitchFamily="49" charset="-122"/>
              <a:ea typeface="KaiTi" panose="02010609060101010101" pitchFamily="49" charset="-122"/>
              <a:cs typeface="Times New Roman" panose="02020603050405020304" pitchFamily="18" charset="0"/>
            </a:endParaRPr>
          </a:p>
          <a:p>
            <a:pPr>
              <a:lnSpc>
                <a:spcPct val="150000"/>
              </a:lnSpc>
            </a:pPr>
            <a:endParaRPr kumimoji="1" lang="en-US" altLang="zh-CN" sz="1400" u="sng" dirty="0">
              <a:solidFill>
                <a:schemeClr val="tx1">
                  <a:lumMod val="75000"/>
                  <a:lumOff val="25000"/>
                </a:schemeClr>
              </a:solidFill>
              <a:latin typeface="KaiTi" panose="02010609060101010101" pitchFamily="49" charset="-122"/>
              <a:ea typeface="KaiTi" panose="02010609060101010101" pitchFamily="49" charset="-122"/>
              <a:cs typeface="Times New Roman" panose="02020603050405020304" pitchFamily="18" charset="0"/>
            </a:endParaRPr>
          </a:p>
          <a:p>
            <a:pPr>
              <a:lnSpc>
                <a:spcPct val="150000"/>
              </a:lnSpc>
            </a:pPr>
            <a:r>
              <a:rPr kumimoji="1" lang="en-US" altLang="zh-CN" sz="1400" u="sng" dirty="0">
                <a:solidFill>
                  <a:schemeClr val="tx1">
                    <a:lumMod val="75000"/>
                    <a:lumOff val="25000"/>
                  </a:schemeClr>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400" u="sng" dirty="0">
                <a:solidFill>
                  <a:schemeClr val="tx1">
                    <a:lumMod val="75000"/>
                    <a:lumOff val="25000"/>
                  </a:schemeClr>
                </a:solidFill>
                <a:latin typeface="KaiTi" panose="02010609060101010101" pitchFamily="49" charset="-122"/>
                <a:ea typeface="KaiTi" panose="02010609060101010101" pitchFamily="49" charset="-122"/>
                <a:cs typeface="Times New Roman" panose="02020603050405020304" pitchFamily="18" charset="0"/>
              </a:rPr>
              <a:t>实操建议：</a:t>
            </a:r>
            <a:endParaRPr kumimoji="1" lang="en-US" altLang="zh-CN" sz="1400" u="sng" dirty="0">
              <a:solidFill>
                <a:schemeClr val="tx1">
                  <a:lumMod val="75000"/>
                  <a:lumOff val="25000"/>
                </a:schemeClr>
              </a:solidFill>
              <a:latin typeface="KaiTi" panose="02010609060101010101" pitchFamily="49" charset="-122"/>
              <a:ea typeface="KaiTi" panose="02010609060101010101" pitchFamily="49" charset="-122"/>
              <a:cs typeface="Times New Roman" panose="02020603050405020304" pitchFamily="18" charset="0"/>
            </a:endParaRPr>
          </a:p>
          <a:p>
            <a:pPr>
              <a:lnSpc>
                <a:spcPct val="150000"/>
              </a:lnSpc>
            </a:pPr>
            <a:r>
              <a:rPr kumimoji="1" lang="zh-CN" altLang="en-US" sz="1400" dirty="0">
                <a:solidFill>
                  <a:schemeClr val="tx1">
                    <a:lumMod val="75000"/>
                    <a:lumOff val="25000"/>
                  </a:schemeClr>
                </a:solidFill>
                <a:latin typeface="KaiTi" panose="02010609060101010101" pitchFamily="49" charset="-122"/>
                <a:ea typeface="KaiTi" panose="02010609060101010101" pitchFamily="49" charset="-122"/>
                <a:cs typeface="Times New Roman" panose="02020603050405020304" pitchFamily="18" charset="0"/>
              </a:rPr>
              <a:t>积累足够的模型</a:t>
            </a:r>
            <a:endParaRPr kumimoji="1" lang="en-US" altLang="zh-CN" sz="1400" dirty="0">
              <a:solidFill>
                <a:schemeClr val="tx1">
                  <a:lumMod val="75000"/>
                  <a:lumOff val="25000"/>
                </a:schemeClr>
              </a:solidFill>
              <a:latin typeface="KaiTi" panose="02010609060101010101" pitchFamily="49" charset="-122"/>
              <a:ea typeface="KaiTi" panose="02010609060101010101" pitchFamily="49" charset="-122"/>
              <a:cs typeface="Times New Roman" panose="02020603050405020304" pitchFamily="18" charset="0"/>
            </a:endParaRPr>
          </a:p>
          <a:p>
            <a:pPr>
              <a:lnSpc>
                <a:spcPct val="150000"/>
              </a:lnSpc>
            </a:pPr>
            <a:r>
              <a:rPr kumimoji="1" lang="zh-CN" altLang="en-US" sz="1400" dirty="0">
                <a:solidFill>
                  <a:srgbClr val="223AAC"/>
                </a:solidFill>
                <a:latin typeface="KaiTi" panose="02010609060101010101" pitchFamily="49" charset="-122"/>
                <a:ea typeface="KaiTi" panose="02010609060101010101" pitchFamily="49" charset="-122"/>
                <a:cs typeface="Times New Roman" panose="02020603050405020304" pitchFamily="18" charset="0"/>
              </a:rPr>
              <a:t>做到蒙住答案</a:t>
            </a:r>
            <a:r>
              <a:rPr kumimoji="1" lang="en-US" altLang="zh-CN" sz="14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400" dirty="0">
                <a:solidFill>
                  <a:srgbClr val="223AAC"/>
                </a:solidFill>
                <a:latin typeface="KaiTi" panose="02010609060101010101" pitchFamily="49" charset="-122"/>
                <a:ea typeface="KaiTi" panose="02010609060101010101" pitchFamily="49" charset="-122"/>
                <a:cs typeface="Times New Roman" panose="02020603050405020304" pitchFamily="18" charset="0"/>
              </a:rPr>
              <a:t>立刻反应做题步骤</a:t>
            </a:r>
            <a:endParaRPr kumimoji="1" lang="en-US" altLang="zh-CN" sz="14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a:p>
            <a:pPr marL="800100" lvl="1" indent="-342900">
              <a:lnSpc>
                <a:spcPct val="150000"/>
              </a:lnSpc>
              <a:buFont typeface="+mj-ea"/>
              <a:buAutoNum type="circleNumDbPlain"/>
            </a:pPr>
            <a:r>
              <a:rPr kumimoji="1" lang="zh-CN" altLang="en-US" sz="1400" dirty="0">
                <a:solidFill>
                  <a:srgbClr val="223AAC"/>
                </a:solidFill>
                <a:latin typeface="KaiTi" panose="02010609060101010101" pitchFamily="49" charset="-122"/>
                <a:ea typeface="KaiTi" panose="02010609060101010101" pitchFamily="49" charset="-122"/>
                <a:cs typeface="Times New Roman" panose="02020603050405020304" pitchFamily="18" charset="0"/>
              </a:rPr>
              <a:t>分析运动过程：直线</a:t>
            </a:r>
            <a:r>
              <a:rPr kumimoji="1" lang="en-US" altLang="zh-CN" sz="14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400" dirty="0">
                <a:solidFill>
                  <a:srgbClr val="223AAC"/>
                </a:solidFill>
                <a:latin typeface="KaiTi" panose="02010609060101010101" pitchFamily="49" charset="-122"/>
                <a:ea typeface="KaiTi" panose="02010609060101010101" pitchFamily="49" charset="-122"/>
                <a:cs typeface="Times New Roman" panose="02020603050405020304" pitchFamily="18" charset="0"/>
              </a:rPr>
              <a:t>类圆周</a:t>
            </a:r>
            <a:r>
              <a:rPr kumimoji="1" lang="en-US" altLang="zh-CN" sz="14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400" dirty="0">
                <a:solidFill>
                  <a:srgbClr val="223AAC"/>
                </a:solidFill>
                <a:latin typeface="KaiTi" panose="02010609060101010101" pitchFamily="49" charset="-122"/>
                <a:ea typeface="KaiTi" panose="02010609060101010101" pitchFamily="49" charset="-122"/>
                <a:cs typeface="Times New Roman" panose="02020603050405020304" pitchFamily="18" charset="0"/>
              </a:rPr>
              <a:t>类平抛</a:t>
            </a:r>
            <a:endParaRPr kumimoji="1" lang="en-US" altLang="zh-CN" sz="14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a:p>
            <a:pPr marL="800100" lvl="1" indent="-342900">
              <a:lnSpc>
                <a:spcPct val="150000"/>
              </a:lnSpc>
              <a:buFont typeface="+mj-ea"/>
              <a:buAutoNum type="circleNumDbPlain"/>
            </a:pPr>
            <a:r>
              <a:rPr kumimoji="1" lang="zh-CN" altLang="en-US" sz="1400" dirty="0">
                <a:solidFill>
                  <a:srgbClr val="223AAC"/>
                </a:solidFill>
                <a:latin typeface="KaiTi" panose="02010609060101010101" pitchFamily="49" charset="-122"/>
                <a:ea typeface="KaiTi" panose="02010609060101010101" pitchFamily="49" charset="-122"/>
                <a:cs typeface="Times New Roman" panose="02020603050405020304" pitchFamily="18" charset="0"/>
              </a:rPr>
              <a:t>运动过程的组合：单程</a:t>
            </a:r>
            <a:r>
              <a:rPr kumimoji="1" lang="en-US" altLang="zh-CN" sz="14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400" dirty="0">
                <a:solidFill>
                  <a:srgbClr val="223AAC"/>
                </a:solidFill>
                <a:latin typeface="KaiTi" panose="02010609060101010101" pitchFamily="49" charset="-122"/>
                <a:ea typeface="KaiTi" panose="02010609060101010101" pitchFamily="49" charset="-122"/>
                <a:cs typeface="Times New Roman" panose="02020603050405020304" pitchFamily="18" charset="0"/>
              </a:rPr>
              <a:t>往复</a:t>
            </a:r>
            <a:r>
              <a:rPr kumimoji="1" lang="en-US" altLang="zh-CN" sz="14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400" dirty="0">
                <a:solidFill>
                  <a:srgbClr val="223AAC"/>
                </a:solidFill>
                <a:latin typeface="KaiTi" panose="02010609060101010101" pitchFamily="49" charset="-122"/>
                <a:ea typeface="KaiTi" panose="02010609060101010101" pitchFamily="49" charset="-122"/>
                <a:cs typeface="Times New Roman" panose="02020603050405020304" pitchFamily="18" charset="0"/>
              </a:rPr>
              <a:t>周期</a:t>
            </a:r>
            <a:r>
              <a:rPr kumimoji="1" lang="en-US" altLang="zh-CN" sz="14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p>
          <a:p>
            <a:pPr marL="800100" lvl="1" indent="-342900">
              <a:lnSpc>
                <a:spcPct val="150000"/>
              </a:lnSpc>
              <a:buFont typeface="+mj-ea"/>
              <a:buAutoNum type="circleNumDbPlain"/>
            </a:pPr>
            <a:r>
              <a:rPr kumimoji="1" lang="zh-CN" altLang="en-US" sz="1400" dirty="0">
                <a:solidFill>
                  <a:srgbClr val="223AAC"/>
                </a:solidFill>
                <a:latin typeface="KaiTi" panose="02010609060101010101" pitchFamily="49" charset="-122"/>
                <a:ea typeface="KaiTi" panose="02010609060101010101" pitchFamily="49" charset="-122"/>
                <a:cs typeface="Times New Roman" panose="02020603050405020304" pitchFamily="18" charset="0"/>
              </a:rPr>
              <a:t>画出轨迹</a:t>
            </a:r>
            <a:endParaRPr kumimoji="1" lang="en-US" altLang="zh-CN" sz="14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a:p>
            <a:pPr marL="800100" lvl="1" indent="-342900">
              <a:lnSpc>
                <a:spcPct val="150000"/>
              </a:lnSpc>
              <a:buFont typeface="+mj-ea"/>
              <a:buAutoNum type="circleNumDbPlain"/>
            </a:pPr>
            <a:r>
              <a:rPr kumimoji="1" lang="zh-CN" altLang="en-US" sz="1400" dirty="0">
                <a:solidFill>
                  <a:srgbClr val="223AAC"/>
                </a:solidFill>
                <a:latin typeface="KaiTi" panose="02010609060101010101" pitchFamily="49" charset="-122"/>
                <a:ea typeface="KaiTi" panose="02010609060101010101" pitchFamily="49" charset="-122"/>
                <a:cs typeface="Times New Roman" panose="02020603050405020304" pitchFamily="18" charset="0"/>
              </a:rPr>
              <a:t>分析各阶段受力</a:t>
            </a:r>
            <a:r>
              <a:rPr kumimoji="1" lang="en-US" altLang="zh-CN" sz="14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400" dirty="0">
                <a:solidFill>
                  <a:srgbClr val="223AAC"/>
                </a:solidFill>
                <a:latin typeface="KaiTi" panose="02010609060101010101" pitchFamily="49" charset="-122"/>
                <a:ea typeface="KaiTi" panose="02010609060101010101" pitchFamily="49" charset="-122"/>
                <a:cs typeface="Times New Roman" panose="02020603050405020304" pitchFamily="18" charset="0"/>
              </a:rPr>
              <a:t>边界点运动方向</a:t>
            </a:r>
            <a:endParaRPr kumimoji="1" lang="en-US" altLang="zh-CN" sz="14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p:txBody>
      </p:sp>
      <p:sp>
        <p:nvSpPr>
          <p:cNvPr id="11" name="矩形 10">
            <a:extLst>
              <a:ext uri="{FF2B5EF4-FFF2-40B4-BE49-F238E27FC236}">
                <a16:creationId xmlns:a16="http://schemas.microsoft.com/office/drawing/2014/main" id="{1C24B9FA-4710-EC46-A651-C8E2E46BCB54}"/>
              </a:ext>
            </a:extLst>
          </p:cNvPr>
          <p:cNvSpPr/>
          <p:nvPr/>
        </p:nvSpPr>
        <p:spPr>
          <a:xfrm>
            <a:off x="672608" y="3596300"/>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pic>
        <p:nvPicPr>
          <p:cNvPr id="6" name="图片 5" descr="黑板上的字&#10;&#10;描述已自动生成">
            <a:extLst>
              <a:ext uri="{FF2B5EF4-FFF2-40B4-BE49-F238E27FC236}">
                <a16:creationId xmlns:a16="http://schemas.microsoft.com/office/drawing/2014/main" id="{6847A1BF-C453-A042-B308-7BEAC33FD2F6}"/>
              </a:ext>
            </a:extLst>
          </p:cNvPr>
          <p:cNvPicPr>
            <a:picLocks noChangeAspect="1"/>
          </p:cNvPicPr>
          <p:nvPr/>
        </p:nvPicPr>
        <p:blipFill rotWithShape="1">
          <a:blip r:embed="rId2">
            <a:extLst>
              <a:ext uri="{28A0092B-C50C-407E-A947-70E740481C1C}">
                <a14:useLocalDpi xmlns:a14="http://schemas.microsoft.com/office/drawing/2010/main" val="0"/>
              </a:ext>
            </a:extLst>
          </a:blip>
          <a:srcRect r="2020" b="2949"/>
          <a:stretch/>
        </p:blipFill>
        <p:spPr>
          <a:xfrm>
            <a:off x="5453325" y="2081295"/>
            <a:ext cx="5943545" cy="3299088"/>
          </a:xfrm>
          <a:prstGeom prst="rect">
            <a:avLst/>
          </a:prstGeom>
          <a:effectLst>
            <a:outerShdw blurRad="330200" dist="177800" dir="2580000" algn="ctr" rotWithShape="0">
              <a:srgbClr val="000000">
                <a:alpha val="17000"/>
              </a:srgbClr>
            </a:outerShdw>
          </a:effectLst>
        </p:spPr>
      </p:pic>
    </p:spTree>
    <p:extLst>
      <p:ext uri="{BB962C8B-B14F-4D97-AF65-F5344CB8AC3E}">
        <p14:creationId xmlns:p14="http://schemas.microsoft.com/office/powerpoint/2010/main" val="288990643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F595439-DC2D-814E-A9B9-7FC87B21C31C}"/>
              </a:ext>
            </a:extLst>
          </p:cNvPr>
          <p:cNvSpPr txBox="1"/>
          <p:nvPr/>
        </p:nvSpPr>
        <p:spPr>
          <a:xfrm>
            <a:off x="417830" y="748030"/>
            <a:ext cx="4942702" cy="307777"/>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哪些模型？</a:t>
            </a:r>
          </a:p>
        </p:txBody>
      </p:sp>
      <p:sp>
        <p:nvSpPr>
          <p:cNvPr id="4" name="文本框 3">
            <a:extLst>
              <a:ext uri="{FF2B5EF4-FFF2-40B4-BE49-F238E27FC236}">
                <a16:creationId xmlns:a16="http://schemas.microsoft.com/office/drawing/2014/main" id="{394ED3DE-6190-BC48-90C9-6C82B154923E}"/>
              </a:ext>
            </a:extLst>
          </p:cNvPr>
          <p:cNvSpPr txBox="1"/>
          <p:nvPr/>
        </p:nvSpPr>
        <p:spPr>
          <a:xfrm>
            <a:off x="489045" y="1182807"/>
            <a:ext cx="9503133" cy="1096454"/>
          </a:xfrm>
          <a:prstGeom prst="rect">
            <a:avLst/>
          </a:prstGeom>
          <a:noFill/>
        </p:spPr>
        <p:txBody>
          <a:bodyPr wrap="square" rtlCol="0">
            <a:spAutoFit/>
          </a:bodyPr>
          <a:lstStyle/>
          <a:p>
            <a:pPr>
              <a:lnSpc>
                <a:spcPct val="150000"/>
              </a:lnSpc>
            </a:pP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学姐建议：</a:t>
            </a:r>
            <a:endParaRPr kumimoji="1" lang="en-US"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a:lnSpc>
                <a:spcPct val="150000"/>
              </a:lnSpc>
            </a:pP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力与运动 </a:t>
            </a: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 电与磁场</a:t>
            </a:r>
            <a:endParaRPr kumimoji="1" lang="en-US"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a:lnSpc>
                <a:spcPct val="150000"/>
              </a:lnSpc>
            </a:pPr>
            <a:r>
              <a:rPr kumimoji="1" lang="zh-CN" altLang="en-US"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从错题中归纳总结！！！</a:t>
            </a:r>
            <a:endParaRPr kumimoji="1" lang="en-US" altLang="zh-CN"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endParaRPr>
          </a:p>
        </p:txBody>
      </p:sp>
      <p:sp>
        <p:nvSpPr>
          <p:cNvPr id="5" name="矩形 4">
            <a:extLst>
              <a:ext uri="{FF2B5EF4-FFF2-40B4-BE49-F238E27FC236}">
                <a16:creationId xmlns:a16="http://schemas.microsoft.com/office/drawing/2014/main" id="{48A01008-C526-154C-9A89-2460719D1A35}"/>
              </a:ext>
            </a:extLst>
          </p:cNvPr>
          <p:cNvSpPr/>
          <p:nvPr/>
        </p:nvSpPr>
        <p:spPr>
          <a:xfrm>
            <a:off x="417830" y="3226075"/>
            <a:ext cx="5678170" cy="3149325"/>
          </a:xfrm>
          <a:prstGeom prst="rect">
            <a:avLst/>
          </a:prstGeom>
          <a:solidFill>
            <a:srgbClr val="E8F0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3B27CFF8-40B3-3A40-9872-17E184753673}"/>
              </a:ext>
            </a:extLst>
          </p:cNvPr>
          <p:cNvSpPr/>
          <p:nvPr/>
        </p:nvSpPr>
        <p:spPr>
          <a:xfrm>
            <a:off x="693629" y="3355946"/>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2" name="文本框 1">
            <a:extLst>
              <a:ext uri="{FF2B5EF4-FFF2-40B4-BE49-F238E27FC236}">
                <a16:creationId xmlns:a16="http://schemas.microsoft.com/office/drawing/2014/main" id="{BFAB2D02-ABB8-FB49-8086-48B0841E691C}"/>
              </a:ext>
            </a:extLst>
          </p:cNvPr>
          <p:cNvSpPr txBox="1"/>
          <p:nvPr/>
        </p:nvSpPr>
        <p:spPr>
          <a:xfrm>
            <a:off x="1109127" y="3389633"/>
            <a:ext cx="1261884" cy="276999"/>
          </a:xfrm>
          <a:prstGeom prst="rect">
            <a:avLst/>
          </a:prstGeom>
          <a:noFill/>
        </p:spPr>
        <p:txBody>
          <a:bodyPr wrap="none" rtlCol="0">
            <a:spAutoFit/>
          </a:bodyPr>
          <a:lstStyle/>
          <a:p>
            <a:r>
              <a:rPr kumimoji="1" lang="zh-CN" altLang="en-US" sz="1200" dirty="0">
                <a:latin typeface="KaiTi" panose="02010609060101010101" pitchFamily="49" charset="-122"/>
                <a:ea typeface="KaiTi" panose="02010609060101010101" pitchFamily="49" charset="-122"/>
              </a:rPr>
              <a:t>力与运动板块：</a:t>
            </a:r>
          </a:p>
        </p:txBody>
      </p:sp>
      <p:sp>
        <p:nvSpPr>
          <p:cNvPr id="9" name="文本框 8">
            <a:extLst>
              <a:ext uri="{FF2B5EF4-FFF2-40B4-BE49-F238E27FC236}">
                <a16:creationId xmlns:a16="http://schemas.microsoft.com/office/drawing/2014/main" id="{C3AAC3DA-0228-864E-A963-595AD77AC694}"/>
              </a:ext>
            </a:extLst>
          </p:cNvPr>
          <p:cNvSpPr txBox="1"/>
          <p:nvPr/>
        </p:nvSpPr>
        <p:spPr>
          <a:xfrm>
            <a:off x="1109127" y="3902560"/>
            <a:ext cx="4682073" cy="1815882"/>
          </a:xfrm>
          <a:prstGeom prst="rect">
            <a:avLst/>
          </a:prstGeom>
          <a:noFill/>
        </p:spPr>
        <p:txBody>
          <a:bodyPr wrap="square" rtlCol="0">
            <a:spAutoFit/>
          </a:bodyPr>
          <a:lstStyle/>
          <a:p>
            <a:pPr marL="342900" indent="-342900">
              <a:buFont typeface="+mj-lt"/>
              <a:buAutoNum type="arabicPeriod"/>
            </a:pPr>
            <a:r>
              <a:rPr kumimoji="1" lang="zh-CN" altLang="en-US" sz="1400" i="1" dirty="0">
                <a:latin typeface="Times New Roman" panose="02020603050405020304" pitchFamily="18" charset="0"/>
                <a:ea typeface="KaiTi" panose="02010609060101010101" pitchFamily="49" charset="-122"/>
                <a:cs typeface="Times New Roman" panose="02020603050405020304" pitchFamily="18" charset="0"/>
              </a:rPr>
              <a:t>整体法、隔离法</a:t>
            </a:r>
          </a:p>
          <a:p>
            <a:pPr marL="342900" indent="-342900">
              <a:buFont typeface="+mj-lt"/>
              <a:buAutoNum type="arabicPeriod"/>
            </a:pPr>
            <a:endParaRPr kumimoji="1" lang="en-US" altLang="zh-CN" sz="1400" i="1" dirty="0">
              <a:latin typeface="Times New Roman" panose="02020603050405020304" pitchFamily="18" charset="0"/>
              <a:ea typeface="KaiTi" panose="02010609060101010101" pitchFamily="49" charset="-122"/>
              <a:cs typeface="Times New Roman" panose="02020603050405020304" pitchFamily="18" charset="0"/>
            </a:endParaRPr>
          </a:p>
          <a:p>
            <a:pPr marL="342900" indent="-342900">
              <a:buFont typeface="+mj-lt"/>
              <a:buAutoNum type="arabicPeriod"/>
            </a:pPr>
            <a:r>
              <a:rPr kumimoji="1" lang="zh-CN" altLang="en-US" sz="1400" i="1" dirty="0">
                <a:latin typeface="Times New Roman" panose="02020603050405020304" pitchFamily="18" charset="0"/>
                <a:ea typeface="KaiTi" panose="02010609060101010101" pitchFamily="49" charset="-122"/>
                <a:cs typeface="Times New Roman" panose="02020603050405020304" pitchFamily="18" charset="0"/>
              </a:rPr>
              <a:t>连接体（以滑轮为例）</a:t>
            </a:r>
            <a:endParaRPr kumimoji="1" lang="en-US" altLang="zh-CN" sz="1400" i="1" dirty="0">
              <a:latin typeface="Times New Roman" panose="02020603050405020304" pitchFamily="18" charset="0"/>
              <a:ea typeface="KaiTi" panose="02010609060101010101" pitchFamily="49" charset="-122"/>
              <a:cs typeface="Times New Roman" panose="02020603050405020304" pitchFamily="18" charset="0"/>
            </a:endParaRPr>
          </a:p>
          <a:p>
            <a:pPr marL="342900" indent="-342900">
              <a:buFont typeface="+mj-lt"/>
              <a:buAutoNum type="arabicPeriod"/>
            </a:pPr>
            <a:endParaRPr kumimoji="1" lang="en-US" altLang="zh-CN" sz="1400" i="1" dirty="0">
              <a:latin typeface="Times New Roman" panose="02020603050405020304" pitchFamily="18" charset="0"/>
              <a:ea typeface="KaiTi" panose="02010609060101010101" pitchFamily="49" charset="-122"/>
              <a:cs typeface="Times New Roman" panose="02020603050405020304" pitchFamily="18" charset="0"/>
            </a:endParaRPr>
          </a:p>
          <a:p>
            <a:r>
              <a:rPr kumimoji="1" lang="en-US" altLang="zh-CN" sz="1400" i="1" dirty="0">
                <a:latin typeface="Times New Roman" panose="02020603050405020304" pitchFamily="18" charset="0"/>
                <a:ea typeface="KaiTi" panose="02010609060101010101" pitchFamily="49" charset="-122"/>
                <a:cs typeface="Times New Roman" panose="02020603050405020304" pitchFamily="18" charset="0"/>
              </a:rPr>
              <a:t>……</a:t>
            </a:r>
            <a:endParaRPr kumimoji="1" lang="zh-CN" altLang="en-US" sz="1400" i="1" dirty="0">
              <a:latin typeface="Times New Roman" panose="02020603050405020304" pitchFamily="18" charset="0"/>
              <a:ea typeface="KaiTi" panose="02010609060101010101" pitchFamily="49" charset="-122"/>
              <a:cs typeface="Times New Roman" panose="02020603050405020304" pitchFamily="18" charset="0"/>
            </a:endParaRPr>
          </a:p>
          <a:p>
            <a:pPr marL="342900" indent="-342900">
              <a:buFont typeface="+mj-lt"/>
              <a:buAutoNum type="arabicPeriod"/>
            </a:pPr>
            <a:endParaRPr kumimoji="1" lang="en-US" altLang="zh-CN" sz="1400" i="1" dirty="0">
              <a:latin typeface="Times New Roman" panose="02020603050405020304" pitchFamily="18" charset="0"/>
              <a:ea typeface="KaiTi" panose="02010609060101010101" pitchFamily="49" charset="-122"/>
              <a:cs typeface="Times New Roman" panose="02020603050405020304" pitchFamily="18" charset="0"/>
            </a:endParaRPr>
          </a:p>
          <a:p>
            <a:pPr marL="342900" indent="-342900">
              <a:buFont typeface="+mj-lt"/>
              <a:buAutoNum type="arabicPeriod"/>
            </a:pPr>
            <a:endParaRPr kumimoji="1" lang="en-US" altLang="zh-CN" sz="1400" i="1" dirty="0">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i="1" dirty="0">
                <a:latin typeface="Times New Roman" panose="02020603050405020304" pitchFamily="18" charset="0"/>
                <a:ea typeface="KaiTi" panose="02010609060101010101" pitchFamily="49" charset="-122"/>
                <a:cs typeface="Times New Roman" panose="02020603050405020304" pitchFamily="18" charset="0"/>
              </a:rPr>
              <a:t>受力</a:t>
            </a:r>
            <a:r>
              <a:rPr kumimoji="1" lang="en-US" altLang="zh-CN" sz="1400" i="1" dirty="0">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i="1" dirty="0">
                <a:latin typeface="Times New Roman" panose="02020603050405020304" pitchFamily="18" charset="0"/>
                <a:ea typeface="KaiTi" panose="02010609060101010101" pitchFamily="49" charset="-122"/>
                <a:cs typeface="Times New Roman" panose="02020603050405020304" pitchFamily="18" charset="0"/>
              </a:rPr>
              <a:t>运动！</a:t>
            </a:r>
          </a:p>
        </p:txBody>
      </p:sp>
      <p:sp>
        <p:nvSpPr>
          <p:cNvPr id="10" name="矩形 9">
            <a:extLst>
              <a:ext uri="{FF2B5EF4-FFF2-40B4-BE49-F238E27FC236}">
                <a16:creationId xmlns:a16="http://schemas.microsoft.com/office/drawing/2014/main" id="{AE893CAE-41FA-5244-9AF4-39185648DF76}"/>
              </a:ext>
            </a:extLst>
          </p:cNvPr>
          <p:cNvSpPr/>
          <p:nvPr/>
        </p:nvSpPr>
        <p:spPr>
          <a:xfrm>
            <a:off x="6256326" y="3226075"/>
            <a:ext cx="5678170" cy="3149325"/>
          </a:xfrm>
          <a:prstGeom prst="rect">
            <a:avLst/>
          </a:prstGeom>
          <a:solidFill>
            <a:srgbClr val="E8F0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矩形 10">
            <a:extLst>
              <a:ext uri="{FF2B5EF4-FFF2-40B4-BE49-F238E27FC236}">
                <a16:creationId xmlns:a16="http://schemas.microsoft.com/office/drawing/2014/main" id="{EF3B9E2B-1E99-4B4C-9259-1135C3F71AE6}"/>
              </a:ext>
            </a:extLst>
          </p:cNvPr>
          <p:cNvSpPr/>
          <p:nvPr/>
        </p:nvSpPr>
        <p:spPr>
          <a:xfrm>
            <a:off x="6532125" y="3355946"/>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12" name="文本框 11">
            <a:extLst>
              <a:ext uri="{FF2B5EF4-FFF2-40B4-BE49-F238E27FC236}">
                <a16:creationId xmlns:a16="http://schemas.microsoft.com/office/drawing/2014/main" id="{D53691C6-DB70-F541-90C1-ED1C26EDD26C}"/>
              </a:ext>
            </a:extLst>
          </p:cNvPr>
          <p:cNvSpPr txBox="1"/>
          <p:nvPr/>
        </p:nvSpPr>
        <p:spPr>
          <a:xfrm>
            <a:off x="6947623" y="3394747"/>
            <a:ext cx="1261884" cy="276999"/>
          </a:xfrm>
          <a:prstGeom prst="rect">
            <a:avLst/>
          </a:prstGeom>
          <a:noFill/>
        </p:spPr>
        <p:txBody>
          <a:bodyPr wrap="none" rtlCol="0">
            <a:spAutoFit/>
          </a:bodyPr>
          <a:lstStyle/>
          <a:p>
            <a:r>
              <a:rPr kumimoji="1" lang="zh-CN" altLang="en-US" sz="1200" dirty="0">
                <a:latin typeface="KaiTi" panose="02010609060101010101" pitchFamily="49" charset="-122"/>
                <a:ea typeface="KaiTi" panose="02010609060101010101" pitchFamily="49" charset="-122"/>
              </a:rPr>
              <a:t>电与磁场板块：</a:t>
            </a:r>
          </a:p>
        </p:txBody>
      </p:sp>
      <p:sp>
        <p:nvSpPr>
          <p:cNvPr id="14" name="文本框 13">
            <a:extLst>
              <a:ext uri="{FF2B5EF4-FFF2-40B4-BE49-F238E27FC236}">
                <a16:creationId xmlns:a16="http://schemas.microsoft.com/office/drawing/2014/main" id="{F3C37F91-801D-264B-A6C0-1FA46C0E1864}"/>
              </a:ext>
            </a:extLst>
          </p:cNvPr>
          <p:cNvSpPr txBox="1"/>
          <p:nvPr/>
        </p:nvSpPr>
        <p:spPr>
          <a:xfrm>
            <a:off x="6947623" y="3902560"/>
            <a:ext cx="2685351" cy="2031325"/>
          </a:xfrm>
          <a:prstGeom prst="rect">
            <a:avLst/>
          </a:prstGeom>
          <a:noFill/>
        </p:spPr>
        <p:txBody>
          <a:bodyPr wrap="none" rtlCol="0">
            <a:spAutoFit/>
          </a:bodyPr>
          <a:lstStyle/>
          <a:p>
            <a:pPr marL="342900" indent="-342900">
              <a:buFont typeface="+mj-lt"/>
              <a:buAutoNum type="arabicPeriod"/>
            </a:pPr>
            <a:r>
              <a:rPr kumimoji="1" lang="zh-CN" altLang="en-US" sz="1400" i="1" dirty="0">
                <a:latin typeface="Times New Roman" panose="02020603050405020304" pitchFamily="18" charset="0"/>
                <a:ea typeface="KaiTi" panose="02010609060101010101" pitchFamily="49" charset="-122"/>
                <a:cs typeface="Times New Roman" panose="02020603050405020304" pitchFamily="18" charset="0"/>
              </a:rPr>
              <a:t>单杆模型（例如：受恒力）</a:t>
            </a:r>
            <a:endParaRPr kumimoji="1" lang="en-US" altLang="zh-CN" sz="1400" i="1" dirty="0">
              <a:latin typeface="Times New Roman" panose="02020603050405020304" pitchFamily="18" charset="0"/>
              <a:ea typeface="KaiTi" panose="02010609060101010101" pitchFamily="49" charset="-122"/>
              <a:cs typeface="Times New Roman" panose="02020603050405020304" pitchFamily="18" charset="0"/>
            </a:endParaRPr>
          </a:p>
          <a:p>
            <a:pPr marL="342900" indent="-342900">
              <a:buFont typeface="+mj-lt"/>
              <a:buAutoNum type="arabicPeriod"/>
            </a:pPr>
            <a:endParaRPr kumimoji="1" lang="en-US" altLang="zh-CN" sz="1400" i="1" dirty="0">
              <a:latin typeface="Times New Roman" panose="02020603050405020304" pitchFamily="18" charset="0"/>
              <a:ea typeface="KaiTi" panose="02010609060101010101" pitchFamily="49" charset="-122"/>
              <a:cs typeface="Times New Roman" panose="02020603050405020304" pitchFamily="18" charset="0"/>
            </a:endParaRPr>
          </a:p>
          <a:p>
            <a:pPr marL="342900" indent="-342900">
              <a:buFont typeface="+mj-lt"/>
              <a:buAutoNum type="arabicPeriod"/>
            </a:pPr>
            <a:r>
              <a:rPr kumimoji="1" lang="zh-CN" altLang="en-US" sz="1400" i="1" dirty="0">
                <a:latin typeface="Times New Roman" panose="02020603050405020304" pitchFamily="18" charset="0"/>
                <a:ea typeface="KaiTi" panose="02010609060101010101" pitchFamily="49" charset="-122"/>
                <a:cs typeface="Times New Roman" panose="02020603050405020304" pitchFamily="18" charset="0"/>
              </a:rPr>
              <a:t>不同边界磁场</a:t>
            </a:r>
            <a:endParaRPr kumimoji="1" lang="en-US" altLang="zh-CN" sz="1400" i="1" dirty="0">
              <a:latin typeface="Times New Roman" panose="02020603050405020304" pitchFamily="18" charset="0"/>
              <a:ea typeface="KaiTi" panose="02010609060101010101" pitchFamily="49" charset="-122"/>
              <a:cs typeface="Times New Roman" panose="02020603050405020304" pitchFamily="18" charset="0"/>
            </a:endParaRPr>
          </a:p>
          <a:p>
            <a:pPr marL="342900" indent="-342900">
              <a:buFont typeface="+mj-lt"/>
              <a:buAutoNum type="arabicPeriod"/>
            </a:pPr>
            <a:endParaRPr kumimoji="1" lang="zh-CN" altLang="en-US" sz="1400" i="1" dirty="0">
              <a:latin typeface="Times New Roman" panose="02020603050405020304" pitchFamily="18" charset="0"/>
              <a:ea typeface="KaiTi" panose="02010609060101010101" pitchFamily="49" charset="-122"/>
              <a:cs typeface="Times New Roman" panose="02020603050405020304" pitchFamily="18" charset="0"/>
            </a:endParaRPr>
          </a:p>
          <a:p>
            <a:pPr marL="342900" indent="-342900">
              <a:buFont typeface="+mj-lt"/>
              <a:buAutoNum type="arabicPeriod"/>
            </a:pPr>
            <a:r>
              <a:rPr kumimoji="1" lang="zh-CN" altLang="en-US" sz="1400" i="1" dirty="0">
                <a:latin typeface="Times New Roman" panose="02020603050405020304" pitchFamily="18" charset="0"/>
                <a:ea typeface="KaiTi" panose="02010609060101010101" pitchFamily="49" charset="-122"/>
                <a:cs typeface="Times New Roman" panose="02020603050405020304" pitchFamily="18" charset="0"/>
              </a:rPr>
              <a:t>组合场</a:t>
            </a:r>
            <a:endParaRPr kumimoji="1" lang="en-US" altLang="zh-CN" sz="1400" i="1" dirty="0">
              <a:latin typeface="Times New Roman" panose="02020603050405020304" pitchFamily="18" charset="0"/>
              <a:ea typeface="KaiTi" panose="02010609060101010101" pitchFamily="49" charset="-122"/>
              <a:cs typeface="Times New Roman" panose="02020603050405020304" pitchFamily="18" charset="0"/>
            </a:endParaRPr>
          </a:p>
          <a:p>
            <a:pPr marL="342900" indent="-342900">
              <a:buFont typeface="+mj-lt"/>
              <a:buAutoNum type="arabicPeriod"/>
            </a:pPr>
            <a:endParaRPr kumimoji="1" lang="zh-CN" altLang="en-US" sz="1400" i="1" dirty="0">
              <a:latin typeface="Times New Roman" panose="02020603050405020304" pitchFamily="18" charset="0"/>
              <a:ea typeface="KaiTi" panose="02010609060101010101" pitchFamily="49" charset="-122"/>
              <a:cs typeface="Times New Roman" panose="02020603050405020304" pitchFamily="18" charset="0"/>
            </a:endParaRPr>
          </a:p>
          <a:p>
            <a:r>
              <a:rPr kumimoji="1" lang="en-US" altLang="zh-CN" sz="1400" i="1" dirty="0">
                <a:latin typeface="Times New Roman" panose="02020603050405020304" pitchFamily="18" charset="0"/>
                <a:ea typeface="KaiTi" panose="02010609060101010101" pitchFamily="49" charset="-122"/>
                <a:cs typeface="Times New Roman" panose="02020603050405020304" pitchFamily="18" charset="0"/>
              </a:rPr>
              <a:t>……</a:t>
            </a:r>
            <a:endParaRPr kumimoji="1" lang="zh-CN" altLang="en-US" sz="1400" i="1" dirty="0">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i="1" dirty="0">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i="1" dirty="0">
                <a:latin typeface="Times New Roman" panose="02020603050405020304" pitchFamily="18" charset="0"/>
                <a:ea typeface="KaiTi" panose="02010609060101010101" pitchFamily="49" charset="-122"/>
                <a:cs typeface="Times New Roman" panose="02020603050405020304" pitchFamily="18" charset="0"/>
              </a:rPr>
              <a:t>分析轨迹</a:t>
            </a:r>
            <a:r>
              <a:rPr kumimoji="1" lang="en-US" altLang="zh-CN" sz="1400" i="1" dirty="0">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i="1" dirty="0">
                <a:latin typeface="Times New Roman" panose="02020603050405020304" pitchFamily="18" charset="0"/>
                <a:ea typeface="KaiTi" panose="02010609060101010101" pitchFamily="49" charset="-122"/>
                <a:cs typeface="Times New Roman" panose="02020603050405020304" pitchFamily="18" charset="0"/>
              </a:rPr>
              <a:t>画图！</a:t>
            </a:r>
          </a:p>
        </p:txBody>
      </p:sp>
      <p:pic>
        <p:nvPicPr>
          <p:cNvPr id="13" name="图片 12" descr="男人的照片上写着字的黑板&#10;&#10;描述已自动生成">
            <a:extLst>
              <a:ext uri="{FF2B5EF4-FFF2-40B4-BE49-F238E27FC236}">
                <a16:creationId xmlns:a16="http://schemas.microsoft.com/office/drawing/2014/main" id="{7E99FBFC-86E7-B545-8ACC-43FFBE0325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623" y="354709"/>
            <a:ext cx="4272826" cy="2546604"/>
          </a:xfrm>
          <a:prstGeom prst="rect">
            <a:avLst/>
          </a:prstGeom>
        </p:spPr>
      </p:pic>
    </p:spTree>
    <p:extLst>
      <p:ext uri="{BB962C8B-B14F-4D97-AF65-F5344CB8AC3E}">
        <p14:creationId xmlns:p14="http://schemas.microsoft.com/office/powerpoint/2010/main" val="252469735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48437175-892E-3F4C-AC0F-E093B6867A88}"/>
              </a:ext>
            </a:extLst>
          </p:cNvPr>
          <p:cNvSpPr/>
          <p:nvPr/>
        </p:nvSpPr>
        <p:spPr>
          <a:xfrm>
            <a:off x="574024" y="1347341"/>
            <a:ext cx="11043316" cy="3353553"/>
          </a:xfrm>
          <a:prstGeom prst="rect">
            <a:avLst/>
          </a:prstGeom>
          <a:solidFill>
            <a:schemeClr val="bg1">
              <a:lumMod val="95000"/>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 name="文本框 3">
            <a:extLst>
              <a:ext uri="{FF2B5EF4-FFF2-40B4-BE49-F238E27FC236}">
                <a16:creationId xmlns:a16="http://schemas.microsoft.com/office/drawing/2014/main" id="{F5FA99D3-4736-A246-A135-8AE4C9927328}"/>
              </a:ext>
            </a:extLst>
          </p:cNvPr>
          <p:cNvSpPr txBox="1"/>
          <p:nvPr/>
        </p:nvSpPr>
        <p:spPr>
          <a:xfrm>
            <a:off x="538850" y="459740"/>
            <a:ext cx="4942702" cy="338554"/>
          </a:xfrm>
          <a:prstGeom prst="rect">
            <a:avLst/>
          </a:prstGeom>
          <a:noFill/>
        </p:spPr>
        <p:txBody>
          <a:bodyPr wrap="square" rtlCol="0">
            <a:spAutoFit/>
          </a:bodyPr>
          <a:lstStyle/>
          <a:p>
            <a:r>
              <a:rPr kumimoji="1" lang="en-US" altLang="zh-CN"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1.</a:t>
            </a:r>
            <a:r>
              <a:rPr kumimoji="1" lang="zh-CN" altLang="en-US"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力与运动板块：</a:t>
            </a:r>
          </a:p>
        </p:txBody>
      </p:sp>
      <p:sp>
        <p:nvSpPr>
          <p:cNvPr id="5" name="矩形 4">
            <a:extLst>
              <a:ext uri="{FF2B5EF4-FFF2-40B4-BE49-F238E27FC236}">
                <a16:creationId xmlns:a16="http://schemas.microsoft.com/office/drawing/2014/main" id="{FF0E6817-B62F-4E44-80B3-EAE331DC2CB9}"/>
              </a:ext>
            </a:extLst>
          </p:cNvPr>
          <p:cNvSpPr/>
          <p:nvPr/>
        </p:nvSpPr>
        <p:spPr>
          <a:xfrm>
            <a:off x="633528" y="1393399"/>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6" name="文本框 5">
            <a:extLst>
              <a:ext uri="{FF2B5EF4-FFF2-40B4-BE49-F238E27FC236}">
                <a16:creationId xmlns:a16="http://schemas.microsoft.com/office/drawing/2014/main" id="{46CA4B85-B5BE-C24B-94A2-47ED81E37822}"/>
              </a:ext>
            </a:extLst>
          </p:cNvPr>
          <p:cNvSpPr txBox="1"/>
          <p:nvPr/>
        </p:nvSpPr>
        <p:spPr>
          <a:xfrm>
            <a:off x="968747" y="1381367"/>
            <a:ext cx="9354349" cy="3283078"/>
          </a:xfrm>
          <a:prstGeom prst="rect">
            <a:avLst/>
          </a:prstGeom>
          <a:noFill/>
        </p:spPr>
        <p:txBody>
          <a:bodyPr wrap="square" rtlCol="0">
            <a:spAutoFit/>
          </a:bodyPr>
          <a:lstStyle/>
          <a:p>
            <a:pPr>
              <a:lnSpc>
                <a:spcPct val="150000"/>
              </a:lnSpc>
            </a:pP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Step1.</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理解所有书上概念</a:t>
            </a:r>
            <a:endPar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具体化理解概念「思维导图」</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u="sng"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所有公式都要能够自己推导！！！</a:t>
            </a:r>
            <a:endParaRPr kumimoji="1" lang="en-US" altLang="zh-CN" sz="1400" u="sng"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Step2.</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解题</a:t>
            </a: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细</a:t>
            </a: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p>
          <a:p>
            <a:pPr>
              <a:lnSpc>
                <a:spcPct val="150000"/>
              </a:lnSpc>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按照「方法」做题</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划分每一步的逻辑</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Step3. {</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模型化</a:t>
            </a: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训练速度</a:t>
            </a: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p>
          <a:p>
            <a:pPr>
              <a:lnSpc>
                <a:spcPct val="150000"/>
              </a:lnSpc>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刷题：</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总结模型！</a:t>
            </a:r>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训练速度：</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1</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）蒙上答案迅速反应步骤</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2</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）总结题目类型</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文本框 6">
            <a:extLst>
              <a:ext uri="{FF2B5EF4-FFF2-40B4-BE49-F238E27FC236}">
                <a16:creationId xmlns:a16="http://schemas.microsoft.com/office/drawing/2014/main" id="{5C0E9FAD-86FB-6444-A3D8-9DEBA4E38E22}"/>
              </a:ext>
            </a:extLst>
          </p:cNvPr>
          <p:cNvSpPr txBox="1"/>
          <p:nvPr/>
        </p:nvSpPr>
        <p:spPr>
          <a:xfrm>
            <a:off x="582977" y="5145112"/>
            <a:ext cx="8263801" cy="738664"/>
          </a:xfrm>
          <a:prstGeom prst="rect">
            <a:avLst/>
          </a:prstGeom>
          <a:noFill/>
        </p:spPr>
        <p:txBody>
          <a:bodyPr wrap="none" rtlCol="0">
            <a:spAutoFit/>
          </a:bodyPr>
          <a:lstStyle/>
          <a:p>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强调！</a:t>
            </a:r>
            <a:r>
              <a:rPr kumimoji="1" lang="en-US" altLang="zh-CN" sz="1400" dirty="0">
                <a:solidFill>
                  <a:srgbClr val="223AAC"/>
                </a:solidFill>
                <a:latin typeface="KaiTi" panose="02010609060101010101" pitchFamily="49" charset="-122"/>
                <a:ea typeface="KaiTi" panose="02010609060101010101" pitchFamily="49" charset="-122"/>
              </a:rPr>
              <a:t>】</a:t>
            </a: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一定要先细做题 「弄懂一道题型」</a:t>
            </a:r>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再加快速度「模版化」，在平常「限时训练」是上分秘诀！！</a:t>
            </a:r>
          </a:p>
        </p:txBody>
      </p:sp>
      <p:cxnSp>
        <p:nvCxnSpPr>
          <p:cNvPr id="8" name="直线连接符 7">
            <a:extLst>
              <a:ext uri="{FF2B5EF4-FFF2-40B4-BE49-F238E27FC236}">
                <a16:creationId xmlns:a16="http://schemas.microsoft.com/office/drawing/2014/main" id="{21482DC0-3144-024F-BF25-1A61FFF454A7}"/>
              </a:ext>
            </a:extLst>
          </p:cNvPr>
          <p:cNvCxnSpPr>
            <a:cxnSpLocks/>
          </p:cNvCxnSpPr>
          <p:nvPr/>
        </p:nvCxnSpPr>
        <p:spPr>
          <a:xfrm>
            <a:off x="582977" y="4980918"/>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9" name="直线连接符 8">
            <a:extLst>
              <a:ext uri="{FF2B5EF4-FFF2-40B4-BE49-F238E27FC236}">
                <a16:creationId xmlns:a16="http://schemas.microsoft.com/office/drawing/2014/main" id="{9A01DCFA-C36E-8142-A5D9-0C121720ED2B}"/>
              </a:ext>
            </a:extLst>
          </p:cNvPr>
          <p:cNvCxnSpPr>
            <a:cxnSpLocks/>
          </p:cNvCxnSpPr>
          <p:nvPr/>
        </p:nvCxnSpPr>
        <p:spPr>
          <a:xfrm>
            <a:off x="582977" y="6163794"/>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E82848F7-ACF9-DE4B-ACE2-3827E2F3F752}"/>
              </a:ext>
            </a:extLst>
          </p:cNvPr>
          <p:cNvSpPr/>
          <p:nvPr/>
        </p:nvSpPr>
        <p:spPr>
          <a:xfrm>
            <a:off x="968747" y="3363401"/>
            <a:ext cx="3754328" cy="1365487"/>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82352670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B63A571E-2F89-F74F-8875-5269527B170A}"/>
              </a:ext>
            </a:extLst>
          </p:cNvPr>
          <p:cNvSpPr/>
          <p:nvPr/>
        </p:nvSpPr>
        <p:spPr>
          <a:xfrm>
            <a:off x="609559" y="2737922"/>
            <a:ext cx="2384364" cy="3660337"/>
          </a:xfrm>
          <a:prstGeom prst="rect">
            <a:avLst/>
          </a:prstGeom>
          <a:solidFill>
            <a:srgbClr val="FCED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AD439BBB-1E1D-7344-9A13-86EEDF550E12}"/>
              </a:ext>
            </a:extLst>
          </p:cNvPr>
          <p:cNvSpPr txBox="1"/>
          <p:nvPr/>
        </p:nvSpPr>
        <p:spPr>
          <a:xfrm>
            <a:off x="538850" y="1090551"/>
            <a:ext cx="9354349" cy="1669431"/>
          </a:xfrm>
          <a:prstGeom prst="rect">
            <a:avLst/>
          </a:prstGeom>
          <a:noFill/>
        </p:spPr>
        <p:txBody>
          <a:bodyPr wrap="square" rtlCol="0">
            <a:spAutoFit/>
          </a:bodyPr>
          <a:lstStyle/>
          <a:p>
            <a:pPr>
              <a:lnSpc>
                <a:spcPct val="150000"/>
              </a:lnSpc>
            </a:pP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模型化</a:t>
            </a: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训练速度</a:t>
            </a: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p>
          <a:p>
            <a:pPr>
              <a:lnSpc>
                <a:spcPct val="150000"/>
              </a:lnSpc>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刷题：</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总结模型！</a:t>
            </a:r>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训练速度：</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1</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）蒙上答案迅速反应步骤</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2</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）总结题目类型</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6" name="矩形 5">
            <a:extLst>
              <a:ext uri="{FF2B5EF4-FFF2-40B4-BE49-F238E27FC236}">
                <a16:creationId xmlns:a16="http://schemas.microsoft.com/office/drawing/2014/main" id="{F3F0AD5B-CF0C-9044-84C6-890E3379EA33}"/>
              </a:ext>
            </a:extLst>
          </p:cNvPr>
          <p:cNvSpPr/>
          <p:nvPr/>
        </p:nvSpPr>
        <p:spPr>
          <a:xfrm>
            <a:off x="693629" y="2882386"/>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491CFD39-FC30-324E-BD0A-ACD4C0CF6E63}"/>
              </a:ext>
            </a:extLst>
          </p:cNvPr>
          <p:cNvSpPr txBox="1"/>
          <p:nvPr/>
        </p:nvSpPr>
        <p:spPr>
          <a:xfrm>
            <a:off x="693907" y="3251717"/>
            <a:ext cx="2201693" cy="2677656"/>
          </a:xfrm>
          <a:prstGeom prst="rect">
            <a:avLst/>
          </a:prstGeom>
          <a:noFill/>
        </p:spPr>
        <p:txBody>
          <a:bodyPr wrap="square" rtlCol="0">
            <a:spAutoFit/>
          </a:bodyPr>
          <a:lstStyle/>
          <a:p>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模型化</a:t>
            </a:r>
            <a:r>
              <a:rPr kumimoji="1" lang="en-US" altLang="zh-CN" sz="1400" dirty="0">
                <a:solidFill>
                  <a:srgbClr val="223AAC"/>
                </a:solidFill>
                <a:latin typeface="KaiTi" panose="02010609060101010101" pitchFamily="49" charset="-122"/>
                <a:ea typeface="KaiTi" panose="02010609060101010101" pitchFamily="49" charset="-122"/>
              </a:rPr>
              <a:t>】</a:t>
            </a: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latin typeface="KaiTi" panose="02010609060101010101" pitchFamily="49" charset="-122"/>
                <a:ea typeface="KaiTi" panose="02010609060101010101" pitchFamily="49" charset="-122"/>
              </a:rPr>
              <a:t>按照不同模型归类解法</a:t>
            </a:r>
            <a:endParaRPr kumimoji="1" lang="en-US" altLang="zh-CN" sz="1400" dirty="0">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*分类模型：</a:t>
            </a:r>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弹力方向</a:t>
            </a:r>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绳</a:t>
            </a:r>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杆</a:t>
            </a:r>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面</a:t>
            </a:r>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受力</a:t>
            </a:r>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方向</a:t>
            </a:r>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重点</a:t>
            </a:r>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即：</a:t>
            </a:r>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b="1" dirty="0">
              <a:solidFill>
                <a:srgbClr val="223AAC"/>
              </a:solidFill>
              <a:latin typeface="KaiTi" panose="02010609060101010101" pitchFamily="49" charset="-122"/>
              <a:ea typeface="KaiTi" panose="02010609060101010101" pitchFamily="49" charset="-122"/>
            </a:endParaRPr>
          </a:p>
          <a:p>
            <a:pPr algn="ctr"/>
            <a:r>
              <a:rPr kumimoji="1" lang="en-US" altLang="zh-CN" sz="1400" b="1" dirty="0">
                <a:solidFill>
                  <a:srgbClr val="223AAC"/>
                </a:solidFill>
                <a:latin typeface="KaiTi" panose="02010609060101010101" pitchFamily="49" charset="-122"/>
                <a:ea typeface="KaiTi" panose="02010609060101010101" pitchFamily="49" charset="-122"/>
              </a:rPr>
              <a:t>{</a:t>
            </a:r>
            <a:r>
              <a:rPr kumimoji="1" lang="zh-CN" altLang="en-US" sz="1400" b="1" dirty="0">
                <a:solidFill>
                  <a:srgbClr val="223AAC"/>
                </a:solidFill>
                <a:latin typeface="KaiTi" panose="02010609060101010101" pitchFamily="49" charset="-122"/>
                <a:ea typeface="KaiTi" panose="02010609060101010101" pitchFamily="49" charset="-122"/>
              </a:rPr>
              <a:t>善于归类，总结性思维</a:t>
            </a:r>
            <a:r>
              <a:rPr kumimoji="1" lang="en-US" altLang="zh-CN" sz="1400" b="1" dirty="0">
                <a:solidFill>
                  <a:srgbClr val="223AAC"/>
                </a:solidFill>
                <a:latin typeface="KaiTi" panose="02010609060101010101" pitchFamily="49" charset="-122"/>
                <a:ea typeface="KaiTi" panose="02010609060101010101" pitchFamily="49" charset="-122"/>
              </a:rPr>
              <a:t>}</a:t>
            </a:r>
            <a:endParaRPr kumimoji="1" lang="en-US" altLang="zh-CN" sz="1400" dirty="0">
              <a:solidFill>
                <a:srgbClr val="223AAC"/>
              </a:solidFill>
              <a:latin typeface="KaiTi" panose="02010609060101010101" pitchFamily="49" charset="-122"/>
              <a:ea typeface="KaiTi" panose="02010609060101010101" pitchFamily="49" charset="-122"/>
            </a:endParaRPr>
          </a:p>
        </p:txBody>
      </p:sp>
      <p:sp>
        <p:nvSpPr>
          <p:cNvPr id="15" name="文本框 14">
            <a:extLst>
              <a:ext uri="{FF2B5EF4-FFF2-40B4-BE49-F238E27FC236}">
                <a16:creationId xmlns:a16="http://schemas.microsoft.com/office/drawing/2014/main" id="{DC4EA1E4-F5BC-F04C-AE1A-903DAA7A7D93}"/>
              </a:ext>
            </a:extLst>
          </p:cNvPr>
          <p:cNvSpPr txBox="1"/>
          <p:nvPr/>
        </p:nvSpPr>
        <p:spPr>
          <a:xfrm>
            <a:off x="538850" y="459740"/>
            <a:ext cx="4942702" cy="338554"/>
          </a:xfrm>
          <a:prstGeom prst="rect">
            <a:avLst/>
          </a:prstGeom>
          <a:noFill/>
        </p:spPr>
        <p:txBody>
          <a:bodyPr wrap="square" rtlCol="0">
            <a:spAutoFit/>
          </a:bodyPr>
          <a:lstStyle/>
          <a:p>
            <a:r>
              <a:rPr kumimoji="1" lang="en-US" altLang="zh-CN"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1.</a:t>
            </a:r>
            <a:r>
              <a:rPr kumimoji="1" lang="zh-CN" altLang="en-US"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力与运动板块：</a:t>
            </a:r>
          </a:p>
        </p:txBody>
      </p:sp>
      <p:pic>
        <p:nvPicPr>
          <p:cNvPr id="4" name="图片 3" descr="图示&#10;&#10;描述已自动生成">
            <a:extLst>
              <a:ext uri="{FF2B5EF4-FFF2-40B4-BE49-F238E27FC236}">
                <a16:creationId xmlns:a16="http://schemas.microsoft.com/office/drawing/2014/main" id="{346C8D52-AD45-F842-AA9A-A6B754F0F399}"/>
              </a:ext>
            </a:extLst>
          </p:cNvPr>
          <p:cNvPicPr>
            <a:picLocks noChangeAspect="1"/>
          </p:cNvPicPr>
          <p:nvPr/>
        </p:nvPicPr>
        <p:blipFill rotWithShape="1">
          <a:blip r:embed="rId2">
            <a:extLst>
              <a:ext uri="{28A0092B-C50C-407E-A947-70E740481C1C}">
                <a14:useLocalDpi xmlns:a14="http://schemas.microsoft.com/office/drawing/2010/main" val="0"/>
              </a:ext>
            </a:extLst>
          </a:blip>
          <a:srcRect l="11170" t="31813" b="28728"/>
          <a:stretch/>
        </p:blipFill>
        <p:spPr>
          <a:xfrm>
            <a:off x="5216024" y="628153"/>
            <a:ext cx="6002208" cy="5770105"/>
          </a:xfrm>
          <a:prstGeom prst="rect">
            <a:avLst/>
          </a:prstGeom>
          <a:ln>
            <a:solidFill>
              <a:srgbClr val="C00000"/>
            </a:solidFill>
          </a:ln>
        </p:spPr>
      </p:pic>
    </p:spTree>
    <p:extLst>
      <p:ext uri="{BB962C8B-B14F-4D97-AF65-F5344CB8AC3E}">
        <p14:creationId xmlns:p14="http://schemas.microsoft.com/office/powerpoint/2010/main" val="264009113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B63A571E-2F89-F74F-8875-5269527B170A}"/>
              </a:ext>
            </a:extLst>
          </p:cNvPr>
          <p:cNvSpPr/>
          <p:nvPr/>
        </p:nvSpPr>
        <p:spPr>
          <a:xfrm>
            <a:off x="609559" y="2737922"/>
            <a:ext cx="2384364" cy="3660337"/>
          </a:xfrm>
          <a:prstGeom prst="rect">
            <a:avLst/>
          </a:prstGeom>
          <a:solidFill>
            <a:srgbClr val="FCED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AD439BBB-1E1D-7344-9A13-86EEDF550E12}"/>
              </a:ext>
            </a:extLst>
          </p:cNvPr>
          <p:cNvSpPr txBox="1"/>
          <p:nvPr/>
        </p:nvSpPr>
        <p:spPr>
          <a:xfrm>
            <a:off x="538850" y="1090551"/>
            <a:ext cx="9354349" cy="1023101"/>
          </a:xfrm>
          <a:prstGeom prst="rect">
            <a:avLst/>
          </a:prstGeom>
          <a:noFill/>
        </p:spPr>
        <p:txBody>
          <a:bodyPr wrap="square" rtlCol="0">
            <a:spAutoFit/>
          </a:bodyPr>
          <a:lstStyle/>
          <a:p>
            <a:pPr>
              <a:lnSpc>
                <a:spcPct val="150000"/>
              </a:lnSpc>
            </a:pP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哪些模型？</a:t>
            </a:r>
            <a:endPar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）整体法、隔离法</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6" name="矩形 5">
            <a:extLst>
              <a:ext uri="{FF2B5EF4-FFF2-40B4-BE49-F238E27FC236}">
                <a16:creationId xmlns:a16="http://schemas.microsoft.com/office/drawing/2014/main" id="{F3F0AD5B-CF0C-9044-84C6-890E3379EA33}"/>
              </a:ext>
            </a:extLst>
          </p:cNvPr>
          <p:cNvSpPr/>
          <p:nvPr/>
        </p:nvSpPr>
        <p:spPr>
          <a:xfrm>
            <a:off x="693629" y="2882386"/>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491CFD39-FC30-324E-BD0A-ACD4C0CF6E63}"/>
              </a:ext>
            </a:extLst>
          </p:cNvPr>
          <p:cNvSpPr txBox="1"/>
          <p:nvPr/>
        </p:nvSpPr>
        <p:spPr>
          <a:xfrm>
            <a:off x="693907" y="3251717"/>
            <a:ext cx="2201693" cy="2677656"/>
          </a:xfrm>
          <a:prstGeom prst="rect">
            <a:avLst/>
          </a:prstGeom>
          <a:noFill/>
        </p:spPr>
        <p:txBody>
          <a:bodyPr wrap="square" rtlCol="0">
            <a:spAutoFit/>
          </a:bodyPr>
          <a:lstStyle/>
          <a:p>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整体与隔离</a:t>
            </a:r>
            <a:r>
              <a:rPr kumimoji="1" lang="en-US" altLang="zh-CN" sz="1400" dirty="0">
                <a:solidFill>
                  <a:srgbClr val="223AAC"/>
                </a:solidFill>
                <a:latin typeface="KaiTi" panose="02010609060101010101" pitchFamily="49" charset="-122"/>
                <a:ea typeface="KaiTi" panose="02010609060101010101" pitchFamily="49" charset="-122"/>
              </a:rPr>
              <a:t>】</a:t>
            </a: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latin typeface="KaiTi" panose="02010609060101010101" pitchFamily="49" charset="-122"/>
                <a:ea typeface="KaiTi" panose="02010609060101010101" pitchFamily="49" charset="-122"/>
              </a:rPr>
              <a:t>先按照整体法：</a:t>
            </a:r>
            <a:endParaRPr kumimoji="1" lang="en-US" altLang="zh-CN" sz="1400" dirty="0">
              <a:latin typeface="KaiTi" panose="02010609060101010101" pitchFamily="49" charset="-122"/>
              <a:ea typeface="KaiTi" panose="02010609060101010101" pitchFamily="49" charset="-122"/>
            </a:endParaRPr>
          </a:p>
          <a:p>
            <a:r>
              <a:rPr kumimoji="1" lang="zh-CN" altLang="en-US" sz="1400" dirty="0">
                <a:latin typeface="KaiTi" panose="02010609060101010101" pitchFamily="49" charset="-122"/>
                <a:ea typeface="KaiTi" panose="02010609060101010101" pitchFamily="49" charset="-122"/>
              </a:rPr>
              <a:t>求共同加速度</a:t>
            </a:r>
            <a:endParaRPr kumimoji="1" lang="en-US" altLang="zh-CN" sz="1400" dirty="0">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*再选择「合适物体」：</a:t>
            </a:r>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求出内力</a:t>
            </a:r>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b="1" dirty="0">
              <a:solidFill>
                <a:srgbClr val="223AAC"/>
              </a:solidFill>
              <a:latin typeface="KaiTi" panose="02010609060101010101" pitchFamily="49" charset="-122"/>
              <a:ea typeface="KaiTi" panose="02010609060101010101" pitchFamily="49" charset="-122"/>
            </a:endParaRPr>
          </a:p>
          <a:p>
            <a:pPr algn="ctr"/>
            <a:r>
              <a:rPr kumimoji="1" lang="en-US" altLang="zh-CN" sz="1400" b="1" dirty="0">
                <a:solidFill>
                  <a:srgbClr val="223AAC"/>
                </a:solidFill>
                <a:latin typeface="KaiTi" panose="02010609060101010101" pitchFamily="49" charset="-122"/>
                <a:ea typeface="KaiTi" panose="02010609060101010101" pitchFamily="49" charset="-122"/>
              </a:rPr>
              <a:t>{</a:t>
            </a:r>
            <a:r>
              <a:rPr kumimoji="1" lang="zh-CN" altLang="en-US" sz="1400" b="1" dirty="0">
                <a:solidFill>
                  <a:srgbClr val="223AAC"/>
                </a:solidFill>
                <a:latin typeface="KaiTi" panose="02010609060101010101" pitchFamily="49" charset="-122"/>
                <a:ea typeface="KaiTi" panose="02010609060101010101" pitchFamily="49" charset="-122"/>
              </a:rPr>
              <a:t>先求共同物理量，</a:t>
            </a:r>
            <a:endParaRPr kumimoji="1" lang="en-US" altLang="zh-CN" sz="1400" b="1" dirty="0">
              <a:solidFill>
                <a:srgbClr val="223AAC"/>
              </a:solidFill>
              <a:latin typeface="KaiTi" panose="02010609060101010101" pitchFamily="49" charset="-122"/>
              <a:ea typeface="KaiTi" panose="02010609060101010101" pitchFamily="49" charset="-122"/>
            </a:endParaRPr>
          </a:p>
          <a:p>
            <a:pPr algn="ctr"/>
            <a:r>
              <a:rPr kumimoji="1" lang="zh-CN" altLang="en-US" sz="1400" b="1" dirty="0">
                <a:solidFill>
                  <a:srgbClr val="223AAC"/>
                </a:solidFill>
                <a:latin typeface="KaiTi" panose="02010609060101010101" pitchFamily="49" charset="-122"/>
                <a:ea typeface="KaiTi" panose="02010609060101010101" pitchFamily="49" charset="-122"/>
              </a:rPr>
              <a:t>再分别作为研究对象</a:t>
            </a:r>
            <a:r>
              <a:rPr kumimoji="1" lang="en-US" altLang="zh-CN" sz="1400" b="1" dirty="0">
                <a:solidFill>
                  <a:srgbClr val="223AAC"/>
                </a:solidFill>
                <a:latin typeface="KaiTi" panose="02010609060101010101" pitchFamily="49" charset="-122"/>
                <a:ea typeface="KaiTi" panose="02010609060101010101" pitchFamily="49" charset="-122"/>
              </a:rPr>
              <a:t>}</a:t>
            </a:r>
            <a:endParaRPr kumimoji="1" lang="en-US" altLang="zh-CN" sz="1400" dirty="0">
              <a:solidFill>
                <a:srgbClr val="223AAC"/>
              </a:solidFill>
              <a:latin typeface="KaiTi" panose="02010609060101010101" pitchFamily="49" charset="-122"/>
              <a:ea typeface="KaiTi" panose="02010609060101010101" pitchFamily="49" charset="-122"/>
            </a:endParaRPr>
          </a:p>
        </p:txBody>
      </p:sp>
      <p:sp>
        <p:nvSpPr>
          <p:cNvPr id="15" name="文本框 14">
            <a:extLst>
              <a:ext uri="{FF2B5EF4-FFF2-40B4-BE49-F238E27FC236}">
                <a16:creationId xmlns:a16="http://schemas.microsoft.com/office/drawing/2014/main" id="{DC4EA1E4-F5BC-F04C-AE1A-903DAA7A7D93}"/>
              </a:ext>
            </a:extLst>
          </p:cNvPr>
          <p:cNvSpPr txBox="1"/>
          <p:nvPr/>
        </p:nvSpPr>
        <p:spPr>
          <a:xfrm>
            <a:off x="538850" y="459740"/>
            <a:ext cx="4942702" cy="338554"/>
          </a:xfrm>
          <a:prstGeom prst="rect">
            <a:avLst/>
          </a:prstGeom>
          <a:noFill/>
        </p:spPr>
        <p:txBody>
          <a:bodyPr wrap="square" rtlCol="0">
            <a:spAutoFit/>
          </a:bodyPr>
          <a:lstStyle/>
          <a:p>
            <a:r>
              <a:rPr kumimoji="1" lang="en-US" altLang="zh-CN"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1.</a:t>
            </a:r>
            <a:r>
              <a:rPr kumimoji="1" lang="zh-CN" altLang="en-US"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力与运动板块：</a:t>
            </a:r>
          </a:p>
        </p:txBody>
      </p:sp>
      <p:pic>
        <p:nvPicPr>
          <p:cNvPr id="13" name="图片 12">
            <a:extLst>
              <a:ext uri="{FF2B5EF4-FFF2-40B4-BE49-F238E27FC236}">
                <a16:creationId xmlns:a16="http://schemas.microsoft.com/office/drawing/2014/main" id="{A0A9CB3A-2DAA-A74D-94FB-60D01874FCA8}"/>
              </a:ext>
            </a:extLst>
          </p:cNvPr>
          <p:cNvPicPr>
            <a:picLocks noChangeAspect="1"/>
          </p:cNvPicPr>
          <p:nvPr/>
        </p:nvPicPr>
        <p:blipFill>
          <a:blip r:embed="rId2"/>
          <a:stretch>
            <a:fillRect/>
          </a:stretch>
        </p:blipFill>
        <p:spPr>
          <a:xfrm>
            <a:off x="4741693" y="734219"/>
            <a:ext cx="6756400" cy="5765800"/>
          </a:xfrm>
          <a:prstGeom prst="rect">
            <a:avLst/>
          </a:prstGeom>
          <a:ln>
            <a:solidFill>
              <a:srgbClr val="C00000"/>
            </a:solidFill>
          </a:ln>
        </p:spPr>
      </p:pic>
    </p:spTree>
    <p:extLst>
      <p:ext uri="{BB962C8B-B14F-4D97-AF65-F5344CB8AC3E}">
        <p14:creationId xmlns:p14="http://schemas.microsoft.com/office/powerpoint/2010/main" val="38317815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B63A571E-2F89-F74F-8875-5269527B170A}"/>
              </a:ext>
            </a:extLst>
          </p:cNvPr>
          <p:cNvSpPr/>
          <p:nvPr/>
        </p:nvSpPr>
        <p:spPr>
          <a:xfrm>
            <a:off x="609559" y="2737922"/>
            <a:ext cx="2384364" cy="3660337"/>
          </a:xfrm>
          <a:prstGeom prst="rect">
            <a:avLst/>
          </a:prstGeom>
          <a:solidFill>
            <a:srgbClr val="FCED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AD439BBB-1E1D-7344-9A13-86EEDF550E12}"/>
              </a:ext>
            </a:extLst>
          </p:cNvPr>
          <p:cNvSpPr txBox="1"/>
          <p:nvPr/>
        </p:nvSpPr>
        <p:spPr>
          <a:xfrm>
            <a:off x="538850" y="1090551"/>
            <a:ext cx="9354349" cy="697755"/>
          </a:xfrm>
          <a:prstGeom prst="rect">
            <a:avLst/>
          </a:prstGeom>
          <a:noFill/>
        </p:spPr>
        <p:txBody>
          <a:bodyPr wrap="square" rtlCol="0">
            <a:spAutoFit/>
          </a:bodyPr>
          <a:lstStyle/>
          <a:p>
            <a:pPr>
              <a:lnSpc>
                <a:spcPct val="150000"/>
              </a:lnSpc>
            </a:pP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哪些模型？</a:t>
            </a:r>
            <a:endPar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）连接体（以滑轮为例）</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6" name="矩形 5">
            <a:extLst>
              <a:ext uri="{FF2B5EF4-FFF2-40B4-BE49-F238E27FC236}">
                <a16:creationId xmlns:a16="http://schemas.microsoft.com/office/drawing/2014/main" id="{F3F0AD5B-CF0C-9044-84C6-890E3379EA33}"/>
              </a:ext>
            </a:extLst>
          </p:cNvPr>
          <p:cNvSpPr/>
          <p:nvPr/>
        </p:nvSpPr>
        <p:spPr>
          <a:xfrm>
            <a:off x="693629" y="2882386"/>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491CFD39-FC30-324E-BD0A-ACD4C0CF6E63}"/>
              </a:ext>
            </a:extLst>
          </p:cNvPr>
          <p:cNvSpPr txBox="1"/>
          <p:nvPr/>
        </p:nvSpPr>
        <p:spPr>
          <a:xfrm>
            <a:off x="693907" y="3251717"/>
            <a:ext cx="2201693" cy="2677656"/>
          </a:xfrm>
          <a:prstGeom prst="rect">
            <a:avLst/>
          </a:prstGeom>
          <a:noFill/>
        </p:spPr>
        <p:txBody>
          <a:bodyPr wrap="square" rtlCol="0">
            <a:spAutoFit/>
          </a:bodyPr>
          <a:lstStyle/>
          <a:p>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相同量</a:t>
            </a:r>
            <a:r>
              <a:rPr kumimoji="1" lang="en-US" altLang="zh-CN" sz="1400" dirty="0">
                <a:solidFill>
                  <a:srgbClr val="223AAC"/>
                </a:solidFill>
                <a:latin typeface="KaiTi" panose="02010609060101010101" pitchFamily="49" charset="-122"/>
                <a:ea typeface="KaiTi" panose="02010609060101010101" pitchFamily="49" charset="-122"/>
              </a:rPr>
              <a:t>】</a:t>
            </a: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latin typeface="KaiTi" panose="02010609060101010101" pitchFamily="49" charset="-122"/>
                <a:ea typeface="KaiTi" panose="02010609060101010101" pitchFamily="49" charset="-122"/>
              </a:rPr>
              <a:t>先按照轻绳长度不变：</a:t>
            </a:r>
            <a:endParaRPr kumimoji="1" lang="en-US" altLang="zh-CN" sz="1400" dirty="0">
              <a:latin typeface="KaiTi" panose="02010609060101010101" pitchFamily="49" charset="-122"/>
              <a:ea typeface="KaiTi" panose="02010609060101010101" pitchFamily="49" charset="-122"/>
            </a:endParaRPr>
          </a:p>
          <a:p>
            <a:r>
              <a:rPr kumimoji="1" lang="zh-CN" altLang="en-US" sz="1400" dirty="0">
                <a:latin typeface="KaiTi" panose="02010609060101010101" pitchFamily="49" charset="-122"/>
                <a:ea typeface="KaiTi" panose="02010609060101010101" pitchFamily="49" charset="-122"/>
              </a:rPr>
              <a:t>求共同加速度</a:t>
            </a:r>
            <a:r>
              <a:rPr kumimoji="1" lang="en-US" altLang="zh-CN" sz="1400" dirty="0">
                <a:latin typeface="KaiTi" panose="02010609060101010101" pitchFamily="49" charset="-122"/>
                <a:ea typeface="KaiTi" panose="02010609060101010101" pitchFamily="49" charset="-122"/>
              </a:rPr>
              <a:t>/</a:t>
            </a:r>
            <a:r>
              <a:rPr kumimoji="1" lang="zh-CN" altLang="en-US" sz="1400" dirty="0">
                <a:latin typeface="KaiTi" panose="02010609060101010101" pitchFamily="49" charset="-122"/>
                <a:ea typeface="KaiTi" panose="02010609060101010101" pitchFamily="49" charset="-122"/>
              </a:rPr>
              <a:t>速度</a:t>
            </a:r>
            <a:endParaRPr kumimoji="1" lang="en-US" altLang="zh-CN" sz="1400" dirty="0">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*再分别「受力分析」：</a:t>
            </a:r>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求出拉力</a:t>
            </a:r>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b="1" dirty="0">
              <a:solidFill>
                <a:srgbClr val="223AAC"/>
              </a:solidFill>
              <a:latin typeface="KaiTi" panose="02010609060101010101" pitchFamily="49" charset="-122"/>
              <a:ea typeface="KaiTi" panose="02010609060101010101" pitchFamily="49" charset="-122"/>
            </a:endParaRPr>
          </a:p>
          <a:p>
            <a:pPr algn="ctr"/>
            <a:r>
              <a:rPr kumimoji="1" lang="en-US" altLang="zh-CN" sz="1400" b="1" dirty="0">
                <a:solidFill>
                  <a:srgbClr val="223AAC"/>
                </a:solidFill>
                <a:latin typeface="KaiTi" panose="02010609060101010101" pitchFamily="49" charset="-122"/>
                <a:ea typeface="KaiTi" panose="02010609060101010101" pitchFamily="49" charset="-122"/>
              </a:rPr>
              <a:t>{</a:t>
            </a:r>
            <a:r>
              <a:rPr kumimoji="1" lang="zh-CN" altLang="en-US" sz="1400" b="1" dirty="0">
                <a:solidFill>
                  <a:srgbClr val="223AAC"/>
                </a:solidFill>
                <a:latin typeface="KaiTi" panose="02010609060101010101" pitchFamily="49" charset="-122"/>
                <a:ea typeface="KaiTi" panose="02010609060101010101" pitchFamily="49" charset="-122"/>
              </a:rPr>
              <a:t>先求共同物理量，</a:t>
            </a:r>
            <a:endParaRPr kumimoji="1" lang="en-US" altLang="zh-CN" sz="1400" b="1" dirty="0">
              <a:solidFill>
                <a:srgbClr val="223AAC"/>
              </a:solidFill>
              <a:latin typeface="KaiTi" panose="02010609060101010101" pitchFamily="49" charset="-122"/>
              <a:ea typeface="KaiTi" panose="02010609060101010101" pitchFamily="49" charset="-122"/>
            </a:endParaRPr>
          </a:p>
          <a:p>
            <a:pPr algn="ctr"/>
            <a:r>
              <a:rPr kumimoji="1" lang="zh-CN" altLang="en-US" sz="1400" b="1" dirty="0">
                <a:solidFill>
                  <a:srgbClr val="223AAC"/>
                </a:solidFill>
                <a:latin typeface="KaiTi" panose="02010609060101010101" pitchFamily="49" charset="-122"/>
                <a:ea typeface="KaiTi" panose="02010609060101010101" pitchFamily="49" charset="-122"/>
              </a:rPr>
              <a:t>再单独作为研究对象</a:t>
            </a:r>
            <a:r>
              <a:rPr kumimoji="1" lang="en-US" altLang="zh-CN" sz="1400" b="1" dirty="0">
                <a:solidFill>
                  <a:srgbClr val="223AAC"/>
                </a:solidFill>
                <a:latin typeface="KaiTi" panose="02010609060101010101" pitchFamily="49" charset="-122"/>
                <a:ea typeface="KaiTi" panose="02010609060101010101" pitchFamily="49" charset="-122"/>
              </a:rPr>
              <a:t>}</a:t>
            </a:r>
            <a:endParaRPr kumimoji="1" lang="en-US" altLang="zh-CN" sz="1400" dirty="0">
              <a:solidFill>
                <a:srgbClr val="223AAC"/>
              </a:solidFill>
              <a:latin typeface="KaiTi" panose="02010609060101010101" pitchFamily="49" charset="-122"/>
              <a:ea typeface="KaiTi" panose="02010609060101010101" pitchFamily="49" charset="-122"/>
            </a:endParaRPr>
          </a:p>
        </p:txBody>
      </p:sp>
      <p:sp>
        <p:nvSpPr>
          <p:cNvPr id="15" name="文本框 14">
            <a:extLst>
              <a:ext uri="{FF2B5EF4-FFF2-40B4-BE49-F238E27FC236}">
                <a16:creationId xmlns:a16="http://schemas.microsoft.com/office/drawing/2014/main" id="{DC4EA1E4-F5BC-F04C-AE1A-903DAA7A7D93}"/>
              </a:ext>
            </a:extLst>
          </p:cNvPr>
          <p:cNvSpPr txBox="1"/>
          <p:nvPr/>
        </p:nvSpPr>
        <p:spPr>
          <a:xfrm>
            <a:off x="538850" y="459740"/>
            <a:ext cx="4942702" cy="338554"/>
          </a:xfrm>
          <a:prstGeom prst="rect">
            <a:avLst/>
          </a:prstGeom>
          <a:noFill/>
        </p:spPr>
        <p:txBody>
          <a:bodyPr wrap="square" rtlCol="0">
            <a:spAutoFit/>
          </a:bodyPr>
          <a:lstStyle/>
          <a:p>
            <a:r>
              <a:rPr kumimoji="1" lang="en-US" altLang="zh-CN"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1.</a:t>
            </a:r>
            <a:r>
              <a:rPr kumimoji="1" lang="zh-CN" altLang="en-US"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力与运动板块：</a:t>
            </a:r>
          </a:p>
        </p:txBody>
      </p:sp>
      <p:pic>
        <p:nvPicPr>
          <p:cNvPr id="13" name="图片 12">
            <a:extLst>
              <a:ext uri="{FF2B5EF4-FFF2-40B4-BE49-F238E27FC236}">
                <a16:creationId xmlns:a16="http://schemas.microsoft.com/office/drawing/2014/main" id="{A0A9CB3A-2DAA-A74D-94FB-60D01874FCA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265037" y="734219"/>
            <a:ext cx="5709712" cy="5765800"/>
          </a:xfrm>
          <a:prstGeom prst="rect">
            <a:avLst/>
          </a:prstGeom>
          <a:ln>
            <a:solidFill>
              <a:srgbClr val="C00000"/>
            </a:solidFill>
          </a:ln>
        </p:spPr>
      </p:pic>
    </p:spTree>
    <p:extLst>
      <p:ext uri="{BB962C8B-B14F-4D97-AF65-F5344CB8AC3E}">
        <p14:creationId xmlns:p14="http://schemas.microsoft.com/office/powerpoint/2010/main" val="360838155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48437175-892E-3F4C-AC0F-E093B6867A88}"/>
              </a:ext>
            </a:extLst>
          </p:cNvPr>
          <p:cNvSpPr/>
          <p:nvPr/>
        </p:nvSpPr>
        <p:spPr>
          <a:xfrm>
            <a:off x="574024" y="1347341"/>
            <a:ext cx="11043316" cy="3353553"/>
          </a:xfrm>
          <a:prstGeom prst="rect">
            <a:avLst/>
          </a:prstGeom>
          <a:solidFill>
            <a:schemeClr val="bg1">
              <a:lumMod val="95000"/>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 name="文本框 3">
            <a:extLst>
              <a:ext uri="{FF2B5EF4-FFF2-40B4-BE49-F238E27FC236}">
                <a16:creationId xmlns:a16="http://schemas.microsoft.com/office/drawing/2014/main" id="{F5FA99D3-4736-A246-A135-8AE4C9927328}"/>
              </a:ext>
            </a:extLst>
          </p:cNvPr>
          <p:cNvSpPr txBox="1"/>
          <p:nvPr/>
        </p:nvSpPr>
        <p:spPr>
          <a:xfrm>
            <a:off x="538850" y="459740"/>
            <a:ext cx="4942702" cy="338554"/>
          </a:xfrm>
          <a:prstGeom prst="rect">
            <a:avLst/>
          </a:prstGeom>
          <a:noFill/>
        </p:spPr>
        <p:txBody>
          <a:bodyPr wrap="square" rtlCol="0">
            <a:spAutoFit/>
          </a:bodyPr>
          <a:lstStyle/>
          <a:p>
            <a:r>
              <a:rPr kumimoji="1" lang="en-US" altLang="zh-CN"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2.</a:t>
            </a:r>
            <a:r>
              <a:rPr kumimoji="1" lang="zh-CN" altLang="en-US"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电与磁场板块：</a:t>
            </a:r>
          </a:p>
        </p:txBody>
      </p:sp>
      <p:sp>
        <p:nvSpPr>
          <p:cNvPr id="5" name="矩形 4">
            <a:extLst>
              <a:ext uri="{FF2B5EF4-FFF2-40B4-BE49-F238E27FC236}">
                <a16:creationId xmlns:a16="http://schemas.microsoft.com/office/drawing/2014/main" id="{FF0E6817-B62F-4E44-80B3-EAE331DC2CB9}"/>
              </a:ext>
            </a:extLst>
          </p:cNvPr>
          <p:cNvSpPr/>
          <p:nvPr/>
        </p:nvSpPr>
        <p:spPr>
          <a:xfrm>
            <a:off x="633528" y="1393399"/>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6" name="文本框 5">
            <a:extLst>
              <a:ext uri="{FF2B5EF4-FFF2-40B4-BE49-F238E27FC236}">
                <a16:creationId xmlns:a16="http://schemas.microsoft.com/office/drawing/2014/main" id="{46CA4B85-B5BE-C24B-94A2-47ED81E37822}"/>
              </a:ext>
            </a:extLst>
          </p:cNvPr>
          <p:cNvSpPr txBox="1"/>
          <p:nvPr/>
        </p:nvSpPr>
        <p:spPr>
          <a:xfrm>
            <a:off x="968747" y="1381367"/>
            <a:ext cx="9354349" cy="3283078"/>
          </a:xfrm>
          <a:prstGeom prst="rect">
            <a:avLst/>
          </a:prstGeom>
          <a:noFill/>
        </p:spPr>
        <p:txBody>
          <a:bodyPr wrap="square" rtlCol="0">
            <a:spAutoFit/>
          </a:bodyPr>
          <a:lstStyle/>
          <a:p>
            <a:pPr>
              <a:lnSpc>
                <a:spcPct val="150000"/>
              </a:lnSpc>
            </a:pP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Step1.</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用动力学分析受力</a:t>
            </a:r>
            <a:endPar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类比「动力学」理解概念「思维导图」</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u="sng"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所有定理都要能够理解透彻！！！</a:t>
            </a:r>
            <a:endParaRPr kumimoji="1" lang="en-US" altLang="zh-CN" sz="1400" u="sng"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Step2.</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分析运动轨迹</a:t>
            </a:r>
            <a:endPar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按照「受力分析」</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「运动分析」做题</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画出轨迹，形象思考</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Step3. {</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模型化</a:t>
            </a: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训练速度</a:t>
            </a: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p>
          <a:p>
            <a:pPr>
              <a:lnSpc>
                <a:spcPct val="150000"/>
              </a:lnSpc>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刷题：</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总结模型！</a:t>
            </a:r>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训练速度：</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1</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）蒙上答案迅速反应步骤</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2</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）总结题目类型</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文本框 6">
            <a:extLst>
              <a:ext uri="{FF2B5EF4-FFF2-40B4-BE49-F238E27FC236}">
                <a16:creationId xmlns:a16="http://schemas.microsoft.com/office/drawing/2014/main" id="{5C0E9FAD-86FB-6444-A3D8-9DEBA4E38E22}"/>
              </a:ext>
            </a:extLst>
          </p:cNvPr>
          <p:cNvSpPr txBox="1"/>
          <p:nvPr/>
        </p:nvSpPr>
        <p:spPr>
          <a:xfrm>
            <a:off x="582977" y="5145112"/>
            <a:ext cx="8622873" cy="738664"/>
          </a:xfrm>
          <a:prstGeom prst="rect">
            <a:avLst/>
          </a:prstGeom>
          <a:noFill/>
        </p:spPr>
        <p:txBody>
          <a:bodyPr wrap="none" rtlCol="0">
            <a:spAutoFit/>
          </a:bodyPr>
          <a:lstStyle/>
          <a:p>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强调！</a:t>
            </a:r>
            <a:r>
              <a:rPr kumimoji="1" lang="en-US" altLang="zh-CN" sz="1400" dirty="0">
                <a:solidFill>
                  <a:srgbClr val="223AAC"/>
                </a:solidFill>
                <a:latin typeface="KaiTi" panose="02010609060101010101" pitchFamily="49" charset="-122"/>
                <a:ea typeface="KaiTi" panose="02010609060101010101" pitchFamily="49" charset="-122"/>
              </a:rPr>
              <a:t>】</a:t>
            </a: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一定图形化 「分析清楚运动与受力」</a:t>
            </a:r>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再加快速度「模版化」，在平常「限时训练」是上分秘诀！！</a:t>
            </a:r>
          </a:p>
        </p:txBody>
      </p:sp>
      <p:cxnSp>
        <p:nvCxnSpPr>
          <p:cNvPr id="8" name="直线连接符 7">
            <a:extLst>
              <a:ext uri="{FF2B5EF4-FFF2-40B4-BE49-F238E27FC236}">
                <a16:creationId xmlns:a16="http://schemas.microsoft.com/office/drawing/2014/main" id="{21482DC0-3144-024F-BF25-1A61FFF454A7}"/>
              </a:ext>
            </a:extLst>
          </p:cNvPr>
          <p:cNvCxnSpPr>
            <a:cxnSpLocks/>
          </p:cNvCxnSpPr>
          <p:nvPr/>
        </p:nvCxnSpPr>
        <p:spPr>
          <a:xfrm>
            <a:off x="582977" y="4980918"/>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9" name="直线连接符 8">
            <a:extLst>
              <a:ext uri="{FF2B5EF4-FFF2-40B4-BE49-F238E27FC236}">
                <a16:creationId xmlns:a16="http://schemas.microsoft.com/office/drawing/2014/main" id="{9A01DCFA-C36E-8142-A5D9-0C121720ED2B}"/>
              </a:ext>
            </a:extLst>
          </p:cNvPr>
          <p:cNvCxnSpPr>
            <a:cxnSpLocks/>
          </p:cNvCxnSpPr>
          <p:nvPr/>
        </p:nvCxnSpPr>
        <p:spPr>
          <a:xfrm>
            <a:off x="582977" y="6163794"/>
            <a:ext cx="1105403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29E90EEA-7F28-E04D-A418-A306B869378E}"/>
              </a:ext>
            </a:extLst>
          </p:cNvPr>
          <p:cNvSpPr/>
          <p:nvPr/>
        </p:nvSpPr>
        <p:spPr>
          <a:xfrm>
            <a:off x="968747" y="3363401"/>
            <a:ext cx="3754328" cy="1365487"/>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92469738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B63A571E-2F89-F74F-8875-5269527B170A}"/>
              </a:ext>
            </a:extLst>
          </p:cNvPr>
          <p:cNvSpPr/>
          <p:nvPr/>
        </p:nvSpPr>
        <p:spPr>
          <a:xfrm>
            <a:off x="609559" y="2737922"/>
            <a:ext cx="2384364" cy="3660337"/>
          </a:xfrm>
          <a:prstGeom prst="rect">
            <a:avLst/>
          </a:prstGeom>
          <a:solidFill>
            <a:srgbClr val="FCED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AD439BBB-1E1D-7344-9A13-86EEDF550E12}"/>
              </a:ext>
            </a:extLst>
          </p:cNvPr>
          <p:cNvSpPr txBox="1"/>
          <p:nvPr/>
        </p:nvSpPr>
        <p:spPr>
          <a:xfrm>
            <a:off x="538850" y="1090551"/>
            <a:ext cx="9354349" cy="1344086"/>
          </a:xfrm>
          <a:prstGeom prst="rect">
            <a:avLst/>
          </a:prstGeom>
          <a:noFill/>
        </p:spPr>
        <p:txBody>
          <a:bodyPr wrap="square" rtlCol="0">
            <a:spAutoFit/>
          </a:bodyPr>
          <a:lstStyle/>
          <a:p>
            <a:pPr>
              <a:lnSpc>
                <a:spcPct val="150000"/>
              </a:lnSpc>
            </a:pP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模型化</a:t>
            </a: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训练速度</a:t>
            </a: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p>
          <a:p>
            <a:pPr>
              <a:lnSpc>
                <a:spcPct val="150000"/>
              </a:lnSpc>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刷题：</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总结模型！</a:t>
            </a:r>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训练速度：</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1</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）蒙上答案迅速反应步骤</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2</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）总结题目类型</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6" name="矩形 5">
            <a:extLst>
              <a:ext uri="{FF2B5EF4-FFF2-40B4-BE49-F238E27FC236}">
                <a16:creationId xmlns:a16="http://schemas.microsoft.com/office/drawing/2014/main" id="{F3F0AD5B-CF0C-9044-84C6-890E3379EA33}"/>
              </a:ext>
            </a:extLst>
          </p:cNvPr>
          <p:cNvSpPr/>
          <p:nvPr/>
        </p:nvSpPr>
        <p:spPr>
          <a:xfrm>
            <a:off x="693629" y="2882386"/>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491CFD39-FC30-324E-BD0A-ACD4C0CF6E63}"/>
              </a:ext>
            </a:extLst>
          </p:cNvPr>
          <p:cNvSpPr txBox="1"/>
          <p:nvPr/>
        </p:nvSpPr>
        <p:spPr>
          <a:xfrm>
            <a:off x="693907" y="3251717"/>
            <a:ext cx="2384086" cy="3108543"/>
          </a:xfrm>
          <a:prstGeom prst="rect">
            <a:avLst/>
          </a:prstGeom>
          <a:noFill/>
        </p:spPr>
        <p:txBody>
          <a:bodyPr wrap="square" rtlCol="0">
            <a:spAutoFit/>
          </a:bodyPr>
          <a:lstStyle/>
          <a:p>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理解概念</a:t>
            </a:r>
            <a:r>
              <a:rPr kumimoji="1" lang="en-US" altLang="zh-CN" sz="1400" dirty="0">
                <a:solidFill>
                  <a:srgbClr val="223AAC"/>
                </a:solidFill>
                <a:latin typeface="KaiTi" panose="02010609060101010101" pitchFamily="49" charset="-122"/>
                <a:ea typeface="KaiTi" panose="02010609060101010101" pitchFamily="49" charset="-122"/>
              </a:rPr>
              <a:t>】</a:t>
            </a: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分析</a:t>
            </a:r>
            <a:r>
              <a:rPr kumimoji="1" lang="zh-CN" altLang="en-US" sz="1400" dirty="0">
                <a:latin typeface="KaiTi" panose="02010609060101010101" pitchFamily="49" charset="-122"/>
                <a:ea typeface="KaiTi" panose="02010609060101010101" pitchFamily="49" charset="-122"/>
              </a:rPr>
              <a:t>「电</a:t>
            </a:r>
            <a:r>
              <a:rPr kumimoji="1" lang="en-US" altLang="zh-CN" sz="1400" dirty="0">
                <a:latin typeface="KaiTi" panose="02010609060101010101" pitchFamily="49" charset="-122"/>
                <a:ea typeface="KaiTi" panose="02010609060101010101" pitchFamily="49" charset="-122"/>
              </a:rPr>
              <a:t>/</a:t>
            </a:r>
            <a:r>
              <a:rPr kumimoji="1" lang="zh-CN" altLang="en-US" sz="1400" dirty="0">
                <a:latin typeface="KaiTi" panose="02010609060101010101" pitchFamily="49" charset="-122"/>
                <a:ea typeface="KaiTi" panose="02010609060101010101" pitchFamily="49" charset="-122"/>
              </a:rPr>
              <a:t>磁场」中受力</a:t>
            </a:r>
            <a:r>
              <a:rPr kumimoji="1" lang="en-US" altLang="zh-CN" sz="1400" dirty="0">
                <a:latin typeface="KaiTi" panose="02010609060101010101" pitchFamily="49" charset="-122"/>
                <a:ea typeface="KaiTi" panose="02010609060101010101" pitchFamily="49" charset="-122"/>
              </a:rPr>
              <a:t>+</a:t>
            </a:r>
            <a:r>
              <a:rPr kumimoji="1" lang="zh-CN" altLang="en-US" sz="1400" dirty="0">
                <a:latin typeface="KaiTi" panose="02010609060101010101" pitchFamily="49" charset="-122"/>
                <a:ea typeface="KaiTi" panose="02010609060101010101" pitchFamily="49" charset="-122"/>
              </a:rPr>
              <a:t>运动情况</a:t>
            </a:r>
            <a:r>
              <a:rPr kumimoji="1" lang="en-US" altLang="zh-CN" sz="1400" dirty="0">
                <a:latin typeface="KaiTi" panose="02010609060101010101" pitchFamily="49" charset="-122"/>
                <a:ea typeface="KaiTi" panose="02010609060101010101" pitchFamily="49" charset="-122"/>
                <a:sym typeface="Wingdings" pitchFamily="2" charset="2"/>
              </a:rPr>
              <a:t></a:t>
            </a:r>
          </a:p>
          <a:p>
            <a:r>
              <a:rPr kumimoji="1" lang="zh-CN" altLang="en-US" sz="1400" dirty="0">
                <a:latin typeface="KaiTi" panose="02010609060101010101" pitchFamily="49" charset="-122"/>
                <a:ea typeface="KaiTi" panose="02010609060101010101" pitchFamily="49" charset="-122"/>
                <a:sym typeface="Wingdings" pitchFamily="2" charset="2"/>
              </a:rPr>
              <a:t>根据受力判断运动过程</a:t>
            </a:r>
            <a:r>
              <a:rPr kumimoji="1" lang="en-US" altLang="zh-CN" sz="1400" dirty="0">
                <a:latin typeface="KaiTi" panose="02010609060101010101" pitchFamily="49" charset="-122"/>
                <a:ea typeface="KaiTi" panose="02010609060101010101" pitchFamily="49" charset="-122"/>
                <a:sym typeface="Wingdings" pitchFamily="2" charset="2"/>
              </a:rPr>
              <a:t></a:t>
            </a:r>
            <a:r>
              <a:rPr kumimoji="1" lang="zh-CN" altLang="en-US" sz="1400" dirty="0">
                <a:latin typeface="KaiTi" panose="02010609060101010101" pitchFamily="49" charset="-122"/>
                <a:ea typeface="KaiTi" panose="02010609060101010101" pitchFamily="49" charset="-122"/>
                <a:sym typeface="Wingdings" pitchFamily="2" charset="2"/>
              </a:rPr>
              <a:t>画出轨迹！</a:t>
            </a:r>
            <a:endParaRPr kumimoji="1" lang="en-US" altLang="zh-CN" sz="1400" dirty="0">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*举例：</a:t>
            </a:r>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匀速圆周运动</a:t>
            </a:r>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匀变速直线运动：运动组合</a:t>
            </a:r>
            <a:r>
              <a:rPr kumimoji="1" lang="en-US" altLang="zh-CN" sz="1400" dirty="0">
                <a:solidFill>
                  <a:srgbClr val="223AAC"/>
                </a:solidFill>
                <a:latin typeface="KaiTi" panose="02010609060101010101" pitchFamily="49" charset="-122"/>
                <a:ea typeface="KaiTi" panose="02010609060101010101" pitchFamily="49" charset="-122"/>
                <a:sym typeface="Wingdings" pitchFamily="2" charset="2"/>
              </a:rPr>
              <a:t></a:t>
            </a:r>
          </a:p>
          <a:p>
            <a:r>
              <a:rPr kumimoji="1" lang="en-US" altLang="zh-CN" sz="1400" dirty="0">
                <a:solidFill>
                  <a:srgbClr val="223AAC"/>
                </a:solidFill>
                <a:latin typeface="KaiTi" panose="02010609060101010101" pitchFamily="49" charset="-122"/>
                <a:ea typeface="KaiTi" panose="02010609060101010101" pitchFamily="49" charset="-122"/>
              </a:rPr>
              <a:t>¼</a:t>
            </a:r>
            <a:r>
              <a:rPr kumimoji="1" lang="zh-CN" altLang="en-US" sz="1400" dirty="0">
                <a:solidFill>
                  <a:srgbClr val="223AAC"/>
                </a:solidFill>
                <a:latin typeface="KaiTi" panose="02010609060101010101" pitchFamily="49" charset="-122"/>
                <a:ea typeface="KaiTi" panose="02010609060101010101" pitchFamily="49" charset="-122"/>
              </a:rPr>
              <a:t>圆</a:t>
            </a:r>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直线往复轨迹</a:t>
            </a:r>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b="1" dirty="0">
              <a:solidFill>
                <a:srgbClr val="223AAC"/>
              </a:solidFill>
              <a:latin typeface="KaiTi" panose="02010609060101010101" pitchFamily="49" charset="-122"/>
              <a:ea typeface="KaiTi" panose="02010609060101010101" pitchFamily="49" charset="-122"/>
            </a:endParaRPr>
          </a:p>
          <a:p>
            <a:pPr algn="ctr"/>
            <a:r>
              <a:rPr kumimoji="1" lang="en-US" altLang="zh-CN" sz="1400" b="1" dirty="0">
                <a:solidFill>
                  <a:srgbClr val="223AAC"/>
                </a:solidFill>
                <a:latin typeface="KaiTi" panose="02010609060101010101" pitchFamily="49" charset="-122"/>
                <a:ea typeface="KaiTi" panose="02010609060101010101" pitchFamily="49" charset="-122"/>
              </a:rPr>
              <a:t>{</a:t>
            </a:r>
            <a:r>
              <a:rPr kumimoji="1" lang="zh-CN" altLang="en-US" sz="1400" b="1" dirty="0">
                <a:solidFill>
                  <a:srgbClr val="223AAC"/>
                </a:solidFill>
                <a:latin typeface="KaiTi" panose="02010609060101010101" pitchFamily="49" charset="-122"/>
                <a:ea typeface="KaiTi" panose="02010609060101010101" pitchFamily="49" charset="-122"/>
              </a:rPr>
              <a:t>模型化：运动轨迹</a:t>
            </a:r>
            <a:r>
              <a:rPr kumimoji="1" lang="en-US" altLang="zh-CN" sz="1400" b="1" dirty="0">
                <a:solidFill>
                  <a:srgbClr val="223AAC"/>
                </a:solidFill>
                <a:latin typeface="KaiTi" panose="02010609060101010101" pitchFamily="49" charset="-122"/>
                <a:ea typeface="KaiTi" panose="02010609060101010101" pitchFamily="49" charset="-122"/>
              </a:rPr>
              <a:t>-</a:t>
            </a:r>
          </a:p>
          <a:p>
            <a:pPr algn="ctr"/>
            <a:r>
              <a:rPr kumimoji="1" lang="zh-CN" altLang="en-US" sz="1400" b="1" dirty="0">
                <a:solidFill>
                  <a:srgbClr val="223AAC"/>
                </a:solidFill>
                <a:latin typeface="KaiTi" panose="02010609060101010101" pitchFamily="49" charset="-122"/>
                <a:ea typeface="KaiTi" panose="02010609060101010101" pitchFamily="49" charset="-122"/>
              </a:rPr>
              <a:t>过程组合清晰判断！</a:t>
            </a:r>
            <a:r>
              <a:rPr kumimoji="1" lang="en-US" altLang="zh-CN" sz="1400" b="1" dirty="0">
                <a:solidFill>
                  <a:srgbClr val="223AAC"/>
                </a:solidFill>
                <a:latin typeface="KaiTi" panose="02010609060101010101" pitchFamily="49" charset="-122"/>
                <a:ea typeface="KaiTi" panose="02010609060101010101" pitchFamily="49" charset="-122"/>
              </a:rPr>
              <a:t>}</a:t>
            </a:r>
            <a:endParaRPr kumimoji="1" lang="en-US" altLang="zh-CN" sz="1400" dirty="0">
              <a:solidFill>
                <a:srgbClr val="223AAC"/>
              </a:solidFill>
              <a:latin typeface="KaiTi" panose="02010609060101010101" pitchFamily="49" charset="-122"/>
              <a:ea typeface="KaiTi" panose="02010609060101010101" pitchFamily="49" charset="-122"/>
            </a:endParaRPr>
          </a:p>
        </p:txBody>
      </p:sp>
      <p:sp>
        <p:nvSpPr>
          <p:cNvPr id="9" name="文本框 8">
            <a:extLst>
              <a:ext uri="{FF2B5EF4-FFF2-40B4-BE49-F238E27FC236}">
                <a16:creationId xmlns:a16="http://schemas.microsoft.com/office/drawing/2014/main" id="{2E10A8CE-824B-2545-8131-7DC747CB935A}"/>
              </a:ext>
            </a:extLst>
          </p:cNvPr>
          <p:cNvSpPr txBox="1"/>
          <p:nvPr/>
        </p:nvSpPr>
        <p:spPr>
          <a:xfrm>
            <a:off x="538850" y="459740"/>
            <a:ext cx="4942702" cy="338554"/>
          </a:xfrm>
          <a:prstGeom prst="rect">
            <a:avLst/>
          </a:prstGeom>
          <a:noFill/>
        </p:spPr>
        <p:txBody>
          <a:bodyPr wrap="square" rtlCol="0">
            <a:spAutoFit/>
          </a:bodyPr>
          <a:lstStyle/>
          <a:p>
            <a:r>
              <a:rPr kumimoji="1" lang="en-US" altLang="zh-CN"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2.</a:t>
            </a:r>
            <a:r>
              <a:rPr kumimoji="1" lang="zh-CN" altLang="en-US"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电与磁场板块：</a:t>
            </a:r>
          </a:p>
        </p:txBody>
      </p:sp>
      <p:grpSp>
        <p:nvGrpSpPr>
          <p:cNvPr id="13" name="组合 12">
            <a:extLst>
              <a:ext uri="{FF2B5EF4-FFF2-40B4-BE49-F238E27FC236}">
                <a16:creationId xmlns:a16="http://schemas.microsoft.com/office/drawing/2014/main" id="{518AE2B2-5590-C74C-A20B-7506A30112CB}"/>
              </a:ext>
            </a:extLst>
          </p:cNvPr>
          <p:cNvGrpSpPr/>
          <p:nvPr/>
        </p:nvGrpSpPr>
        <p:grpSpPr>
          <a:xfrm>
            <a:off x="13874337" y="648961"/>
            <a:ext cx="4643253" cy="5849452"/>
            <a:chOff x="4809506" y="707376"/>
            <a:chExt cx="4643253" cy="5849452"/>
          </a:xfrm>
        </p:grpSpPr>
        <p:pic>
          <p:nvPicPr>
            <p:cNvPr id="4" name="图片 3">
              <a:extLst>
                <a:ext uri="{FF2B5EF4-FFF2-40B4-BE49-F238E27FC236}">
                  <a16:creationId xmlns:a16="http://schemas.microsoft.com/office/drawing/2014/main" id="{67691C12-8865-204A-8550-5B948144BFB8}"/>
                </a:ext>
              </a:extLst>
            </p:cNvPr>
            <p:cNvPicPr>
              <a:picLocks noChangeAspect="1"/>
            </p:cNvPicPr>
            <p:nvPr/>
          </p:nvPicPr>
          <p:blipFill>
            <a:blip r:embed="rId2"/>
            <a:stretch>
              <a:fillRect/>
            </a:stretch>
          </p:blipFill>
          <p:spPr>
            <a:xfrm>
              <a:off x="4809506" y="707376"/>
              <a:ext cx="4643253" cy="1770732"/>
            </a:xfrm>
            <a:prstGeom prst="rect">
              <a:avLst/>
            </a:prstGeom>
          </p:spPr>
        </p:pic>
        <p:grpSp>
          <p:nvGrpSpPr>
            <p:cNvPr id="12" name="组合 11">
              <a:extLst>
                <a:ext uri="{FF2B5EF4-FFF2-40B4-BE49-F238E27FC236}">
                  <a16:creationId xmlns:a16="http://schemas.microsoft.com/office/drawing/2014/main" id="{75F9203E-9992-1347-A7FC-33CF752E6BDC}"/>
                </a:ext>
              </a:extLst>
            </p:cNvPr>
            <p:cNvGrpSpPr/>
            <p:nvPr/>
          </p:nvGrpSpPr>
          <p:grpSpPr>
            <a:xfrm>
              <a:off x="4958197" y="2930446"/>
              <a:ext cx="4494562" cy="3626382"/>
              <a:chOff x="4958196" y="1991462"/>
              <a:chExt cx="5658345" cy="4565366"/>
            </a:xfrm>
          </p:grpSpPr>
          <p:pic>
            <p:nvPicPr>
              <p:cNvPr id="10" name="图片 9">
                <a:extLst>
                  <a:ext uri="{FF2B5EF4-FFF2-40B4-BE49-F238E27FC236}">
                    <a16:creationId xmlns:a16="http://schemas.microsoft.com/office/drawing/2014/main" id="{A35BE5DA-36BE-7A41-91A4-4C7968220B02}"/>
                  </a:ext>
                </a:extLst>
              </p:cNvPr>
              <p:cNvPicPr>
                <a:picLocks noChangeAspect="1"/>
              </p:cNvPicPr>
              <p:nvPr/>
            </p:nvPicPr>
            <p:blipFill>
              <a:blip r:embed="rId3"/>
              <a:stretch>
                <a:fillRect/>
              </a:stretch>
            </p:blipFill>
            <p:spPr>
              <a:xfrm>
                <a:off x="4958196" y="1991462"/>
                <a:ext cx="5658345" cy="4565366"/>
              </a:xfrm>
              <a:prstGeom prst="rect">
                <a:avLst/>
              </a:prstGeom>
            </p:spPr>
          </p:pic>
          <p:pic>
            <p:nvPicPr>
              <p:cNvPr id="11" name="图片 10">
                <a:extLst>
                  <a:ext uri="{FF2B5EF4-FFF2-40B4-BE49-F238E27FC236}">
                    <a16:creationId xmlns:a16="http://schemas.microsoft.com/office/drawing/2014/main" id="{3B08D841-E096-EF4F-8BAC-8770FF669BC1}"/>
                  </a:ext>
                </a:extLst>
              </p:cNvPr>
              <p:cNvPicPr>
                <a:picLocks noChangeAspect="1"/>
              </p:cNvPicPr>
              <p:nvPr/>
            </p:nvPicPr>
            <p:blipFill>
              <a:blip r:embed="rId4"/>
              <a:stretch>
                <a:fillRect/>
              </a:stretch>
            </p:blipFill>
            <p:spPr>
              <a:xfrm>
                <a:off x="8672946" y="3167959"/>
                <a:ext cx="1943595" cy="1257051"/>
              </a:xfrm>
              <a:prstGeom prst="rect">
                <a:avLst/>
              </a:prstGeom>
            </p:spPr>
          </p:pic>
        </p:grpSp>
      </p:grpSp>
      <p:pic>
        <p:nvPicPr>
          <p:cNvPr id="19" name="图片 18">
            <a:extLst>
              <a:ext uri="{FF2B5EF4-FFF2-40B4-BE49-F238E27FC236}">
                <a16:creationId xmlns:a16="http://schemas.microsoft.com/office/drawing/2014/main" id="{C0F6FF52-90F3-EF40-B42C-D8748B0AF836}"/>
              </a:ext>
            </a:extLst>
          </p:cNvPr>
          <p:cNvPicPr>
            <a:picLocks noChangeAspect="1"/>
          </p:cNvPicPr>
          <p:nvPr/>
        </p:nvPicPr>
        <p:blipFill rotWithShape="1">
          <a:blip r:embed="rId5"/>
          <a:srcRect l="31311" t="14840" r="35212" b="68841"/>
          <a:stretch/>
        </p:blipFill>
        <p:spPr>
          <a:xfrm>
            <a:off x="7808399" y="1609902"/>
            <a:ext cx="1654630" cy="1016000"/>
          </a:xfrm>
          <a:prstGeom prst="rect">
            <a:avLst/>
          </a:prstGeom>
          <a:ln>
            <a:solidFill>
              <a:srgbClr val="C00000"/>
            </a:solidFill>
          </a:ln>
        </p:spPr>
      </p:pic>
      <p:cxnSp>
        <p:nvCxnSpPr>
          <p:cNvPr id="21" name="直线箭头连接符 20">
            <a:extLst>
              <a:ext uri="{FF2B5EF4-FFF2-40B4-BE49-F238E27FC236}">
                <a16:creationId xmlns:a16="http://schemas.microsoft.com/office/drawing/2014/main" id="{E46A8641-DE57-3E41-A4CD-937B431C6113}"/>
              </a:ext>
            </a:extLst>
          </p:cNvPr>
          <p:cNvCxnSpPr/>
          <p:nvPr/>
        </p:nvCxnSpPr>
        <p:spPr>
          <a:xfrm>
            <a:off x="7931665" y="2772094"/>
            <a:ext cx="0" cy="1198249"/>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线箭头连接符 21">
            <a:extLst>
              <a:ext uri="{FF2B5EF4-FFF2-40B4-BE49-F238E27FC236}">
                <a16:creationId xmlns:a16="http://schemas.microsoft.com/office/drawing/2014/main" id="{27B8508E-41C7-F248-9B0A-D9F94FD83C5B}"/>
              </a:ext>
            </a:extLst>
          </p:cNvPr>
          <p:cNvCxnSpPr>
            <a:cxnSpLocks/>
          </p:cNvCxnSpPr>
          <p:nvPr/>
        </p:nvCxnSpPr>
        <p:spPr>
          <a:xfrm flipV="1">
            <a:off x="8211867" y="5076089"/>
            <a:ext cx="471694" cy="1"/>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5" name="矩形 24">
            <a:extLst>
              <a:ext uri="{FF2B5EF4-FFF2-40B4-BE49-F238E27FC236}">
                <a16:creationId xmlns:a16="http://schemas.microsoft.com/office/drawing/2014/main" id="{8D332726-D70A-444D-A543-B63CF3DEF15A}"/>
              </a:ext>
            </a:extLst>
          </p:cNvPr>
          <p:cNvSpPr/>
          <p:nvPr/>
        </p:nvSpPr>
        <p:spPr>
          <a:xfrm>
            <a:off x="5048994" y="324367"/>
            <a:ext cx="6967538" cy="1384995"/>
          </a:xfrm>
          <a:prstGeom prst="rect">
            <a:avLst/>
          </a:prstGeom>
        </p:spPr>
        <p:txBody>
          <a:bodyPr wrap="square">
            <a:spAutoFit/>
          </a:bodyPr>
          <a:lstStyle/>
          <a:p>
            <a:r>
              <a:rPr lang="zh-CN" altLang="en-US" sz="1400" dirty="0">
                <a:solidFill>
                  <a:srgbClr val="C00000"/>
                </a:solidFill>
                <a:latin typeface="KaiTi" panose="02010609060101010101" pitchFamily="49" charset="-122"/>
                <a:ea typeface="KaiTi" panose="02010609060101010101" pitchFamily="49" charset="-122"/>
              </a:rPr>
              <a:t>【磁场→电场】匀速圆周运动+匀速直线运动</a:t>
            </a:r>
            <a:endParaRPr lang="en-US" altLang="zh-CN" sz="1400" dirty="0">
              <a:solidFill>
                <a:srgbClr val="C00000"/>
              </a:solidFill>
              <a:latin typeface="KaiTi" panose="02010609060101010101" pitchFamily="49" charset="-122"/>
              <a:ea typeface="KaiTi" panose="02010609060101010101" pitchFamily="49" charset="-122"/>
            </a:endParaRPr>
          </a:p>
          <a:p>
            <a:r>
              <a:rPr lang="zh-CN" altLang="en-US" sz="1400" dirty="0">
                <a:latin typeface="KaiTi" panose="02010609060101010101" pitchFamily="49" charset="-122"/>
                <a:ea typeface="KaiTi" panose="02010609060101010101" pitchFamily="49" charset="-122"/>
              </a:rPr>
              <a:t>如图，圆心为 0，半径为R的圆形区域内存在磁感应强度大小为B，方向垂直纸面向外的匀强磁场(未画出)，磁场边缘上的A点有一带正电粒子源，0A竖直，MN与OA平行，且与圆形边界相切于B点，在 MN的右侧有范围足够大水平向左的匀强电场，电场强度为E。当粒子的速度大小为， 且沿 A0 方向射入磁场时，粒子刚好从B点离开磁场。不计粒子重力和粒子间的相互作用，则:</a:t>
            </a:r>
          </a:p>
        </p:txBody>
      </p:sp>
      <p:pic>
        <p:nvPicPr>
          <p:cNvPr id="16" name="图片 15">
            <a:extLst>
              <a:ext uri="{FF2B5EF4-FFF2-40B4-BE49-F238E27FC236}">
                <a16:creationId xmlns:a16="http://schemas.microsoft.com/office/drawing/2014/main" id="{16962FF7-5E2B-FA47-B368-3B48A9A94A1F}"/>
              </a:ext>
            </a:extLst>
          </p:cNvPr>
          <p:cNvPicPr>
            <a:picLocks noChangeAspect="1"/>
          </p:cNvPicPr>
          <p:nvPr/>
        </p:nvPicPr>
        <p:blipFill rotWithShape="1">
          <a:blip r:embed="rId5"/>
          <a:srcRect l="34337" t="55267" r="32186" b="28414"/>
          <a:stretch/>
        </p:blipFill>
        <p:spPr>
          <a:xfrm>
            <a:off x="5592960" y="2987554"/>
            <a:ext cx="1654630" cy="1016000"/>
          </a:xfrm>
          <a:prstGeom prst="rect">
            <a:avLst/>
          </a:prstGeom>
          <a:ln>
            <a:solidFill>
              <a:srgbClr val="C00000"/>
            </a:solidFill>
          </a:ln>
        </p:spPr>
      </p:pic>
      <p:pic>
        <p:nvPicPr>
          <p:cNvPr id="17" name="图片 16">
            <a:extLst>
              <a:ext uri="{FF2B5EF4-FFF2-40B4-BE49-F238E27FC236}">
                <a16:creationId xmlns:a16="http://schemas.microsoft.com/office/drawing/2014/main" id="{016E3835-EEA4-7F48-893F-BE808A168227}"/>
              </a:ext>
            </a:extLst>
          </p:cNvPr>
          <p:cNvPicPr>
            <a:picLocks noChangeAspect="1"/>
          </p:cNvPicPr>
          <p:nvPr/>
        </p:nvPicPr>
        <p:blipFill rotWithShape="1">
          <a:blip r:embed="rId5"/>
          <a:srcRect l="66465" t="55267" r="58" b="28414"/>
          <a:stretch/>
        </p:blipFill>
        <p:spPr>
          <a:xfrm>
            <a:off x="9195473" y="2987554"/>
            <a:ext cx="1654630" cy="1016000"/>
          </a:xfrm>
          <a:prstGeom prst="rect">
            <a:avLst/>
          </a:prstGeom>
          <a:ln>
            <a:solidFill>
              <a:srgbClr val="C00000"/>
            </a:solidFill>
          </a:ln>
        </p:spPr>
      </p:pic>
      <p:sp>
        <p:nvSpPr>
          <p:cNvPr id="2" name="矩形 1">
            <a:extLst>
              <a:ext uri="{FF2B5EF4-FFF2-40B4-BE49-F238E27FC236}">
                <a16:creationId xmlns:a16="http://schemas.microsoft.com/office/drawing/2014/main" id="{56FFABC4-86D5-E943-B9E9-771211FB3AC6}"/>
              </a:ext>
            </a:extLst>
          </p:cNvPr>
          <p:cNvSpPr/>
          <p:nvPr/>
        </p:nvSpPr>
        <p:spPr>
          <a:xfrm>
            <a:off x="5073105" y="4323010"/>
            <a:ext cx="2843359" cy="1815882"/>
          </a:xfrm>
          <a:prstGeom prst="rect">
            <a:avLst/>
          </a:prstGeom>
        </p:spPr>
        <p:txBody>
          <a:bodyPr wrap="square">
            <a:spAutoFit/>
          </a:bodyPr>
          <a:lstStyle/>
          <a:p>
            <a:r>
              <a:rPr lang="zh-CN" altLang="en-US" sz="1400" dirty="0">
                <a:latin typeface="KaiTi" panose="02010609060101010101" pitchFamily="49" charset="-122"/>
                <a:ea typeface="KaiTi" panose="02010609060101010101" pitchFamily="49" charset="-122"/>
              </a:rPr>
              <a:t>①粒子在电场中运动的总时间为?</a:t>
            </a:r>
          </a:p>
          <a:p>
            <a:r>
              <a:rPr lang="zh-CN" altLang="en-US" sz="1400" dirty="0">
                <a:latin typeface="KaiTi" panose="02010609060101010101" pitchFamily="49" charset="-122"/>
                <a:ea typeface="KaiTi" panose="02010609060101010101" pitchFamily="49" charset="-122"/>
              </a:rPr>
              <a:t>第一步:划分运动过程：</a:t>
            </a:r>
          </a:p>
          <a:p>
            <a:r>
              <a:rPr lang="zh-CN" altLang="en-US" sz="1400" dirty="0">
                <a:latin typeface="KaiTi" panose="02010609060101010101" pitchFamily="49" charset="-122"/>
                <a:ea typeface="KaiTi" panose="02010609060101010101" pitchFamily="49" charset="-122"/>
              </a:rPr>
              <a:t>粒子由</a:t>
            </a:r>
            <a:r>
              <a:rPr lang="en-US" altLang="zh-CN" sz="1400" dirty="0">
                <a:latin typeface="KaiTi" panose="02010609060101010101" pitchFamily="49" charset="-122"/>
                <a:ea typeface="KaiTi" panose="02010609060101010101" pitchFamily="49" charset="-122"/>
              </a:rPr>
              <a:t>A</a:t>
            </a:r>
            <a:r>
              <a:rPr lang="zh-CN" altLang="en-US" sz="1400" dirty="0">
                <a:latin typeface="KaiTi" panose="02010609060101010101" pitchFamily="49" charset="-122"/>
                <a:ea typeface="KaiTi" panose="02010609060101010101" pitchFamily="49" charset="-122"/>
              </a:rPr>
              <a:t>点说入磁场。受到水平向右的洛伦兹力,在磁场内做匀速圆周运动：粒于从</a:t>
            </a:r>
            <a:r>
              <a:rPr lang="en-US" altLang="zh-CN" sz="1400" dirty="0">
                <a:latin typeface="KaiTi" panose="02010609060101010101" pitchFamily="49" charset="-122"/>
                <a:ea typeface="KaiTi" panose="02010609060101010101" pitchFamily="49" charset="-122"/>
              </a:rPr>
              <a:t>B</a:t>
            </a:r>
            <a:r>
              <a:rPr lang="zh-CN" altLang="en-US" sz="1400" dirty="0">
                <a:latin typeface="KaiTi" panose="02010609060101010101" pitchFamily="49" charset="-122"/>
                <a:ea typeface="KaiTi" panose="02010609060101010101" pitchFamily="49" charset="-122"/>
              </a:rPr>
              <a:t>点离开磁场后进入右侧电场。</a:t>
            </a:r>
            <a:endParaRPr lang="en-US" altLang="zh-CN" sz="1400" dirty="0">
              <a:latin typeface="KaiTi" panose="02010609060101010101" pitchFamily="49" charset="-122"/>
              <a:ea typeface="KaiTi" panose="02010609060101010101" pitchFamily="49" charset="-122"/>
            </a:endParaRPr>
          </a:p>
          <a:p>
            <a:endParaRPr lang="en-US" altLang="zh-CN" sz="1400" dirty="0">
              <a:latin typeface="KaiTi" panose="02010609060101010101" pitchFamily="49" charset="-122"/>
              <a:ea typeface="KaiTi" panose="02010609060101010101" pitchFamily="49" charset="-122"/>
            </a:endParaRPr>
          </a:p>
          <a:p>
            <a:r>
              <a:rPr lang="zh-CN" altLang="en-US" sz="1400" dirty="0">
                <a:latin typeface="KaiTi" panose="02010609060101010101" pitchFamily="49" charset="-122"/>
                <a:ea typeface="KaiTi" panose="02010609060101010101" pitchFamily="49" charset="-122"/>
              </a:rPr>
              <a:t>第二步:确定粒子运动轨迹</a:t>
            </a:r>
          </a:p>
        </p:txBody>
      </p:sp>
      <p:sp>
        <p:nvSpPr>
          <p:cNvPr id="20" name="矩形 19">
            <a:extLst>
              <a:ext uri="{FF2B5EF4-FFF2-40B4-BE49-F238E27FC236}">
                <a16:creationId xmlns:a16="http://schemas.microsoft.com/office/drawing/2014/main" id="{0D112B04-B0A0-BF4D-B458-B0D81AAEB807}"/>
              </a:ext>
            </a:extLst>
          </p:cNvPr>
          <p:cNvSpPr/>
          <p:nvPr/>
        </p:nvSpPr>
        <p:spPr>
          <a:xfrm>
            <a:off x="8934140" y="4293826"/>
            <a:ext cx="2843359" cy="2677656"/>
          </a:xfrm>
          <a:prstGeom prst="rect">
            <a:avLst/>
          </a:prstGeom>
        </p:spPr>
        <p:txBody>
          <a:bodyPr wrap="square">
            <a:spAutoFit/>
          </a:bodyPr>
          <a:lstStyle/>
          <a:p>
            <a:r>
              <a:rPr lang="zh-CN" altLang="en-US" sz="1400" dirty="0">
                <a:latin typeface="KaiTi" panose="02010609060101010101" pitchFamily="49" charset="-122"/>
                <a:ea typeface="KaiTi" panose="02010609060101010101" pitchFamily="49" charset="-122"/>
              </a:rPr>
              <a:t>第三步:运用匀变速直线运动公式解题</a:t>
            </a:r>
            <a:endParaRPr lang="en-US" altLang="zh-CN" sz="1400" dirty="0">
              <a:latin typeface="KaiTi" panose="02010609060101010101" pitchFamily="49" charset="-122"/>
              <a:ea typeface="KaiTi" panose="02010609060101010101" pitchFamily="49" charset="-122"/>
            </a:endParaRPr>
          </a:p>
          <a:p>
            <a:r>
              <a:rPr lang="zh-CN" altLang="en-US" sz="1400" dirty="0">
                <a:latin typeface="KaiTi" panose="02010609060101010101" pitchFamily="49" charset="-122"/>
                <a:ea typeface="KaiTi" panose="02010609060101010101" pitchFamily="49" charset="-122"/>
              </a:rPr>
              <a:t>磁场中：</a:t>
            </a:r>
            <a:endParaRPr lang="en-US" altLang="zh-CN" sz="1400" dirty="0">
              <a:latin typeface="KaiTi" panose="02010609060101010101" pitchFamily="49" charset="-122"/>
              <a:ea typeface="KaiTi" panose="02010609060101010101" pitchFamily="49" charset="-122"/>
            </a:endParaRPr>
          </a:p>
          <a:p>
            <a:r>
              <a:rPr lang="en-US" altLang="zh-CN" sz="1400" dirty="0" err="1">
                <a:latin typeface="KaiTi" panose="02010609060101010101" pitchFamily="49" charset="-122"/>
                <a:ea typeface="KaiTi" panose="02010609060101010101" pitchFamily="49" charset="-122"/>
              </a:rPr>
              <a:t>qvB</a:t>
            </a:r>
            <a:r>
              <a:rPr lang="en-US" altLang="zh-CN" sz="1400" dirty="0">
                <a:latin typeface="KaiTi" panose="02010609060101010101" pitchFamily="49" charset="-122"/>
                <a:ea typeface="KaiTi" panose="02010609060101010101" pitchFamily="49" charset="-122"/>
              </a:rPr>
              <a:t>=mv</a:t>
            </a:r>
            <a:r>
              <a:rPr lang="en-US" altLang="zh-CN" sz="1400" baseline="30000" dirty="0">
                <a:latin typeface="KaiTi" panose="02010609060101010101" pitchFamily="49" charset="-122"/>
                <a:ea typeface="KaiTi" panose="02010609060101010101" pitchFamily="49" charset="-122"/>
              </a:rPr>
              <a:t>2</a:t>
            </a:r>
            <a:r>
              <a:rPr lang="en-US" altLang="zh-CN" sz="1400" dirty="0">
                <a:latin typeface="KaiTi" panose="02010609060101010101" pitchFamily="49" charset="-122"/>
                <a:ea typeface="KaiTi" panose="02010609060101010101" pitchFamily="49" charset="-122"/>
              </a:rPr>
              <a:t>/R,</a:t>
            </a:r>
            <a:r>
              <a:rPr lang="zh-CN" altLang="en-US" sz="1400" dirty="0">
                <a:latin typeface="KaiTi" panose="02010609060101010101" pitchFamily="49" charset="-122"/>
                <a:ea typeface="KaiTi" panose="02010609060101010101" pitchFamily="49" charset="-122"/>
              </a:rPr>
              <a:t> </a:t>
            </a:r>
            <a:r>
              <a:rPr lang="en-US" altLang="zh-CN" sz="1400" dirty="0">
                <a:latin typeface="KaiTi" panose="02010609060101010101" pitchFamily="49" charset="-122"/>
                <a:ea typeface="KaiTi" panose="02010609060101010101" pitchFamily="49" charset="-122"/>
              </a:rPr>
              <a:t>v=v</a:t>
            </a:r>
            <a:r>
              <a:rPr lang="en-US" altLang="zh-CN" sz="1400" baseline="-25000" dirty="0">
                <a:latin typeface="KaiTi" panose="02010609060101010101" pitchFamily="49" charset="-122"/>
                <a:ea typeface="KaiTi" panose="02010609060101010101" pitchFamily="49" charset="-122"/>
              </a:rPr>
              <a:t>0</a:t>
            </a:r>
            <a:r>
              <a:rPr lang="zh-CN" altLang="en-US" sz="1400" baseline="-25000" dirty="0">
                <a:latin typeface="KaiTi" panose="02010609060101010101" pitchFamily="49" charset="-122"/>
                <a:ea typeface="KaiTi" panose="02010609060101010101" pitchFamily="49" charset="-122"/>
              </a:rPr>
              <a:t>，</a:t>
            </a:r>
            <a:r>
              <a:rPr lang="zh-CN" altLang="en-US" sz="1400" dirty="0">
                <a:latin typeface="KaiTi" panose="02010609060101010101" pitchFamily="49" charset="-122"/>
                <a:ea typeface="KaiTi" panose="02010609060101010101" pitchFamily="49" charset="-122"/>
              </a:rPr>
              <a:t>可得</a:t>
            </a:r>
            <a:r>
              <a:rPr lang="en-US" altLang="zh-CN" sz="1400" dirty="0">
                <a:latin typeface="KaiTi" panose="02010609060101010101" pitchFamily="49" charset="-122"/>
                <a:ea typeface="KaiTi" panose="02010609060101010101" pitchFamily="49" charset="-122"/>
              </a:rPr>
              <a:t>q=mv</a:t>
            </a:r>
            <a:r>
              <a:rPr lang="en-US" altLang="zh-CN" sz="1400" baseline="-25000" dirty="0">
                <a:latin typeface="KaiTi" panose="02010609060101010101" pitchFamily="49" charset="-122"/>
                <a:ea typeface="KaiTi" panose="02010609060101010101" pitchFamily="49" charset="-122"/>
              </a:rPr>
              <a:t>0</a:t>
            </a:r>
            <a:r>
              <a:rPr lang="en-US" altLang="zh-CN" sz="1400" dirty="0">
                <a:latin typeface="KaiTi" panose="02010609060101010101" pitchFamily="49" charset="-122"/>
                <a:ea typeface="KaiTi" panose="02010609060101010101" pitchFamily="49" charset="-122"/>
              </a:rPr>
              <a:t>/BR</a:t>
            </a:r>
          </a:p>
          <a:p>
            <a:r>
              <a:rPr lang="zh-CN" altLang="en-US" sz="1400" dirty="0">
                <a:latin typeface="KaiTi" panose="02010609060101010101" pitchFamily="49" charset="-122"/>
                <a:ea typeface="KaiTi" panose="02010609060101010101" pitchFamily="49" charset="-122"/>
              </a:rPr>
              <a:t>电场中：</a:t>
            </a:r>
            <a:endParaRPr lang="en-US" altLang="zh-CN" sz="1400" dirty="0">
              <a:latin typeface="KaiTi" panose="02010609060101010101" pitchFamily="49" charset="-122"/>
              <a:ea typeface="KaiTi" panose="02010609060101010101" pitchFamily="49" charset="-122"/>
            </a:endParaRPr>
          </a:p>
          <a:p>
            <a:r>
              <a:rPr lang="en-US" altLang="zh-CN" sz="1400" dirty="0">
                <a:latin typeface="KaiTi" panose="02010609060101010101" pitchFamily="49" charset="-122"/>
                <a:ea typeface="KaiTi" panose="02010609060101010101" pitchFamily="49" charset="-122"/>
              </a:rPr>
              <a:t>Eq=ma, a=</a:t>
            </a:r>
            <a:r>
              <a:rPr lang="en-US" altLang="zh-CN" sz="1400" dirty="0" err="1">
                <a:latin typeface="KaiTi" panose="02010609060101010101" pitchFamily="49" charset="-122"/>
                <a:ea typeface="KaiTi" panose="02010609060101010101" pitchFamily="49" charset="-122"/>
              </a:rPr>
              <a:t>qE</a:t>
            </a:r>
            <a:r>
              <a:rPr lang="en-US" altLang="zh-CN" sz="1400" dirty="0">
                <a:latin typeface="KaiTi" panose="02010609060101010101" pitchFamily="49" charset="-122"/>
                <a:ea typeface="KaiTi" panose="02010609060101010101" pitchFamily="49" charset="-122"/>
              </a:rPr>
              <a:t>/m=v</a:t>
            </a:r>
            <a:r>
              <a:rPr lang="en-US" altLang="zh-CN" sz="1400" baseline="-25000" dirty="0">
                <a:latin typeface="KaiTi" panose="02010609060101010101" pitchFamily="49" charset="-122"/>
                <a:ea typeface="KaiTi" panose="02010609060101010101" pitchFamily="49" charset="-122"/>
              </a:rPr>
              <a:t>0</a:t>
            </a:r>
            <a:r>
              <a:rPr lang="en-US" altLang="zh-CN" sz="1400" dirty="0">
                <a:latin typeface="KaiTi" panose="02010609060101010101" pitchFamily="49" charset="-122"/>
                <a:ea typeface="KaiTi" panose="02010609060101010101" pitchFamily="49" charset="-122"/>
              </a:rPr>
              <a:t>E/BR,</a:t>
            </a:r>
            <a:r>
              <a:rPr lang="zh-CN" altLang="en-US" sz="1400" dirty="0">
                <a:latin typeface="KaiTi" panose="02010609060101010101" pitchFamily="49" charset="-122"/>
                <a:ea typeface="KaiTi" panose="02010609060101010101" pitchFamily="49" charset="-122"/>
              </a:rPr>
              <a:t>方向水平向左</a:t>
            </a:r>
            <a:endParaRPr lang="en-US" altLang="zh-CN" sz="1400" dirty="0">
              <a:latin typeface="KaiTi" panose="02010609060101010101" pitchFamily="49" charset="-122"/>
              <a:ea typeface="KaiTi" panose="02010609060101010101" pitchFamily="49" charset="-122"/>
            </a:endParaRPr>
          </a:p>
          <a:p>
            <a:r>
              <a:rPr lang="zh-CN" altLang="en-US" sz="1400" dirty="0">
                <a:latin typeface="KaiTi" panose="02010609060101010101" pitchFamily="49" charset="-122"/>
                <a:ea typeface="KaiTi" panose="02010609060101010101" pitchFamily="49" charset="-122"/>
              </a:rPr>
              <a:t>匀变速直线运动：</a:t>
            </a:r>
            <a:endParaRPr lang="en-US" altLang="zh-CN" sz="1400" dirty="0">
              <a:latin typeface="KaiTi" panose="02010609060101010101" pitchFamily="49" charset="-122"/>
              <a:ea typeface="KaiTi" panose="02010609060101010101" pitchFamily="49" charset="-122"/>
            </a:endParaRPr>
          </a:p>
          <a:p>
            <a:r>
              <a:rPr lang="zh-CN" altLang="en-US" sz="1400" dirty="0">
                <a:latin typeface="KaiTi" panose="02010609060101010101" pitchFamily="49" charset="-122"/>
                <a:ea typeface="KaiTi" panose="02010609060101010101" pitchFamily="49" charset="-122"/>
              </a:rPr>
              <a:t>△</a:t>
            </a:r>
            <a:r>
              <a:rPr lang="en-US" altLang="zh-CN" sz="1400" dirty="0">
                <a:latin typeface="KaiTi" panose="02010609060101010101" pitchFamily="49" charset="-122"/>
                <a:ea typeface="KaiTi" panose="02010609060101010101" pitchFamily="49" charset="-122"/>
              </a:rPr>
              <a:t>v=v0-</a:t>
            </a:r>
            <a:r>
              <a:rPr lang="zh-CN" altLang="en-US" sz="1400" dirty="0">
                <a:latin typeface="KaiTi" panose="02010609060101010101" pitchFamily="49" charset="-122"/>
                <a:ea typeface="KaiTi" panose="02010609060101010101" pitchFamily="49" charset="-122"/>
              </a:rPr>
              <a:t>（</a:t>
            </a:r>
            <a:r>
              <a:rPr lang="en-US" altLang="zh-CN" sz="1400" dirty="0">
                <a:latin typeface="KaiTi" panose="02010609060101010101" pitchFamily="49" charset="-122"/>
                <a:ea typeface="KaiTi" panose="02010609060101010101" pitchFamily="49" charset="-122"/>
              </a:rPr>
              <a:t>-v0</a:t>
            </a:r>
            <a:r>
              <a:rPr lang="zh-CN" altLang="en-US" sz="1400" dirty="0">
                <a:latin typeface="KaiTi" panose="02010609060101010101" pitchFamily="49" charset="-122"/>
                <a:ea typeface="KaiTi" panose="02010609060101010101" pitchFamily="49" charset="-122"/>
              </a:rPr>
              <a:t>）</a:t>
            </a:r>
            <a:r>
              <a:rPr lang="en-US" altLang="zh-CN" sz="1400" dirty="0">
                <a:latin typeface="KaiTi" panose="02010609060101010101" pitchFamily="49" charset="-122"/>
                <a:ea typeface="KaiTi" panose="02010609060101010101" pitchFamily="49" charset="-122"/>
              </a:rPr>
              <a:t>=2v0</a:t>
            </a:r>
          </a:p>
          <a:p>
            <a:r>
              <a:rPr lang="fr-FR" altLang="zh-CN" sz="1400" dirty="0">
                <a:latin typeface="KaiTi" panose="02010609060101010101" pitchFamily="49" charset="-122"/>
                <a:ea typeface="KaiTi" panose="02010609060101010101" pitchFamily="49" charset="-122"/>
              </a:rPr>
              <a:t>△v=at, </a:t>
            </a:r>
            <a:r>
              <a:rPr lang="fr-FR" altLang="zh-CN" sz="1400" dirty="0" err="1">
                <a:latin typeface="KaiTi" panose="02010609060101010101" pitchFamily="49" charset="-122"/>
                <a:ea typeface="KaiTi" panose="02010609060101010101" pitchFamily="49" charset="-122"/>
              </a:rPr>
              <a:t>t</a:t>
            </a:r>
            <a:r>
              <a:rPr lang="fr-FR" altLang="zh-CN" sz="1400" dirty="0">
                <a:latin typeface="KaiTi" panose="02010609060101010101" pitchFamily="49" charset="-122"/>
                <a:ea typeface="KaiTi" panose="02010609060101010101" pitchFamily="49" charset="-122"/>
              </a:rPr>
              <a:t>= △v/a=2v</a:t>
            </a:r>
            <a:r>
              <a:rPr lang="fr-FR" altLang="zh-CN" sz="1400" baseline="-25000" dirty="0">
                <a:latin typeface="KaiTi" panose="02010609060101010101" pitchFamily="49" charset="-122"/>
                <a:ea typeface="KaiTi" panose="02010609060101010101" pitchFamily="49" charset="-122"/>
              </a:rPr>
              <a:t>0</a:t>
            </a:r>
            <a:r>
              <a:rPr lang="fr-FR" altLang="zh-CN" sz="1400" dirty="0">
                <a:latin typeface="KaiTi" panose="02010609060101010101" pitchFamily="49" charset="-122"/>
                <a:ea typeface="KaiTi" panose="02010609060101010101" pitchFamily="49" charset="-122"/>
              </a:rPr>
              <a:t>/(</a:t>
            </a:r>
            <a:r>
              <a:rPr lang="en-US" altLang="zh-CN" sz="1400" dirty="0">
                <a:latin typeface="KaiTi" panose="02010609060101010101" pitchFamily="49" charset="-122"/>
                <a:ea typeface="KaiTi" panose="02010609060101010101" pitchFamily="49" charset="-122"/>
              </a:rPr>
              <a:t>v</a:t>
            </a:r>
            <a:r>
              <a:rPr lang="en-US" altLang="zh-CN" sz="1400" baseline="-25000" dirty="0">
                <a:latin typeface="KaiTi" panose="02010609060101010101" pitchFamily="49" charset="-122"/>
                <a:ea typeface="KaiTi" panose="02010609060101010101" pitchFamily="49" charset="-122"/>
              </a:rPr>
              <a:t>0</a:t>
            </a:r>
            <a:r>
              <a:rPr lang="en-US" altLang="zh-CN" sz="1400" dirty="0">
                <a:latin typeface="KaiTi" panose="02010609060101010101" pitchFamily="49" charset="-122"/>
                <a:ea typeface="KaiTi" panose="02010609060101010101" pitchFamily="49" charset="-122"/>
              </a:rPr>
              <a:t>E/BR</a:t>
            </a:r>
            <a:r>
              <a:rPr lang="fr-FR" altLang="zh-CN" sz="1400" dirty="0">
                <a:latin typeface="KaiTi" panose="02010609060101010101" pitchFamily="49" charset="-122"/>
                <a:ea typeface="KaiTi" panose="02010609060101010101" pitchFamily="49" charset="-122"/>
              </a:rPr>
              <a:t>)=2BR/E</a:t>
            </a:r>
            <a:endParaRPr lang="zh-CN" altLang="en-US" sz="1400" dirty="0">
              <a:latin typeface="KaiTi" panose="02010609060101010101" pitchFamily="49" charset="-122"/>
              <a:ea typeface="KaiTi" panose="02010609060101010101" pitchFamily="49" charset="-122"/>
            </a:endParaRPr>
          </a:p>
          <a:p>
            <a:endParaRPr lang="zh-CN" altLang="en-US" sz="1400"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134392595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B63A571E-2F89-F74F-8875-5269527B170A}"/>
              </a:ext>
            </a:extLst>
          </p:cNvPr>
          <p:cNvSpPr/>
          <p:nvPr/>
        </p:nvSpPr>
        <p:spPr>
          <a:xfrm>
            <a:off x="609559" y="2737922"/>
            <a:ext cx="2384364" cy="3660337"/>
          </a:xfrm>
          <a:prstGeom prst="rect">
            <a:avLst/>
          </a:prstGeom>
          <a:solidFill>
            <a:srgbClr val="FCED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AD439BBB-1E1D-7344-9A13-86EEDF550E12}"/>
              </a:ext>
            </a:extLst>
          </p:cNvPr>
          <p:cNvSpPr txBox="1"/>
          <p:nvPr/>
        </p:nvSpPr>
        <p:spPr>
          <a:xfrm>
            <a:off x="538850" y="1090551"/>
            <a:ext cx="9354349" cy="697755"/>
          </a:xfrm>
          <a:prstGeom prst="rect">
            <a:avLst/>
          </a:prstGeom>
          <a:noFill/>
        </p:spPr>
        <p:txBody>
          <a:bodyPr wrap="square" rtlCol="0">
            <a:spAutoFit/>
          </a:bodyPr>
          <a:lstStyle/>
          <a:p>
            <a:pPr>
              <a:lnSpc>
                <a:spcPct val="150000"/>
              </a:lnSpc>
            </a:pP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哪些模型？</a:t>
            </a:r>
            <a:endPar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1</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）单杆模型（例如：受恒力）</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6" name="矩形 5">
            <a:extLst>
              <a:ext uri="{FF2B5EF4-FFF2-40B4-BE49-F238E27FC236}">
                <a16:creationId xmlns:a16="http://schemas.microsoft.com/office/drawing/2014/main" id="{F3F0AD5B-CF0C-9044-84C6-890E3379EA33}"/>
              </a:ext>
            </a:extLst>
          </p:cNvPr>
          <p:cNvSpPr/>
          <p:nvPr/>
        </p:nvSpPr>
        <p:spPr>
          <a:xfrm>
            <a:off x="693629" y="2882386"/>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491CFD39-FC30-324E-BD0A-ACD4C0CF6E63}"/>
              </a:ext>
            </a:extLst>
          </p:cNvPr>
          <p:cNvSpPr txBox="1"/>
          <p:nvPr/>
        </p:nvSpPr>
        <p:spPr>
          <a:xfrm>
            <a:off x="693907" y="3251717"/>
            <a:ext cx="2201693" cy="2246769"/>
          </a:xfrm>
          <a:prstGeom prst="rect">
            <a:avLst/>
          </a:prstGeom>
          <a:noFill/>
        </p:spPr>
        <p:txBody>
          <a:bodyPr wrap="square" rtlCol="0">
            <a:spAutoFit/>
          </a:bodyPr>
          <a:lstStyle/>
          <a:p>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受力分析</a:t>
            </a:r>
            <a:r>
              <a:rPr kumimoji="1" lang="en-US" altLang="zh-CN" sz="1400" dirty="0">
                <a:solidFill>
                  <a:srgbClr val="223AAC"/>
                </a:solidFill>
                <a:latin typeface="KaiTi" panose="02010609060101010101" pitchFamily="49" charset="-122"/>
                <a:ea typeface="KaiTi" panose="02010609060101010101" pitchFamily="49" charset="-122"/>
              </a:rPr>
              <a:t>】</a:t>
            </a: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latin typeface="KaiTi" panose="02010609060101010101" pitchFamily="49" charset="-122"/>
                <a:ea typeface="KaiTi" panose="02010609060101010101" pitchFamily="49" charset="-122"/>
              </a:rPr>
              <a:t>根据不同情况：</a:t>
            </a:r>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*摩擦力</a:t>
            </a:r>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重力</a:t>
            </a:r>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（在斜面上分力）</a:t>
            </a:r>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b="1" dirty="0">
              <a:solidFill>
                <a:srgbClr val="223AAC"/>
              </a:solidFill>
              <a:latin typeface="KaiTi" panose="02010609060101010101" pitchFamily="49" charset="-122"/>
              <a:ea typeface="KaiTi" panose="02010609060101010101" pitchFamily="49" charset="-122"/>
            </a:endParaRPr>
          </a:p>
          <a:p>
            <a:pPr algn="ctr"/>
            <a:r>
              <a:rPr kumimoji="1" lang="en-US" altLang="zh-CN" sz="1400" b="1" dirty="0">
                <a:solidFill>
                  <a:srgbClr val="223AAC"/>
                </a:solidFill>
                <a:latin typeface="KaiTi" panose="02010609060101010101" pitchFamily="49" charset="-122"/>
                <a:ea typeface="KaiTi" panose="02010609060101010101" pitchFamily="49" charset="-122"/>
              </a:rPr>
              <a:t>{</a:t>
            </a:r>
            <a:r>
              <a:rPr kumimoji="1" lang="zh-CN" altLang="en-US" sz="1400" b="1" dirty="0">
                <a:solidFill>
                  <a:srgbClr val="223AAC"/>
                </a:solidFill>
                <a:latin typeface="KaiTi" panose="02010609060101010101" pitchFamily="49" charset="-122"/>
                <a:ea typeface="KaiTi" panose="02010609060101010101" pitchFamily="49" charset="-122"/>
              </a:rPr>
              <a:t>先求重力，</a:t>
            </a:r>
            <a:endParaRPr kumimoji="1" lang="en-US" altLang="zh-CN" sz="1400" b="1" dirty="0">
              <a:solidFill>
                <a:srgbClr val="223AAC"/>
              </a:solidFill>
              <a:latin typeface="KaiTi" panose="02010609060101010101" pitchFamily="49" charset="-122"/>
              <a:ea typeface="KaiTi" panose="02010609060101010101" pitchFamily="49" charset="-122"/>
            </a:endParaRPr>
          </a:p>
          <a:p>
            <a:pPr algn="ctr"/>
            <a:r>
              <a:rPr kumimoji="1" lang="zh-CN" altLang="en-US" sz="1400" b="1" dirty="0">
                <a:solidFill>
                  <a:srgbClr val="223AAC"/>
                </a:solidFill>
                <a:latin typeface="KaiTi" panose="02010609060101010101" pitchFamily="49" charset="-122"/>
                <a:ea typeface="KaiTi" panose="02010609060101010101" pitchFamily="49" charset="-122"/>
              </a:rPr>
              <a:t>再依次看弹力、摩擦力，最后分析磁场中运动</a:t>
            </a:r>
            <a:r>
              <a:rPr kumimoji="1" lang="en-US" altLang="zh-CN" sz="1400" b="1" dirty="0">
                <a:solidFill>
                  <a:srgbClr val="223AAC"/>
                </a:solidFill>
                <a:latin typeface="KaiTi" panose="02010609060101010101" pitchFamily="49" charset="-122"/>
                <a:ea typeface="KaiTi" panose="02010609060101010101" pitchFamily="49" charset="-122"/>
              </a:rPr>
              <a:t>}</a:t>
            </a:r>
            <a:endParaRPr kumimoji="1" lang="en-US" altLang="zh-CN" sz="1400" dirty="0">
              <a:solidFill>
                <a:srgbClr val="223AAC"/>
              </a:solidFill>
              <a:latin typeface="KaiTi" panose="02010609060101010101" pitchFamily="49" charset="-122"/>
              <a:ea typeface="KaiTi" panose="02010609060101010101" pitchFamily="49" charset="-122"/>
            </a:endParaRPr>
          </a:p>
        </p:txBody>
      </p:sp>
      <p:pic>
        <p:nvPicPr>
          <p:cNvPr id="13" name="图片 12">
            <a:extLst>
              <a:ext uri="{FF2B5EF4-FFF2-40B4-BE49-F238E27FC236}">
                <a16:creationId xmlns:a16="http://schemas.microsoft.com/office/drawing/2014/main" id="{A0A9CB3A-2DAA-A74D-94FB-60D01874FCA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313068" y="1290793"/>
            <a:ext cx="6756400" cy="2894257"/>
          </a:xfrm>
          <a:prstGeom prst="rect">
            <a:avLst/>
          </a:prstGeom>
          <a:ln>
            <a:solidFill>
              <a:srgbClr val="C00000"/>
            </a:solidFill>
          </a:ln>
        </p:spPr>
      </p:pic>
      <p:sp>
        <p:nvSpPr>
          <p:cNvPr id="8" name="文本框 7">
            <a:extLst>
              <a:ext uri="{FF2B5EF4-FFF2-40B4-BE49-F238E27FC236}">
                <a16:creationId xmlns:a16="http://schemas.microsoft.com/office/drawing/2014/main" id="{85126CCD-E36B-8C48-86F3-168218871060}"/>
              </a:ext>
            </a:extLst>
          </p:cNvPr>
          <p:cNvSpPr txBox="1"/>
          <p:nvPr/>
        </p:nvSpPr>
        <p:spPr>
          <a:xfrm>
            <a:off x="538850" y="459740"/>
            <a:ext cx="4942702" cy="338554"/>
          </a:xfrm>
          <a:prstGeom prst="rect">
            <a:avLst/>
          </a:prstGeom>
          <a:noFill/>
        </p:spPr>
        <p:txBody>
          <a:bodyPr wrap="square" rtlCol="0">
            <a:spAutoFit/>
          </a:bodyPr>
          <a:lstStyle/>
          <a:p>
            <a:r>
              <a:rPr kumimoji="1" lang="en-US" altLang="zh-CN"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2.</a:t>
            </a:r>
            <a:r>
              <a:rPr kumimoji="1" lang="zh-CN" altLang="en-US"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电与磁场板块：</a:t>
            </a:r>
          </a:p>
        </p:txBody>
      </p:sp>
      <p:pic>
        <p:nvPicPr>
          <p:cNvPr id="2" name="图片 1">
            <a:extLst>
              <a:ext uri="{FF2B5EF4-FFF2-40B4-BE49-F238E27FC236}">
                <a16:creationId xmlns:a16="http://schemas.microsoft.com/office/drawing/2014/main" id="{2EFC3933-0796-704B-BAB9-909931734DF7}"/>
              </a:ext>
            </a:extLst>
          </p:cNvPr>
          <p:cNvPicPr>
            <a:picLocks noChangeAspect="1"/>
          </p:cNvPicPr>
          <p:nvPr/>
        </p:nvPicPr>
        <p:blipFill rotWithShape="1">
          <a:blip r:embed="rId3"/>
          <a:srcRect t="15612"/>
          <a:stretch/>
        </p:blipFill>
        <p:spPr>
          <a:xfrm>
            <a:off x="4313068" y="4829174"/>
            <a:ext cx="6756400" cy="1345987"/>
          </a:xfrm>
          <a:prstGeom prst="rect">
            <a:avLst/>
          </a:prstGeom>
          <a:ln>
            <a:solidFill>
              <a:srgbClr val="C00000"/>
            </a:solidFill>
          </a:ln>
        </p:spPr>
      </p:pic>
    </p:spTree>
    <p:extLst>
      <p:ext uri="{BB962C8B-B14F-4D97-AF65-F5344CB8AC3E}">
        <p14:creationId xmlns:p14="http://schemas.microsoft.com/office/powerpoint/2010/main" val="217099377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B63A571E-2F89-F74F-8875-5269527B170A}"/>
              </a:ext>
            </a:extLst>
          </p:cNvPr>
          <p:cNvSpPr/>
          <p:nvPr/>
        </p:nvSpPr>
        <p:spPr>
          <a:xfrm>
            <a:off x="609559" y="2737922"/>
            <a:ext cx="2384364" cy="3660337"/>
          </a:xfrm>
          <a:prstGeom prst="rect">
            <a:avLst/>
          </a:prstGeom>
          <a:solidFill>
            <a:srgbClr val="FCED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AD439BBB-1E1D-7344-9A13-86EEDF550E12}"/>
              </a:ext>
            </a:extLst>
          </p:cNvPr>
          <p:cNvSpPr txBox="1"/>
          <p:nvPr/>
        </p:nvSpPr>
        <p:spPr>
          <a:xfrm>
            <a:off x="538850" y="1090551"/>
            <a:ext cx="9354349" cy="697755"/>
          </a:xfrm>
          <a:prstGeom prst="rect">
            <a:avLst/>
          </a:prstGeom>
          <a:noFill/>
        </p:spPr>
        <p:txBody>
          <a:bodyPr wrap="square" rtlCol="0">
            <a:spAutoFit/>
          </a:bodyPr>
          <a:lstStyle/>
          <a:p>
            <a:pPr>
              <a:lnSpc>
                <a:spcPct val="150000"/>
              </a:lnSpc>
            </a:pP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哪些模型？</a:t>
            </a:r>
            <a:endPar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2</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）不同边界磁场</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6" name="矩形 5">
            <a:extLst>
              <a:ext uri="{FF2B5EF4-FFF2-40B4-BE49-F238E27FC236}">
                <a16:creationId xmlns:a16="http://schemas.microsoft.com/office/drawing/2014/main" id="{F3F0AD5B-CF0C-9044-84C6-890E3379EA33}"/>
              </a:ext>
            </a:extLst>
          </p:cNvPr>
          <p:cNvSpPr/>
          <p:nvPr/>
        </p:nvSpPr>
        <p:spPr>
          <a:xfrm>
            <a:off x="693629" y="2882386"/>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491CFD39-FC30-324E-BD0A-ACD4C0CF6E63}"/>
              </a:ext>
            </a:extLst>
          </p:cNvPr>
          <p:cNvSpPr txBox="1"/>
          <p:nvPr/>
        </p:nvSpPr>
        <p:spPr>
          <a:xfrm>
            <a:off x="693907" y="3251717"/>
            <a:ext cx="2201693" cy="3108543"/>
          </a:xfrm>
          <a:prstGeom prst="rect">
            <a:avLst/>
          </a:prstGeom>
          <a:noFill/>
        </p:spPr>
        <p:txBody>
          <a:bodyPr wrap="square" rtlCol="0">
            <a:spAutoFit/>
          </a:bodyPr>
          <a:lstStyle/>
          <a:p>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按阶段分析</a:t>
            </a:r>
            <a:r>
              <a:rPr kumimoji="1" lang="en-US" altLang="zh-CN" sz="1400" dirty="0">
                <a:solidFill>
                  <a:srgbClr val="223AAC"/>
                </a:solidFill>
                <a:latin typeface="KaiTi" panose="02010609060101010101" pitchFamily="49" charset="-122"/>
                <a:ea typeface="KaiTi" panose="02010609060101010101" pitchFamily="49" charset="-122"/>
              </a:rPr>
              <a:t>】</a:t>
            </a: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latin typeface="KaiTi" panose="02010609060101010101" pitchFamily="49" charset="-122"/>
                <a:ea typeface="KaiTi" panose="02010609060101010101" pitchFamily="49" charset="-122"/>
              </a:rPr>
              <a:t>单边界</a:t>
            </a:r>
            <a:r>
              <a:rPr kumimoji="1" lang="en-US" altLang="zh-CN" sz="1400" dirty="0">
                <a:latin typeface="KaiTi" panose="02010609060101010101" pitchFamily="49" charset="-122"/>
                <a:ea typeface="KaiTi" panose="02010609060101010101" pitchFamily="49" charset="-122"/>
              </a:rPr>
              <a:t>/</a:t>
            </a:r>
          </a:p>
          <a:p>
            <a:r>
              <a:rPr kumimoji="1" lang="zh-CN" altLang="en-US" sz="1400" dirty="0">
                <a:solidFill>
                  <a:srgbClr val="223AAC"/>
                </a:solidFill>
                <a:latin typeface="KaiTi" panose="02010609060101010101" pitchFamily="49" charset="-122"/>
                <a:ea typeface="KaiTi" panose="02010609060101010101" pitchFamily="49" charset="-122"/>
              </a:rPr>
              <a:t>双边界</a:t>
            </a:r>
            <a:r>
              <a:rPr kumimoji="1" lang="en-US" altLang="zh-CN" sz="1400" dirty="0">
                <a:solidFill>
                  <a:srgbClr val="223AAC"/>
                </a:solidFill>
                <a:latin typeface="KaiTi" panose="02010609060101010101" pitchFamily="49" charset="-122"/>
                <a:ea typeface="KaiTi" panose="02010609060101010101" pitchFamily="49" charset="-122"/>
              </a:rPr>
              <a:t>/</a:t>
            </a:r>
          </a:p>
          <a:p>
            <a:r>
              <a:rPr kumimoji="1" lang="zh-CN" altLang="en-US" sz="1400" dirty="0">
                <a:solidFill>
                  <a:srgbClr val="223AAC"/>
                </a:solidFill>
                <a:latin typeface="KaiTi" panose="02010609060101010101" pitchFamily="49" charset="-122"/>
                <a:ea typeface="KaiTi" panose="02010609060101010101" pitchFamily="49" charset="-122"/>
              </a:rPr>
              <a:t>圆形边界</a:t>
            </a:r>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*再分别「受力分析」：</a:t>
            </a:r>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尤其注意边界处</a:t>
            </a:r>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运动速度方向</a:t>
            </a:r>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b="1" dirty="0">
              <a:solidFill>
                <a:srgbClr val="223AAC"/>
              </a:solidFill>
              <a:latin typeface="KaiTi" panose="02010609060101010101" pitchFamily="49" charset="-122"/>
              <a:ea typeface="KaiTi" panose="02010609060101010101" pitchFamily="49" charset="-122"/>
            </a:endParaRPr>
          </a:p>
          <a:p>
            <a:pPr algn="ctr"/>
            <a:r>
              <a:rPr kumimoji="1" lang="en-US" altLang="zh-CN" sz="1400" b="1" dirty="0">
                <a:solidFill>
                  <a:srgbClr val="223AAC"/>
                </a:solidFill>
                <a:latin typeface="KaiTi" panose="02010609060101010101" pitchFamily="49" charset="-122"/>
                <a:ea typeface="KaiTi" panose="02010609060101010101" pitchFamily="49" charset="-122"/>
              </a:rPr>
              <a:t>{</a:t>
            </a:r>
            <a:r>
              <a:rPr kumimoji="1" lang="zh-CN" altLang="en-US" sz="1400" b="1" dirty="0">
                <a:solidFill>
                  <a:srgbClr val="223AAC"/>
                </a:solidFill>
                <a:latin typeface="KaiTi" panose="02010609060101010101" pitchFamily="49" charset="-122"/>
                <a:ea typeface="KaiTi" panose="02010609060101010101" pitchFamily="49" charset="-122"/>
              </a:rPr>
              <a:t>先求不同阶段受力，</a:t>
            </a:r>
            <a:endParaRPr kumimoji="1" lang="en-US" altLang="zh-CN" sz="1400" b="1" dirty="0">
              <a:solidFill>
                <a:srgbClr val="223AAC"/>
              </a:solidFill>
              <a:latin typeface="KaiTi" panose="02010609060101010101" pitchFamily="49" charset="-122"/>
              <a:ea typeface="KaiTi" panose="02010609060101010101" pitchFamily="49" charset="-122"/>
            </a:endParaRPr>
          </a:p>
          <a:p>
            <a:pPr algn="ctr"/>
            <a:r>
              <a:rPr kumimoji="1" lang="zh-CN" altLang="en-US" sz="1400" b="1" dirty="0">
                <a:solidFill>
                  <a:srgbClr val="223AAC"/>
                </a:solidFill>
                <a:latin typeface="KaiTi" panose="02010609060101010101" pitchFamily="49" charset="-122"/>
                <a:ea typeface="KaiTi" panose="02010609060101010101" pitchFamily="49" charset="-122"/>
              </a:rPr>
              <a:t>再求边界处速度方向，</a:t>
            </a:r>
            <a:endParaRPr kumimoji="1" lang="en-US" altLang="zh-CN" sz="1400" b="1" dirty="0">
              <a:solidFill>
                <a:srgbClr val="223AAC"/>
              </a:solidFill>
              <a:latin typeface="KaiTi" panose="02010609060101010101" pitchFamily="49" charset="-122"/>
              <a:ea typeface="KaiTi" panose="02010609060101010101" pitchFamily="49" charset="-122"/>
            </a:endParaRPr>
          </a:p>
          <a:p>
            <a:pPr algn="ctr"/>
            <a:r>
              <a:rPr kumimoji="1" lang="zh-CN" altLang="en-US" sz="1400" b="1" dirty="0">
                <a:solidFill>
                  <a:srgbClr val="223AAC"/>
                </a:solidFill>
                <a:latin typeface="KaiTi" panose="02010609060101010101" pitchFamily="49" charset="-122"/>
                <a:ea typeface="KaiTi" panose="02010609060101010101" pitchFamily="49" charset="-122"/>
              </a:rPr>
              <a:t>判断各阶段轨迹</a:t>
            </a:r>
            <a:r>
              <a:rPr kumimoji="1" lang="en-US" altLang="zh-CN" sz="1400" b="1" dirty="0">
                <a:solidFill>
                  <a:srgbClr val="223AAC"/>
                </a:solidFill>
                <a:latin typeface="KaiTi" panose="02010609060101010101" pitchFamily="49" charset="-122"/>
                <a:ea typeface="KaiTi" panose="02010609060101010101" pitchFamily="49" charset="-122"/>
              </a:rPr>
              <a:t>}</a:t>
            </a:r>
            <a:endParaRPr kumimoji="1" lang="en-US" altLang="zh-CN" sz="1400" dirty="0">
              <a:solidFill>
                <a:srgbClr val="223AAC"/>
              </a:solidFill>
              <a:latin typeface="KaiTi" panose="02010609060101010101" pitchFamily="49" charset="-122"/>
              <a:ea typeface="KaiTi" panose="02010609060101010101" pitchFamily="49" charset="-122"/>
            </a:endParaRPr>
          </a:p>
        </p:txBody>
      </p:sp>
      <p:sp>
        <p:nvSpPr>
          <p:cNvPr id="15" name="文本框 14">
            <a:extLst>
              <a:ext uri="{FF2B5EF4-FFF2-40B4-BE49-F238E27FC236}">
                <a16:creationId xmlns:a16="http://schemas.microsoft.com/office/drawing/2014/main" id="{DC4EA1E4-F5BC-F04C-AE1A-903DAA7A7D93}"/>
              </a:ext>
            </a:extLst>
          </p:cNvPr>
          <p:cNvSpPr txBox="1"/>
          <p:nvPr/>
        </p:nvSpPr>
        <p:spPr>
          <a:xfrm>
            <a:off x="538850" y="459740"/>
            <a:ext cx="4942702" cy="338554"/>
          </a:xfrm>
          <a:prstGeom prst="rect">
            <a:avLst/>
          </a:prstGeom>
          <a:noFill/>
        </p:spPr>
        <p:txBody>
          <a:bodyPr wrap="square" rtlCol="0">
            <a:spAutoFit/>
          </a:bodyPr>
          <a:lstStyle/>
          <a:p>
            <a:r>
              <a:rPr kumimoji="1" lang="en-US" altLang="zh-CN"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2.</a:t>
            </a:r>
            <a:r>
              <a:rPr kumimoji="1" lang="zh-CN" altLang="en-US"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电与磁场板块：</a:t>
            </a:r>
          </a:p>
        </p:txBody>
      </p:sp>
      <p:pic>
        <p:nvPicPr>
          <p:cNvPr id="8" name="图片 7">
            <a:extLst>
              <a:ext uri="{FF2B5EF4-FFF2-40B4-BE49-F238E27FC236}">
                <a16:creationId xmlns:a16="http://schemas.microsoft.com/office/drawing/2014/main" id="{541C0EDD-44D5-F34D-B47E-29F76BCAE89C}"/>
              </a:ext>
            </a:extLst>
          </p:cNvPr>
          <p:cNvPicPr>
            <a:picLocks noChangeAspect="1"/>
          </p:cNvPicPr>
          <p:nvPr/>
        </p:nvPicPr>
        <p:blipFill>
          <a:blip r:embed="rId2"/>
          <a:stretch>
            <a:fillRect/>
          </a:stretch>
        </p:blipFill>
        <p:spPr>
          <a:xfrm>
            <a:off x="3462183" y="694205"/>
            <a:ext cx="7654236" cy="5704054"/>
          </a:xfrm>
          <a:prstGeom prst="rect">
            <a:avLst/>
          </a:prstGeom>
          <a:ln>
            <a:solidFill>
              <a:srgbClr val="C00000"/>
            </a:solidFill>
          </a:ln>
        </p:spPr>
      </p:pic>
    </p:spTree>
    <p:extLst>
      <p:ext uri="{BB962C8B-B14F-4D97-AF65-F5344CB8AC3E}">
        <p14:creationId xmlns:p14="http://schemas.microsoft.com/office/powerpoint/2010/main" val="31904591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B63A571E-2F89-F74F-8875-5269527B170A}"/>
              </a:ext>
            </a:extLst>
          </p:cNvPr>
          <p:cNvSpPr/>
          <p:nvPr/>
        </p:nvSpPr>
        <p:spPr>
          <a:xfrm>
            <a:off x="609559" y="2737922"/>
            <a:ext cx="2384364" cy="3660337"/>
          </a:xfrm>
          <a:prstGeom prst="rect">
            <a:avLst/>
          </a:prstGeom>
          <a:solidFill>
            <a:srgbClr val="FCED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AD439BBB-1E1D-7344-9A13-86EEDF550E12}"/>
              </a:ext>
            </a:extLst>
          </p:cNvPr>
          <p:cNvSpPr txBox="1"/>
          <p:nvPr/>
        </p:nvSpPr>
        <p:spPr>
          <a:xfrm>
            <a:off x="538850" y="1090551"/>
            <a:ext cx="9354349" cy="697755"/>
          </a:xfrm>
          <a:prstGeom prst="rect">
            <a:avLst/>
          </a:prstGeom>
          <a:noFill/>
        </p:spPr>
        <p:txBody>
          <a:bodyPr wrap="square" rtlCol="0">
            <a:spAutoFit/>
          </a:bodyPr>
          <a:lstStyle/>
          <a:p>
            <a:pPr>
              <a:lnSpc>
                <a:spcPct val="150000"/>
              </a:lnSpc>
            </a:pP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哪些模型？</a:t>
            </a:r>
            <a:endPar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3</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）组合场</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6" name="矩形 5">
            <a:extLst>
              <a:ext uri="{FF2B5EF4-FFF2-40B4-BE49-F238E27FC236}">
                <a16:creationId xmlns:a16="http://schemas.microsoft.com/office/drawing/2014/main" id="{F3F0AD5B-CF0C-9044-84C6-890E3379EA33}"/>
              </a:ext>
            </a:extLst>
          </p:cNvPr>
          <p:cNvSpPr/>
          <p:nvPr/>
        </p:nvSpPr>
        <p:spPr>
          <a:xfrm>
            <a:off x="693629" y="2882386"/>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491CFD39-FC30-324E-BD0A-ACD4C0CF6E63}"/>
              </a:ext>
            </a:extLst>
          </p:cNvPr>
          <p:cNvSpPr txBox="1"/>
          <p:nvPr/>
        </p:nvSpPr>
        <p:spPr>
          <a:xfrm>
            <a:off x="693907" y="3251717"/>
            <a:ext cx="2201693" cy="2677656"/>
          </a:xfrm>
          <a:prstGeom prst="rect">
            <a:avLst/>
          </a:prstGeom>
          <a:noFill/>
        </p:spPr>
        <p:txBody>
          <a:bodyPr wrap="square" rtlCol="0">
            <a:spAutoFit/>
          </a:bodyPr>
          <a:lstStyle/>
          <a:p>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按阶段分析</a:t>
            </a:r>
            <a:r>
              <a:rPr kumimoji="1" lang="en-US" altLang="zh-CN" sz="1400" dirty="0">
                <a:solidFill>
                  <a:srgbClr val="223AAC"/>
                </a:solidFill>
                <a:latin typeface="KaiTi" panose="02010609060101010101" pitchFamily="49" charset="-122"/>
                <a:ea typeface="KaiTi" panose="02010609060101010101" pitchFamily="49" charset="-122"/>
              </a:rPr>
              <a:t>】</a:t>
            </a: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latin typeface="KaiTi" panose="02010609060101010101" pitchFamily="49" charset="-122"/>
                <a:ea typeface="KaiTi" panose="02010609060101010101" pitchFamily="49" charset="-122"/>
              </a:rPr>
              <a:t>电场</a:t>
            </a:r>
            <a:r>
              <a:rPr kumimoji="1" lang="en-US" altLang="zh-CN" sz="1400" dirty="0">
                <a:latin typeface="KaiTi" panose="02010609060101010101" pitchFamily="49" charset="-122"/>
                <a:ea typeface="KaiTi" panose="02010609060101010101" pitchFamily="49" charset="-122"/>
              </a:rPr>
              <a:t>+</a:t>
            </a:r>
            <a:r>
              <a:rPr kumimoji="1" lang="zh-CN" altLang="en-US" sz="1400" dirty="0">
                <a:latin typeface="KaiTi" panose="02010609060101010101" pitchFamily="49" charset="-122"/>
                <a:ea typeface="KaiTi" panose="02010609060101010101" pitchFamily="49" charset="-122"/>
              </a:rPr>
              <a:t>磁场</a:t>
            </a:r>
            <a:r>
              <a:rPr kumimoji="1" lang="en-US" altLang="zh-CN" sz="1400" dirty="0">
                <a:latin typeface="KaiTi" panose="02010609060101010101" pitchFamily="49" charset="-122"/>
                <a:ea typeface="KaiTi" panose="02010609060101010101" pitchFamily="49" charset="-122"/>
              </a:rPr>
              <a:t>/</a:t>
            </a:r>
          </a:p>
          <a:p>
            <a:r>
              <a:rPr kumimoji="1" lang="zh-CN" altLang="en-US" sz="1400" dirty="0">
                <a:solidFill>
                  <a:srgbClr val="223AAC"/>
                </a:solidFill>
                <a:latin typeface="KaiTi" panose="02010609060101010101" pitchFamily="49" charset="-122"/>
                <a:ea typeface="KaiTi" panose="02010609060101010101" pitchFamily="49" charset="-122"/>
              </a:rPr>
              <a:t>磁场</a:t>
            </a:r>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电场</a:t>
            </a:r>
            <a:endParaRPr kumimoji="1" lang="en-US" altLang="zh-CN" sz="1400" dirty="0">
              <a:solidFill>
                <a:srgbClr val="223AAC"/>
              </a:solidFill>
              <a:latin typeface="KaiTi" panose="02010609060101010101" pitchFamily="49" charset="-122"/>
              <a:ea typeface="KaiTi" panose="02010609060101010101" pitchFamily="49" charset="-122"/>
            </a:endParaRPr>
          </a:p>
          <a:p>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*再分别「轨迹分析」：</a:t>
            </a:r>
            <a:endParaRPr kumimoji="1" lang="en-US" altLang="zh-CN" sz="1400" dirty="0">
              <a:solidFill>
                <a:srgbClr val="223AAC"/>
              </a:solidFill>
              <a:latin typeface="KaiTi" panose="02010609060101010101" pitchFamily="49" charset="-122"/>
              <a:ea typeface="KaiTi" panose="02010609060101010101" pitchFamily="49" charset="-122"/>
            </a:endParaRPr>
          </a:p>
          <a:p>
            <a:r>
              <a:rPr kumimoji="1" lang="zh-CN" altLang="en-US" sz="1400" dirty="0">
                <a:solidFill>
                  <a:srgbClr val="223AAC"/>
                </a:solidFill>
                <a:latin typeface="KaiTi" panose="02010609060101010101" pitchFamily="49" charset="-122"/>
                <a:ea typeface="KaiTi" panose="02010609060101010101" pitchFamily="49" charset="-122"/>
              </a:rPr>
              <a:t>直线</a:t>
            </a:r>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类圆周</a:t>
            </a:r>
            <a:r>
              <a:rPr kumimoji="1" lang="en-US" altLang="zh-CN" sz="1400" dirty="0">
                <a:solidFill>
                  <a:srgbClr val="223AAC"/>
                </a:solidFill>
                <a:latin typeface="KaiTi" panose="02010609060101010101" pitchFamily="49" charset="-122"/>
                <a:ea typeface="KaiTi" panose="02010609060101010101" pitchFamily="49" charset="-122"/>
              </a:rPr>
              <a:t>/</a:t>
            </a:r>
          </a:p>
          <a:p>
            <a:r>
              <a:rPr kumimoji="1" lang="zh-CN" altLang="en-US" sz="1400" dirty="0">
                <a:solidFill>
                  <a:srgbClr val="223AAC"/>
                </a:solidFill>
                <a:latin typeface="KaiTi" panose="02010609060101010101" pitchFamily="49" charset="-122"/>
                <a:ea typeface="KaiTi" panose="02010609060101010101" pitchFamily="49" charset="-122"/>
              </a:rPr>
              <a:t>类平抛</a:t>
            </a:r>
            <a:r>
              <a:rPr kumimoji="1" lang="en-US" altLang="zh-CN" sz="1400" dirty="0">
                <a:solidFill>
                  <a:srgbClr val="223AAC"/>
                </a:solidFill>
                <a:latin typeface="KaiTi" panose="02010609060101010101" pitchFamily="49" charset="-122"/>
                <a:ea typeface="KaiTi" panose="02010609060101010101" pitchFamily="49" charset="-122"/>
              </a:rPr>
              <a:t>+</a:t>
            </a:r>
            <a:r>
              <a:rPr kumimoji="1" lang="zh-CN" altLang="en-US" sz="1400" dirty="0">
                <a:solidFill>
                  <a:srgbClr val="223AAC"/>
                </a:solidFill>
                <a:latin typeface="KaiTi" panose="02010609060101010101" pitchFamily="49" charset="-122"/>
                <a:ea typeface="KaiTi" panose="02010609060101010101" pitchFamily="49" charset="-122"/>
              </a:rPr>
              <a:t>类圆周</a:t>
            </a:r>
            <a:r>
              <a:rPr kumimoji="1" lang="en-US" altLang="zh-CN" sz="1400" dirty="0">
                <a:solidFill>
                  <a:srgbClr val="223AAC"/>
                </a:solidFill>
                <a:latin typeface="KaiTi" panose="02010609060101010101" pitchFamily="49" charset="-122"/>
                <a:ea typeface="KaiTi" panose="02010609060101010101" pitchFamily="49" charset="-122"/>
              </a:rPr>
              <a:t>/…</a:t>
            </a:r>
          </a:p>
          <a:p>
            <a:endParaRPr kumimoji="1" lang="en-US" altLang="zh-CN" sz="1400" b="1" dirty="0">
              <a:solidFill>
                <a:srgbClr val="223AAC"/>
              </a:solidFill>
              <a:latin typeface="KaiTi" panose="02010609060101010101" pitchFamily="49" charset="-122"/>
              <a:ea typeface="KaiTi" panose="02010609060101010101" pitchFamily="49" charset="-122"/>
            </a:endParaRPr>
          </a:p>
          <a:p>
            <a:pPr algn="ctr"/>
            <a:r>
              <a:rPr kumimoji="1" lang="en-US" altLang="zh-CN" sz="1400" b="1" dirty="0">
                <a:solidFill>
                  <a:srgbClr val="223AAC"/>
                </a:solidFill>
                <a:latin typeface="KaiTi" panose="02010609060101010101" pitchFamily="49" charset="-122"/>
                <a:ea typeface="KaiTi" panose="02010609060101010101" pitchFamily="49" charset="-122"/>
              </a:rPr>
              <a:t>{</a:t>
            </a:r>
            <a:r>
              <a:rPr kumimoji="1" lang="zh-CN" altLang="en-US" sz="1400" b="1" dirty="0">
                <a:solidFill>
                  <a:srgbClr val="223AAC"/>
                </a:solidFill>
                <a:latin typeface="KaiTi" panose="02010609060101010101" pitchFamily="49" charset="-122"/>
                <a:ea typeface="KaiTi" panose="02010609060101010101" pitchFamily="49" charset="-122"/>
              </a:rPr>
              <a:t>先判断各阶段运动，</a:t>
            </a:r>
            <a:endParaRPr kumimoji="1" lang="en-US" altLang="zh-CN" sz="1400" b="1" dirty="0">
              <a:solidFill>
                <a:srgbClr val="223AAC"/>
              </a:solidFill>
              <a:latin typeface="KaiTi" panose="02010609060101010101" pitchFamily="49" charset="-122"/>
              <a:ea typeface="KaiTi" panose="02010609060101010101" pitchFamily="49" charset="-122"/>
            </a:endParaRPr>
          </a:p>
          <a:p>
            <a:pPr algn="ctr"/>
            <a:r>
              <a:rPr kumimoji="1" lang="zh-CN" altLang="en-US" sz="1400" b="1" dirty="0">
                <a:solidFill>
                  <a:srgbClr val="223AAC"/>
                </a:solidFill>
                <a:latin typeface="KaiTi" panose="02010609060101010101" pitchFamily="49" charset="-122"/>
                <a:ea typeface="KaiTi" panose="02010609060101010101" pitchFamily="49" charset="-122"/>
              </a:rPr>
              <a:t>再求边界处速度方向，</a:t>
            </a:r>
            <a:endParaRPr kumimoji="1" lang="en-US" altLang="zh-CN" sz="1400" b="1" dirty="0">
              <a:solidFill>
                <a:srgbClr val="223AAC"/>
              </a:solidFill>
              <a:latin typeface="KaiTi" panose="02010609060101010101" pitchFamily="49" charset="-122"/>
              <a:ea typeface="KaiTi" panose="02010609060101010101" pitchFamily="49" charset="-122"/>
            </a:endParaRPr>
          </a:p>
          <a:p>
            <a:pPr algn="ctr"/>
            <a:r>
              <a:rPr kumimoji="1" lang="zh-CN" altLang="en-US" sz="1400" b="1" dirty="0">
                <a:solidFill>
                  <a:srgbClr val="223AAC"/>
                </a:solidFill>
                <a:latin typeface="KaiTi" panose="02010609060101010101" pitchFamily="49" charset="-122"/>
                <a:ea typeface="KaiTi" panose="02010609060101010101" pitchFamily="49" charset="-122"/>
              </a:rPr>
              <a:t>准确画出轨迹</a:t>
            </a:r>
            <a:r>
              <a:rPr kumimoji="1" lang="en-US" altLang="zh-CN" sz="1400" b="1" dirty="0">
                <a:solidFill>
                  <a:srgbClr val="223AAC"/>
                </a:solidFill>
                <a:latin typeface="KaiTi" panose="02010609060101010101" pitchFamily="49" charset="-122"/>
                <a:ea typeface="KaiTi" panose="02010609060101010101" pitchFamily="49" charset="-122"/>
              </a:rPr>
              <a:t>}</a:t>
            </a:r>
            <a:endParaRPr kumimoji="1" lang="en-US" altLang="zh-CN" sz="1400" dirty="0">
              <a:solidFill>
                <a:srgbClr val="223AAC"/>
              </a:solidFill>
              <a:latin typeface="KaiTi" panose="02010609060101010101" pitchFamily="49" charset="-122"/>
              <a:ea typeface="KaiTi" panose="02010609060101010101" pitchFamily="49" charset="-122"/>
            </a:endParaRPr>
          </a:p>
        </p:txBody>
      </p:sp>
      <p:sp>
        <p:nvSpPr>
          <p:cNvPr id="15" name="文本框 14">
            <a:extLst>
              <a:ext uri="{FF2B5EF4-FFF2-40B4-BE49-F238E27FC236}">
                <a16:creationId xmlns:a16="http://schemas.microsoft.com/office/drawing/2014/main" id="{DC4EA1E4-F5BC-F04C-AE1A-903DAA7A7D93}"/>
              </a:ext>
            </a:extLst>
          </p:cNvPr>
          <p:cNvSpPr txBox="1"/>
          <p:nvPr/>
        </p:nvSpPr>
        <p:spPr>
          <a:xfrm>
            <a:off x="538850" y="459740"/>
            <a:ext cx="4942702" cy="338554"/>
          </a:xfrm>
          <a:prstGeom prst="rect">
            <a:avLst/>
          </a:prstGeom>
          <a:noFill/>
        </p:spPr>
        <p:txBody>
          <a:bodyPr wrap="square" rtlCol="0">
            <a:spAutoFit/>
          </a:bodyPr>
          <a:lstStyle/>
          <a:p>
            <a:r>
              <a:rPr kumimoji="1" lang="en-US" altLang="zh-CN"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2.</a:t>
            </a:r>
            <a:r>
              <a:rPr kumimoji="1" lang="zh-CN" altLang="en-US"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电与磁场板块：</a:t>
            </a:r>
          </a:p>
        </p:txBody>
      </p:sp>
      <p:pic>
        <p:nvPicPr>
          <p:cNvPr id="8" name="图片 7">
            <a:extLst>
              <a:ext uri="{FF2B5EF4-FFF2-40B4-BE49-F238E27FC236}">
                <a16:creationId xmlns:a16="http://schemas.microsoft.com/office/drawing/2014/main" id="{541C0EDD-44D5-F34D-B47E-29F76BCAE89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866869" y="694205"/>
            <a:ext cx="6844864" cy="5704054"/>
          </a:xfrm>
          <a:prstGeom prst="rect">
            <a:avLst/>
          </a:prstGeom>
          <a:ln>
            <a:solidFill>
              <a:srgbClr val="C00000"/>
            </a:solidFill>
          </a:ln>
        </p:spPr>
      </p:pic>
    </p:spTree>
    <p:extLst>
      <p:ext uri="{BB962C8B-B14F-4D97-AF65-F5344CB8AC3E}">
        <p14:creationId xmlns:p14="http://schemas.microsoft.com/office/powerpoint/2010/main" val="2447842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863725" y="1590675"/>
            <a:ext cx="8239125" cy="4524315"/>
          </a:xfrm>
          <a:prstGeom prst="rect">
            <a:avLst/>
          </a:prstGeom>
          <a:noFill/>
          <a:ln>
            <a:noFill/>
          </a:ln>
        </p:spPr>
        <p:txBody>
          <a:bodyPr wrap="square" rtlCol="0" anchor="t">
            <a:spAutoFit/>
          </a:bodyPr>
          <a:lstStyle/>
          <a:p>
            <a:pPr algn="ctr"/>
            <a:r>
              <a:rPr lang="en-US" altLang="zh-CN" sz="7200" b="1" dirty="0">
                <a:solidFill>
                  <a:srgbClr val="7030A0"/>
                </a:solidFill>
                <a:effectLst>
                  <a:reflection blurRad="6350" stA="53000" endA="300" endPos="35500" dir="5400000" sy="-90000" algn="bl" rotWithShape="0"/>
                </a:effectLst>
              </a:rPr>
              <a:t>Chapter-9</a:t>
            </a:r>
          </a:p>
          <a:p>
            <a:pPr algn="ctr"/>
            <a:r>
              <a:rPr lang="en-US" altLang="zh-CN" sz="7200" b="1" dirty="0">
                <a:solidFill>
                  <a:srgbClr val="7030A0"/>
                </a:solidFill>
                <a:effectLst>
                  <a:reflection blurRad="6350" stA="53000" endA="300" endPos="35500" dir="5400000" sy="-90000" algn="bl" rotWithShape="0"/>
                </a:effectLst>
              </a:rPr>
              <a:t> </a:t>
            </a:r>
          </a:p>
          <a:p>
            <a:pPr algn="ctr"/>
            <a:r>
              <a:rPr lang="zh-CN" altLang="en-US" sz="7200" b="1" dirty="0">
                <a:solidFill>
                  <a:srgbClr val="7030A0"/>
                </a:solidFill>
                <a:effectLst>
                  <a:reflection blurRad="6350" stA="53000" endA="300" endPos="35500" dir="5400000" sy="-90000" algn="bl" rotWithShape="0"/>
                </a:effectLst>
              </a:rPr>
              <a:t>不同分数段的</a:t>
            </a:r>
            <a:endParaRPr lang="en-US" altLang="zh-CN" sz="7200" b="1" dirty="0">
              <a:solidFill>
                <a:srgbClr val="7030A0"/>
              </a:solidFill>
              <a:effectLst>
                <a:reflection blurRad="6350" stA="53000" endA="300" endPos="35500" dir="5400000" sy="-90000" algn="bl" rotWithShape="0"/>
              </a:effectLst>
            </a:endParaRPr>
          </a:p>
          <a:p>
            <a:pPr algn="ctr"/>
            <a:r>
              <a:rPr lang="zh-CN" altLang="en-US" sz="7200" b="1" dirty="0">
                <a:solidFill>
                  <a:srgbClr val="7030A0"/>
                </a:solidFill>
                <a:effectLst>
                  <a:reflection blurRad="6350" stA="53000" endA="300" endPos="35500" dir="5400000" sy="-90000" algn="bl" rotWithShape="0"/>
                </a:effectLst>
              </a:rPr>
              <a:t>提分策略</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E504CAA-CB13-344A-A051-A4C9B34B38EF}"/>
              </a:ext>
            </a:extLst>
          </p:cNvPr>
          <p:cNvSpPr txBox="1"/>
          <p:nvPr/>
        </p:nvSpPr>
        <p:spPr>
          <a:xfrm>
            <a:off x="538850" y="685343"/>
            <a:ext cx="4942702" cy="338554"/>
          </a:xfrm>
          <a:prstGeom prst="rect">
            <a:avLst/>
          </a:prstGeom>
          <a:noFill/>
        </p:spPr>
        <p:txBody>
          <a:bodyPr wrap="square" rtlCol="0">
            <a:spAutoFit/>
          </a:bodyPr>
          <a:lstStyle/>
          <a:p>
            <a:r>
              <a:rPr kumimoji="1" lang="zh-CN" altLang="en-US" sz="1600" b="1" dirty="0">
                <a:solidFill>
                  <a:srgbClr val="C00000"/>
                </a:solidFill>
                <a:highlight>
                  <a:srgbClr val="FDF5D6"/>
                </a:highlight>
                <a:latin typeface="KaiTi" panose="02010609060101010101" pitchFamily="49" charset="-122"/>
                <a:ea typeface="KaiTi" panose="02010609060101010101" pitchFamily="49" charset="-122"/>
                <a:cs typeface="Times New Roman" panose="02020603050405020304" pitchFamily="18" charset="0"/>
              </a:rPr>
              <a:t>物理的提分策略</a:t>
            </a:r>
            <a:r>
              <a:rPr kumimoji="1" lang="zh-CN" altLang="en-US"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a:t>
            </a:r>
          </a:p>
        </p:txBody>
      </p:sp>
      <p:sp>
        <p:nvSpPr>
          <p:cNvPr id="4" name="矩形 3">
            <a:extLst>
              <a:ext uri="{FF2B5EF4-FFF2-40B4-BE49-F238E27FC236}">
                <a16:creationId xmlns:a16="http://schemas.microsoft.com/office/drawing/2014/main" id="{C6B6F920-4694-514B-99A0-52771F8BA78F}"/>
              </a:ext>
            </a:extLst>
          </p:cNvPr>
          <p:cNvSpPr/>
          <p:nvPr/>
        </p:nvSpPr>
        <p:spPr>
          <a:xfrm>
            <a:off x="609559" y="1145369"/>
            <a:ext cx="11129686" cy="5224316"/>
          </a:xfrm>
          <a:prstGeom prst="rect">
            <a:avLst/>
          </a:prstGeom>
          <a:solidFill>
            <a:srgbClr val="FDF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669DF3F4-143F-DA4D-A73B-2D4EEF36AB3B}"/>
              </a:ext>
            </a:extLst>
          </p:cNvPr>
          <p:cNvSpPr txBox="1"/>
          <p:nvPr/>
        </p:nvSpPr>
        <p:spPr>
          <a:xfrm>
            <a:off x="965898" y="1203790"/>
            <a:ext cx="10417008" cy="4577985"/>
          </a:xfrm>
          <a:prstGeom prst="rect">
            <a:avLst/>
          </a:prstGeom>
          <a:noFill/>
        </p:spPr>
        <p:txBody>
          <a:bodyPr wrap="square" rtlCol="0">
            <a:spAutoFit/>
          </a:bodyPr>
          <a:lstStyle/>
          <a:p>
            <a:pPr>
              <a:lnSpc>
                <a:spcPct val="150000"/>
              </a:lnSpc>
            </a:pP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60</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分以下：</a:t>
            </a:r>
            <a:endPar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：做题考感觉、基础题慢、中档题算不完</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提分重点？</a:t>
            </a:r>
            <a:endPar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流程</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建立做</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受力分析、运动分析、计算、完整解题</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的流程</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endParaRPr kumimoji="1" lang="en-US" altLang="zh-CN" sz="14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怎么提分？</a:t>
            </a:r>
            <a:endPar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不惧物理心态</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动力学分析</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受力分析</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画图！</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运动分析</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画出轨迹！</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endPar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88883702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E504CAA-CB13-344A-A051-A4C9B34B38EF}"/>
              </a:ext>
            </a:extLst>
          </p:cNvPr>
          <p:cNvSpPr txBox="1"/>
          <p:nvPr/>
        </p:nvSpPr>
        <p:spPr>
          <a:xfrm>
            <a:off x="538850" y="685343"/>
            <a:ext cx="4942702" cy="338554"/>
          </a:xfrm>
          <a:prstGeom prst="rect">
            <a:avLst/>
          </a:prstGeom>
          <a:noFill/>
        </p:spPr>
        <p:txBody>
          <a:bodyPr wrap="square" rtlCol="0">
            <a:spAutoFit/>
          </a:bodyPr>
          <a:lstStyle/>
          <a:p>
            <a:r>
              <a:rPr kumimoji="1" lang="zh-CN" altLang="en-US" sz="1600" b="1" dirty="0">
                <a:solidFill>
                  <a:srgbClr val="C00000"/>
                </a:solidFill>
                <a:highlight>
                  <a:srgbClr val="FDF5D6"/>
                </a:highlight>
                <a:latin typeface="KaiTi" panose="02010609060101010101" pitchFamily="49" charset="-122"/>
                <a:ea typeface="KaiTi" panose="02010609060101010101" pitchFamily="49" charset="-122"/>
                <a:cs typeface="Times New Roman" panose="02020603050405020304" pitchFamily="18" charset="0"/>
              </a:rPr>
              <a:t>物理的提分策略</a:t>
            </a:r>
            <a:r>
              <a:rPr kumimoji="1" lang="zh-CN" altLang="en-US"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a:t>
            </a:r>
          </a:p>
        </p:txBody>
      </p:sp>
      <p:sp>
        <p:nvSpPr>
          <p:cNvPr id="4" name="矩形 3">
            <a:extLst>
              <a:ext uri="{FF2B5EF4-FFF2-40B4-BE49-F238E27FC236}">
                <a16:creationId xmlns:a16="http://schemas.microsoft.com/office/drawing/2014/main" id="{C6B6F920-4694-514B-99A0-52771F8BA78F}"/>
              </a:ext>
            </a:extLst>
          </p:cNvPr>
          <p:cNvSpPr/>
          <p:nvPr/>
        </p:nvSpPr>
        <p:spPr>
          <a:xfrm>
            <a:off x="609559" y="1145369"/>
            <a:ext cx="11129686" cy="5224316"/>
          </a:xfrm>
          <a:prstGeom prst="rect">
            <a:avLst/>
          </a:prstGeom>
          <a:solidFill>
            <a:srgbClr val="FDF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669DF3F4-143F-DA4D-A73B-2D4EEF36AB3B}"/>
              </a:ext>
            </a:extLst>
          </p:cNvPr>
          <p:cNvSpPr txBox="1"/>
          <p:nvPr/>
        </p:nvSpPr>
        <p:spPr>
          <a:xfrm>
            <a:off x="965898" y="1203790"/>
            <a:ext cx="10417008" cy="4577985"/>
          </a:xfrm>
          <a:prstGeom prst="rect">
            <a:avLst/>
          </a:prstGeom>
          <a:noFill/>
        </p:spPr>
        <p:txBody>
          <a:bodyPr wrap="square" rtlCol="0">
            <a:spAutoFit/>
          </a:bodyPr>
          <a:lstStyle/>
          <a:p>
            <a:pPr>
              <a:lnSpc>
                <a:spcPct val="150000"/>
              </a:lnSpc>
            </a:pP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60</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80</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分：</a:t>
            </a:r>
            <a:endPar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：做题慢，压轴题会做没时间</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：自学不错，基础失分少</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提分重点？</a:t>
            </a:r>
            <a:endPar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方法</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归纳各个题型</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的方法</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endParaRPr kumimoji="1" lang="en-US" altLang="zh-CN" sz="14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怎么提分？</a:t>
            </a:r>
            <a:endPar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健全模型、归纳应用</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错题：重视解题方法</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中档题</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限时训练！</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压轴题</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「细」做题，总结模型！</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endPar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78588059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E504CAA-CB13-344A-A051-A4C9B34B38EF}"/>
              </a:ext>
            </a:extLst>
          </p:cNvPr>
          <p:cNvSpPr txBox="1"/>
          <p:nvPr/>
        </p:nvSpPr>
        <p:spPr>
          <a:xfrm>
            <a:off x="538850" y="685343"/>
            <a:ext cx="4942702" cy="338554"/>
          </a:xfrm>
          <a:prstGeom prst="rect">
            <a:avLst/>
          </a:prstGeom>
          <a:noFill/>
        </p:spPr>
        <p:txBody>
          <a:bodyPr wrap="square" rtlCol="0">
            <a:spAutoFit/>
          </a:bodyPr>
          <a:lstStyle/>
          <a:p>
            <a:r>
              <a:rPr kumimoji="1" lang="zh-CN" altLang="en-US" sz="1600" b="1" dirty="0">
                <a:solidFill>
                  <a:srgbClr val="C00000"/>
                </a:solidFill>
                <a:highlight>
                  <a:srgbClr val="FDF5D6"/>
                </a:highlight>
                <a:latin typeface="KaiTi" panose="02010609060101010101" pitchFamily="49" charset="-122"/>
                <a:ea typeface="KaiTi" panose="02010609060101010101" pitchFamily="49" charset="-122"/>
                <a:cs typeface="Times New Roman" panose="02020603050405020304" pitchFamily="18" charset="0"/>
              </a:rPr>
              <a:t>物理的提分策略</a:t>
            </a:r>
            <a:r>
              <a:rPr kumimoji="1" lang="zh-CN" altLang="en-US" sz="1600" b="1" dirty="0">
                <a:solidFill>
                  <a:srgbClr val="C00000"/>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a:t>
            </a:r>
          </a:p>
        </p:txBody>
      </p:sp>
      <p:sp>
        <p:nvSpPr>
          <p:cNvPr id="4" name="矩形 3">
            <a:extLst>
              <a:ext uri="{FF2B5EF4-FFF2-40B4-BE49-F238E27FC236}">
                <a16:creationId xmlns:a16="http://schemas.microsoft.com/office/drawing/2014/main" id="{C6B6F920-4694-514B-99A0-52771F8BA78F}"/>
              </a:ext>
            </a:extLst>
          </p:cNvPr>
          <p:cNvSpPr/>
          <p:nvPr/>
        </p:nvSpPr>
        <p:spPr>
          <a:xfrm>
            <a:off x="609559" y="1145369"/>
            <a:ext cx="11129686" cy="5224316"/>
          </a:xfrm>
          <a:prstGeom prst="rect">
            <a:avLst/>
          </a:prstGeom>
          <a:solidFill>
            <a:srgbClr val="FDF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669DF3F4-143F-DA4D-A73B-2D4EEF36AB3B}"/>
              </a:ext>
            </a:extLst>
          </p:cNvPr>
          <p:cNvSpPr txBox="1"/>
          <p:nvPr/>
        </p:nvSpPr>
        <p:spPr>
          <a:xfrm>
            <a:off x="965898" y="1203790"/>
            <a:ext cx="10417008" cy="4577985"/>
          </a:xfrm>
          <a:prstGeom prst="rect">
            <a:avLst/>
          </a:prstGeom>
          <a:noFill/>
        </p:spPr>
        <p:txBody>
          <a:bodyPr wrap="square" rtlCol="0">
            <a:spAutoFit/>
          </a:bodyPr>
          <a:lstStyle/>
          <a:p>
            <a:pPr>
              <a:lnSpc>
                <a:spcPct val="150000"/>
              </a:lnSpc>
            </a:pP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80</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分～</a:t>
            </a: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90</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分</a:t>
            </a:r>
            <a:r>
              <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t>
            </a:r>
            <a:endPar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：只刷题不总结、拿不准重难点、时间分配有问题</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：分析能力强</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提分重点？</a:t>
            </a:r>
            <a:endPar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熟练</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不断熟练训练</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最优解法</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的解题工作流</a:t>
            </a:r>
            <a:endParaRPr kumimoji="1" lang="en-US" altLang="zh-CN" sz="1400" b="1"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怎么提分？</a:t>
            </a:r>
            <a:endPar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多搜集方法、重点多刷</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与老师沟通</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针对性评估</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提高</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与老师沟通！</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学会「悟」</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多解法、寻找最优解，进一步提升做题效率</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&amp;</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正确率！</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endParaRPr kumimoji="1" lang="en-US" altLang="zh-CN" sz="1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51022149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863725" y="1590675"/>
            <a:ext cx="8239125" cy="3415030"/>
          </a:xfrm>
          <a:prstGeom prst="rect">
            <a:avLst/>
          </a:prstGeom>
          <a:noFill/>
          <a:ln>
            <a:noFill/>
          </a:ln>
        </p:spPr>
        <p:txBody>
          <a:bodyPr wrap="square" rtlCol="0" anchor="t">
            <a:spAutoFit/>
          </a:bodyPr>
          <a:lstStyle/>
          <a:p>
            <a:pPr algn="ctr"/>
            <a:r>
              <a:rPr lang="en-US" altLang="zh-CN" sz="7200" b="1" dirty="0">
                <a:solidFill>
                  <a:srgbClr val="7030A0"/>
                </a:solidFill>
                <a:effectLst>
                  <a:reflection blurRad="6350" stA="53000" endA="300" endPos="35500" dir="5400000" sy="-90000" algn="bl" rotWithShape="0"/>
                </a:effectLst>
              </a:rPr>
              <a:t>Chapter-10</a:t>
            </a:r>
          </a:p>
          <a:p>
            <a:pPr algn="ctr"/>
            <a:r>
              <a:rPr lang="en-US" altLang="zh-CN" sz="7200" b="1" dirty="0">
                <a:solidFill>
                  <a:srgbClr val="7030A0"/>
                </a:solidFill>
                <a:effectLst>
                  <a:reflection blurRad="6350" stA="53000" endA="300" endPos="35500" dir="5400000" sy="-90000" algn="bl" rotWithShape="0"/>
                </a:effectLst>
              </a:rPr>
              <a:t> </a:t>
            </a:r>
          </a:p>
          <a:p>
            <a:pPr algn="ctr"/>
            <a:r>
              <a:rPr lang="zh-CN" altLang="en-US" sz="7200" b="1" dirty="0">
                <a:solidFill>
                  <a:srgbClr val="7030A0"/>
                </a:solidFill>
                <a:effectLst>
                  <a:reflection blurRad="6350" stA="53000" endA="300" endPos="35500" dir="5400000" sy="-90000" algn="bl" rotWithShape="0"/>
                </a:effectLst>
              </a:rPr>
              <a:t>错题本</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F595439-DC2D-814E-A9B9-7FC87B21C31C}"/>
              </a:ext>
            </a:extLst>
          </p:cNvPr>
          <p:cNvSpPr txBox="1"/>
          <p:nvPr/>
        </p:nvSpPr>
        <p:spPr>
          <a:xfrm>
            <a:off x="417830" y="748030"/>
            <a:ext cx="4942702" cy="307777"/>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物理错题本怎么做？</a:t>
            </a:r>
          </a:p>
        </p:txBody>
      </p:sp>
      <p:sp>
        <p:nvSpPr>
          <p:cNvPr id="4" name="文本框 3">
            <a:extLst>
              <a:ext uri="{FF2B5EF4-FFF2-40B4-BE49-F238E27FC236}">
                <a16:creationId xmlns:a16="http://schemas.microsoft.com/office/drawing/2014/main" id="{394ED3DE-6190-BC48-90C9-6C82B154923E}"/>
              </a:ext>
            </a:extLst>
          </p:cNvPr>
          <p:cNvSpPr txBox="1"/>
          <p:nvPr/>
        </p:nvSpPr>
        <p:spPr>
          <a:xfrm>
            <a:off x="489045" y="1182807"/>
            <a:ext cx="9503133" cy="2250616"/>
          </a:xfrm>
          <a:prstGeom prst="rect">
            <a:avLst/>
          </a:prstGeom>
          <a:noFill/>
        </p:spPr>
        <p:txBody>
          <a:bodyPr wrap="square" rtlCol="0">
            <a:spAutoFit/>
          </a:bodyPr>
          <a:lstStyle/>
          <a:p>
            <a:pPr>
              <a:lnSpc>
                <a:spcPct val="150000"/>
              </a:lnSpc>
            </a:pPr>
            <a:r>
              <a:rPr kumimoji="1" lang="zh-CN" altLang="en-US"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两个方面分别积累</a:t>
            </a:r>
            <a:endParaRPr kumimoji="1" lang="en-US" altLang="zh-CN"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endParaRPr>
          </a:p>
          <a:p>
            <a:pPr>
              <a:lnSpc>
                <a:spcPct val="150000"/>
              </a:lnSpc>
            </a:pPr>
            <a:endParaRPr kumimoji="1" lang="en-US" altLang="zh-CN"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endParaRPr>
          </a:p>
          <a:p>
            <a:pPr>
              <a:lnSpc>
                <a:spcPct val="150000"/>
              </a:lnSpc>
            </a:pP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①按照题型</a:t>
            </a:r>
            <a:endParaRPr kumimoji="1" lang="en-US"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a:lnSpc>
                <a:spcPct val="150000"/>
              </a:lnSpc>
            </a:pPr>
            <a:r>
              <a:rPr kumimoji="1" lang="zh-CN" altLang="en-US"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②按照书上重要「记忆」概念</a:t>
            </a:r>
            <a:r>
              <a:rPr kumimoji="1" lang="en-US"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a:t>
            </a:r>
            <a:r>
              <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分板块积累</a:t>
            </a:r>
            <a:r>
              <a:rPr kumimoji="1" lang="en-US" altLang="zh-CN" sz="1600"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endParaRPr kumimoji="1" lang="en-US"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a:lnSpc>
                <a:spcPct val="150000"/>
              </a:lnSpc>
            </a:pPr>
            <a:endParaRPr kumimoji="1" lang="en-US"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a:lnSpc>
                <a:spcPct val="150000"/>
              </a:lnSpc>
            </a:pPr>
            <a:endParaRPr kumimoji="1" lang="en-US" altLang="zh-CN"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endParaRPr>
          </a:p>
        </p:txBody>
      </p:sp>
      <p:sp>
        <p:nvSpPr>
          <p:cNvPr id="5" name="矩形 4">
            <a:extLst>
              <a:ext uri="{FF2B5EF4-FFF2-40B4-BE49-F238E27FC236}">
                <a16:creationId xmlns:a16="http://schemas.microsoft.com/office/drawing/2014/main" id="{48A01008-C526-154C-9A89-2460719D1A35}"/>
              </a:ext>
            </a:extLst>
          </p:cNvPr>
          <p:cNvSpPr/>
          <p:nvPr/>
        </p:nvSpPr>
        <p:spPr>
          <a:xfrm>
            <a:off x="417830" y="2821759"/>
            <a:ext cx="11177270" cy="3553641"/>
          </a:xfrm>
          <a:prstGeom prst="rect">
            <a:avLst/>
          </a:prstGeom>
          <a:solidFill>
            <a:srgbClr val="E8F0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3B27CFF8-40B3-3A40-9872-17E184753673}"/>
              </a:ext>
            </a:extLst>
          </p:cNvPr>
          <p:cNvSpPr/>
          <p:nvPr/>
        </p:nvSpPr>
        <p:spPr>
          <a:xfrm>
            <a:off x="672230" y="3207442"/>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A573DF6B-D1C2-994B-83B9-DB30AB109901}"/>
              </a:ext>
            </a:extLst>
          </p:cNvPr>
          <p:cNvSpPr txBox="1"/>
          <p:nvPr/>
        </p:nvSpPr>
        <p:spPr>
          <a:xfrm>
            <a:off x="1037640" y="3230899"/>
            <a:ext cx="6773286" cy="2708434"/>
          </a:xfrm>
          <a:prstGeom prst="rect">
            <a:avLst/>
          </a:prstGeom>
          <a:noFill/>
        </p:spPr>
        <p:txBody>
          <a:bodyPr wrap="square" rtlCol="0">
            <a:spAutoFit/>
          </a:bodyPr>
          <a:lstStyle/>
          <a:p>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学姐物理错题本</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详见附赠笔记</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一共</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3</a:t>
            </a:r>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个方面</a:t>
            </a:r>
            <a:r>
              <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a:t>
            </a:r>
          </a:p>
          <a:p>
            <a:r>
              <a:rPr kumimoji="1" lang="zh-CN" altLang="en-US"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rPr>
              <a:t>其中</a:t>
            </a:r>
            <a:endParaRPr kumimoji="1" lang="en-US" altLang="zh-CN" sz="1400" dirty="0">
              <a:solidFill>
                <a:schemeClr val="tx1">
                  <a:lumMod val="50000"/>
                  <a:lumOff val="50000"/>
                </a:schemeClr>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考试题型分为：运动与力</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电学</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磁场</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波光热原</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共四个细分方面</a:t>
            </a:r>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｜｜订正一张卷子</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一个练习：</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r>
              <a:rPr lang="zh-CN" altLang="en-US" sz="16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及时总结！绝不把今天的错题拖到明天！！！</a:t>
            </a:r>
            <a:endParaRPr kumimoji="1" lang="en-US" altLang="zh-CN" sz="1600" b="1" dirty="0">
              <a:solidFill>
                <a:srgbClr val="A41AD4"/>
              </a:solidFill>
              <a:latin typeface="KaiTi" panose="02010609060101010101" pitchFamily="49" charset="-122"/>
              <a:ea typeface="KaiTi" panose="02010609060101010101" pitchFamily="49" charset="-122"/>
              <a:cs typeface="Times New Roman" panose="02020603050405020304" pitchFamily="18" charset="0"/>
            </a:endParaRPr>
          </a:p>
        </p:txBody>
      </p:sp>
      <p:sp>
        <p:nvSpPr>
          <p:cNvPr id="2" name="文本框 1">
            <a:extLst>
              <a:ext uri="{FF2B5EF4-FFF2-40B4-BE49-F238E27FC236}">
                <a16:creationId xmlns:a16="http://schemas.microsoft.com/office/drawing/2014/main" id="{C02BFDFB-5C05-9841-AFAF-A90975C277C3}"/>
              </a:ext>
            </a:extLst>
          </p:cNvPr>
          <p:cNvSpPr txBox="1"/>
          <p:nvPr/>
        </p:nvSpPr>
        <p:spPr>
          <a:xfrm>
            <a:off x="10777055" y="1951483"/>
            <a:ext cx="729687" cy="369332"/>
          </a:xfrm>
          <a:prstGeom prst="rect">
            <a:avLst/>
          </a:prstGeom>
          <a:noFill/>
        </p:spPr>
        <p:txBody>
          <a:bodyPr wrap="none" rtlCol="0">
            <a:spAutoFit/>
          </a:bodyPr>
          <a:lstStyle/>
          <a:p>
            <a:r>
              <a:rPr kumimoji="1" lang="en-US" altLang="zh-CN" dirty="0">
                <a:solidFill>
                  <a:srgbClr val="C00000"/>
                </a:solidFill>
                <a:latin typeface="Times New Roman" panose="02020603050405020304" pitchFamily="18" charset="0"/>
                <a:cs typeface="Times New Roman" panose="02020603050405020304" pitchFamily="18" charset="0"/>
              </a:rPr>
              <a:t>Part</a:t>
            </a:r>
            <a:r>
              <a:rPr kumimoji="1" lang="zh-CN" altLang="en-US" dirty="0">
                <a:solidFill>
                  <a:srgbClr val="C00000"/>
                </a:solidFill>
                <a:latin typeface="Times New Roman" panose="02020603050405020304" pitchFamily="18" charset="0"/>
                <a:cs typeface="Times New Roman" panose="02020603050405020304" pitchFamily="18" charset="0"/>
              </a:rPr>
              <a:t> </a:t>
            </a:r>
            <a:r>
              <a:rPr kumimoji="1" lang="en-US" altLang="zh-CN" dirty="0">
                <a:solidFill>
                  <a:srgbClr val="C00000"/>
                </a:solidFill>
                <a:latin typeface="Times New Roman" panose="02020603050405020304" pitchFamily="18" charset="0"/>
                <a:cs typeface="Times New Roman" panose="02020603050405020304" pitchFamily="18" charset="0"/>
              </a:rPr>
              <a:t>1</a:t>
            </a:r>
            <a:endParaRPr kumimoji="1" lang="zh-CN" altLang="en-US" dirty="0">
              <a:solidFill>
                <a:srgbClr val="C00000"/>
              </a:solidFill>
              <a:latin typeface="Times New Roman" panose="02020603050405020304" pitchFamily="18" charset="0"/>
              <a:cs typeface="Times New Roman" panose="02020603050405020304" pitchFamily="18" charset="0"/>
            </a:endParaRPr>
          </a:p>
        </p:txBody>
      </p:sp>
      <p:sp>
        <p:nvSpPr>
          <p:cNvPr id="13" name="文本框 12">
            <a:extLst>
              <a:ext uri="{FF2B5EF4-FFF2-40B4-BE49-F238E27FC236}">
                <a16:creationId xmlns:a16="http://schemas.microsoft.com/office/drawing/2014/main" id="{2E9A6471-777A-D549-B8CA-746ED6E7C3A1}"/>
              </a:ext>
            </a:extLst>
          </p:cNvPr>
          <p:cNvSpPr txBox="1"/>
          <p:nvPr/>
        </p:nvSpPr>
        <p:spPr>
          <a:xfrm>
            <a:off x="10717960" y="3207442"/>
            <a:ext cx="729687" cy="369332"/>
          </a:xfrm>
          <a:prstGeom prst="rect">
            <a:avLst/>
          </a:prstGeom>
          <a:noFill/>
        </p:spPr>
        <p:txBody>
          <a:bodyPr wrap="none" rtlCol="0">
            <a:spAutoFit/>
          </a:bodyPr>
          <a:lstStyle/>
          <a:p>
            <a:r>
              <a:rPr kumimoji="1" lang="en-US" altLang="zh-CN" dirty="0">
                <a:solidFill>
                  <a:srgbClr val="C00000"/>
                </a:solidFill>
                <a:latin typeface="Times New Roman" panose="02020603050405020304" pitchFamily="18" charset="0"/>
                <a:cs typeface="Times New Roman" panose="02020603050405020304" pitchFamily="18" charset="0"/>
              </a:rPr>
              <a:t>Part</a:t>
            </a:r>
            <a:r>
              <a:rPr kumimoji="1" lang="zh-CN" altLang="en-US" dirty="0">
                <a:solidFill>
                  <a:srgbClr val="C00000"/>
                </a:solidFill>
                <a:latin typeface="Times New Roman" panose="02020603050405020304" pitchFamily="18" charset="0"/>
                <a:cs typeface="Times New Roman" panose="02020603050405020304" pitchFamily="18" charset="0"/>
              </a:rPr>
              <a:t> </a:t>
            </a:r>
            <a:r>
              <a:rPr kumimoji="1" lang="en-US" altLang="zh-CN" dirty="0">
                <a:solidFill>
                  <a:srgbClr val="C00000"/>
                </a:solidFill>
                <a:latin typeface="Times New Roman" panose="02020603050405020304" pitchFamily="18" charset="0"/>
                <a:cs typeface="Times New Roman" panose="02020603050405020304" pitchFamily="18" charset="0"/>
              </a:rPr>
              <a:t>2</a:t>
            </a:r>
            <a:endParaRPr kumimoji="1" lang="zh-CN" altLang="en-US" dirty="0">
              <a:solidFill>
                <a:srgbClr val="C00000"/>
              </a:solidFill>
              <a:latin typeface="Times New Roman" panose="02020603050405020304" pitchFamily="18" charset="0"/>
              <a:cs typeface="Times New Roman" panose="02020603050405020304" pitchFamily="18" charset="0"/>
            </a:endParaRPr>
          </a:p>
        </p:txBody>
      </p:sp>
      <p:pic>
        <p:nvPicPr>
          <p:cNvPr id="9" name="图片 8">
            <a:extLst>
              <a:ext uri="{FF2B5EF4-FFF2-40B4-BE49-F238E27FC236}">
                <a16:creationId xmlns:a16="http://schemas.microsoft.com/office/drawing/2014/main" id="{AD7ED7F5-90CF-B742-9C10-850C7F449EB6}"/>
              </a:ext>
            </a:extLst>
          </p:cNvPr>
          <p:cNvPicPr>
            <a:picLocks noChangeAspect="1"/>
          </p:cNvPicPr>
          <p:nvPr/>
        </p:nvPicPr>
        <p:blipFill>
          <a:blip r:embed="rId2"/>
          <a:stretch>
            <a:fillRect/>
          </a:stretch>
        </p:blipFill>
        <p:spPr>
          <a:xfrm>
            <a:off x="7491775" y="1892300"/>
            <a:ext cx="3136900" cy="1536700"/>
          </a:xfrm>
          <a:prstGeom prst="rect">
            <a:avLst/>
          </a:prstGeom>
        </p:spPr>
      </p:pic>
    </p:spTree>
    <p:extLst>
      <p:ext uri="{BB962C8B-B14F-4D97-AF65-F5344CB8AC3E}">
        <p14:creationId xmlns:p14="http://schemas.microsoft.com/office/powerpoint/2010/main" val="134295289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F595439-DC2D-814E-A9B9-7FC87B21C31C}"/>
              </a:ext>
            </a:extLst>
          </p:cNvPr>
          <p:cNvSpPr txBox="1"/>
          <p:nvPr/>
        </p:nvSpPr>
        <p:spPr>
          <a:xfrm>
            <a:off x="417830" y="748030"/>
            <a:ext cx="4942702" cy="307777"/>
          </a:xfrm>
          <a:prstGeom prst="rect">
            <a:avLst/>
          </a:prstGeom>
          <a:noFill/>
        </p:spPr>
        <p:txBody>
          <a:bodyPr wrap="square" rtlCol="0">
            <a:spAutoFit/>
          </a:bodyPr>
          <a:lstStyle/>
          <a:p>
            <a:pPr marL="285750" indent="-285750">
              <a:buFont typeface="Arial" panose="020B0604020202020204" pitchFamily="34" charset="0"/>
              <a:buChar char="•"/>
            </a:pP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Part1:</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重要「记忆」概念</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怎么做？</a:t>
            </a:r>
          </a:p>
        </p:txBody>
      </p:sp>
      <p:sp>
        <p:nvSpPr>
          <p:cNvPr id="4" name="文本框 3">
            <a:extLst>
              <a:ext uri="{FF2B5EF4-FFF2-40B4-BE49-F238E27FC236}">
                <a16:creationId xmlns:a16="http://schemas.microsoft.com/office/drawing/2014/main" id="{394ED3DE-6190-BC48-90C9-6C82B154923E}"/>
              </a:ext>
            </a:extLst>
          </p:cNvPr>
          <p:cNvSpPr txBox="1"/>
          <p:nvPr/>
        </p:nvSpPr>
        <p:spPr>
          <a:xfrm>
            <a:off x="489045" y="1182807"/>
            <a:ext cx="9503133" cy="1142620"/>
          </a:xfrm>
          <a:prstGeom prst="rect">
            <a:avLst/>
          </a:prstGeom>
          <a:noFill/>
        </p:spPr>
        <p:txBody>
          <a:bodyPr wrap="square" rtlCol="0">
            <a:spAutoFit/>
          </a:bodyPr>
          <a:lstStyle/>
          <a:p>
            <a:pPr>
              <a:lnSpc>
                <a:spcPct val="150000"/>
              </a:lnSpc>
            </a:pPr>
            <a:endParaRPr kumimoji="1" lang="en-US"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a:lnSpc>
                <a:spcPct val="150000"/>
              </a:lnSpc>
            </a:pPr>
            <a:r>
              <a:rPr kumimoji="1" lang="zh-CN" altLang="en-US"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黑笔写具体信息</a:t>
            </a:r>
            <a:endParaRPr kumimoji="1" lang="en-US" altLang="zh-CN"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endParaRPr>
          </a:p>
          <a:p>
            <a:pPr>
              <a:lnSpc>
                <a:spcPct val="150000"/>
              </a:lnSpc>
            </a:pPr>
            <a:r>
              <a:rPr kumimoji="1" lang="zh-CN" altLang="en-US"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红笔核心知识点</a:t>
            </a:r>
            <a:endParaRPr kumimoji="1" lang="en-US" altLang="zh-CN"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endParaRPr>
          </a:p>
        </p:txBody>
      </p:sp>
      <p:sp>
        <p:nvSpPr>
          <p:cNvPr id="5" name="矩形 4">
            <a:extLst>
              <a:ext uri="{FF2B5EF4-FFF2-40B4-BE49-F238E27FC236}">
                <a16:creationId xmlns:a16="http://schemas.microsoft.com/office/drawing/2014/main" id="{48A01008-C526-154C-9A89-2460719D1A35}"/>
              </a:ext>
            </a:extLst>
          </p:cNvPr>
          <p:cNvSpPr/>
          <p:nvPr/>
        </p:nvSpPr>
        <p:spPr>
          <a:xfrm>
            <a:off x="417830" y="2821759"/>
            <a:ext cx="11177270" cy="3553641"/>
          </a:xfrm>
          <a:prstGeom prst="rect">
            <a:avLst/>
          </a:prstGeom>
          <a:solidFill>
            <a:srgbClr val="E8F0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3B27CFF8-40B3-3A40-9872-17E184753673}"/>
              </a:ext>
            </a:extLst>
          </p:cNvPr>
          <p:cNvSpPr/>
          <p:nvPr/>
        </p:nvSpPr>
        <p:spPr>
          <a:xfrm>
            <a:off x="672230" y="3207442"/>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A573DF6B-D1C2-994B-83B9-DB30AB109901}"/>
              </a:ext>
            </a:extLst>
          </p:cNvPr>
          <p:cNvSpPr txBox="1"/>
          <p:nvPr/>
        </p:nvSpPr>
        <p:spPr>
          <a:xfrm>
            <a:off x="1037640" y="3230899"/>
            <a:ext cx="6773286" cy="2523768"/>
          </a:xfrm>
          <a:prstGeom prst="rect">
            <a:avLst/>
          </a:prstGeom>
          <a:noFill/>
        </p:spPr>
        <p:txBody>
          <a:bodyPr wrap="square" rtlCol="0">
            <a:spAutoFit/>
          </a:bodyPr>
          <a:lstStyle/>
          <a:p>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写出重要记忆「事实」</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①史实：「人」</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「事实」</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「发现」</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②公式：定义</a:t>
            </a:r>
            <a:r>
              <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每个物理量联系</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③只留重点，尽量简略</a:t>
            </a:r>
            <a:endParaRPr kumimoji="1" lang="en-US" altLang="zh-CN" sz="14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b="1"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b="1"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b="1"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r>
              <a:rPr lang="zh-CN" altLang="en-US" sz="16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用“</a:t>
            </a:r>
            <a:r>
              <a:rPr lang="en-US" altLang="zh-CN" sz="1600" b="1" dirty="0">
                <a:solidFill>
                  <a:srgbClr val="A41AD4"/>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a:t>
            </a:r>
            <a:r>
              <a:rPr lang="zh-CN" altLang="en-US" sz="1600" b="1" dirty="0">
                <a:solidFill>
                  <a:srgbClr val="A41AD4"/>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a:t>
            </a:r>
            <a:r>
              <a:rPr lang="en-US" altLang="zh-CN" sz="1600" b="1" dirty="0">
                <a:solidFill>
                  <a:srgbClr val="A41AD4"/>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a:t>
            </a:r>
            <a:r>
              <a:rPr lang="zh-CN" altLang="en-US" sz="1600" b="1" dirty="0">
                <a:solidFill>
                  <a:srgbClr val="A41AD4"/>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a:t>
            </a:r>
            <a:r>
              <a:rPr lang="en-US" altLang="zh-CN" sz="1600" b="1" dirty="0">
                <a:solidFill>
                  <a:srgbClr val="A41AD4"/>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a:t>
            </a:r>
            <a:r>
              <a:rPr lang="zh-CN" altLang="en-US" sz="1600" b="1" dirty="0">
                <a:solidFill>
                  <a:srgbClr val="A41AD4"/>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a:t>
            </a:r>
            <a:r>
              <a:rPr lang="en-US" altLang="zh-CN" sz="1600" b="1" dirty="0">
                <a:solidFill>
                  <a:srgbClr val="A41AD4"/>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a:t>
            </a:r>
            <a:r>
              <a:rPr lang="zh-CN" altLang="en-US" sz="1600" b="1" dirty="0">
                <a:solidFill>
                  <a:srgbClr val="A41AD4"/>
                </a:solidFill>
                <a:latin typeface="KaiTi" panose="02010609060101010101" pitchFamily="49" charset="-122"/>
                <a:ea typeface="KaiTi" panose="02010609060101010101" pitchFamily="49" charset="-122"/>
                <a:cs typeface="Times New Roman" panose="02020603050405020304" pitchFamily="18" charset="0"/>
                <a:sym typeface="Wingdings" pitchFamily="2" charset="2"/>
              </a:rPr>
              <a:t>”</a:t>
            </a:r>
            <a:endParaRPr lang="en-US" altLang="zh-CN" sz="1600" b="1" dirty="0">
              <a:solidFill>
                <a:srgbClr val="A41AD4"/>
              </a:solidFill>
              <a:latin typeface="KaiTi" panose="02010609060101010101" pitchFamily="49" charset="-122"/>
              <a:ea typeface="KaiTi" panose="02010609060101010101" pitchFamily="49" charset="-122"/>
              <a:cs typeface="Times New Roman" panose="02020603050405020304" pitchFamily="18" charset="0"/>
              <a:sym typeface="Wingdings" pitchFamily="2" charset="2"/>
            </a:endParaRPr>
          </a:p>
          <a:p>
            <a:r>
              <a:rPr lang="zh-CN" altLang="en-US" sz="16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等符号将信息简略！！</a:t>
            </a:r>
            <a:endParaRPr kumimoji="1" lang="en-US" altLang="zh-CN" sz="1600" b="1" dirty="0">
              <a:solidFill>
                <a:srgbClr val="A41AD4"/>
              </a:solidFill>
              <a:latin typeface="KaiTi" panose="02010609060101010101" pitchFamily="49" charset="-122"/>
              <a:ea typeface="KaiTi" panose="02010609060101010101" pitchFamily="49" charset="-122"/>
              <a:cs typeface="Times New Roman" panose="02020603050405020304" pitchFamily="18" charset="0"/>
            </a:endParaRPr>
          </a:p>
        </p:txBody>
      </p:sp>
      <p:sp>
        <p:nvSpPr>
          <p:cNvPr id="13" name="文本框 12">
            <a:extLst>
              <a:ext uri="{FF2B5EF4-FFF2-40B4-BE49-F238E27FC236}">
                <a16:creationId xmlns:a16="http://schemas.microsoft.com/office/drawing/2014/main" id="{2E9A6471-777A-D549-B8CA-746ED6E7C3A1}"/>
              </a:ext>
            </a:extLst>
          </p:cNvPr>
          <p:cNvSpPr txBox="1"/>
          <p:nvPr/>
        </p:nvSpPr>
        <p:spPr>
          <a:xfrm>
            <a:off x="9993383" y="469086"/>
            <a:ext cx="1338828" cy="369332"/>
          </a:xfrm>
          <a:prstGeom prst="rect">
            <a:avLst/>
          </a:prstGeom>
          <a:noFill/>
        </p:spPr>
        <p:txBody>
          <a:bodyPr wrap="none" rtlCol="0">
            <a:spAutoFit/>
          </a:bodyPr>
          <a:lstStyle/>
          <a:p>
            <a:r>
              <a:rPr kumimoji="1" lang="zh-CN" altLang="en-US" dirty="0">
                <a:solidFill>
                  <a:srgbClr val="C00000"/>
                </a:solidFill>
                <a:latin typeface="KaiTi" panose="02010609060101010101" pitchFamily="49" charset="-122"/>
                <a:ea typeface="KaiTi" panose="02010609060101010101" pitchFamily="49" charset="-122"/>
                <a:cs typeface="Times New Roman" panose="02020603050405020304" pitchFamily="18" charset="0"/>
              </a:rPr>
              <a:t>使用活页本</a:t>
            </a:r>
          </a:p>
        </p:txBody>
      </p:sp>
      <p:pic>
        <p:nvPicPr>
          <p:cNvPr id="9" name="图片 8">
            <a:extLst>
              <a:ext uri="{FF2B5EF4-FFF2-40B4-BE49-F238E27FC236}">
                <a16:creationId xmlns:a16="http://schemas.microsoft.com/office/drawing/2014/main" id="{1F1A3E27-4EED-A94A-B22D-B370EEF83A9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810926" y="1402062"/>
            <a:ext cx="3959088" cy="5063065"/>
          </a:xfrm>
          <a:prstGeom prst="rect">
            <a:avLst/>
          </a:prstGeom>
          <a:ln>
            <a:solidFill>
              <a:srgbClr val="C00000"/>
            </a:solidFill>
          </a:ln>
        </p:spPr>
      </p:pic>
      <p:pic>
        <p:nvPicPr>
          <p:cNvPr id="2" name="图片 1">
            <a:extLst>
              <a:ext uri="{FF2B5EF4-FFF2-40B4-BE49-F238E27FC236}">
                <a16:creationId xmlns:a16="http://schemas.microsoft.com/office/drawing/2014/main" id="{6BB1CDB5-9034-0E40-864B-4AAA06FAE700}"/>
              </a:ext>
            </a:extLst>
          </p:cNvPr>
          <p:cNvPicPr>
            <a:picLocks noChangeAspect="1"/>
          </p:cNvPicPr>
          <p:nvPr/>
        </p:nvPicPr>
        <p:blipFill>
          <a:blip r:embed="rId4"/>
          <a:stretch>
            <a:fillRect/>
          </a:stretch>
        </p:blipFill>
        <p:spPr>
          <a:xfrm>
            <a:off x="4111521" y="1395019"/>
            <a:ext cx="3393549" cy="5063066"/>
          </a:xfrm>
          <a:prstGeom prst="rect">
            <a:avLst/>
          </a:prstGeom>
          <a:ln>
            <a:solidFill>
              <a:srgbClr val="C00000"/>
            </a:solidFill>
          </a:ln>
        </p:spPr>
      </p:pic>
    </p:spTree>
    <p:extLst>
      <p:ext uri="{BB962C8B-B14F-4D97-AF65-F5344CB8AC3E}">
        <p14:creationId xmlns:p14="http://schemas.microsoft.com/office/powerpoint/2010/main" val="141757329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F595439-DC2D-814E-A9B9-7FC87B21C31C}"/>
              </a:ext>
            </a:extLst>
          </p:cNvPr>
          <p:cNvSpPr txBox="1"/>
          <p:nvPr/>
        </p:nvSpPr>
        <p:spPr>
          <a:xfrm>
            <a:off x="417830" y="748030"/>
            <a:ext cx="4942702" cy="307777"/>
          </a:xfrm>
          <a:prstGeom prst="rect">
            <a:avLst/>
          </a:prstGeom>
          <a:noFill/>
        </p:spPr>
        <p:txBody>
          <a:bodyPr wrap="square" rtlCol="0">
            <a:spAutoFit/>
          </a:bodyPr>
          <a:lstStyle/>
          <a:p>
            <a:pPr marL="285750" indent="-285750">
              <a:buFont typeface="Arial" panose="020B0604020202020204" pitchFamily="34" charset="0"/>
              <a:buChar char="•"/>
            </a:pP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Part2: </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按照题型积累</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怎么做？</a:t>
            </a:r>
          </a:p>
        </p:txBody>
      </p:sp>
      <p:sp>
        <p:nvSpPr>
          <p:cNvPr id="4" name="文本框 3">
            <a:extLst>
              <a:ext uri="{FF2B5EF4-FFF2-40B4-BE49-F238E27FC236}">
                <a16:creationId xmlns:a16="http://schemas.microsoft.com/office/drawing/2014/main" id="{394ED3DE-6190-BC48-90C9-6C82B154923E}"/>
              </a:ext>
            </a:extLst>
          </p:cNvPr>
          <p:cNvSpPr txBox="1"/>
          <p:nvPr/>
        </p:nvSpPr>
        <p:spPr>
          <a:xfrm>
            <a:off x="489045" y="1182807"/>
            <a:ext cx="9503133" cy="773289"/>
          </a:xfrm>
          <a:prstGeom prst="rect">
            <a:avLst/>
          </a:prstGeom>
          <a:noFill/>
        </p:spPr>
        <p:txBody>
          <a:bodyPr wrap="square" rtlCol="0">
            <a:spAutoFit/>
          </a:bodyPr>
          <a:lstStyle/>
          <a:p>
            <a:pPr>
              <a:lnSpc>
                <a:spcPct val="150000"/>
              </a:lnSpc>
            </a:pPr>
            <a:endParaRPr kumimoji="1" lang="en-US"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a:lnSpc>
                <a:spcPct val="150000"/>
              </a:lnSpc>
            </a:pPr>
            <a:r>
              <a:rPr kumimoji="1" lang="en-US" altLang="zh-CN"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e.g.</a:t>
            </a:r>
            <a:r>
              <a:rPr kumimoji="1" lang="zh-CN" altLang="en-US"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力与运动题型</a:t>
            </a:r>
            <a:endParaRPr kumimoji="1" lang="en-US" altLang="zh-CN"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endParaRPr>
          </a:p>
        </p:txBody>
      </p:sp>
      <p:sp>
        <p:nvSpPr>
          <p:cNvPr id="5" name="矩形 4">
            <a:extLst>
              <a:ext uri="{FF2B5EF4-FFF2-40B4-BE49-F238E27FC236}">
                <a16:creationId xmlns:a16="http://schemas.microsoft.com/office/drawing/2014/main" id="{48A01008-C526-154C-9A89-2460719D1A35}"/>
              </a:ext>
            </a:extLst>
          </p:cNvPr>
          <p:cNvSpPr/>
          <p:nvPr/>
        </p:nvSpPr>
        <p:spPr>
          <a:xfrm>
            <a:off x="417830" y="2821759"/>
            <a:ext cx="11177270" cy="3553641"/>
          </a:xfrm>
          <a:prstGeom prst="rect">
            <a:avLst/>
          </a:prstGeom>
          <a:solidFill>
            <a:srgbClr val="E8F0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3B27CFF8-40B3-3A40-9872-17E184753673}"/>
              </a:ext>
            </a:extLst>
          </p:cNvPr>
          <p:cNvSpPr/>
          <p:nvPr/>
        </p:nvSpPr>
        <p:spPr>
          <a:xfrm>
            <a:off x="672230" y="3207442"/>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A573DF6B-D1C2-994B-83B9-DB30AB109901}"/>
              </a:ext>
            </a:extLst>
          </p:cNvPr>
          <p:cNvSpPr txBox="1"/>
          <p:nvPr/>
        </p:nvSpPr>
        <p:spPr>
          <a:xfrm>
            <a:off x="997000" y="3193642"/>
            <a:ext cx="6773286" cy="2492990"/>
          </a:xfrm>
          <a:prstGeom prst="rect">
            <a:avLst/>
          </a:prstGeom>
          <a:noFill/>
        </p:spPr>
        <p:txBody>
          <a:bodyPr wrap="square" rtlCol="0">
            <a:spAutoFit/>
          </a:bodyPr>
          <a:lstStyle/>
          <a:p>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*把错题</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剪下来，</a:t>
            </a:r>
            <a:r>
              <a:rPr kumimoji="1" lang="zh-CN" altLang="en-US" sz="1400" b="1" dirty="0">
                <a:latin typeface="Times New Roman" panose="02020603050405020304" pitchFamily="18" charset="0"/>
                <a:ea typeface="KaiTi" panose="02010609060101010101" pitchFamily="49" charset="-122"/>
                <a:cs typeface="Times New Roman" panose="02020603050405020304" pitchFamily="18" charset="0"/>
              </a:rPr>
              <a:t>黑笔写：解题步骤，红笔写：错因</a:t>
            </a:r>
            <a:r>
              <a:rPr kumimoji="1" lang="en-US" altLang="zh-CN" sz="1400" b="1" dirty="0">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b="1" dirty="0">
                <a:latin typeface="Times New Roman" panose="02020603050405020304" pitchFamily="18" charset="0"/>
                <a:ea typeface="KaiTi" panose="02010609060101010101" pitchFamily="49" charset="-122"/>
                <a:cs typeface="Times New Roman" panose="02020603050405020304" pitchFamily="18" charset="0"/>
              </a:rPr>
              <a:t>知识点</a:t>
            </a:r>
            <a:endParaRPr kumimoji="1" lang="en-US" altLang="zh-CN" sz="1400" b="1" dirty="0">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2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①写出正确解法</a:t>
            </a:r>
            <a:endParaRPr kumimoji="1" lang="en-US" altLang="zh-CN" sz="12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2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2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②写出</a:t>
            </a:r>
            <a:r>
              <a:rPr kumimoji="1" lang="en-US" altLang="zh-CN" sz="12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2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关键性</a:t>
            </a:r>
            <a:r>
              <a:rPr kumimoji="1" lang="en-US" altLang="zh-CN" sz="12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2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原理</a:t>
            </a:r>
            <a:endParaRPr kumimoji="1" lang="en-US" altLang="zh-CN" sz="12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2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*思路流畅</a:t>
            </a:r>
            <a:r>
              <a:rPr kumimoji="1" lang="en-US" altLang="zh-CN" sz="12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2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每一步所求「物理量」</a:t>
            </a:r>
            <a:r>
              <a:rPr kumimoji="1" lang="en-US" altLang="zh-CN" sz="12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2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「公式」互相连贯！</a:t>
            </a:r>
            <a:endParaRPr kumimoji="1" lang="en-US" altLang="zh-CN" sz="12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2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2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③蒙住答案，完整回溯思路</a:t>
            </a:r>
            <a:endParaRPr kumimoji="1" lang="en-US" altLang="zh-CN" sz="1200" b="1"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b="1"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b="1"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r>
              <a:rPr lang="zh-CN" altLang="en-US" sz="16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考试重点总结</a:t>
            </a:r>
            <a:r>
              <a:rPr lang="en-US" altLang="zh-CN" sz="16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lang="zh-CN" altLang="en-US" sz="16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重在精字！</a:t>
            </a:r>
            <a:endParaRPr lang="en-US" altLang="zh-CN" sz="1600" b="1" dirty="0">
              <a:solidFill>
                <a:srgbClr val="A41AD4"/>
              </a:solidFill>
              <a:latin typeface="KaiTi" panose="02010609060101010101" pitchFamily="49" charset="-122"/>
              <a:ea typeface="KaiTi" panose="02010609060101010101" pitchFamily="49" charset="-122"/>
              <a:cs typeface="Times New Roman" panose="02020603050405020304" pitchFamily="18" charset="0"/>
            </a:endParaRPr>
          </a:p>
          <a:p>
            <a:r>
              <a:rPr kumimoji="1" lang="en-US" altLang="zh-CN" sz="12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2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每次考试都是宝贵的积累机会，每天积累一道题型，都是在为最后的考试做准备</a:t>
            </a:r>
            <a:r>
              <a:rPr kumimoji="1" lang="en-US" altLang="zh-CN" sz="12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p>
        </p:txBody>
      </p:sp>
      <p:sp>
        <p:nvSpPr>
          <p:cNvPr id="13" name="文本框 12">
            <a:extLst>
              <a:ext uri="{FF2B5EF4-FFF2-40B4-BE49-F238E27FC236}">
                <a16:creationId xmlns:a16="http://schemas.microsoft.com/office/drawing/2014/main" id="{2E9A6471-777A-D549-B8CA-746ED6E7C3A1}"/>
              </a:ext>
            </a:extLst>
          </p:cNvPr>
          <p:cNvSpPr txBox="1"/>
          <p:nvPr/>
        </p:nvSpPr>
        <p:spPr>
          <a:xfrm>
            <a:off x="9993383" y="469086"/>
            <a:ext cx="1338828" cy="369332"/>
          </a:xfrm>
          <a:prstGeom prst="rect">
            <a:avLst/>
          </a:prstGeom>
          <a:noFill/>
        </p:spPr>
        <p:txBody>
          <a:bodyPr wrap="none" rtlCol="0">
            <a:spAutoFit/>
          </a:bodyPr>
          <a:lstStyle/>
          <a:p>
            <a:r>
              <a:rPr kumimoji="1" lang="zh-CN" altLang="en-US" dirty="0">
                <a:solidFill>
                  <a:srgbClr val="C00000"/>
                </a:solidFill>
                <a:latin typeface="KaiTi" panose="02010609060101010101" pitchFamily="49" charset="-122"/>
                <a:ea typeface="KaiTi" panose="02010609060101010101" pitchFamily="49" charset="-122"/>
                <a:cs typeface="Times New Roman" panose="02020603050405020304" pitchFamily="18" charset="0"/>
              </a:rPr>
              <a:t>使用活页本</a:t>
            </a:r>
          </a:p>
        </p:txBody>
      </p:sp>
      <p:pic>
        <p:nvPicPr>
          <p:cNvPr id="9" name="图片 8">
            <a:extLst>
              <a:ext uri="{FF2B5EF4-FFF2-40B4-BE49-F238E27FC236}">
                <a16:creationId xmlns:a16="http://schemas.microsoft.com/office/drawing/2014/main" id="{1F1A3E27-4EED-A94A-B22D-B370EEF83A9C}"/>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6969107" y="905256"/>
            <a:ext cx="3774832" cy="5318470"/>
          </a:xfrm>
          <a:prstGeom prst="rect">
            <a:avLst/>
          </a:prstGeom>
        </p:spPr>
      </p:pic>
      <p:sp>
        <p:nvSpPr>
          <p:cNvPr id="2" name="矩形 1">
            <a:extLst>
              <a:ext uri="{FF2B5EF4-FFF2-40B4-BE49-F238E27FC236}">
                <a16:creationId xmlns:a16="http://schemas.microsoft.com/office/drawing/2014/main" id="{A6F6D1C7-C642-CA42-9504-A63FEF2E8545}"/>
              </a:ext>
            </a:extLst>
          </p:cNvPr>
          <p:cNvSpPr/>
          <p:nvPr/>
        </p:nvSpPr>
        <p:spPr>
          <a:xfrm>
            <a:off x="6989427" y="1108957"/>
            <a:ext cx="408900" cy="641405"/>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矩形 9">
            <a:extLst>
              <a:ext uri="{FF2B5EF4-FFF2-40B4-BE49-F238E27FC236}">
                <a16:creationId xmlns:a16="http://schemas.microsoft.com/office/drawing/2014/main" id="{231074E6-F29E-C34D-88DE-F8BE4C225DFA}"/>
              </a:ext>
            </a:extLst>
          </p:cNvPr>
          <p:cNvSpPr/>
          <p:nvPr/>
        </p:nvSpPr>
        <p:spPr>
          <a:xfrm>
            <a:off x="8981258" y="1657444"/>
            <a:ext cx="1783001" cy="773288"/>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矩形 10">
            <a:extLst>
              <a:ext uri="{FF2B5EF4-FFF2-40B4-BE49-F238E27FC236}">
                <a16:creationId xmlns:a16="http://schemas.microsoft.com/office/drawing/2014/main" id="{AABA47A1-2A37-B944-B71E-42DA77E1E9CE}"/>
              </a:ext>
            </a:extLst>
          </p:cNvPr>
          <p:cNvSpPr/>
          <p:nvPr/>
        </p:nvSpPr>
        <p:spPr>
          <a:xfrm>
            <a:off x="7070661" y="4301809"/>
            <a:ext cx="3431084" cy="713536"/>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03443705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F595439-DC2D-814E-A9B9-7FC87B21C31C}"/>
              </a:ext>
            </a:extLst>
          </p:cNvPr>
          <p:cNvSpPr txBox="1"/>
          <p:nvPr/>
        </p:nvSpPr>
        <p:spPr>
          <a:xfrm>
            <a:off x="417830" y="748030"/>
            <a:ext cx="4942702" cy="307777"/>
          </a:xfrm>
          <a:prstGeom prst="rect">
            <a:avLst/>
          </a:prstGeom>
          <a:noFill/>
        </p:spPr>
        <p:txBody>
          <a:bodyPr wrap="square" rtlCol="0">
            <a:spAutoFit/>
          </a:bodyPr>
          <a:lstStyle/>
          <a:p>
            <a:pPr marL="285750" indent="-285750">
              <a:buFont typeface="Arial" panose="020B0604020202020204" pitchFamily="34" charset="0"/>
              <a:buChar char="•"/>
            </a:pP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Part2: </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按照题型积累</a:t>
            </a:r>
            <a:r>
              <a:rPr kumimoji="1" lang="en-US" altLang="zh-CN"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怎么做？</a:t>
            </a:r>
          </a:p>
        </p:txBody>
      </p:sp>
      <p:sp>
        <p:nvSpPr>
          <p:cNvPr id="4" name="文本框 3">
            <a:extLst>
              <a:ext uri="{FF2B5EF4-FFF2-40B4-BE49-F238E27FC236}">
                <a16:creationId xmlns:a16="http://schemas.microsoft.com/office/drawing/2014/main" id="{394ED3DE-6190-BC48-90C9-6C82B154923E}"/>
              </a:ext>
            </a:extLst>
          </p:cNvPr>
          <p:cNvSpPr txBox="1"/>
          <p:nvPr/>
        </p:nvSpPr>
        <p:spPr>
          <a:xfrm>
            <a:off x="489045" y="1182807"/>
            <a:ext cx="9503133" cy="773289"/>
          </a:xfrm>
          <a:prstGeom prst="rect">
            <a:avLst/>
          </a:prstGeom>
          <a:noFill/>
        </p:spPr>
        <p:txBody>
          <a:bodyPr wrap="square" rtlCol="0">
            <a:spAutoFit/>
          </a:bodyPr>
          <a:lstStyle/>
          <a:p>
            <a:pPr>
              <a:lnSpc>
                <a:spcPct val="150000"/>
              </a:lnSpc>
            </a:pPr>
            <a:endParaRPr kumimoji="1" lang="en-US" altLang="zh-CN" sz="16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pPr>
              <a:lnSpc>
                <a:spcPct val="150000"/>
              </a:lnSpc>
            </a:pPr>
            <a:r>
              <a:rPr kumimoji="1" lang="zh-CN" altLang="en-US"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rPr>
              <a:t>*一句话易错点</a:t>
            </a:r>
            <a:endParaRPr kumimoji="1" lang="en-US" altLang="zh-CN" sz="1600" dirty="0">
              <a:solidFill>
                <a:schemeClr val="tx1">
                  <a:lumMod val="50000"/>
                  <a:lumOff val="50000"/>
                </a:schemeClr>
              </a:solidFill>
              <a:highlight>
                <a:srgbClr val="FDF4D5"/>
              </a:highlight>
              <a:latin typeface="KaiTi" panose="02010609060101010101" pitchFamily="49" charset="-122"/>
              <a:ea typeface="KaiTi" panose="02010609060101010101" pitchFamily="49" charset="-122"/>
              <a:cs typeface="Times New Roman" panose="02020603050405020304" pitchFamily="18" charset="0"/>
            </a:endParaRPr>
          </a:p>
        </p:txBody>
      </p:sp>
      <p:sp>
        <p:nvSpPr>
          <p:cNvPr id="5" name="矩形 4">
            <a:extLst>
              <a:ext uri="{FF2B5EF4-FFF2-40B4-BE49-F238E27FC236}">
                <a16:creationId xmlns:a16="http://schemas.microsoft.com/office/drawing/2014/main" id="{48A01008-C526-154C-9A89-2460719D1A35}"/>
              </a:ext>
            </a:extLst>
          </p:cNvPr>
          <p:cNvSpPr/>
          <p:nvPr/>
        </p:nvSpPr>
        <p:spPr>
          <a:xfrm>
            <a:off x="417830" y="2821759"/>
            <a:ext cx="11177270" cy="3553641"/>
          </a:xfrm>
          <a:prstGeom prst="rect">
            <a:avLst/>
          </a:prstGeom>
          <a:solidFill>
            <a:srgbClr val="E8F0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3B27CFF8-40B3-3A40-9872-17E184753673}"/>
              </a:ext>
            </a:extLst>
          </p:cNvPr>
          <p:cNvSpPr/>
          <p:nvPr/>
        </p:nvSpPr>
        <p:spPr>
          <a:xfrm>
            <a:off x="672230" y="3207442"/>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7" name="文本框 6">
            <a:extLst>
              <a:ext uri="{FF2B5EF4-FFF2-40B4-BE49-F238E27FC236}">
                <a16:creationId xmlns:a16="http://schemas.microsoft.com/office/drawing/2014/main" id="{A573DF6B-D1C2-994B-83B9-DB30AB109901}"/>
              </a:ext>
            </a:extLst>
          </p:cNvPr>
          <p:cNvSpPr txBox="1"/>
          <p:nvPr/>
        </p:nvSpPr>
        <p:spPr>
          <a:xfrm>
            <a:off x="997000" y="3193642"/>
            <a:ext cx="6773286" cy="2308324"/>
          </a:xfrm>
          <a:prstGeom prst="rect">
            <a:avLst/>
          </a:prstGeom>
          <a:noFill/>
        </p:spPr>
        <p:txBody>
          <a:bodyPr wrap="square" rtlCol="0">
            <a:spAutoFit/>
          </a:bodyPr>
          <a:lstStyle/>
          <a:p>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*用「一句话」</a:t>
            </a:r>
            <a:r>
              <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400" dirty="0">
                <a:latin typeface="Times New Roman" panose="02020603050405020304" pitchFamily="18" charset="0"/>
                <a:ea typeface="KaiTi" panose="02010609060101010101" pitchFamily="49" charset="-122"/>
                <a:cs typeface="Times New Roman" panose="02020603050405020304" pitchFamily="18" charset="0"/>
              </a:rPr>
              <a:t>「一张简图」表述自己的易错点！</a:t>
            </a:r>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dirty="0">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2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①总结模型</a:t>
            </a:r>
            <a:endParaRPr kumimoji="1" lang="en-US" altLang="zh-CN" sz="12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2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2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②总结自己的易错、易混点</a:t>
            </a:r>
            <a:endParaRPr kumimoji="1" lang="en-US" altLang="zh-CN" sz="12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2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r>
              <a:rPr kumimoji="1" lang="zh-CN" altLang="en-US" sz="1200"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③标注</a:t>
            </a:r>
            <a:r>
              <a:rPr kumimoji="1" lang="en-US" altLang="zh-CN" sz="1200" b="1"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200" b="1"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可以拓展的思路</a:t>
            </a:r>
            <a:r>
              <a:rPr kumimoji="1" lang="en-US" altLang="zh-CN" sz="1200" b="1"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200" b="1"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提醒自己的易错点</a:t>
            </a:r>
            <a:r>
              <a:rPr kumimoji="1" lang="en-US" altLang="zh-CN" sz="1200" b="1" dirty="0">
                <a:solidFill>
                  <a:srgbClr val="223AAC"/>
                </a:solidFill>
                <a:latin typeface="Times New Roman" panose="02020603050405020304" pitchFamily="18" charset="0"/>
                <a:ea typeface="KaiTi" panose="02010609060101010101" pitchFamily="49" charset="-122"/>
                <a:cs typeface="Times New Roman" panose="02020603050405020304" pitchFamily="18" charset="0"/>
              </a:rPr>
              <a:t>}</a:t>
            </a:r>
          </a:p>
          <a:p>
            <a:endParaRPr kumimoji="1" lang="en-US" altLang="zh-CN" sz="1400" b="1"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endParaRPr kumimoji="1" lang="en-US" altLang="zh-CN" sz="1400" b="1" dirty="0">
              <a:solidFill>
                <a:srgbClr val="223AAC"/>
              </a:solidFill>
              <a:latin typeface="Times New Roman" panose="02020603050405020304" pitchFamily="18" charset="0"/>
              <a:ea typeface="KaiTi" panose="02010609060101010101" pitchFamily="49" charset="-122"/>
              <a:cs typeface="Times New Roman" panose="02020603050405020304" pitchFamily="18" charset="0"/>
            </a:endParaRPr>
          </a:p>
          <a:p>
            <a:r>
              <a:rPr lang="zh-CN" altLang="en-US" sz="16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易错点总结</a:t>
            </a:r>
            <a:r>
              <a:rPr lang="en-US" altLang="zh-CN" sz="16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lang="zh-CN" altLang="en-US" sz="16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重在「简」字！</a:t>
            </a:r>
            <a:endParaRPr lang="en-US" altLang="zh-CN" sz="1600" b="1" dirty="0">
              <a:solidFill>
                <a:srgbClr val="A41AD4"/>
              </a:solidFill>
              <a:latin typeface="KaiTi" panose="02010609060101010101" pitchFamily="49" charset="-122"/>
              <a:ea typeface="KaiTi" panose="02010609060101010101" pitchFamily="49" charset="-122"/>
              <a:cs typeface="Times New Roman" panose="02020603050405020304" pitchFamily="18" charset="0"/>
            </a:endParaRPr>
          </a:p>
          <a:p>
            <a:r>
              <a:rPr kumimoji="1" lang="en-US" altLang="zh-CN" sz="12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2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每次考试前：只看自己的易错点部分</a:t>
            </a:r>
            <a:r>
              <a:rPr kumimoji="1" lang="en-US" altLang="zh-CN" sz="12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2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节约时间，定向补足自己的思维漏洞</a:t>
            </a:r>
            <a:r>
              <a:rPr kumimoji="1" lang="en-US" altLang="zh-CN" sz="12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p>
        </p:txBody>
      </p:sp>
      <p:sp>
        <p:nvSpPr>
          <p:cNvPr id="13" name="文本框 12">
            <a:extLst>
              <a:ext uri="{FF2B5EF4-FFF2-40B4-BE49-F238E27FC236}">
                <a16:creationId xmlns:a16="http://schemas.microsoft.com/office/drawing/2014/main" id="{2E9A6471-777A-D549-B8CA-746ED6E7C3A1}"/>
              </a:ext>
            </a:extLst>
          </p:cNvPr>
          <p:cNvSpPr txBox="1"/>
          <p:nvPr/>
        </p:nvSpPr>
        <p:spPr>
          <a:xfrm>
            <a:off x="9993383" y="469086"/>
            <a:ext cx="1338828" cy="369332"/>
          </a:xfrm>
          <a:prstGeom prst="rect">
            <a:avLst/>
          </a:prstGeom>
          <a:noFill/>
        </p:spPr>
        <p:txBody>
          <a:bodyPr wrap="none" rtlCol="0">
            <a:spAutoFit/>
          </a:bodyPr>
          <a:lstStyle/>
          <a:p>
            <a:r>
              <a:rPr kumimoji="1" lang="zh-CN" altLang="en-US" dirty="0">
                <a:solidFill>
                  <a:srgbClr val="C00000"/>
                </a:solidFill>
                <a:latin typeface="KaiTi" panose="02010609060101010101" pitchFamily="49" charset="-122"/>
                <a:ea typeface="KaiTi" panose="02010609060101010101" pitchFamily="49" charset="-122"/>
                <a:cs typeface="Times New Roman" panose="02020603050405020304" pitchFamily="18" charset="0"/>
              </a:rPr>
              <a:t>使用活页本</a:t>
            </a:r>
          </a:p>
        </p:txBody>
      </p:sp>
      <p:pic>
        <p:nvPicPr>
          <p:cNvPr id="9" name="图片 8">
            <a:extLst>
              <a:ext uri="{FF2B5EF4-FFF2-40B4-BE49-F238E27FC236}">
                <a16:creationId xmlns:a16="http://schemas.microsoft.com/office/drawing/2014/main" id="{1F1A3E27-4EED-A94A-B22D-B370EEF83A9C}"/>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6969107" y="1044660"/>
            <a:ext cx="3774832" cy="5039662"/>
          </a:xfrm>
          <a:prstGeom prst="rect">
            <a:avLst/>
          </a:prstGeom>
        </p:spPr>
      </p:pic>
      <p:sp>
        <p:nvSpPr>
          <p:cNvPr id="2" name="矩形 1">
            <a:extLst>
              <a:ext uri="{FF2B5EF4-FFF2-40B4-BE49-F238E27FC236}">
                <a16:creationId xmlns:a16="http://schemas.microsoft.com/office/drawing/2014/main" id="{A6F6D1C7-C642-CA42-9504-A63FEF2E8545}"/>
              </a:ext>
            </a:extLst>
          </p:cNvPr>
          <p:cNvSpPr/>
          <p:nvPr/>
        </p:nvSpPr>
        <p:spPr>
          <a:xfrm>
            <a:off x="6989426" y="1108957"/>
            <a:ext cx="780859" cy="207225"/>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矩形 9">
            <a:extLst>
              <a:ext uri="{FF2B5EF4-FFF2-40B4-BE49-F238E27FC236}">
                <a16:creationId xmlns:a16="http://schemas.microsoft.com/office/drawing/2014/main" id="{231074E6-F29E-C34D-88DE-F8BE4C225DFA}"/>
              </a:ext>
            </a:extLst>
          </p:cNvPr>
          <p:cNvSpPr/>
          <p:nvPr/>
        </p:nvSpPr>
        <p:spPr>
          <a:xfrm>
            <a:off x="6989426" y="2220666"/>
            <a:ext cx="3431084" cy="481225"/>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矩形 10">
            <a:extLst>
              <a:ext uri="{FF2B5EF4-FFF2-40B4-BE49-F238E27FC236}">
                <a16:creationId xmlns:a16="http://schemas.microsoft.com/office/drawing/2014/main" id="{AABA47A1-2A37-B944-B71E-42DA77E1E9CE}"/>
              </a:ext>
            </a:extLst>
          </p:cNvPr>
          <p:cNvSpPr/>
          <p:nvPr/>
        </p:nvSpPr>
        <p:spPr>
          <a:xfrm>
            <a:off x="6989426" y="3939437"/>
            <a:ext cx="3431084" cy="474636"/>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76349705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863725" y="1590675"/>
            <a:ext cx="8239125" cy="3415030"/>
          </a:xfrm>
          <a:prstGeom prst="rect">
            <a:avLst/>
          </a:prstGeom>
          <a:noFill/>
          <a:ln>
            <a:noFill/>
          </a:ln>
        </p:spPr>
        <p:txBody>
          <a:bodyPr wrap="square" rtlCol="0" anchor="t">
            <a:spAutoFit/>
          </a:bodyPr>
          <a:lstStyle/>
          <a:p>
            <a:pPr algn="ctr"/>
            <a:r>
              <a:rPr lang="en-US" altLang="zh-CN" sz="7200" b="1" dirty="0">
                <a:solidFill>
                  <a:srgbClr val="7030A0"/>
                </a:solidFill>
                <a:effectLst>
                  <a:reflection blurRad="6350" stA="53000" endA="300" endPos="35500" dir="5400000" sy="-90000" algn="bl" rotWithShape="0"/>
                </a:effectLst>
              </a:rPr>
              <a:t>Chapter-11</a:t>
            </a:r>
          </a:p>
          <a:p>
            <a:pPr algn="ctr"/>
            <a:r>
              <a:rPr lang="en-US" altLang="zh-CN" sz="7200" b="1" dirty="0">
                <a:solidFill>
                  <a:srgbClr val="7030A0"/>
                </a:solidFill>
                <a:effectLst>
                  <a:reflection blurRad="6350" stA="53000" endA="300" endPos="35500" dir="5400000" sy="-90000" algn="bl" rotWithShape="0"/>
                </a:effectLst>
              </a:rPr>
              <a:t> </a:t>
            </a:r>
          </a:p>
          <a:p>
            <a:pPr algn="ctr"/>
            <a:r>
              <a:rPr lang="zh-CN" altLang="en-US" sz="7200" b="1" dirty="0">
                <a:solidFill>
                  <a:srgbClr val="7030A0"/>
                </a:solidFill>
                <a:effectLst>
                  <a:reflection blurRad="6350" stA="53000" endA="300" endPos="35500" dir="5400000" sy="-90000" algn="bl" rotWithShape="0"/>
                </a:effectLst>
              </a:rPr>
              <a:t>总结</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5E3D6CC2-8A05-5B47-A742-B4491F95D9E2}"/>
              </a:ext>
            </a:extLst>
          </p:cNvPr>
          <p:cNvSpPr/>
          <p:nvPr/>
        </p:nvSpPr>
        <p:spPr>
          <a:xfrm>
            <a:off x="574342" y="1670305"/>
            <a:ext cx="11043316" cy="4589165"/>
          </a:xfrm>
          <a:prstGeom prst="rect">
            <a:avLst/>
          </a:prstGeom>
          <a:solidFill>
            <a:schemeClr val="bg1">
              <a:lumMod val="95000"/>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 name="文本框 2">
            <a:extLst>
              <a:ext uri="{FF2B5EF4-FFF2-40B4-BE49-F238E27FC236}">
                <a16:creationId xmlns:a16="http://schemas.microsoft.com/office/drawing/2014/main" id="{7DD756EB-006D-E140-B0ED-4D6A4DDBA6A5}"/>
              </a:ext>
            </a:extLst>
          </p:cNvPr>
          <p:cNvSpPr txBox="1"/>
          <p:nvPr/>
        </p:nvSpPr>
        <p:spPr>
          <a:xfrm>
            <a:off x="476209" y="598530"/>
            <a:ext cx="5730318" cy="369332"/>
          </a:xfrm>
          <a:prstGeom prst="rect">
            <a:avLst/>
          </a:prstGeom>
          <a:noFill/>
        </p:spPr>
        <p:txBody>
          <a:bodyPr wrap="square" rtlCol="0">
            <a:spAutoFit/>
          </a:bodyPr>
          <a:lstStyle/>
          <a:p>
            <a:r>
              <a:rPr kumimoji="1" lang="en-US" altLang="zh-CN" u="sng" dirty="0">
                <a:solidFill>
                  <a:srgbClr val="C00000"/>
                </a:solidFill>
                <a:highlight>
                  <a:srgbClr val="FDF4D5"/>
                </a:highlight>
                <a:latin typeface="KaiTi" panose="02010609060101010101" pitchFamily="49" charset="-122"/>
                <a:ea typeface="KaiTi" panose="02010609060101010101" pitchFamily="49" charset="-122"/>
              </a:rPr>
              <a:t>【</a:t>
            </a:r>
            <a:r>
              <a:rPr kumimoji="1" lang="zh-CN" altLang="en-US" u="sng" dirty="0">
                <a:solidFill>
                  <a:srgbClr val="C00000"/>
                </a:solidFill>
                <a:highlight>
                  <a:srgbClr val="FDF4D5"/>
                </a:highlight>
                <a:latin typeface="KaiTi" panose="02010609060101010101" pitchFamily="49" charset="-122"/>
                <a:ea typeface="KaiTi" panose="02010609060101010101" pitchFamily="49" charset="-122"/>
              </a:rPr>
              <a:t>优优学姐个人介绍</a:t>
            </a:r>
            <a:r>
              <a:rPr kumimoji="1" lang="en-US" altLang="zh-CN" u="sng" dirty="0">
                <a:solidFill>
                  <a:srgbClr val="C00000"/>
                </a:solidFill>
                <a:highlight>
                  <a:srgbClr val="FDF4D5"/>
                </a:highlight>
                <a:latin typeface="KaiTi" panose="02010609060101010101" pitchFamily="49" charset="-122"/>
                <a:ea typeface="KaiTi" panose="02010609060101010101" pitchFamily="49" charset="-122"/>
              </a:rPr>
              <a:t>】——</a:t>
            </a:r>
            <a:r>
              <a:rPr kumimoji="1" lang="zh-CN" altLang="en-US" u="sng" dirty="0">
                <a:solidFill>
                  <a:srgbClr val="C00000"/>
                </a:solidFill>
                <a:highlight>
                  <a:srgbClr val="FDF4D5"/>
                </a:highlight>
                <a:latin typeface="KaiTi" panose="02010609060101010101" pitchFamily="49" charset="-122"/>
                <a:ea typeface="KaiTi" panose="02010609060101010101" pitchFamily="49" charset="-122"/>
              </a:rPr>
              <a:t>高考裸分</a:t>
            </a:r>
            <a:r>
              <a:rPr kumimoji="1" lang="en-US" altLang="zh-CN" u="sng" dirty="0">
                <a:solidFill>
                  <a:srgbClr val="C00000"/>
                </a:solidFill>
                <a:highlight>
                  <a:srgbClr val="FDF4D5"/>
                </a:highlight>
                <a:latin typeface="KaiTi" panose="02010609060101010101" pitchFamily="49" charset="-122"/>
                <a:ea typeface="KaiTi" panose="02010609060101010101" pitchFamily="49" charset="-122"/>
              </a:rPr>
              <a:t>689/</a:t>
            </a:r>
            <a:r>
              <a:rPr kumimoji="1" lang="zh-CN" altLang="en-US" u="sng" dirty="0">
                <a:solidFill>
                  <a:srgbClr val="C00000"/>
                </a:solidFill>
                <a:highlight>
                  <a:srgbClr val="FDF4D5"/>
                </a:highlight>
                <a:latin typeface="KaiTi" panose="02010609060101010101" pitchFamily="49" charset="-122"/>
                <a:ea typeface="KaiTi" panose="02010609060101010101" pitchFamily="49" charset="-122"/>
              </a:rPr>
              <a:t>英语</a:t>
            </a:r>
            <a:r>
              <a:rPr kumimoji="1" lang="en-US" altLang="zh-CN" u="sng" dirty="0">
                <a:solidFill>
                  <a:srgbClr val="C00000"/>
                </a:solidFill>
                <a:highlight>
                  <a:srgbClr val="FDF4D5"/>
                </a:highlight>
                <a:latin typeface="KaiTi" panose="02010609060101010101" pitchFamily="49" charset="-122"/>
                <a:ea typeface="KaiTi" panose="02010609060101010101" pitchFamily="49" charset="-122"/>
              </a:rPr>
              <a:t>146</a:t>
            </a:r>
            <a:endParaRPr kumimoji="1" lang="zh-CN" altLang="en-US" b="1" u="sng" dirty="0">
              <a:solidFill>
                <a:srgbClr val="C00000"/>
              </a:solidFill>
              <a:highlight>
                <a:srgbClr val="FDF4D5"/>
              </a:highlight>
              <a:latin typeface="Times New Roman" panose="02020603050405020304" pitchFamily="18" charset="0"/>
              <a:ea typeface="KaiTi" panose="02010609060101010101" pitchFamily="49" charset="-122"/>
              <a:cs typeface="Times New Roman" panose="02020603050405020304" pitchFamily="18" charset="0"/>
            </a:endParaRPr>
          </a:p>
        </p:txBody>
      </p:sp>
      <p:sp>
        <p:nvSpPr>
          <p:cNvPr id="5" name="文本框 4">
            <a:extLst>
              <a:ext uri="{FF2B5EF4-FFF2-40B4-BE49-F238E27FC236}">
                <a16:creationId xmlns:a16="http://schemas.microsoft.com/office/drawing/2014/main" id="{AF70449C-7FFA-0B4D-AC26-490DE87A4544}"/>
              </a:ext>
            </a:extLst>
          </p:cNvPr>
          <p:cNvSpPr txBox="1"/>
          <p:nvPr/>
        </p:nvSpPr>
        <p:spPr>
          <a:xfrm>
            <a:off x="476209" y="1004438"/>
            <a:ext cx="6660291" cy="276999"/>
          </a:xfrm>
          <a:prstGeom prst="rect">
            <a:avLst/>
          </a:prstGeom>
          <a:noFill/>
        </p:spPr>
        <p:txBody>
          <a:bodyPr wrap="square" rtlCol="0">
            <a:spAutoFit/>
          </a:bodyPr>
          <a:lstStyle/>
          <a:p>
            <a:r>
              <a:rPr kumimoji="1" lang="zh-CN" altLang="en-US" sz="1200" dirty="0">
                <a:latin typeface="Times New Roman" panose="02020603050405020304" pitchFamily="18" charset="0"/>
                <a:ea typeface="KaiTi" panose="02010609060101010101" pitchFamily="49" charset="-122"/>
                <a:cs typeface="Times New Roman" panose="02020603050405020304" pitchFamily="18" charset="0"/>
              </a:rPr>
              <a:t>物理的分数是「悟」来的，思维决定高度</a:t>
            </a:r>
          </a:p>
        </p:txBody>
      </p:sp>
      <p:sp>
        <p:nvSpPr>
          <p:cNvPr id="7" name="文本框 6">
            <a:extLst>
              <a:ext uri="{FF2B5EF4-FFF2-40B4-BE49-F238E27FC236}">
                <a16:creationId xmlns:a16="http://schemas.microsoft.com/office/drawing/2014/main" id="{427909EC-8147-EC41-BFBC-C213B3862135}"/>
              </a:ext>
            </a:extLst>
          </p:cNvPr>
          <p:cNvSpPr txBox="1"/>
          <p:nvPr/>
        </p:nvSpPr>
        <p:spPr>
          <a:xfrm>
            <a:off x="949657" y="1774830"/>
            <a:ext cx="4942702" cy="307777"/>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b="1" u="sng" dirty="0">
                <a:solidFill>
                  <a:srgbClr val="C00000"/>
                </a:solidFill>
                <a:latin typeface="KaiTi" panose="02010609060101010101" pitchFamily="49" charset="-122"/>
                <a:ea typeface="KaiTi" panose="02010609060101010101" pitchFamily="49" charset="-122"/>
                <a:cs typeface="Times New Roman" panose="02020603050405020304" pitchFamily="18" charset="0"/>
              </a:rPr>
              <a:t>高考物理满分</a:t>
            </a:r>
          </a:p>
        </p:txBody>
      </p:sp>
      <p:sp>
        <p:nvSpPr>
          <p:cNvPr id="8" name="矩形 7">
            <a:extLst>
              <a:ext uri="{FF2B5EF4-FFF2-40B4-BE49-F238E27FC236}">
                <a16:creationId xmlns:a16="http://schemas.microsoft.com/office/drawing/2014/main" id="{34A127D9-EE3A-B04F-8FED-54C0EB914063}"/>
              </a:ext>
            </a:extLst>
          </p:cNvPr>
          <p:cNvSpPr/>
          <p:nvPr/>
        </p:nvSpPr>
        <p:spPr>
          <a:xfrm>
            <a:off x="614496" y="1799805"/>
            <a:ext cx="415498" cy="369332"/>
          </a:xfrm>
          <a:prstGeom prst="rect">
            <a:avLst/>
          </a:prstGeom>
        </p:spPr>
        <p:txBody>
          <a:bodyPr wrap="none">
            <a:spAutoFit/>
          </a:bodyPr>
          <a:lstStyle/>
          <a:p>
            <a:r>
              <a:rPr kumimoji="1" lang="en-US" altLang="zh-CN" dirty="0">
                <a:solidFill>
                  <a:srgbClr val="C00000"/>
                </a:solidFill>
                <a:latin typeface="KaiTi" panose="02010609060101010101" pitchFamily="49" charset="-122"/>
                <a:ea typeface="KaiTi" panose="02010609060101010101" pitchFamily="49" charset="-122"/>
              </a:rPr>
              <a:t>💡</a:t>
            </a:r>
            <a:endParaRPr lang="zh-CN" altLang="en-US" dirty="0"/>
          </a:p>
        </p:txBody>
      </p:sp>
      <p:sp>
        <p:nvSpPr>
          <p:cNvPr id="9" name="文本框 8">
            <a:extLst>
              <a:ext uri="{FF2B5EF4-FFF2-40B4-BE49-F238E27FC236}">
                <a16:creationId xmlns:a16="http://schemas.microsoft.com/office/drawing/2014/main" id="{DEB71FF2-C302-6B4B-AF9D-9226A572F805}"/>
              </a:ext>
            </a:extLst>
          </p:cNvPr>
          <p:cNvSpPr txBox="1"/>
          <p:nvPr/>
        </p:nvSpPr>
        <p:spPr>
          <a:xfrm>
            <a:off x="1029994" y="2169137"/>
            <a:ext cx="4942702" cy="461665"/>
          </a:xfrm>
          <a:prstGeom prst="rect">
            <a:avLst/>
          </a:prstGeom>
          <a:noFill/>
        </p:spPr>
        <p:txBody>
          <a:bodyPr wrap="square" rtlCol="0">
            <a:spAutoFit/>
          </a:bodyPr>
          <a:lstStyle/>
          <a:p>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优优 清华学姐</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清华本硕 </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高考四川省前</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50</a:t>
            </a:r>
          </a:p>
          <a:p>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英语</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146 </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数学</a:t>
            </a:r>
            <a:r>
              <a:rPr kumimoji="1" lang="en-US" altLang="zh-CN"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142 </a:t>
            </a:r>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物理满分</a:t>
            </a:r>
          </a:p>
        </p:txBody>
      </p:sp>
      <p:pic>
        <p:nvPicPr>
          <p:cNvPr id="10" name="图片 9">
            <a:extLst>
              <a:ext uri="{FF2B5EF4-FFF2-40B4-BE49-F238E27FC236}">
                <a16:creationId xmlns:a16="http://schemas.microsoft.com/office/drawing/2014/main" id="{D658F83F-8A07-FE4A-B8B2-A38BA9FDE53D}"/>
              </a:ext>
            </a:extLst>
          </p:cNvPr>
          <p:cNvPicPr>
            <a:picLocks noChangeAspect="1"/>
          </p:cNvPicPr>
          <p:nvPr/>
        </p:nvPicPr>
        <p:blipFill rotWithShape="1">
          <a:blip r:embed="rId3"/>
          <a:srcRect t="16388" b="11438"/>
          <a:stretch/>
        </p:blipFill>
        <p:spPr>
          <a:xfrm>
            <a:off x="8764171" y="1735282"/>
            <a:ext cx="2813333" cy="4399960"/>
          </a:xfrm>
          <a:prstGeom prst="rect">
            <a:avLst/>
          </a:prstGeom>
        </p:spPr>
      </p:pic>
      <p:sp>
        <p:nvSpPr>
          <p:cNvPr id="11" name="矩形 10">
            <a:extLst>
              <a:ext uri="{FF2B5EF4-FFF2-40B4-BE49-F238E27FC236}">
                <a16:creationId xmlns:a16="http://schemas.microsoft.com/office/drawing/2014/main" id="{8A2E667D-F69D-FC4A-B398-F591C4958312}"/>
              </a:ext>
            </a:extLst>
          </p:cNvPr>
          <p:cNvSpPr/>
          <p:nvPr/>
        </p:nvSpPr>
        <p:spPr>
          <a:xfrm>
            <a:off x="9045526" y="5044049"/>
            <a:ext cx="1406769" cy="225083"/>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3" name="矩形 12">
            <a:extLst>
              <a:ext uri="{FF2B5EF4-FFF2-40B4-BE49-F238E27FC236}">
                <a16:creationId xmlns:a16="http://schemas.microsoft.com/office/drawing/2014/main" id="{E9A861DF-0412-1044-9A3A-C08379846D43}"/>
              </a:ext>
            </a:extLst>
          </p:cNvPr>
          <p:cNvSpPr/>
          <p:nvPr/>
        </p:nvSpPr>
        <p:spPr>
          <a:xfrm>
            <a:off x="9045525" y="4012268"/>
            <a:ext cx="1406769" cy="225083"/>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2" name="矩形 11">
            <a:extLst>
              <a:ext uri="{FF2B5EF4-FFF2-40B4-BE49-F238E27FC236}">
                <a16:creationId xmlns:a16="http://schemas.microsoft.com/office/drawing/2014/main" id="{5673179E-710F-2744-AE28-66102F6B7763}"/>
              </a:ext>
            </a:extLst>
          </p:cNvPr>
          <p:cNvSpPr/>
          <p:nvPr/>
        </p:nvSpPr>
        <p:spPr>
          <a:xfrm>
            <a:off x="1029994" y="3060148"/>
            <a:ext cx="4427223" cy="11377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矩形 18">
            <a:extLst>
              <a:ext uri="{FF2B5EF4-FFF2-40B4-BE49-F238E27FC236}">
                <a16:creationId xmlns:a16="http://schemas.microsoft.com/office/drawing/2014/main" id="{2762121B-E71F-164E-AB7F-D2ED96C904AA}"/>
              </a:ext>
            </a:extLst>
          </p:cNvPr>
          <p:cNvSpPr/>
          <p:nvPr/>
        </p:nvSpPr>
        <p:spPr>
          <a:xfrm>
            <a:off x="1029994" y="4746052"/>
            <a:ext cx="4427223" cy="645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文本框 16">
            <a:extLst>
              <a:ext uri="{FF2B5EF4-FFF2-40B4-BE49-F238E27FC236}">
                <a16:creationId xmlns:a16="http://schemas.microsoft.com/office/drawing/2014/main" id="{65215806-7293-0744-A6B0-0E868DAAA474}"/>
              </a:ext>
            </a:extLst>
          </p:cNvPr>
          <p:cNvSpPr txBox="1"/>
          <p:nvPr/>
        </p:nvSpPr>
        <p:spPr>
          <a:xfrm>
            <a:off x="1029994" y="2713079"/>
            <a:ext cx="1553537" cy="276999"/>
          </a:xfrm>
          <a:prstGeom prst="rect">
            <a:avLst/>
          </a:prstGeom>
          <a:solidFill>
            <a:srgbClr val="F9CDCC"/>
          </a:solidFill>
        </p:spPr>
        <p:txBody>
          <a:bodyPr wrap="square" rtlCol="0">
            <a:spAutoFit/>
          </a:bodyPr>
          <a:lstStyle/>
          <a:p>
            <a:r>
              <a:rPr lang="zh-CN" altLang="en-US" sz="1200" b="1" dirty="0"/>
              <a:t>① </a:t>
            </a:r>
            <a:r>
              <a:rPr kumimoji="1" lang="zh-CN" altLang="en-US" sz="1200" b="1" dirty="0">
                <a:latin typeface="KaiTi" panose="02010609060101010101" pitchFamily="49" charset="-122"/>
                <a:ea typeface="KaiTi" panose="02010609060101010101" pitchFamily="49" charset="-122"/>
                <a:cs typeface="Times New Roman" panose="02020603050405020304" pitchFamily="18" charset="0"/>
              </a:rPr>
              <a:t>物理要掌握什么</a:t>
            </a:r>
          </a:p>
        </p:txBody>
      </p:sp>
      <p:sp>
        <p:nvSpPr>
          <p:cNvPr id="18" name="文本框 17">
            <a:extLst>
              <a:ext uri="{FF2B5EF4-FFF2-40B4-BE49-F238E27FC236}">
                <a16:creationId xmlns:a16="http://schemas.microsoft.com/office/drawing/2014/main" id="{B960726E-BBA5-E84D-B945-C137CBD6137E}"/>
              </a:ext>
            </a:extLst>
          </p:cNvPr>
          <p:cNvSpPr txBox="1"/>
          <p:nvPr/>
        </p:nvSpPr>
        <p:spPr>
          <a:xfrm>
            <a:off x="949657" y="5558458"/>
            <a:ext cx="8734670" cy="523220"/>
          </a:xfrm>
          <a:prstGeom prst="rect">
            <a:avLst/>
          </a:prstGeom>
          <a:noFill/>
        </p:spPr>
        <p:txBody>
          <a:bodyPr wrap="square" rtlCol="0">
            <a:spAutoFit/>
          </a:bodyPr>
          <a:lstStyle/>
          <a:p>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可以看出：</a:t>
            </a:r>
            <a:r>
              <a:rPr kumimoji="1" lang="zh-CN" altLang="en-US" sz="1400" b="1" dirty="0">
                <a:solidFill>
                  <a:schemeClr val="tx1">
                    <a:lumMod val="75000"/>
                    <a:lumOff val="25000"/>
                  </a:schemeClr>
                </a:solidFill>
                <a:latin typeface="KaiTi" panose="02010609060101010101" pitchFamily="49" charset="-122"/>
                <a:ea typeface="KaiTi" panose="02010609060101010101" pitchFamily="49" charset="-122"/>
                <a:cs typeface="Times New Roman" panose="02020603050405020304" pitchFamily="18" charset="0"/>
              </a:rPr>
              <a:t>（物理的逻辑性</a:t>
            </a:r>
            <a:r>
              <a:rPr kumimoji="1" lang="en-US" altLang="zh-CN" sz="1400" b="1" dirty="0">
                <a:solidFill>
                  <a:schemeClr val="tx1">
                    <a:lumMod val="75000"/>
                    <a:lumOff val="25000"/>
                  </a:schemeClr>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400" b="1" dirty="0">
                <a:solidFill>
                  <a:schemeClr val="tx1">
                    <a:lumMod val="75000"/>
                    <a:lumOff val="25000"/>
                  </a:schemeClr>
                </a:solidFill>
                <a:latin typeface="KaiTi" panose="02010609060101010101" pitchFamily="49" charset="-122"/>
                <a:ea typeface="KaiTi" panose="02010609060101010101" pitchFamily="49" charset="-122"/>
                <a:cs typeface="Times New Roman" panose="02020603050405020304" pitchFamily="18" charset="0"/>
              </a:rPr>
              <a:t>综合性）</a:t>
            </a: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是我们学习的重点，需要注意物理</a:t>
            </a:r>
            <a:r>
              <a:rPr kumimoji="1" lang="zh-CN" altLang="en-US" sz="14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学什么</a:t>
            </a:r>
            <a:r>
              <a:rPr kumimoji="1" lang="en-US" altLang="zh-CN" sz="14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4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考什么</a:t>
            </a:r>
            <a:endParaRPr kumimoji="1" lang="en-US" altLang="zh-CN" sz="1400" b="1" dirty="0">
              <a:solidFill>
                <a:srgbClr val="A41AD4"/>
              </a:solidFill>
              <a:latin typeface="KaiTi" panose="02010609060101010101" pitchFamily="49" charset="-122"/>
              <a:ea typeface="KaiTi" panose="02010609060101010101" pitchFamily="49" charset="-122"/>
              <a:cs typeface="Times New Roman" panose="02020603050405020304" pitchFamily="18" charset="0"/>
            </a:endParaRPr>
          </a:p>
          <a:p>
            <a:r>
              <a:rPr kumimoji="1" lang="zh-CN" altLang="en-US" sz="14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想像优优学姐一样拥有好成绩</a:t>
            </a:r>
            <a:r>
              <a:rPr kumimoji="1" lang="en-US" altLang="zh-CN" sz="14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4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「抓住分析方法</a:t>
            </a:r>
            <a:r>
              <a:rPr kumimoji="1" lang="en-US" altLang="zh-CN" sz="14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a:t>
            </a:r>
            <a:r>
              <a:rPr kumimoji="1" lang="zh-CN" altLang="en-US" sz="1400" b="1" dirty="0">
                <a:solidFill>
                  <a:srgbClr val="A41AD4"/>
                </a:solidFill>
                <a:latin typeface="KaiTi" panose="02010609060101010101" pitchFamily="49" charset="-122"/>
                <a:ea typeface="KaiTi" panose="02010609060101010101" pitchFamily="49" charset="-122"/>
                <a:cs typeface="Times New Roman" panose="02020603050405020304" pitchFamily="18" charset="0"/>
              </a:rPr>
              <a:t>练题方法」才能百战百胜</a:t>
            </a:r>
          </a:p>
        </p:txBody>
      </p:sp>
      <p:sp>
        <p:nvSpPr>
          <p:cNvPr id="20" name="文本框 19">
            <a:extLst>
              <a:ext uri="{FF2B5EF4-FFF2-40B4-BE49-F238E27FC236}">
                <a16:creationId xmlns:a16="http://schemas.microsoft.com/office/drawing/2014/main" id="{571A509C-079E-2746-B3B6-0336A5BDFC25}"/>
              </a:ext>
            </a:extLst>
          </p:cNvPr>
          <p:cNvSpPr txBox="1"/>
          <p:nvPr/>
        </p:nvSpPr>
        <p:spPr>
          <a:xfrm>
            <a:off x="1029994" y="4398983"/>
            <a:ext cx="1553537" cy="276999"/>
          </a:xfrm>
          <a:prstGeom prst="rect">
            <a:avLst/>
          </a:prstGeom>
          <a:solidFill>
            <a:srgbClr val="F9CDCC"/>
          </a:solidFill>
        </p:spPr>
        <p:txBody>
          <a:bodyPr wrap="square" rtlCol="0">
            <a:spAutoFit/>
          </a:bodyPr>
          <a:lstStyle/>
          <a:p>
            <a:r>
              <a:rPr kumimoji="1" lang="zh-CN" altLang="en-US" sz="1200" b="1" dirty="0">
                <a:latin typeface="KaiTi" panose="02010609060101010101" pitchFamily="49" charset="-122"/>
                <a:ea typeface="KaiTi" panose="02010609060101010101" pitchFamily="49" charset="-122"/>
                <a:cs typeface="Times New Roman" panose="02020603050405020304" pitchFamily="18" charset="0"/>
              </a:rPr>
              <a:t>② 物理怎么学</a:t>
            </a:r>
          </a:p>
        </p:txBody>
      </p:sp>
      <p:sp>
        <p:nvSpPr>
          <p:cNvPr id="14" name="文本框 13">
            <a:extLst>
              <a:ext uri="{FF2B5EF4-FFF2-40B4-BE49-F238E27FC236}">
                <a16:creationId xmlns:a16="http://schemas.microsoft.com/office/drawing/2014/main" id="{C5EA3C46-DF57-9E45-AAD0-A6DAAD32EC14}"/>
              </a:ext>
            </a:extLst>
          </p:cNvPr>
          <p:cNvSpPr txBox="1"/>
          <p:nvPr/>
        </p:nvSpPr>
        <p:spPr>
          <a:xfrm>
            <a:off x="2583531" y="3115391"/>
            <a:ext cx="1775109" cy="2308324"/>
          </a:xfrm>
          <a:prstGeom prst="rect">
            <a:avLst/>
          </a:prstGeom>
          <a:noFill/>
        </p:spPr>
        <p:txBody>
          <a:bodyPr wrap="square" rtlCol="0">
            <a:spAutoFit/>
          </a:bodyPr>
          <a:lstStyle/>
          <a:p>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注重</a:t>
            </a:r>
            <a:r>
              <a:rPr kumimoji="1" lang="zh-CN" altLang="en-US" sz="1200" b="1" dirty="0">
                <a:solidFill>
                  <a:srgbClr val="223AAC"/>
                </a:solidFill>
                <a:latin typeface="KaiTi" panose="02010609060101010101" pitchFamily="49" charset="-122"/>
                <a:ea typeface="KaiTi" panose="02010609060101010101" pitchFamily="49" charset="-122"/>
                <a:cs typeface="Times New Roman" panose="02020603050405020304" pitchFamily="18" charset="0"/>
              </a:rPr>
              <a:t>基础概念</a:t>
            </a:r>
          </a:p>
          <a:p>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推导公式原理</a:t>
            </a:r>
            <a:endPar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a:p>
            <a:r>
              <a:rPr kumimoji="1" lang="zh-CN" altLang="en-US" sz="1200" b="1" dirty="0">
                <a:solidFill>
                  <a:srgbClr val="223AAC"/>
                </a:solidFill>
                <a:latin typeface="KaiTi" panose="02010609060101010101" pitchFamily="49" charset="-122"/>
                <a:ea typeface="KaiTi" panose="02010609060101010101" pitchFamily="49" charset="-122"/>
                <a:cs typeface="Times New Roman" panose="02020603050405020304" pitchFamily="18" charset="0"/>
              </a:rPr>
              <a:t>画图分析</a:t>
            </a:r>
            <a:endParaRPr kumimoji="1" lang="en-US" altLang="zh-CN" sz="1200" b="1"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a:p>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动态思考</a:t>
            </a:r>
            <a:endPar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a:p>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题型熟练度</a:t>
            </a:r>
            <a:endPar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a:p>
            <a:endPar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a:p>
            <a:endPar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a:p>
            <a:pPr algn="ctr"/>
            <a:r>
              <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a:t>
            </a:r>
          </a:p>
          <a:p>
            <a:endPar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a:p>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思维导图</a:t>
            </a:r>
            <a:endPar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a:p>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画图、看图、分析图</a:t>
            </a:r>
            <a:endParaRPr kumimoji="1" lang="en-US" altLang="zh-CN" sz="1200" dirty="0">
              <a:solidFill>
                <a:srgbClr val="223AAC"/>
              </a:solidFill>
              <a:latin typeface="KaiTi" panose="02010609060101010101" pitchFamily="49" charset="-122"/>
              <a:ea typeface="KaiTi" panose="02010609060101010101" pitchFamily="49" charset="-122"/>
              <a:cs typeface="Times New Roman" panose="02020603050405020304" pitchFamily="18" charset="0"/>
            </a:endParaRPr>
          </a:p>
          <a:p>
            <a:r>
              <a:rPr kumimoji="1" lang="zh-CN" altLang="en-US" sz="1200" dirty="0">
                <a:solidFill>
                  <a:srgbClr val="223AAC"/>
                </a:solidFill>
                <a:latin typeface="KaiTi" panose="02010609060101010101" pitchFamily="49" charset="-122"/>
                <a:ea typeface="KaiTi" panose="02010609060101010101" pitchFamily="49" charset="-122"/>
                <a:cs typeface="Times New Roman" panose="02020603050405020304" pitchFamily="18" charset="0"/>
              </a:rPr>
              <a:t>精练题型</a:t>
            </a:r>
          </a:p>
        </p:txBody>
      </p:sp>
      <p:sp>
        <p:nvSpPr>
          <p:cNvPr id="16" name="文本框 15">
            <a:extLst>
              <a:ext uri="{FF2B5EF4-FFF2-40B4-BE49-F238E27FC236}">
                <a16:creationId xmlns:a16="http://schemas.microsoft.com/office/drawing/2014/main" id="{70EE2122-CB11-EF49-A323-DC1EBEE820D5}"/>
              </a:ext>
            </a:extLst>
          </p:cNvPr>
          <p:cNvSpPr txBox="1"/>
          <p:nvPr/>
        </p:nvSpPr>
        <p:spPr>
          <a:xfrm>
            <a:off x="249103" y="-986751"/>
            <a:ext cx="9652001" cy="369332"/>
          </a:xfrm>
          <a:prstGeom prst="rect">
            <a:avLst/>
          </a:prstGeom>
          <a:noFill/>
        </p:spPr>
        <p:txBody>
          <a:bodyPr wrap="none" rtlCol="0">
            <a:spAutoFit/>
          </a:bodyPr>
          <a:lstStyle/>
          <a:p>
            <a:r>
              <a:rPr lang="zh-CN" altLang="en-US" dirty="0"/>
              <a:t>①、②、③、④、⑤、⑥、⑦、⑧、⑨、⑩、⑪、⑫、⑬、⑭、⑮、⑯、⑰、⑱、⑲、⑳</a:t>
            </a:r>
            <a:endParaRPr kumimoji="1" lang="zh-CN" altLang="en-US" dirty="0"/>
          </a:p>
        </p:txBody>
      </p:sp>
      <p:sp>
        <p:nvSpPr>
          <p:cNvPr id="22" name="文本框 21">
            <a:extLst>
              <a:ext uri="{FF2B5EF4-FFF2-40B4-BE49-F238E27FC236}">
                <a16:creationId xmlns:a16="http://schemas.microsoft.com/office/drawing/2014/main" id="{2B42A6F2-992D-284E-8F18-F87EDEA91C75}"/>
              </a:ext>
            </a:extLst>
          </p:cNvPr>
          <p:cNvSpPr txBox="1"/>
          <p:nvPr/>
        </p:nvSpPr>
        <p:spPr>
          <a:xfrm>
            <a:off x="8764171" y="6269985"/>
            <a:ext cx="4942702" cy="461665"/>
          </a:xfrm>
          <a:prstGeom prst="rect">
            <a:avLst/>
          </a:prstGeom>
          <a:noFill/>
        </p:spPr>
        <p:txBody>
          <a:bodyPr wrap="square" rtlCol="0">
            <a:spAutoFit/>
          </a:bodyPr>
          <a:lstStyle/>
          <a:p>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优优 清华学姐高考成绩查询页面</a:t>
            </a:r>
            <a:endParaRPr kumimoji="1" lang="en-US" altLang="zh-CN"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endParaRPr>
          </a:p>
          <a:p>
            <a:r>
              <a:rPr kumimoji="1" lang="zh-CN" altLang="en-US" sz="1200" dirty="0">
                <a:solidFill>
                  <a:schemeClr val="tx1">
                    <a:lumMod val="50000"/>
                    <a:lumOff val="50000"/>
                  </a:schemeClr>
                </a:solidFill>
                <a:latin typeface="KaiTi" panose="02010609060101010101" pitchFamily="49" charset="-122"/>
                <a:ea typeface="KaiTi" panose="02010609060101010101" pitchFamily="49" charset="-122"/>
                <a:cs typeface="Times New Roman" panose="02020603050405020304" pitchFamily="18" charset="0"/>
              </a:rPr>
              <a:t>希望你也能收到这样的喜讯！</a:t>
            </a:r>
          </a:p>
        </p:txBody>
      </p:sp>
      <p:pic>
        <p:nvPicPr>
          <p:cNvPr id="21" name="图片 20" descr="图片包含 草, 人, 户外, 女孩&#10;&#10;描述已自动生成">
            <a:extLst>
              <a:ext uri="{FF2B5EF4-FFF2-40B4-BE49-F238E27FC236}">
                <a16:creationId xmlns:a16="http://schemas.microsoft.com/office/drawing/2014/main" id="{E3386503-24EF-5F4B-9853-9E2C013715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27015" y="1903926"/>
            <a:ext cx="2608122" cy="3476740"/>
          </a:xfrm>
          <a:prstGeom prst="rect">
            <a:avLst/>
          </a:prstGeom>
        </p:spPr>
      </p:pic>
    </p:spTree>
    <p:extLst>
      <p:ext uri="{BB962C8B-B14F-4D97-AF65-F5344CB8AC3E}">
        <p14:creationId xmlns:p14="http://schemas.microsoft.com/office/powerpoint/2010/main" val="116525242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WRkMDVjMzAzNmQ3MmQ0M2VhODM2ZTcyYjc4Y2UwNTA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19415</TotalTime>
  <Words>13661</Words>
  <Application>Microsoft Macintosh PowerPoint</Application>
  <PresentationFormat>宽屏</PresentationFormat>
  <Paragraphs>1699</Paragraphs>
  <Slides>91</Slides>
  <Notes>31</Notes>
  <HiddenSlides>0</HiddenSlides>
  <MMClips>0</MMClips>
  <ScaleCrop>false</ScaleCrop>
  <HeadingPairs>
    <vt:vector size="8" baseType="variant">
      <vt:variant>
        <vt:lpstr>已用的字体</vt:lpstr>
      </vt:variant>
      <vt:variant>
        <vt:i4>8</vt:i4>
      </vt:variant>
      <vt:variant>
        <vt:lpstr>主题</vt:lpstr>
      </vt:variant>
      <vt:variant>
        <vt:i4>2</vt:i4>
      </vt:variant>
      <vt:variant>
        <vt:lpstr>嵌入 OLE 服务器</vt:lpstr>
      </vt:variant>
      <vt:variant>
        <vt:i4>1</vt:i4>
      </vt:variant>
      <vt:variant>
        <vt:lpstr>幻灯片标题</vt:lpstr>
      </vt:variant>
      <vt:variant>
        <vt:i4>91</vt:i4>
      </vt:variant>
    </vt:vector>
  </HeadingPairs>
  <TitlesOfParts>
    <vt:vector size="102" baseType="lpstr">
      <vt:lpstr>等线</vt:lpstr>
      <vt:lpstr>等线 Light</vt:lpstr>
      <vt:lpstr>楷体</vt:lpstr>
      <vt:lpstr>KaiTi</vt:lpstr>
      <vt:lpstr>TimesNewRomanPS-BoldMT</vt:lpstr>
      <vt:lpstr>Arial</vt:lpstr>
      <vt:lpstr>Times New Roman</vt:lpstr>
      <vt:lpstr>Wingdings</vt:lpstr>
      <vt:lpstr>Office 主题​​</vt:lpstr>
      <vt:lpstr>1_Office 主题​​</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yufei zhang</dc:creator>
  <cp:lastModifiedBy>charlotte wu</cp:lastModifiedBy>
  <cp:revision>299</cp:revision>
  <dcterms:created xsi:type="dcterms:W3CDTF">2024-01-01T22:59:00Z</dcterms:created>
  <dcterms:modified xsi:type="dcterms:W3CDTF">2025-03-19T14:43:45Z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0AB5E3226DEF47F5B09FD4CBAD1E6851_12</vt:lpwstr>
  </property>
  <property fmtid="{D5CDD505-2E9C-101B-9397-08002B2CF9AE}" pid="3" name="KSOProductBuildVer">
    <vt:lpwstr>2052-12.1.0.16388</vt:lpwstr>
  </property>
</Properties>
</file>