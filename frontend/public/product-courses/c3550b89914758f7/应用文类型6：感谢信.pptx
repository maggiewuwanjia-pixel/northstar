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 Id="rId5" Type="http://schemas.openxmlformats.org/officeDocument/2006/relationships/custom-properties" Target="docProps/custom.xml" /></Relationships>
</file>

<file path=ppt/presentation.xml><?xml version="1.0" encoding="utf-8"?>
<!--Generated by Aspose.Slides for Java 23.3-->
<p:presentation xmlns:r="http://schemas.openxmlformats.org/officeDocument/2006/relationships" xmlns:a="http://schemas.openxmlformats.org/drawingml/2006/main" xmlns:p="http://schemas.openxmlformats.org/presentationml/2006/main">
  <p:sldMasterIdLst>
    <p:sldMasterId id="2147483648" r:id="rId1"/>
  </p:sldMasterIdLst>
  <p:notesMasterIdLst>
    <p:notesMasterId r:id="rId2"/>
  </p:notesMasterIdLst>
  <p:sldIdLst>
    <p:sldId id="267" r:id="rId3"/>
    <p:sldId id="257" r:id="rId4"/>
    <p:sldId id="258" r:id="rId5"/>
    <p:sldId id="259" r:id="rId6"/>
    <p:sldId id="260" r:id="rId7"/>
    <p:sldId id="261" r:id="rId8"/>
    <p:sldId id="262" r:id="rId9"/>
    <p:sldId id="263" r:id="rId10"/>
    <p:sldId id="264" r:id="rId11"/>
    <p:sldId id="265" r:id="rId12"/>
    <p:sldId id="266" r:id="rId13"/>
  </p:sldIdLst>
  <p:sldSz cx="12192000" cy="6858000"/>
  <p:notesSz cx="6858000" cy="9144000"/>
  <p:custDataLst>
    <p:tags r:id="rId1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fill>
          <a:solidFill>
            <a:schemeClr val="accent1">
              <a:tint val="40000"/>
            </a:schemeClr>
          </a:solidFill>
        </a:fill>
      </a:tcStyle>
    </a:band1H>
    <a:band1V>
      <a:tcStyle>
        <a:fill>
          <a:solidFill>
            <a:schemeClr val="accent1">
              <a:tint val="40000"/>
            </a:schemeClr>
          </a:solidFill>
        </a:fill>
      </a:tcStyle>
    </a:band1V>
    <a:lastCol>
      <a:tcTxStyle b="on">
        <a:fontRef idx="minor">
          <a:prstClr val="black"/>
        </a:fontRef>
        <a:schemeClr val="lt1"/>
      </a:tcTxStyle>
      <a:tcStyle>
        <a:fill>
          <a:solidFill>
            <a:schemeClr val="accent1"/>
          </a:solidFill>
        </a:fill>
      </a:tcStyle>
    </a:lastCol>
    <a:firstCol>
      <a:tcTxStyle b="on">
        <a:fontRef idx="minor">
          <a:prstClr val="black"/>
        </a:fontRef>
        <a:schemeClr val="lt1"/>
      </a:tcTxStyle>
      <a:tcStyle>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tags" Target="tags/tag1.xml" /><Relationship Id="rId15" Type="http://schemas.openxmlformats.org/officeDocument/2006/relationships/presProps" Target="presProps.xml" /><Relationship Id="rId16" Type="http://schemas.openxmlformats.org/officeDocument/2006/relationships/viewProps" Target="viewProps.xml" /><Relationship Id="rId17" Type="http://schemas.openxmlformats.org/officeDocument/2006/relationships/theme" Target="theme/theme1.xml" /><Relationship Id="rId18" Type="http://schemas.openxmlformats.org/officeDocument/2006/relationships/tableStyles" Target="tableStyles.xml" /><Relationship Id="rId2" Type="http://schemas.openxmlformats.org/officeDocument/2006/relationships/notesMaster" Target="notesMasters/notesMaster1.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s>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nvGrpSpPr>
      <p:grpSpPr>
        <a:xfrm>
          <a:off x="0" y="0"/>
          <a: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&#65279;<?xml version="1.0" encoding="utf-8" standalone="yes"?><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4.xml.rels>&#65279;<?xml version="1.0" encoding="utf-8" standalone="yes"?><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5.xml.rels>&#65279;<?xml version="1.0" encoding="utf-8" standalone="yes"?><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6.xml.rels>&#65279;<?xml version="1.0" encoding="utf-8" standalone="yes"?><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7.xml.rels>&#65279;<?xml version="1.0" encoding="utf-8" standalone="yes"?><Relationships xmlns="http://schemas.openxmlformats.org/package/2006/relationships"><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8.xml.rels>&#65279;<?xml version="1.0" encoding="utf-8" standalone="yes"?><Relationships xmlns="http://schemas.openxmlformats.org/package/2006/relationships"><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9.xml.rels>&#65279;<?xml version="1.0" encoding="utf-8" standalone="yes"?><Relationships xmlns="http://schemas.openxmlformats.org/package/2006/relationships"><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10.xml.rels>&#65279;<?xml version="1.0" encoding="utf-8" standalone="yes"?><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11.xml.rels>&#65279;<?xml version="1.0" encoding="utf-8" standalone="yes"?><Relationships xmlns="http://schemas.openxmlformats.org/package/2006/relationships"><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空白">
    <p:spTree>
      <p:nvGrpSpPr>
        <p:cNvPr id="1" name=""/>
        <p:cNvGrpSpPr/>
        <p:nvPr/>
      </p:nvGrpSpPr>
      <p:grpSpPr>
        <a:xfrm>
          <a:off x="0" y="0"/>
          <a:ext cx="0" cy="0"/>
        </a:xfrm>
      </p:grpSpPr>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file:///D:\qq&#25991;&#20214;\712321467\Image\C2C\Image2\%7b75232B38-A165-1FB7-499C-2E1C792CACB5%7d.png" TargetMode="External" /><Relationship Id="rId3" Type="http://schemas.openxmlformats.org/officeDocument/2006/relationships/image" Target="../media/image1.png" /><Relationship Id="rId4" Type="http://schemas.openxmlformats.org/officeDocument/2006/relationships/image" Target="../media/image2.jpeg" /><Relationship Id="rId5"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p:cSld>
    <p:bg>
      <p:bgPr>
        <a:blipFill rotWithShape="0">
          <a:blip r:embed="rId4"/>
          <a:stretch>
            <a:fillRect/>
          </a:stretch>
        </a:blipFill>
        <a:effectLst/>
      </p:bgPr>
    </p:bg>
    <p:spTree>
      <p:nvGrpSpPr>
        <p:cNvPr id="1" name=""/>
        <p:cNvGrpSpPr/>
        <p:nvPr/>
      </p:nvGrpSpPr>
      <p:grpSpPr>
        <a:xfrm>
          <a:off x="0" y="0"/>
          <a:ext cx="0" cy="0"/>
        </a:xfrm>
      </p:grpSpPr>
      <p:pic>
        <p:nvPicPr>
          <p:cNvPr id="2" name="图片 1073743875" descr="学科网 zxxk.com" title=""/>
          <p:cNvPicPr>
            <a:picLocks noChangeAspect="1"/>
          </p:cNvPicPr>
          <p:nvPr/>
        </p:nvPicPr>
        <p:blipFill>
          <a:blip r:embed="rId3" r:link="rId2"/>
          <a:stretch>
            <a:fillRect/>
          </a:stretch>
        </p:blipFill>
        <p:spPr>
          <a:xfrm>
            <a:off x="838200" y="365125"/>
            <a:ext cx="9525" cy="9525"/>
          </a:xfrm>
          <a:prstGeom prst="rect">
            <a:avLst/>
          </a:prstGeom>
          <a:noFill/>
          <a:ln>
            <a:noFill/>
            <a:miter lim="800000"/>
          </a:ln>
        </p:spPr>
      </p:pic>
    </p:spTree>
  </p:cSld>
  <p:clrMap bg1="lt1" tx1="dk1" bg2="lt2" tx2="dk2" accent1="accent1" accent2="accent2" accent3="accent3" accent4="accent4" accent5="accent5" accent6="accent6" hlink="hlink" folHlink="folHlink"/>
  <p:sldLayoutIdLst>
    <p:sldLayoutId id="2147483649" r:id="rId1"/>
  </p:sldLayoutIdLst>
  <p:transition/>
  <p:timing/>
  <p:txStyles>
    <p:titleStyle>
      <a:lvl1pPr algn="l" rtl="0" eaLnBrk="0" fontAlgn="base" hangingPunct="0">
        <a:lnSpc>
          <a:spcPct val="90000"/>
        </a:lnSpc>
        <a:spcBef>
          <a:spcPct val="0"/>
        </a:spcBef>
        <a:spcAft>
          <a:spcPct val="0"/>
        </a:spcAft>
        <a:defRPr sz="4395">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7pPr>
      <a:lvl8pPr marL="1370965" algn="l" rtl="0" fontAlgn="base">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8pPr>
      <a:lvl9pPr marL="1828165" algn="l" rtl="0" fontAlgn="base">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9pPr>
    </p:titleStyle>
    <p:bodyStyle>
      <a:lvl1pPr marL="228600" indent="-228600" algn="l" rtl="0" eaLnBrk="0" fontAlgn="base" hangingPunct="0">
        <a:lnSpc>
          <a:spcPct val="90000"/>
        </a:lnSpc>
        <a:spcBef>
          <a:spcPct val="198000"/>
        </a:spcBef>
        <a:spcAft>
          <a:spcPct val="0"/>
        </a:spcAft>
        <a:buFont typeface="Arial" panose="020b0604020202020204" pitchFamily="34" charset="0"/>
        <a:buChar char="•"/>
        <a:defRPr sz="2840">
          <a:solidFill>
            <a:schemeClr val="tx1"/>
          </a:solidFill>
          <a:latin typeface="+mn-lt"/>
          <a:ea typeface="+mn-ea"/>
          <a:cs typeface="+mn-cs"/>
        </a:defRPr>
      </a:lvl1pPr>
      <a:lvl2pPr marL="685165" indent="-228600" algn="l" rtl="0" eaLnBrk="0" fontAlgn="base" hangingPunct="0">
        <a:lnSpc>
          <a:spcPct val="90000"/>
        </a:lnSpc>
        <a:spcBef>
          <a:spcPct val="100000"/>
        </a:spcBef>
        <a:spcAft>
          <a:spcPct val="0"/>
        </a:spcAft>
        <a:buFont typeface="Arial" panose="020b0604020202020204" pitchFamily="34" charset="0"/>
        <a:buChar char="•"/>
        <a:defRPr sz="2380">
          <a:solidFill>
            <a:schemeClr val="tx1"/>
          </a:solidFill>
          <a:latin typeface="+mn-lt"/>
          <a:ea typeface="+mn-ea"/>
        </a:defRPr>
      </a:lvl2pPr>
      <a:lvl3pPr marL="1144270" indent="-229870" algn="l" rtl="0" eaLnBrk="0" fontAlgn="base" hangingPunct="0">
        <a:lnSpc>
          <a:spcPct val="90000"/>
        </a:lnSpc>
        <a:spcBef>
          <a:spcPct val="100000"/>
        </a:spcBef>
        <a:spcAft>
          <a:spcPct val="0"/>
        </a:spcAft>
        <a:buFont typeface="Arial" panose="020b0604020202020204" pitchFamily="34" charset="0"/>
        <a:buChar char="•"/>
        <a:defRPr sz="2105">
          <a:solidFill>
            <a:schemeClr val="tx1"/>
          </a:solidFill>
          <a:latin typeface="+mn-lt"/>
          <a:ea typeface="+mn-ea"/>
        </a:defRPr>
      </a:lvl3pPr>
      <a:lvl4pPr marL="1598930" indent="-228600" algn="l" rtl="0" eaLnBrk="0" fontAlgn="base" hangingPunct="0">
        <a:lnSpc>
          <a:spcPct val="90000"/>
        </a:lnSpc>
        <a:spcBef>
          <a:spcPct val="100000"/>
        </a:spcBef>
        <a:spcAft>
          <a:spcPct val="0"/>
        </a:spcAft>
        <a:buFont typeface="Arial" panose="020b0604020202020204" pitchFamily="34" charset="0"/>
        <a:buChar char="•"/>
        <a:defRPr>
          <a:solidFill>
            <a:schemeClr val="tx1"/>
          </a:solidFill>
          <a:latin typeface="+mn-lt"/>
          <a:ea typeface="+mn-ea"/>
        </a:defRPr>
      </a:lvl4pPr>
      <a:lvl5pPr marL="2056130" indent="-229870" algn="l" rtl="0" eaLnBrk="0" fontAlgn="base" hangingPunct="0">
        <a:lnSpc>
          <a:spcPct val="90000"/>
        </a:lnSpc>
        <a:spcBef>
          <a:spcPct val="100000"/>
        </a:spcBef>
        <a:spcAft>
          <a:spcPct val="0"/>
        </a:spcAft>
        <a:buFont typeface="Arial" panose="020b0604020202020204" pitchFamily="34" charset="0"/>
        <a:buChar char="•"/>
        <a:defRPr>
          <a:solidFill>
            <a:schemeClr val="tx1"/>
          </a:solidFill>
          <a:latin typeface="+mn-lt"/>
          <a:ea typeface="+mn-ea"/>
        </a:defRPr>
      </a:lvl5pPr>
      <a:lvl6pPr marL="2512695" indent="-229870" algn="l" rtl="0" fontAlgn="base">
        <a:lnSpc>
          <a:spcPct val="90000"/>
        </a:lnSpc>
        <a:spcBef>
          <a:spcPct val="100000"/>
        </a:spcBef>
        <a:spcAft>
          <a:spcPct val="0"/>
        </a:spcAft>
        <a:buFont typeface="Arial" panose="020b0604020202020204" pitchFamily="34" charset="0"/>
        <a:buChar char="•"/>
        <a:defRPr>
          <a:solidFill>
            <a:schemeClr val="tx1"/>
          </a:solidFill>
          <a:latin typeface="+mn-lt"/>
          <a:ea typeface="+mn-ea"/>
        </a:defRPr>
      </a:lvl6pPr>
      <a:lvl7pPr marL="2970530" indent="-229870" algn="l" rtl="0" fontAlgn="base">
        <a:lnSpc>
          <a:spcPct val="90000"/>
        </a:lnSpc>
        <a:spcBef>
          <a:spcPct val="100000"/>
        </a:spcBef>
        <a:spcAft>
          <a:spcPct val="0"/>
        </a:spcAft>
        <a:buFont typeface="Arial" panose="020b0604020202020204" pitchFamily="34" charset="0"/>
        <a:buChar char="•"/>
        <a:defRPr>
          <a:solidFill>
            <a:schemeClr val="tx1"/>
          </a:solidFill>
          <a:latin typeface="+mn-lt"/>
          <a:ea typeface="+mn-ea"/>
        </a:defRPr>
      </a:lvl7pPr>
      <a:lvl8pPr marL="3427095" indent="-229870" algn="l" rtl="0" fontAlgn="base">
        <a:lnSpc>
          <a:spcPct val="90000"/>
        </a:lnSpc>
        <a:spcBef>
          <a:spcPct val="100000"/>
        </a:spcBef>
        <a:spcAft>
          <a:spcPct val="0"/>
        </a:spcAft>
        <a:buFont typeface="Arial" panose="020b0604020202020204" pitchFamily="34" charset="0"/>
        <a:buChar char="•"/>
        <a:defRPr>
          <a:solidFill>
            <a:schemeClr val="tx1"/>
          </a:solidFill>
          <a:latin typeface="+mn-lt"/>
          <a:ea typeface="+mn-ea"/>
        </a:defRPr>
      </a:lvl8pPr>
      <a:lvl9pPr marL="3883660" indent="-229870" algn="l" rtl="0" fontAlgn="base">
        <a:lnSpc>
          <a:spcPct val="90000"/>
        </a:lnSpc>
        <a:spcBef>
          <a:spcPct val="100000"/>
        </a:spcBef>
        <a:spcAft>
          <a:spcPct val="0"/>
        </a:spcAft>
        <a:buFont typeface="Arial" panose="020b0604020202020204" pitchFamily="34" charset="0"/>
        <a:buChar char="•"/>
        <a:defRPr>
          <a:solidFill>
            <a:schemeClr val="tx1"/>
          </a:solidFill>
          <a:latin typeface="+mn-lt"/>
          <a:ea typeface="+mn-ea"/>
        </a:defRPr>
      </a:lvl9pPr>
    </p:bodyStyle>
    <p:otherStyle>
      <a:defPPr>
        <a:defRPr lang="zh-CN"/>
      </a:defPPr>
      <a:lvl1pPr marL="0" algn="l" defTabSz="913765" rtl="0" eaLnBrk="1" latinLnBrk="0" hangingPunct="1">
        <a:defRPr sz="1830" kern="1200">
          <a:solidFill>
            <a:schemeClr val="tx1"/>
          </a:solidFill>
          <a:latin typeface="+mn-lt"/>
          <a:ea typeface="+mn-ea"/>
          <a:cs typeface="+mn-cs"/>
        </a:defRPr>
      </a:lvl1pPr>
      <a:lvl2pPr marL="456565" algn="l" defTabSz="913765" rtl="0" eaLnBrk="1" latinLnBrk="0" hangingPunct="1">
        <a:defRPr sz="1830" kern="1200">
          <a:solidFill>
            <a:schemeClr val="tx1"/>
          </a:solidFill>
          <a:latin typeface="+mn-lt"/>
          <a:ea typeface="+mn-ea"/>
          <a:cs typeface="+mn-cs"/>
        </a:defRPr>
      </a:lvl2pPr>
      <a:lvl3pPr marL="913765" algn="l" defTabSz="913765" rtl="0" eaLnBrk="1" latinLnBrk="0" hangingPunct="1">
        <a:defRPr sz="1830" kern="1200">
          <a:solidFill>
            <a:schemeClr val="tx1"/>
          </a:solidFill>
          <a:latin typeface="+mn-lt"/>
          <a:ea typeface="+mn-ea"/>
          <a:cs typeface="+mn-cs"/>
        </a:defRPr>
      </a:lvl3pPr>
      <a:lvl4pPr marL="1370330" algn="l" defTabSz="913765" rtl="0" eaLnBrk="1" latinLnBrk="0" hangingPunct="1">
        <a:defRPr sz="1830" kern="1200">
          <a:solidFill>
            <a:schemeClr val="tx1"/>
          </a:solidFill>
          <a:latin typeface="+mn-lt"/>
          <a:ea typeface="+mn-ea"/>
          <a:cs typeface="+mn-cs"/>
        </a:defRPr>
      </a:lvl4pPr>
      <a:lvl5pPr marL="1827530" algn="l" defTabSz="913765" rtl="0" eaLnBrk="1" latinLnBrk="0" hangingPunct="1">
        <a:defRPr sz="1830" kern="1200">
          <a:solidFill>
            <a:schemeClr val="tx1"/>
          </a:solidFill>
          <a:latin typeface="+mn-lt"/>
          <a:ea typeface="+mn-ea"/>
          <a:cs typeface="+mn-cs"/>
        </a:defRPr>
      </a:lvl5pPr>
      <a:lvl6pPr marL="2284095" algn="l" defTabSz="913765" rtl="0" eaLnBrk="1" latinLnBrk="0" hangingPunct="1">
        <a:defRPr sz="1830" kern="1200">
          <a:solidFill>
            <a:schemeClr val="tx1"/>
          </a:solidFill>
          <a:latin typeface="+mn-lt"/>
          <a:ea typeface="+mn-ea"/>
          <a:cs typeface="+mn-cs"/>
        </a:defRPr>
      </a:lvl6pPr>
      <a:lvl7pPr marL="2741295" algn="l" defTabSz="913765" rtl="0" eaLnBrk="1" latinLnBrk="0" hangingPunct="1">
        <a:defRPr sz="1830" kern="1200">
          <a:solidFill>
            <a:schemeClr val="tx1"/>
          </a:solidFill>
          <a:latin typeface="+mn-lt"/>
          <a:ea typeface="+mn-ea"/>
          <a:cs typeface="+mn-cs"/>
        </a:defRPr>
      </a:lvl7pPr>
      <a:lvl8pPr marL="3198495" algn="l" defTabSz="913765" rtl="0" eaLnBrk="1" latinLnBrk="0" hangingPunct="1">
        <a:defRPr sz="1830" kern="1200">
          <a:solidFill>
            <a:schemeClr val="tx1"/>
          </a:solidFill>
          <a:latin typeface="+mn-lt"/>
          <a:ea typeface="+mn-ea"/>
          <a:cs typeface="+mn-cs"/>
        </a:defRPr>
      </a:lvl8pPr>
      <a:lvl9pPr marL="3655060" algn="l" defTabSz="913765" rtl="0" eaLnBrk="1" latinLnBrk="0" hangingPunct="1">
        <a:defRPr sz="183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xml" /><Relationship Id="rId3" Type="http://schemas.openxmlformats.org/officeDocument/2006/relationships/image" Target="../media/image3.jpeg"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1.xml" /><Relationship Id="rId3" Type="http://schemas.openxmlformats.org/officeDocument/2006/relationships/image" Target="../media/image4.png"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blipFill rotWithShape="1">
          <a:blip r:embed="rId3"/>
          <a:stretch>
            <a:fillRect/>
          </a:stretch>
        </a:blipFill>
        <a:effectLst/>
      </p:bgPr>
    </p:bg>
    <p:spTree>
      <p:nvGrpSpPr>
        <p:cNvPr id="1" name=""/>
        <p:cNvGrpSpPr/>
        <p:nvPr/>
      </p:nvGrpSpPr>
      <p:grpSpPr>
        <a:xfrm>
          <a:off x="0" y="0"/>
          <a:ext cx="0" cy="0"/>
        </a:xfrm>
      </p:grpSpPr>
      <p:sp>
        <p:nvSpPr>
          <p:cNvPr id="2" name="TextBox 1" title=""/>
          <p:cNvSpPr txBox="1"/>
          <p:nvPr/>
        </p:nvSpPr>
        <p:spPr>
          <a:xfrm>
            <a:off x="123677" y="1873419"/>
            <a:ext cx="11701662" cy="1938020"/>
          </a:xfrm>
          <a:prstGeom prst="rect">
            <a:avLst/>
          </a:prstGeom>
          <a:noFill/>
        </p:spPr>
        <p:txBody>
          <a:bodyPr wrap="square" rtlCol="0">
            <a:spAutoFit/>
          </a:bodyPr>
          <a:lstStyle/>
          <a:p>
            <a:pPr algn="ctr">
              <a:lnSpc>
                <a:spcPct val="150000"/>
              </a:lnSpc>
              <a:spcAft>
                <a:spcPct val="0"/>
              </a:spcAft>
            </a:pPr>
            <a:r>
              <a:rPr lang="zh-CN" altLang="zh-CN" sz="4000" kern="100">
                <a:latin typeface="Times New Roman" panose="02020603050405020304" pitchFamily="18" charset="0"/>
                <a:ea typeface="宋体" panose="02010600030101010101" pitchFamily="2" charset="-122"/>
              </a:rPr>
              <a:t>感谢信</a:t>
            </a:r>
            <a:endParaRPr lang="zh-CN" altLang="zh-CN" sz="4000" kern="100">
              <a:latin typeface="Times New Roman" panose="02020603050405020304" pitchFamily="18" charset="0"/>
              <a:ea typeface="宋体" panose="02010600030101010101" pitchFamily="2" charset="-122"/>
            </a:endParaRPr>
          </a:p>
          <a:p>
            <a:pPr algn="ctr">
              <a:lnSpc>
                <a:spcPct val="150000"/>
              </a:lnSpc>
              <a:spcAft>
                <a:spcPct val="0"/>
              </a:spcAft>
            </a:pPr>
            <a:endParaRPr lang="zh-CN" altLang="zh-CN" sz="40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5285105"/>
          </a:xfrm>
          <a:prstGeom prst="rect">
            <a:avLst/>
          </a:prstGeom>
          <a:noFill/>
        </p:spPr>
        <p:txBody>
          <a:bodyPr wrap="square" rtlCol="0">
            <a:spAutoFit/>
          </a:bodyPr>
          <a:lstStyle/>
          <a:p>
            <a:pPr algn="ctr">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【试题探究】</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假定你是李华</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经常帮助你学习英语的朋友</a:t>
            </a:r>
            <a:r>
              <a:rPr lang="en-US" altLang="zh-CN" sz="2500" kern="100">
                <a:latin typeface="Times New Roman" panose="02020603050405020304" pitchFamily="18" charset="0"/>
                <a:ea typeface="宋体" panose="02010600030101010101" pitchFamily="2" charset="-122"/>
              </a:rPr>
              <a:t>Alex</a:t>
            </a:r>
            <a:r>
              <a:rPr lang="zh-CN" altLang="zh-CN" sz="2500" kern="100">
                <a:latin typeface="Times New Roman" panose="02020603050405020304" pitchFamily="18" charset="0"/>
                <a:ea typeface="宋体" panose="02010600030101010101" pitchFamily="2" charset="-122"/>
              </a:rPr>
              <a:t>即将返回自己的国家。请你写一封邮件</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内容包括</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1. </a:t>
            </a:r>
            <a:r>
              <a:rPr lang="zh-CN" altLang="zh-CN" sz="2500" kern="100">
                <a:latin typeface="Times New Roman" panose="02020603050405020304" pitchFamily="18" charset="0"/>
                <a:ea typeface="宋体" panose="02010600030101010101" pitchFamily="2" charset="-122"/>
              </a:rPr>
              <a:t>表示感谢</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2. </a:t>
            </a:r>
            <a:r>
              <a:rPr lang="zh-CN" altLang="zh-CN" sz="2500" kern="100">
                <a:latin typeface="Times New Roman" panose="02020603050405020304" pitchFamily="18" charset="0"/>
                <a:ea typeface="宋体" panose="02010600030101010101" pitchFamily="2" charset="-122"/>
              </a:rPr>
              <a:t>回顾</a:t>
            </a:r>
            <a:r>
              <a:rPr lang="en-US" altLang="zh-CN" sz="2500" kern="100">
                <a:latin typeface="Times New Roman" panose="02020603050405020304" pitchFamily="18" charset="0"/>
                <a:ea typeface="宋体" panose="02010600030101010101" pitchFamily="2" charset="-122"/>
              </a:rPr>
              <a:t>Alex</a:t>
            </a:r>
            <a:r>
              <a:rPr lang="zh-CN" altLang="zh-CN" sz="2500" kern="100">
                <a:latin typeface="Times New Roman" panose="02020603050405020304" pitchFamily="18" charset="0"/>
                <a:ea typeface="宋体" panose="02010600030101010101" pitchFamily="2" charset="-122"/>
              </a:rPr>
              <a:t>对你的帮助</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3. </a:t>
            </a:r>
            <a:r>
              <a:rPr lang="zh-CN" altLang="zh-CN" sz="2500" kern="100">
                <a:latin typeface="Times New Roman" panose="02020603050405020304" pitchFamily="18" charset="0"/>
                <a:ea typeface="宋体" panose="02010600030101010101" pitchFamily="2" charset="-122"/>
              </a:rPr>
              <a:t>临别祝愿。</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注意</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1. </a:t>
            </a:r>
            <a:r>
              <a:rPr lang="zh-CN" altLang="zh-CN" sz="2500" kern="100">
                <a:latin typeface="Times New Roman" panose="02020603050405020304" pitchFamily="18" charset="0"/>
                <a:ea typeface="宋体" panose="02010600030101010101" pitchFamily="2" charset="-122"/>
              </a:rPr>
              <a:t>写作词数应为</a:t>
            </a:r>
            <a:r>
              <a:rPr lang="en-US" altLang="zh-CN" sz="2500" kern="100">
                <a:latin typeface="Times New Roman" panose="02020603050405020304" pitchFamily="18" charset="0"/>
                <a:ea typeface="宋体" panose="02010600030101010101" pitchFamily="2" charset="-122"/>
              </a:rPr>
              <a:t>80</a:t>
            </a:r>
            <a:r>
              <a:rPr lang="zh-CN" altLang="zh-CN" sz="2500" kern="100">
                <a:latin typeface="Times New Roman" panose="02020603050405020304" pitchFamily="18" charset="0"/>
                <a:ea typeface="宋体" panose="02010600030101010101" pitchFamily="2" charset="-122"/>
              </a:rPr>
              <a:t>个左右</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2. </a:t>
            </a:r>
            <a:r>
              <a:rPr lang="zh-CN" altLang="zh-CN" sz="2500" kern="100">
                <a:latin typeface="Times New Roman" panose="02020603050405020304" pitchFamily="18" charset="0"/>
                <a:ea typeface="宋体" panose="02010600030101010101" pitchFamily="2" charset="-122"/>
              </a:rPr>
              <a:t>可以适当增加细节</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以使行文连贯。</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668020"/>
          </a:xfrm>
          <a:prstGeom prst="rect">
            <a:avLst/>
          </a:prstGeom>
          <a:noFill/>
        </p:spPr>
        <p:txBody>
          <a:bodyPr wrap="square" rtlCol="0">
            <a:spAutoFit/>
          </a:bodyPr>
          <a:lstStyle/>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Step</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1</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审题布局</a:t>
            </a:r>
            <a:endParaRPr lang="zh-CN" altLang="zh-CN" sz="2500" kern="100">
              <a:latin typeface="Times New Roman" panose="02020603050405020304" pitchFamily="18" charset="0"/>
              <a:ea typeface="宋体" panose="02010600030101010101" pitchFamily="2" charset="-122"/>
            </a:endParaRPr>
          </a:p>
        </p:txBody>
      </p:sp>
      <p:graphicFrame>
        <p:nvGraphicFramePr>
          <p:cNvPr id="4" name="表格 3" title=""/>
          <p:cNvGraphicFramePr>
            <a:graphicFrameLocks noGrp="1"/>
          </p:cNvGraphicFramePr>
          <p:nvPr/>
        </p:nvGraphicFramePr>
        <p:xfrm>
          <a:off x="977664" y="1682345"/>
          <a:ext cx="10408285" cy="3206750"/>
        </p:xfrm>
        <a:graphic>
          <a:graphicData uri="http://schemas.openxmlformats.org/drawingml/2006/table">
            <a:tbl>
              <a:tblPr firstRow="1" firstCol="1" bandRow="1"/>
              <a:tblGrid>
                <a:gridCol w="1354455"/>
                <a:gridCol w="9053830"/>
              </a:tblGrid>
              <a:tr h="608330">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人称</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vert="horz" wrap="square"/>
                    <a:lstStyle/>
                    <a:p>
                      <a:pPr algn="just">
                        <a:lnSpc>
                          <a:spcPct val="150000"/>
                        </a:lnSpc>
                        <a:spcAft>
                          <a:spcPct val="0"/>
                        </a:spcAft>
                      </a:pPr>
                      <a:r>
                        <a:rPr lang="zh-CN" sz="2500" kern="100">
                          <a:effectLst/>
                          <a:latin typeface="Times New Roman" panose="02020603050405020304" pitchFamily="18" charset="0"/>
                          <a:ea typeface="宋体" panose="02010600030101010101" pitchFamily="2" charset="-122"/>
                        </a:rPr>
                        <a:t>第一人称</a:t>
                      </a:r>
                      <a:r>
                        <a:rPr lang="en-US" sz="2500" kern="100">
                          <a:effectLst/>
                          <a:latin typeface="Times New Roman" panose="02020603050405020304" pitchFamily="18" charset="0"/>
                          <a:ea typeface="宋体" panose="02010600030101010101" pitchFamily="2" charset="-122"/>
                        </a:rPr>
                        <a:t>(I)</a:t>
                      </a:r>
                      <a:r>
                        <a:rPr lang="zh-CN" sz="2500" kern="100">
                          <a:effectLst/>
                          <a:latin typeface="Times New Roman" panose="02020603050405020304" pitchFamily="18" charset="0"/>
                          <a:ea typeface="宋体" panose="02010600030101010101" pitchFamily="2" charset="-122"/>
                        </a:rPr>
                        <a:t>为主</a:t>
                      </a:r>
                      <a:r>
                        <a:rPr lang="en-US" sz="2500" kern="100">
                          <a:effectLst/>
                          <a:latin typeface="Times New Roman" panose="02020603050405020304" pitchFamily="18" charset="0"/>
                          <a:ea typeface="宋体" panose="02010600030101010101" pitchFamily="2" charset="-122"/>
                        </a:rPr>
                        <a:t>, </a:t>
                      </a:r>
                      <a:r>
                        <a:rPr lang="zh-CN" sz="2500" kern="100">
                          <a:effectLst/>
                          <a:latin typeface="Times New Roman" panose="02020603050405020304" pitchFamily="18" charset="0"/>
                          <a:ea typeface="宋体" panose="02010600030101010101" pitchFamily="2" charset="-122"/>
                        </a:rPr>
                        <a:t>第二人称</a:t>
                      </a:r>
                      <a:r>
                        <a:rPr lang="en-US" sz="2500" kern="100">
                          <a:effectLst/>
                          <a:latin typeface="Times New Roman" panose="02020603050405020304" pitchFamily="18" charset="0"/>
                          <a:ea typeface="宋体" panose="02010600030101010101" pitchFamily="2" charset="-122"/>
                        </a:rPr>
                        <a:t>(you)</a:t>
                      </a:r>
                      <a:r>
                        <a:rPr lang="zh-CN" sz="2500" kern="100">
                          <a:effectLst/>
                          <a:latin typeface="Times New Roman" panose="02020603050405020304" pitchFamily="18" charset="0"/>
                          <a:ea typeface="宋体" panose="02010600030101010101" pitchFamily="2" charset="-122"/>
                        </a:rPr>
                        <a:t>为辅</a:t>
                      </a:r>
                      <a:endParaRPr lang="zh-CN" sz="2500" kern="100">
                        <a:effectLst/>
                        <a:latin typeface="Times New Roman" panose="02020603050405020304" pitchFamily="18" charset="0"/>
                        <a:ea typeface="宋体" panose="02010600030101010101" pitchFamily="2" charset="-122"/>
                      </a:endParaRPr>
                    </a:p>
                  </a:txBody>
                  <a:tcPr marL="61032" marR="610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8965">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时态</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vert="horz" wrap="square"/>
                    <a:lstStyle/>
                    <a:p>
                      <a:pPr algn="just">
                        <a:lnSpc>
                          <a:spcPct val="150000"/>
                        </a:lnSpc>
                        <a:spcAft>
                          <a:spcPct val="0"/>
                        </a:spcAft>
                      </a:pPr>
                      <a:r>
                        <a:rPr lang="zh-CN" sz="2500" kern="100">
                          <a:effectLst/>
                          <a:latin typeface="Times New Roman" panose="02020603050405020304" pitchFamily="18" charset="0"/>
                          <a:ea typeface="宋体" panose="02010600030101010101" pitchFamily="2" charset="-122"/>
                        </a:rPr>
                        <a:t>一般过去时</a:t>
                      </a:r>
                      <a:r>
                        <a:rPr lang="en-US" sz="2500" kern="100">
                          <a:effectLst/>
                          <a:latin typeface="Times New Roman" panose="02020603050405020304" pitchFamily="18" charset="0"/>
                          <a:ea typeface="宋体" panose="02010600030101010101" pitchFamily="2" charset="-122"/>
                        </a:rPr>
                        <a:t>, </a:t>
                      </a:r>
                      <a:r>
                        <a:rPr lang="zh-CN" sz="2500" kern="100">
                          <a:effectLst/>
                          <a:latin typeface="Times New Roman" panose="02020603050405020304" pitchFamily="18" charset="0"/>
                          <a:ea typeface="宋体" panose="02010600030101010101" pitchFamily="2" charset="-122"/>
                        </a:rPr>
                        <a:t>一般现在时</a:t>
                      </a:r>
                      <a:endParaRPr lang="zh-CN" sz="2500" kern="100">
                        <a:effectLst/>
                        <a:latin typeface="Times New Roman" panose="02020603050405020304" pitchFamily="18" charset="0"/>
                        <a:ea typeface="宋体" panose="02010600030101010101" pitchFamily="2" charset="-122"/>
                      </a:endParaRPr>
                    </a:p>
                  </a:txBody>
                  <a:tcPr marL="61032" marR="610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989455">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要点</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vert="horz" wrap="square"/>
                    <a:lstStyle/>
                    <a:p>
                      <a:pPr algn="just">
                        <a:lnSpc>
                          <a:spcPct val="150000"/>
                        </a:lnSpc>
                        <a:spcAft>
                          <a:spcPct val="0"/>
                        </a:spcAft>
                      </a:pPr>
                      <a:r>
                        <a:rPr lang="en-US" sz="2500" kern="100">
                          <a:effectLst/>
                          <a:latin typeface="Times New Roman" panose="02020603050405020304" pitchFamily="18" charset="0"/>
                          <a:ea typeface="宋体" panose="02010600030101010101" pitchFamily="2" charset="-122"/>
                        </a:rPr>
                        <a:t>1. </a:t>
                      </a:r>
                      <a:r>
                        <a:rPr lang="zh-CN" sz="2500" kern="100">
                          <a:effectLst/>
                          <a:latin typeface="Times New Roman" panose="02020603050405020304" pitchFamily="18" charset="0"/>
                          <a:ea typeface="宋体" panose="02010600030101010101" pitchFamily="2" charset="-122"/>
                        </a:rPr>
                        <a:t>点明写作目的</a:t>
                      </a:r>
                      <a:r>
                        <a:rPr lang="en-US" sz="2500" kern="100">
                          <a:effectLst/>
                          <a:latin typeface="Times New Roman" panose="02020603050405020304" pitchFamily="18" charset="0"/>
                          <a:ea typeface="宋体" panose="02010600030101010101" pitchFamily="2" charset="-122"/>
                        </a:rPr>
                        <a:t>, </a:t>
                      </a:r>
                      <a:r>
                        <a:rPr lang="zh-CN" sz="2500" kern="100">
                          <a:effectLst/>
                          <a:latin typeface="Times New Roman" panose="02020603050405020304" pitchFamily="18" charset="0"/>
                          <a:ea typeface="宋体" panose="02010600030101010101" pitchFamily="2" charset="-122"/>
                        </a:rPr>
                        <a:t>感谢对方的帮助</a:t>
                      </a:r>
                      <a:endParaRPr lang="zh-CN" sz="2500" kern="100">
                        <a:effectLst/>
                        <a:latin typeface="Times New Roman" panose="02020603050405020304" pitchFamily="18" charset="0"/>
                        <a:ea typeface="宋体" panose="02010600030101010101" pitchFamily="2" charset="-122"/>
                      </a:endParaRPr>
                    </a:p>
                    <a:p>
                      <a:pPr algn="just">
                        <a:lnSpc>
                          <a:spcPct val="150000"/>
                        </a:lnSpc>
                        <a:spcAft>
                          <a:spcPct val="0"/>
                        </a:spcAft>
                      </a:pPr>
                      <a:r>
                        <a:rPr lang="en-US" sz="2500" kern="100">
                          <a:effectLst/>
                          <a:latin typeface="Times New Roman" panose="02020603050405020304" pitchFamily="18" charset="0"/>
                          <a:ea typeface="宋体" panose="02010600030101010101" pitchFamily="2" charset="-122"/>
                        </a:rPr>
                        <a:t>2. </a:t>
                      </a:r>
                      <a:r>
                        <a:rPr lang="zh-CN" sz="2500" kern="100">
                          <a:effectLst/>
                          <a:latin typeface="Times New Roman" panose="02020603050405020304" pitchFamily="18" charset="0"/>
                          <a:ea typeface="宋体" panose="02010600030101010101" pitchFamily="2" charset="-122"/>
                        </a:rPr>
                        <a:t>具体指出曾经的帮助</a:t>
                      </a:r>
                      <a:endParaRPr lang="zh-CN" sz="2500" kern="100">
                        <a:effectLst/>
                        <a:latin typeface="Times New Roman" panose="02020603050405020304" pitchFamily="18" charset="0"/>
                        <a:ea typeface="宋体" panose="02010600030101010101" pitchFamily="2" charset="-122"/>
                      </a:endParaRPr>
                    </a:p>
                    <a:p>
                      <a:pPr algn="just">
                        <a:lnSpc>
                          <a:spcPct val="150000"/>
                        </a:lnSpc>
                        <a:spcAft>
                          <a:spcPct val="0"/>
                        </a:spcAft>
                      </a:pPr>
                      <a:r>
                        <a:rPr lang="en-US" sz="2500" kern="100">
                          <a:effectLst/>
                          <a:latin typeface="Times New Roman" panose="02020603050405020304" pitchFamily="18" charset="0"/>
                          <a:ea typeface="宋体" panose="02010600030101010101" pitchFamily="2" charset="-122"/>
                        </a:rPr>
                        <a:t>3. </a:t>
                      </a:r>
                      <a:r>
                        <a:rPr lang="zh-CN" sz="2500" kern="100">
                          <a:effectLst/>
                          <a:latin typeface="Times New Roman" panose="02020603050405020304" pitchFamily="18" charset="0"/>
                          <a:ea typeface="宋体" panose="02010600030101010101" pitchFamily="2" charset="-122"/>
                        </a:rPr>
                        <a:t>临别祝愿</a:t>
                      </a:r>
                      <a:endParaRPr lang="zh-CN" sz="2500" kern="100">
                        <a:effectLst/>
                        <a:latin typeface="Times New Roman" panose="02020603050405020304" pitchFamily="18" charset="0"/>
                        <a:ea typeface="宋体" panose="02010600030101010101" pitchFamily="2" charset="-122"/>
                      </a:endParaRPr>
                    </a:p>
                  </a:txBody>
                  <a:tcPr marL="61032" marR="610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3553460"/>
          </a:xfrm>
          <a:prstGeom prst="rect">
            <a:avLst/>
          </a:prstGeom>
          <a:noFill/>
        </p:spPr>
        <p:txBody>
          <a:bodyPr wrap="square" rtlCol="0">
            <a:spAutoFit/>
          </a:bodyPr>
          <a:lstStyle/>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Step</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2</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巧饰亮点</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要点</a:t>
            </a:r>
            <a:r>
              <a:rPr lang="en-US" altLang="zh-CN" sz="2500" b="1" kern="100">
                <a:solidFill>
                  <a:srgbClr val="0000FF"/>
                </a:solidFill>
                <a:latin typeface="Times New Roman" panose="02020603050405020304" pitchFamily="18" charset="0"/>
                <a:ea typeface="宋体" panose="02010600030101010101" pitchFamily="2" charset="-122"/>
              </a:rPr>
              <a:t>1</a:t>
            </a:r>
            <a:r>
              <a:rPr lang="en-US" altLang="zh-CN" sz="2500" kern="100">
                <a:solidFill>
                  <a:srgbClr val="0000FF"/>
                </a:solidFill>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你教我如何学英语。</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一般表达</a:t>
            </a:r>
            <a:r>
              <a:rPr lang="en-US" altLang="zh-CN" sz="2500" kern="100">
                <a:latin typeface="Times New Roman" panose="02020603050405020304" pitchFamily="18" charset="0"/>
                <a:ea typeface="宋体" panose="02010600030101010101" pitchFamily="2" charset="-122"/>
              </a:rPr>
              <a:t>:  You </a:t>
            </a:r>
            <a:r>
              <a:rPr lang="en-US" altLang="zh-CN" sz="2500" b="1" kern="100" smtClean="0">
                <a:uFill>
                  <a:solidFill>
                    <a:srgbClr val="000000"/>
                  </a:solidFill>
                </a:uFill>
                <a:latin typeface="Times New Roman" panose="02020603050405020304" pitchFamily="18" charset="0"/>
                <a:ea typeface="宋体" panose="02010600030101010101" pitchFamily="2" charset="-122"/>
              </a:rPr>
              <a:t>_______________</a:t>
            </a:r>
            <a:r>
              <a:rPr lang="en-US" altLang="zh-CN" sz="2500" kern="100" smtClean="0">
                <a:latin typeface="Times New Roman" panose="02020603050405020304" pitchFamily="18" charset="0"/>
                <a:ea typeface="宋体" panose="02010600030101010101" pitchFamily="2" charset="-122"/>
              </a:rPr>
              <a:t>to </a:t>
            </a:r>
            <a:r>
              <a:rPr lang="en-US" altLang="zh-CN" sz="2500" kern="100">
                <a:latin typeface="Times New Roman" panose="02020603050405020304" pitchFamily="18" charset="0"/>
                <a:ea typeface="宋体" panose="02010600030101010101" pitchFamily="2" charset="-122"/>
              </a:rPr>
              <a:t>learn English.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句式升级</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强调句</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是你教我如何学英语。</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b="1" kern="100" smtClean="0">
                <a:uFill>
                  <a:solidFill>
                    <a:srgbClr val="000000"/>
                  </a:solidFill>
                </a:uFill>
                <a:latin typeface="Times New Roman" panose="02020603050405020304" pitchFamily="18" charset="0"/>
                <a:ea typeface="宋体" panose="02010600030101010101" pitchFamily="2" charset="-122"/>
              </a:rPr>
              <a:t>_______________</a:t>
            </a:r>
            <a:r>
              <a:rPr lang="en-US" altLang="zh-CN" sz="2500" kern="100" smtClean="0">
                <a:latin typeface="Times New Roman" panose="02020603050405020304" pitchFamily="18" charset="0"/>
                <a:ea typeface="宋体" panose="02010600030101010101" pitchFamily="2" charset="-122"/>
              </a:rPr>
              <a:t>taught </a:t>
            </a:r>
            <a:r>
              <a:rPr lang="en-US" altLang="zh-CN" sz="2500" kern="100">
                <a:latin typeface="Times New Roman" panose="02020603050405020304" pitchFamily="18" charset="0"/>
                <a:ea typeface="宋体" panose="02010600030101010101" pitchFamily="2" charset="-122"/>
              </a:rPr>
              <a:t>me how to learn English. </a:t>
            </a:r>
            <a:endParaRPr lang="zh-CN" altLang="zh-CN" sz="2500" kern="100">
              <a:latin typeface="Times New Roman" panose="02020603050405020304" pitchFamily="18" charset="0"/>
              <a:ea typeface="宋体" panose="02010600030101010101" pitchFamily="2" charset="-122"/>
            </a:endParaRPr>
          </a:p>
        </p:txBody>
      </p:sp>
      <p:sp>
        <p:nvSpPr>
          <p:cNvPr id="3" name="TextBox 2" title=""/>
          <p:cNvSpPr txBox="1"/>
          <p:nvPr/>
        </p:nvSpPr>
        <p:spPr>
          <a:xfrm>
            <a:off x="2182229" y="1876430"/>
            <a:ext cx="3052464" cy="475615"/>
          </a:xfrm>
          <a:prstGeom prst="rect">
            <a:avLst/>
          </a:prstGeom>
          <a:noFill/>
        </p:spPr>
        <p:txBody>
          <a:bodyPr vert="horz" wrap="square" rtlCol="0" anchor="b" anchorCtr="1">
            <a:spAutoFit/>
          </a:bodyPr>
          <a:lstStyle/>
          <a:p>
            <a:r>
              <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rPr>
              <a:t>taught me how</a:t>
            </a:r>
            <a:r>
              <a:rPr lang="en-US" altLang="zh-CN" sz="2500" b="1" kern="100">
                <a:solidFill>
                  <a:srgbClr val="FF0000"/>
                </a:solidFill>
                <a:latin typeface="Times New Roman" panose="02020603050405020304" pitchFamily="18" charset="0"/>
                <a:ea typeface="宋体" panose="02010600030101010101" pitchFamily="2" charset="-122"/>
              </a:rPr>
              <a:t> </a:t>
            </a:r>
            <a:endParaRPr lang="zh-CN" altLang="en-US" sz="2500" b="1">
              <a:solidFill>
                <a:srgbClr val="FF0000"/>
              </a:solidFill>
              <a:latin typeface="Times New Roman" panose="02020603050405020304" pitchFamily="18" charset="0"/>
              <a:ea typeface="宋体" panose="02010600030101010101" pitchFamily="2" charset="-122"/>
            </a:endParaRPr>
          </a:p>
        </p:txBody>
      </p:sp>
      <p:sp>
        <p:nvSpPr>
          <p:cNvPr id="4" name="TextBox 3" title=""/>
          <p:cNvSpPr txBox="1"/>
          <p:nvPr/>
        </p:nvSpPr>
        <p:spPr>
          <a:xfrm>
            <a:off x="14300" y="3643471"/>
            <a:ext cx="3086972" cy="475615"/>
          </a:xfrm>
          <a:prstGeom prst="rect">
            <a:avLst/>
          </a:prstGeom>
          <a:noFill/>
        </p:spPr>
        <p:txBody>
          <a:bodyPr vert="horz" wrap="square" rtlCol="0" anchor="b" anchorCtr="1">
            <a:spAutoFit/>
          </a:bodyPr>
          <a:lstStyle/>
          <a:p>
            <a:r>
              <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rPr>
              <a:t>It was you who</a:t>
            </a:r>
            <a:r>
              <a:rPr lang="en-US" altLang="zh-CN" sz="2500" b="1" kern="100">
                <a:solidFill>
                  <a:srgbClr val="FF0000"/>
                </a:solidFill>
                <a:latin typeface="Times New Roman" panose="02020603050405020304" pitchFamily="18" charset="0"/>
                <a:ea typeface="宋体" panose="02010600030101010101" pitchFamily="2" charset="-122"/>
              </a:rPr>
              <a:t> </a:t>
            </a:r>
            <a:endParaRPr lang="zh-CN" altLang="en-US" sz="2500" b="1">
              <a:solidFill>
                <a:srgbClr val="FF0000"/>
              </a:solidFill>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15900" y="668041"/>
            <a:ext cx="12884118" cy="3553460"/>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要点</a:t>
            </a:r>
            <a:r>
              <a:rPr lang="en-US" altLang="zh-CN" sz="2500" b="1" kern="100">
                <a:solidFill>
                  <a:srgbClr val="0000FF"/>
                </a:solidFill>
                <a:latin typeface="Times New Roman" panose="02020603050405020304" pitchFamily="18" charset="0"/>
                <a:ea typeface="宋体" panose="02010600030101010101" pitchFamily="2" charset="-122"/>
              </a:rPr>
              <a:t>2</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你帮助我提高了英语并且给了我更多学习的自信。</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一般表达</a:t>
            </a:r>
            <a:r>
              <a:rPr lang="en-US" altLang="zh-CN" sz="2500" kern="100">
                <a:latin typeface="Times New Roman" panose="02020603050405020304" pitchFamily="18" charset="0"/>
                <a:ea typeface="宋体" panose="02010600030101010101" pitchFamily="2" charset="-122"/>
              </a:rPr>
              <a:t>:  You </a:t>
            </a:r>
            <a:r>
              <a:rPr lang="en-US" altLang="zh-CN" sz="2500" b="1" kern="100" smtClean="0">
                <a:uFill>
                  <a:solidFill>
                    <a:srgbClr val="000000"/>
                  </a:solidFill>
                </a:uFill>
                <a:latin typeface="Times New Roman" panose="02020603050405020304" pitchFamily="18" charset="0"/>
                <a:ea typeface="宋体" panose="02010600030101010101" pitchFamily="2" charset="-122"/>
              </a:rPr>
              <a:t>_________________________</a:t>
            </a:r>
            <a:r>
              <a:rPr lang="en-US" altLang="zh-CN" sz="2500" kern="100" smtClean="0">
                <a:latin typeface="Times New Roman" panose="02020603050405020304" pitchFamily="18" charset="0"/>
                <a:ea typeface="宋体" panose="02010600030101010101" pitchFamily="2" charset="-122"/>
              </a:rPr>
              <a:t>and </a:t>
            </a:r>
            <a:r>
              <a:rPr lang="en-US" altLang="zh-CN" sz="2500" kern="100">
                <a:latin typeface="Times New Roman" panose="02020603050405020304" pitchFamily="18" charset="0"/>
                <a:ea typeface="宋体" panose="02010600030101010101" pitchFamily="2" charset="-122"/>
              </a:rPr>
              <a:t>gave me more confidence in learning.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句式升级</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倒装句</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你不但帮助我提高了英语</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并且给了我更多学习的自信。</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b="1" kern="100" smtClean="0">
                <a:uFill>
                  <a:solidFill>
                    <a:srgbClr val="000000"/>
                  </a:solidFill>
                </a:uFill>
                <a:latin typeface="Times New Roman" panose="02020603050405020304" pitchFamily="18" charset="0"/>
                <a:ea typeface="宋体" panose="02010600030101010101" pitchFamily="2" charset="-122"/>
              </a:rPr>
              <a:t>______________________________________</a:t>
            </a:r>
            <a:r>
              <a:rPr lang="en-US" altLang="zh-CN" sz="2500" kern="100" smtClean="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but also you gave me more confidence in </a:t>
            </a:r>
            <a:endParaRPr lang="en-US" altLang="zh-CN" sz="2500" kern="100" smtClean="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smtClean="0">
                <a:latin typeface="Times New Roman" panose="02020603050405020304" pitchFamily="18" charset="0"/>
                <a:ea typeface="宋体" panose="02010600030101010101" pitchFamily="2" charset="-122"/>
              </a:rPr>
              <a:t>learning</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p:txBody>
      </p:sp>
      <p:sp>
        <p:nvSpPr>
          <p:cNvPr id="3" name="TextBox 2" title=""/>
          <p:cNvSpPr txBox="1"/>
          <p:nvPr/>
        </p:nvSpPr>
        <p:spPr>
          <a:xfrm>
            <a:off x="2093379" y="1276899"/>
            <a:ext cx="4777985" cy="475615"/>
          </a:xfrm>
          <a:prstGeom prst="rect">
            <a:avLst/>
          </a:prstGeom>
          <a:noFill/>
        </p:spPr>
        <p:txBody>
          <a:bodyPr vert="horz" wrap="square" rtlCol="0" anchor="b" anchorCtr="1">
            <a:spAutoFit/>
          </a:bodyPr>
          <a:lstStyle/>
          <a:p>
            <a:r>
              <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rPr>
              <a:t>helped improve my English</a:t>
            </a:r>
            <a:r>
              <a:rPr lang="en-US" altLang="zh-CN" sz="2500" b="1" kern="100">
                <a:solidFill>
                  <a:srgbClr val="FF0000"/>
                </a:solidFill>
                <a:latin typeface="Times New Roman" panose="02020603050405020304" pitchFamily="18" charset="0"/>
                <a:ea typeface="宋体" panose="02010600030101010101" pitchFamily="2" charset="-122"/>
              </a:rPr>
              <a:t> </a:t>
            </a:r>
            <a:endParaRPr lang="zh-CN" altLang="en-US" sz="2500" b="1">
              <a:solidFill>
                <a:srgbClr val="FF0000"/>
              </a:solidFill>
              <a:latin typeface="Times New Roman" panose="02020603050405020304" pitchFamily="18" charset="0"/>
              <a:ea typeface="宋体" panose="02010600030101010101" pitchFamily="2" charset="-122"/>
            </a:endParaRPr>
          </a:p>
        </p:txBody>
      </p:sp>
      <p:sp>
        <p:nvSpPr>
          <p:cNvPr id="4" name="TextBox 3" title=""/>
          <p:cNvSpPr txBox="1"/>
          <p:nvPr/>
        </p:nvSpPr>
        <p:spPr>
          <a:xfrm>
            <a:off x="-169394" y="3043940"/>
            <a:ext cx="7117983" cy="475615"/>
          </a:xfrm>
          <a:prstGeom prst="rect">
            <a:avLst/>
          </a:prstGeom>
          <a:noFill/>
        </p:spPr>
        <p:txBody>
          <a:bodyPr vert="horz" wrap="square" rtlCol="0" anchor="b" anchorCtr="1">
            <a:spAutoFit/>
          </a:bodyPr>
          <a:lstStyle/>
          <a:p>
            <a:r>
              <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rPr>
              <a:t>Not only did you help improve my English</a:t>
            </a:r>
            <a:endPar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7016115"/>
          </a:xfrm>
          <a:prstGeom prst="rect">
            <a:avLst/>
          </a:prstGeom>
          <a:noFill/>
        </p:spPr>
        <p:txBody>
          <a:bodyPr wrap="square" rtlCol="0">
            <a:spAutoFit/>
          </a:bodyPr>
          <a:lstStyle/>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Step</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3</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衔接成篇</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Dear Alex,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I’ve heard that you’re leaving China soon, so I’m writing to express my sincere blessing and thanks.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I can well remember there was a time when I had difficulty in learning English. It was you who taught me how to learn English. Under your patient guidance, I gradually made progress and began to become interested in English. Not only did you help improve my English, but also you gave me more confidence in learning. Thanks again for your generous help.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I wish you a pleasant journey home. </a:t>
            </a:r>
            <a:endParaRPr lang="zh-CN" altLang="zh-CN" sz="2500" kern="100">
              <a:latin typeface="Times New Roman" panose="02020603050405020304" pitchFamily="18" charset="0"/>
              <a:ea typeface="宋体" panose="02010600030101010101" pitchFamily="2" charset="-122"/>
            </a:endParaRPr>
          </a:p>
          <a:p>
            <a:pPr algn="r">
              <a:lnSpc>
                <a:spcPct val="150000"/>
              </a:lnSpc>
              <a:spcAft>
                <a:spcPct val="0"/>
              </a:spcAft>
            </a:pPr>
            <a:r>
              <a:rPr lang="en-US" altLang="zh-CN" sz="2500" kern="100">
                <a:latin typeface="Times New Roman" panose="02020603050405020304" pitchFamily="18" charset="0"/>
                <a:ea typeface="宋体" panose="02010600030101010101" pitchFamily="2" charset="-122"/>
              </a:rPr>
              <a:t>Yours, </a:t>
            </a:r>
            <a:endParaRPr lang="zh-CN" altLang="zh-CN" sz="2500" kern="100">
              <a:latin typeface="Times New Roman" panose="02020603050405020304" pitchFamily="18" charset="0"/>
              <a:ea typeface="宋体" panose="02010600030101010101" pitchFamily="2" charset="-122"/>
            </a:endParaRPr>
          </a:p>
          <a:p>
            <a:pPr algn="r">
              <a:lnSpc>
                <a:spcPct val="150000"/>
              </a:lnSpc>
              <a:spcAft>
                <a:spcPct val="0"/>
              </a:spcAft>
            </a:pPr>
            <a:r>
              <a:rPr lang="en-US" altLang="zh-CN" sz="2500" kern="100">
                <a:latin typeface="Times New Roman" panose="02020603050405020304" pitchFamily="18" charset="0"/>
                <a:ea typeface="宋体" panose="02010600030101010101" pitchFamily="2" charset="-122"/>
              </a:rPr>
              <a:t>Li Hua</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3553460"/>
          </a:xfrm>
          <a:prstGeom prst="rect">
            <a:avLst/>
          </a:prstGeom>
          <a:noFill/>
        </p:spPr>
        <p:txBody>
          <a:bodyPr wrap="square" rtlCol="0">
            <a:spAutoFit/>
          </a:bodyPr>
          <a:lstStyle/>
          <a:p>
            <a:pPr algn="ctr">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【句式储备】</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1. </a:t>
            </a:r>
            <a:r>
              <a:rPr lang="zh-CN" altLang="zh-CN" sz="2500" kern="100">
                <a:latin typeface="Times New Roman" panose="02020603050405020304" pitchFamily="18" charset="0"/>
                <a:ea typeface="宋体" panose="02010600030101010101" pitchFamily="2" charset="-122"/>
              </a:rPr>
              <a:t>篇头</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开篇表意</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写信原因和目的</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①</a:t>
            </a:r>
            <a:r>
              <a:rPr lang="en-US" altLang="zh-CN" sz="2500" kern="100">
                <a:latin typeface="Times New Roman" panose="02020603050405020304" pitchFamily="18" charset="0"/>
                <a:ea typeface="宋体" panose="02010600030101010101" pitchFamily="2" charset="-122"/>
              </a:rPr>
              <a:t>I’m writing to thank you for helping me spend wonderful days in London.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我写信感谢你帮我在伦敦度过快乐的日子。</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②</a:t>
            </a:r>
            <a:r>
              <a:rPr lang="en-US" altLang="zh-CN" sz="2500" kern="100">
                <a:latin typeface="Times New Roman" panose="02020603050405020304" pitchFamily="18" charset="0"/>
                <a:ea typeface="宋体" panose="02010600030101010101" pitchFamily="2" charset="-122"/>
              </a:rPr>
              <a:t>I am writing to express/show/convey my sincere thanks to you for your help.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我写信真诚地感谢你的帮助。</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3553460"/>
          </a:xfrm>
          <a:prstGeom prst="rect">
            <a:avLst/>
          </a:prstGeom>
          <a:noFill/>
        </p:spPr>
        <p:txBody>
          <a:bodyPr wrap="square" rtlCol="0">
            <a:spAutoFit/>
          </a:bodyPr>
          <a:lstStyle/>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2. </a:t>
            </a:r>
            <a:r>
              <a:rPr lang="zh-CN" altLang="zh-CN" sz="2500" kern="100">
                <a:latin typeface="Times New Roman" panose="02020603050405020304" pitchFamily="18" charset="0"/>
                <a:ea typeface="宋体" panose="02010600030101010101" pitchFamily="2" charset="-122"/>
              </a:rPr>
              <a:t>篇中</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描述对方对自己的帮助</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①</a:t>
            </a:r>
            <a:r>
              <a:rPr lang="en-US" altLang="zh-CN" sz="2500" kern="100">
                <a:latin typeface="Times New Roman" panose="02020603050405020304" pitchFamily="18" charset="0"/>
                <a:ea typeface="宋体" panose="02010600030101010101" pitchFamily="2" charset="-122"/>
              </a:rPr>
              <a:t>Without/But for your help(If it were not for your help), I would not have made so much progress in my English.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要是没有你的帮助</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我的英语不会取得如此大的进步。</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②</a:t>
            </a:r>
            <a:r>
              <a:rPr lang="en-US" altLang="zh-CN" sz="2500" kern="100">
                <a:latin typeface="Times New Roman" panose="02020603050405020304" pitchFamily="18" charset="0"/>
                <a:ea typeface="宋体" panose="02010600030101010101" pitchFamily="2" charset="-122"/>
              </a:rPr>
              <a:t>Had it not been for your patient guidance, I couldn’t have prepared so well.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如果没有你耐心的指导</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我不可能准备得这么好。</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2976880"/>
          </a:xfrm>
          <a:prstGeom prst="rect">
            <a:avLst/>
          </a:prstGeom>
          <a:noFill/>
        </p:spPr>
        <p:txBody>
          <a:bodyPr wrap="square" rtlCol="0">
            <a:spAutoFit/>
          </a:bodyPr>
          <a:lstStyle/>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3. </a:t>
            </a:r>
            <a:r>
              <a:rPr lang="zh-CN" altLang="zh-CN" sz="2500" kern="100">
                <a:latin typeface="Times New Roman" panose="02020603050405020304" pitchFamily="18" charset="0"/>
                <a:ea typeface="宋体" panose="02010600030101010101" pitchFamily="2" charset="-122"/>
              </a:rPr>
              <a:t>结尾</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表达谢意</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①</a:t>
            </a:r>
            <a:r>
              <a:rPr lang="en-US" altLang="zh-CN" sz="2500" kern="100">
                <a:latin typeface="Times New Roman" panose="02020603050405020304" pitchFamily="18" charset="0"/>
                <a:ea typeface="宋体" panose="02010600030101010101" pitchFamily="2" charset="-122"/>
              </a:rPr>
              <a:t>Again, no words are strong enough to convey how grateful I am.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再一次</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没有任何言语能表达我的感激之情。</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②</a:t>
            </a:r>
            <a:r>
              <a:rPr lang="en-US" altLang="zh-CN" sz="2500" kern="100">
                <a:latin typeface="Times New Roman" panose="02020603050405020304" pitchFamily="18" charset="0"/>
                <a:ea typeface="宋体" panose="02010600030101010101" pitchFamily="2" charset="-122"/>
              </a:rPr>
              <a:t>Your kindness and help will always be remembered.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我将永远铭记你的善意和帮助。</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5862320"/>
          </a:xfrm>
          <a:prstGeom prst="rect">
            <a:avLst/>
          </a:prstGeom>
          <a:noFill/>
        </p:spPr>
        <p:txBody>
          <a:bodyPr wrap="square" rtlCol="0">
            <a:spAutoFit/>
          </a:bodyPr>
          <a:lstStyle/>
          <a:p>
            <a:pPr algn="ctr">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【拓展训练】</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假定你是李华</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你在你校举办的英语辩论赛上取得了不错的成绩。请给你的留学生朋友</a:t>
            </a:r>
            <a:r>
              <a:rPr lang="en-US" altLang="zh-CN" sz="2500" kern="100">
                <a:latin typeface="Times New Roman" panose="02020603050405020304" pitchFamily="18" charset="0"/>
                <a:ea typeface="宋体" panose="02010600030101010101" pitchFamily="2" charset="-122"/>
              </a:rPr>
              <a:t>Chris</a:t>
            </a:r>
            <a:r>
              <a:rPr lang="zh-CN" altLang="zh-CN" sz="2500" kern="100">
                <a:latin typeface="Times New Roman" panose="02020603050405020304" pitchFamily="18" charset="0"/>
                <a:ea typeface="宋体" panose="02010600030101010101" pitchFamily="2" charset="-122"/>
              </a:rPr>
              <a:t>写一封感谢信</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感谢他对你的帮助</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内容包括</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1. </a:t>
            </a:r>
            <a:r>
              <a:rPr lang="zh-CN" altLang="zh-CN" sz="2500" kern="100">
                <a:latin typeface="Times New Roman" panose="02020603050405020304" pitchFamily="18" charset="0"/>
                <a:ea typeface="宋体" panose="02010600030101010101" pitchFamily="2" charset="-122"/>
              </a:rPr>
              <a:t>表达感谢</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2. </a:t>
            </a:r>
            <a:r>
              <a:rPr lang="zh-CN" altLang="zh-CN" sz="2500" kern="100">
                <a:latin typeface="Times New Roman" panose="02020603050405020304" pitchFamily="18" charset="0"/>
                <a:ea typeface="宋体" panose="02010600030101010101" pitchFamily="2" charset="-122"/>
              </a:rPr>
              <a:t>感谢的原因</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3. </a:t>
            </a:r>
            <a:r>
              <a:rPr lang="zh-CN" altLang="zh-CN" sz="2500" kern="100">
                <a:latin typeface="Times New Roman" panose="02020603050405020304" pitchFamily="18" charset="0"/>
                <a:ea typeface="宋体" panose="02010600030101010101" pitchFamily="2" charset="-122"/>
              </a:rPr>
              <a:t>表达祝愿。</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注意</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1. </a:t>
            </a:r>
            <a:r>
              <a:rPr lang="zh-CN" altLang="zh-CN" sz="2500" kern="100">
                <a:latin typeface="Times New Roman" panose="02020603050405020304" pitchFamily="18" charset="0"/>
                <a:ea typeface="宋体" panose="02010600030101010101" pitchFamily="2" charset="-122"/>
              </a:rPr>
              <a:t>写作词数应为</a:t>
            </a:r>
            <a:r>
              <a:rPr lang="en-US" altLang="zh-CN" sz="2500" kern="100">
                <a:latin typeface="Times New Roman" panose="02020603050405020304" pitchFamily="18" charset="0"/>
                <a:ea typeface="宋体" panose="02010600030101010101" pitchFamily="2" charset="-122"/>
              </a:rPr>
              <a:t>80</a:t>
            </a:r>
            <a:r>
              <a:rPr lang="zh-CN" altLang="zh-CN" sz="2500" kern="100">
                <a:latin typeface="Times New Roman" panose="02020603050405020304" pitchFamily="18" charset="0"/>
                <a:ea typeface="宋体" panose="02010600030101010101" pitchFamily="2" charset="-122"/>
              </a:rPr>
              <a:t>个左右</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2. </a:t>
            </a:r>
            <a:r>
              <a:rPr lang="zh-CN" altLang="zh-CN" sz="2500" kern="100">
                <a:latin typeface="Times New Roman" panose="02020603050405020304" pitchFamily="18" charset="0"/>
                <a:ea typeface="宋体" panose="02010600030101010101" pitchFamily="2" charset="-122"/>
              </a:rPr>
              <a:t>可以适当增加细节</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以使行文连贯</a:t>
            </a:r>
            <a:r>
              <a:rPr lang="zh-CN" altLang="zh-CN" sz="2500" kern="100" smtClean="0">
                <a:latin typeface="Times New Roman" panose="02020603050405020304" pitchFamily="18" charset="0"/>
                <a:ea typeface="宋体" panose="02010600030101010101" pitchFamily="2" charset="-122"/>
              </a:rPr>
              <a:t>。</a:t>
            </a:r>
            <a:r>
              <a:rPr lang="en-US" altLang="zh-CN" sz="2500" kern="100" smtClean="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nSpc>
                <a:spcPct val="150000"/>
              </a:lnSpc>
            </a:pPr>
            <a:r>
              <a:rPr lang="en-US" altLang="zh-CN" sz="2500" kern="100">
                <a:latin typeface="Times New Roman" panose="02020603050405020304" pitchFamily="18" charset="0"/>
                <a:ea typeface="宋体" panose="02010600030101010101" pitchFamily="2" charset="-122"/>
              </a:rPr>
              <a:t>_________________________________________________________________</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5862320"/>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【参考范文】</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Dear Chris,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I’m writing to express my sincere gratitude to you for the help you offered me.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To be honest, your assistance has a great impact on me. It was you who made my English improve greatly. Had it not been for your patient guidance, I couldn’t have prepared so well. Without your aid, I wouldn’t have done well in the English debate contest held in our school. I’ll bear your kindness in mind forever.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Again, I’d like to thank you for what you did for me and wish you all the best. </a:t>
            </a:r>
            <a:endParaRPr lang="zh-CN" altLang="zh-CN" sz="2500" kern="100">
              <a:latin typeface="Times New Roman" panose="02020603050405020304" pitchFamily="18" charset="0"/>
              <a:ea typeface="宋体" panose="02010600030101010101" pitchFamily="2" charset="-122"/>
            </a:endParaRPr>
          </a:p>
          <a:p>
            <a:pPr algn="r">
              <a:lnSpc>
                <a:spcPct val="150000"/>
              </a:lnSpc>
              <a:spcAft>
                <a:spcPct val="0"/>
              </a:spcAft>
            </a:pPr>
            <a:r>
              <a:rPr lang="en-US" altLang="zh-CN" sz="2500" kern="100">
                <a:latin typeface="Times New Roman" panose="02020603050405020304" pitchFamily="18" charset="0"/>
                <a:ea typeface="宋体" panose="02010600030101010101" pitchFamily="2" charset="-122"/>
              </a:rPr>
              <a:t>Yours, </a:t>
            </a:r>
            <a:endParaRPr lang="zh-CN" altLang="zh-CN" sz="2500" kern="100">
              <a:latin typeface="Times New Roman" panose="02020603050405020304" pitchFamily="18" charset="0"/>
              <a:ea typeface="宋体" panose="02010600030101010101" pitchFamily="2" charset="-122"/>
            </a:endParaRPr>
          </a:p>
          <a:p>
            <a:pPr algn="r">
              <a:lnSpc>
                <a:spcPct val="150000"/>
              </a:lnSpc>
              <a:spcAft>
                <a:spcPct val="0"/>
              </a:spcAft>
            </a:pPr>
            <a:r>
              <a:rPr lang="en-US" altLang="zh-CN" sz="2500" kern="100">
                <a:latin typeface="Times New Roman" panose="02020603050405020304" pitchFamily="18" charset="0"/>
                <a:ea typeface="宋体" panose="02010600030101010101" pitchFamily="2" charset="-122"/>
              </a:rPr>
              <a:t>Li Hua</a:t>
            </a:r>
            <a:endParaRPr lang="zh-CN" altLang="zh-CN" sz="2500" kern="100">
              <a:latin typeface="Times New Roman" panose="02020603050405020304" pitchFamily="18" charset="0"/>
              <a:ea typeface="宋体" panose="02010600030101010101" pitchFamily="2" charset="-122"/>
            </a:endParaRPr>
          </a:p>
        </p:txBody>
      </p:sp>
      <p:pic>
        <p:nvPicPr>
          <p:cNvPr id="3" name="Picture 3"/>
          <p:cNvPicPr>
            <a:picLocks noChangeAspect="1"/>
          </p:cNvPicPr>
          <p:nvPr/>
        </p:nvPicPr>
        <p:blipFill>
          <a:blip r:embed="rId3"/>
          <a:stretch>
            <a:fillRect/>
          </a:stretch>
        </p:blipFill>
        <p:spPr>
          <a:xfrm flipH="1">
            <a:off x="12509500" y="10782300"/>
            <a:ext cx="0" cy="0"/>
          </a:xfrm>
          <a:prstGeom prst="rect">
            <a:avLst/>
          </a:prstGeom>
          <a:ln>
            <a:noFill/>
          </a:ln>
        </p:spPr>
      </p:pic>
    </p:spTree>
  </p:cSld>
  <p:clrMapOvr>
    <a:masterClrMapping/>
  </p:clrMapOvr>
  <p:transition/>
  <p:timing/>
</p:sld>
</file>

<file path=ppt/tags/tag1.xml><?xml version="1.0" encoding="utf-8"?>
<p:tagLst xmlns:p="http://schemas.openxmlformats.org/presentationml/2006/main">
  <p:tag name="AS_OS" val="Unix 3.10 unknown"/>
  <p:tag name="AS_RELEASE_DATE" val="2023.03.31"/>
  <p:tag name="AS_TITLE" val="Aspose.Slides for Java"/>
  <p:tag name="AS_VERSION" val="23.3"/>
  <p:tag name="COMMONDATA" val="eyJoZGlkIjoiZjgyZmZhYjFlODliMjVlMjhmZmU1Y2ZlZmViZTBiYWYifQ=="/>
</p:tagLst>
</file>

<file path=ppt/theme/theme1.xml><?xml version="1.0" encoding="utf-8"?>
<a:theme xmlns:r="http://schemas.openxmlformats.org/officeDocument/2006/relationships" xmlns:a="http://schemas.openxmlformats.org/drawingml/2006/main" name="4_Office 主题​​">
  <a:themeElements>
    <a:clrScheme name="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主题​​">
      <a:majorFont>
        <a:latin typeface="等线 Light"/>
        <a:ea typeface="宋体"/>
        <a:cs typeface="Arial"/>
      </a:majorFont>
      <a:minorFont>
        <a:latin typeface="等线"/>
        <a:ea typeface="宋体"/>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117235" tIns="58618" rIns="117235" bIns="58618" numCol="1" anchor="t" anchorCtr="0" compatLnSpc="1">
        <a:spAutoFit/>
      </a:bodyPr>
      <a:lstStyle>
        <a:defPPr marL="0" marR="0" indent="0" algn="just" defTabSz="1171575" rtl="0" eaLnBrk="1" fontAlgn="base" latinLnBrk="0" hangingPunct="1">
          <a:lnSpc>
            <a:spcPct val="150000"/>
          </a:lnSpc>
          <a:spcBef>
            <a:spcPct val="0"/>
          </a:spcBef>
          <a:spcAft>
            <a:spcPct val="0"/>
          </a:spcAft>
          <a:buClrTx/>
          <a:buSzTx/>
          <a:buFontTx/>
          <a:buNone/>
          <a:defRPr kumimoji="0" lang="zh-CN" altLang="en-US" sz="2600" b="0" i="0" u="none" strike="noStrike" cap="none" normalizeH="0" baseline="0" smtClean="0">
            <a:ln>
              <a:noFill/>
            </a:ln>
            <a:solidFill>
              <a:srgbClr val="000000"/>
            </a:solidFill>
            <a:effectLst/>
            <a:latin typeface="Times New Roman" panose="02020603050405020304" pitchFamily="18" charset="0"/>
            <a:ea typeface="微软雅黑" panose="020B0503020204020204" charset="-122"/>
            <a:cs typeface="Times New Roman" panose="02020603050405020304" pitchFamily="18" charset="0"/>
          </a:defRPr>
        </a:defPPr>
      </a:lstStyle>
    </a:spDef>
    <a:lnDef>
      <a:spPr bwMode="auto">
        <a:xfrm>
          <a:off x="0" y="0"/>
          <a:ext cx="1" cy="1"/>
        </a:xfrm>
        <a:custGeom>
          <a:avLst/>
          <a:gdLst/>
          <a:ahLst/>
          <a:cxnLst/>
          <a:rect l="0" t="0" r="0" b="0"/>
          <a:pathLst/>
        </a:custGeom>
        <a:noFill/>
        <a:ln>
          <a:noFill/>
        </a:ln>
      </a:spPr>
      <a:bodyPr vert="horz" wrap="square" lIns="117235" tIns="58618" rIns="117235" bIns="58618" numCol="1" anchor="t" anchorCtr="0" compatLnSpc="1">
        <a:spAutoFit/>
      </a:bodyPr>
      <a:lstStyle>
        <a:defPPr marL="0" marR="0" indent="0" algn="just" defTabSz="1171575" rtl="0" eaLnBrk="1" fontAlgn="base" latinLnBrk="0" hangingPunct="1">
          <a:lnSpc>
            <a:spcPct val="150000"/>
          </a:lnSpc>
          <a:spcBef>
            <a:spcPct val="0"/>
          </a:spcBef>
          <a:spcAft>
            <a:spcPct val="0"/>
          </a:spcAft>
          <a:buClrTx/>
          <a:buSzTx/>
          <a:buFontTx/>
          <a:buNone/>
          <a:defRPr kumimoji="0" lang="zh-CN" altLang="en-US" sz="2600" b="0" i="0" u="none" strike="noStrike" cap="none" normalizeH="0" baseline="0" smtClean="0">
            <a:ln>
              <a:noFill/>
            </a:ln>
            <a:solidFill>
              <a:srgbClr val="000000"/>
            </a:solidFill>
            <a:effectLst/>
            <a:latin typeface="Times New Roman" panose="02020603050405020304" pitchFamily="18" charset="0"/>
            <a:ea typeface="微软雅黑" panose="020B0503020204020204" charset="-122"/>
            <a:cs typeface="Times New Roman" panose="02020603050405020304" pitchFamily="18" charset="0"/>
          </a:defRPr>
        </a:defPPr>
      </a:lstStyle>
    </a:lnDef>
  </a:objectDefaults>
  <a:extraClrSchemeLst>
    <a:extraClrScheme>
      <a:clrScheme name="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vt="http://schemas.openxmlformats.org/officeDocument/2006/docPropsVTypes" xmlns="http://schemas.openxmlformats.org/officeDocument/2006/extended-properties">
  <Company>学科网</Company>
  <Paragraphs>65</Paragraphs>
  <Slides>11</Slides>
  <Notes>11</Notes>
  <TotalTime>0</TotalTime>
  <HiddenSlides>0</HiddenSlides>
  <MMClips>0</MMClips>
  <ScaleCrop>0</ScaleCrop>
  <HeadingPairs>
    <vt:vector baseType="variant" size="6">
      <vt:variant>
        <vt:lpstr>Fonts used</vt:lpstr>
      </vt:variant>
      <vt:variant>
        <vt:i4>7</vt:i4>
      </vt:variant>
      <vt:variant>
        <vt:lpstr>Theme</vt:lpstr>
      </vt:variant>
      <vt:variant>
        <vt:i4>1</vt:i4>
      </vt:variant>
      <vt:variant>
        <vt:lpstr>Slide Titles</vt:lpstr>
      </vt:variant>
      <vt:variant>
        <vt:i4>11</vt:i4>
      </vt:variant>
    </vt:vector>
  </HeadingPairs>
  <TitlesOfParts>
    <vt:vector baseType="lpstr" size="19">
      <vt:lpstr>Arial</vt:lpstr>
      <vt:lpstr>等线 Light</vt:lpstr>
      <vt:lpstr>宋体</vt:lpstr>
      <vt:lpstr>等线</vt:lpstr>
      <vt:lpstr>Calibri Light</vt:lpstr>
      <vt:lpstr>Calibri</vt:lpstr>
      <vt:lpstr>Times New Roman</vt:lpstr>
      <vt:lpstr>4_Office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Java</Application>
  <AppVersion>23.0300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creator>rbm.xkw.com</dc:creator>
  <cp:revision>1</cp:revision>
  <cp:lastPrinted>2024-05-28T18:06:05.534</cp:lastPrinted>
  <dcterms:created xsi:type="dcterms:W3CDTF">2024-05-28T18:06:05Z</dcterms:created>
  <dcterms:modified xsi:type="dcterms:W3CDTF">2024-05-28T10:06:05Z</dcterms:modifi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album">
    <vt:lpwstr>rbm.xkw.com</vt:lpwstr>
  </property>
  <property fmtid="{D5CDD505-2E9C-101B-9397-08002B2CF9AE}" pid="3" name="author">
    <vt:lpwstr>rbm.xkw.com</vt:lpwstr>
  </property>
  <property fmtid="{D5CDD505-2E9C-101B-9397-08002B2CF9AE}" pid="4" name="company">
    <vt:lpwstr>学科网</vt:lpwstr>
  </property>
  <property fmtid="{D5CDD505-2E9C-101B-9397-08002B2CF9AE}" pid="5" name="copyright">
    <vt:lpwstr>学科网版权所有</vt:lpwstr>
  </property>
</Properties>
</file>