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tags" Target="tags/tag1.xml" /><Relationship Id="rId18" Type="http://schemas.openxmlformats.org/officeDocument/2006/relationships/presProps" Target="presProps.xml" /><Relationship Id="rId19" Type="http://schemas.openxmlformats.org/officeDocument/2006/relationships/viewProps" Target="viewProps.xml" /><Relationship Id="rId2" Type="http://schemas.openxmlformats.org/officeDocument/2006/relationships/notesMaster" Target="notesMasters/notesMaster1.xml" /><Relationship Id="rId20" Type="http://schemas.openxmlformats.org/officeDocument/2006/relationships/theme" Target="theme/theme1.xml" /><Relationship Id="rId21"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file:///D:\qq&#25991;&#20214;\712321467\Image\C2C\Image2\%7b75232B38-A165-1FB7-499C-2E1C792CACB5%7d.png" TargetMode="External" /><Relationship Id="rId3" Type="http://schemas.openxmlformats.org/officeDocument/2006/relationships/image" Target="../media/image1.png" /><Relationship Id="rId4" Type="http://schemas.openxmlformats.org/officeDocument/2006/relationships/image" Target="../media/image2.jpeg"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p:bg>
      <p:bgPr>
        <a:blipFill rotWithShape="0">
          <a:blip r:embed="rId4"/>
          <a:stretch>
            <a:fillRect/>
          </a:stretch>
        </a:blipFill>
        <a:effectLst/>
      </p:bgPr>
    </p:bg>
    <p:spTree>
      <p:nvGrpSpPr>
        <p:cNvPr id="1" name=""/>
        <p:cNvGrpSpPr/>
        <p:nvPr/>
      </p:nvGrpSpPr>
      <p:grpSpPr>
        <a:xfrm>
          <a:off x="0" y="0"/>
          <a:ext cx="0" cy="0"/>
        </a:xfrm>
      </p:grpSpPr>
      <p:pic>
        <p:nvPicPr>
          <p:cNvPr id="2" name="图片 1073743875" descr="学科网 zxxk.com" title=""/>
          <p:cNvPicPr>
            <a:picLocks noChangeAspect="1"/>
          </p:cNvPicPr>
          <p:nvPr/>
        </p:nvPicPr>
        <p:blipFill>
          <a:blip r:embed="rId3" r:link="rId2"/>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rtl="0" eaLnBrk="0" fontAlgn="base" hangingPunct="0">
        <a:lnSpc>
          <a:spcPct val="90000"/>
        </a:lnSpc>
        <a:spcBef>
          <a:spcPct val="0"/>
        </a:spcBef>
        <a:spcAft>
          <a:spcPct val="0"/>
        </a:spcAft>
        <a:defRPr sz="4395">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7pPr>
      <a:lvl8pPr marL="13709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8pPr>
      <a:lvl9pPr marL="18281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9pPr>
    </p:titleStyle>
    <p:bodyStyle>
      <a:lvl1pPr marL="228600" indent="-228600" algn="l" rtl="0" eaLnBrk="0" fontAlgn="base" hangingPunct="0">
        <a:lnSpc>
          <a:spcPct val="90000"/>
        </a:lnSpc>
        <a:spcBef>
          <a:spcPct val="198000"/>
        </a:spcBef>
        <a:spcAft>
          <a:spcPct val="0"/>
        </a:spcAft>
        <a:buFont typeface="Arial" panose="020b0604020202020204" pitchFamily="34" charset="0"/>
        <a:buChar char="•"/>
        <a:defRPr sz="2840">
          <a:solidFill>
            <a:schemeClr val="tx1"/>
          </a:solidFill>
          <a:latin typeface="+mn-lt"/>
          <a:ea typeface="+mn-ea"/>
          <a:cs typeface="+mn-cs"/>
        </a:defRPr>
      </a:lvl1pPr>
      <a:lvl2pPr marL="685165" indent="-228600" algn="l" rtl="0" eaLnBrk="0" fontAlgn="base" hangingPunct="0">
        <a:lnSpc>
          <a:spcPct val="90000"/>
        </a:lnSpc>
        <a:spcBef>
          <a:spcPct val="100000"/>
        </a:spcBef>
        <a:spcAft>
          <a:spcPct val="0"/>
        </a:spcAft>
        <a:buFont typeface="Arial" panose="020b0604020202020204" pitchFamily="34" charset="0"/>
        <a:buChar char="•"/>
        <a:defRPr sz="2380">
          <a:solidFill>
            <a:schemeClr val="tx1"/>
          </a:solidFill>
          <a:latin typeface="+mn-lt"/>
          <a:ea typeface="+mn-ea"/>
        </a:defRPr>
      </a:lvl2pPr>
      <a:lvl3pPr marL="1144270" indent="-229870" algn="l" rtl="0" eaLnBrk="0" fontAlgn="base" hangingPunct="0">
        <a:lnSpc>
          <a:spcPct val="90000"/>
        </a:lnSpc>
        <a:spcBef>
          <a:spcPct val="100000"/>
        </a:spcBef>
        <a:spcAft>
          <a:spcPct val="0"/>
        </a:spcAft>
        <a:buFont typeface="Arial" panose="020b0604020202020204" pitchFamily="34" charset="0"/>
        <a:buChar char="•"/>
        <a:defRPr sz="2105">
          <a:solidFill>
            <a:schemeClr val="tx1"/>
          </a:solidFill>
          <a:latin typeface="+mn-lt"/>
          <a:ea typeface="+mn-ea"/>
        </a:defRPr>
      </a:lvl3pPr>
      <a:lvl4pPr marL="1598930" indent="-22860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4pPr>
      <a:lvl5pPr marL="2056130" indent="-22987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5pPr>
      <a:lvl6pPr marL="25126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6pPr>
      <a:lvl7pPr marL="297053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7pPr>
      <a:lvl8pPr marL="34270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8pPr>
      <a:lvl9pPr marL="388366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3765" rtl="0" eaLnBrk="1" latinLnBrk="0" hangingPunct="1">
        <a:defRPr sz="1830" kern="1200">
          <a:solidFill>
            <a:schemeClr val="tx1"/>
          </a:solidFill>
          <a:latin typeface="+mn-lt"/>
          <a:ea typeface="+mn-ea"/>
          <a:cs typeface="+mn-cs"/>
        </a:defRPr>
      </a:lvl1pPr>
      <a:lvl2pPr marL="456565" algn="l" defTabSz="913765" rtl="0" eaLnBrk="1" latinLnBrk="0" hangingPunct="1">
        <a:defRPr sz="1830" kern="1200">
          <a:solidFill>
            <a:schemeClr val="tx1"/>
          </a:solidFill>
          <a:latin typeface="+mn-lt"/>
          <a:ea typeface="+mn-ea"/>
          <a:cs typeface="+mn-cs"/>
        </a:defRPr>
      </a:lvl2pPr>
      <a:lvl3pPr marL="913765" algn="l" defTabSz="913765" rtl="0" eaLnBrk="1" latinLnBrk="0" hangingPunct="1">
        <a:defRPr sz="1830" kern="1200">
          <a:solidFill>
            <a:schemeClr val="tx1"/>
          </a:solidFill>
          <a:latin typeface="+mn-lt"/>
          <a:ea typeface="+mn-ea"/>
          <a:cs typeface="+mn-cs"/>
        </a:defRPr>
      </a:lvl3pPr>
      <a:lvl4pPr marL="1370330" algn="l" defTabSz="913765" rtl="0" eaLnBrk="1" latinLnBrk="0" hangingPunct="1">
        <a:defRPr sz="1830" kern="1200">
          <a:solidFill>
            <a:schemeClr val="tx1"/>
          </a:solidFill>
          <a:latin typeface="+mn-lt"/>
          <a:ea typeface="+mn-ea"/>
          <a:cs typeface="+mn-cs"/>
        </a:defRPr>
      </a:lvl4pPr>
      <a:lvl5pPr marL="1827530" algn="l" defTabSz="913765" rtl="0" eaLnBrk="1" latinLnBrk="0" hangingPunct="1">
        <a:defRPr sz="1830" kern="1200">
          <a:solidFill>
            <a:schemeClr val="tx1"/>
          </a:solidFill>
          <a:latin typeface="+mn-lt"/>
          <a:ea typeface="+mn-ea"/>
          <a:cs typeface="+mn-cs"/>
        </a:defRPr>
      </a:lvl5pPr>
      <a:lvl6pPr marL="2284095" algn="l" defTabSz="913765" rtl="0" eaLnBrk="1" latinLnBrk="0" hangingPunct="1">
        <a:defRPr sz="1830" kern="1200">
          <a:solidFill>
            <a:schemeClr val="tx1"/>
          </a:solidFill>
          <a:latin typeface="+mn-lt"/>
          <a:ea typeface="+mn-ea"/>
          <a:cs typeface="+mn-cs"/>
        </a:defRPr>
      </a:lvl6pPr>
      <a:lvl7pPr marL="2741295" algn="l" defTabSz="913765" rtl="0" eaLnBrk="1" latinLnBrk="0" hangingPunct="1">
        <a:defRPr sz="1830" kern="1200">
          <a:solidFill>
            <a:schemeClr val="tx1"/>
          </a:solidFill>
          <a:latin typeface="+mn-lt"/>
          <a:ea typeface="+mn-ea"/>
          <a:cs typeface="+mn-cs"/>
        </a:defRPr>
      </a:lvl7pPr>
      <a:lvl8pPr marL="3198495" algn="l" defTabSz="913765" rtl="0" eaLnBrk="1" latinLnBrk="0" hangingPunct="1">
        <a:defRPr sz="1830" kern="1200">
          <a:solidFill>
            <a:schemeClr val="tx1"/>
          </a:solidFill>
          <a:latin typeface="+mn-lt"/>
          <a:ea typeface="+mn-ea"/>
          <a:cs typeface="+mn-cs"/>
        </a:defRPr>
      </a:lvl8pPr>
      <a:lvl9pPr marL="3655060" algn="l" defTabSz="913765" rtl="0" eaLnBrk="1" latinLnBrk="0" hangingPunct="1">
        <a:defRPr sz="183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 Id="rId3" Type="http://schemas.openxmlformats.org/officeDocument/2006/relationships/image" Target="../media/image3.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9.xml" /><Relationship Id="rId3" Type="http://schemas.openxmlformats.org/officeDocument/2006/relationships/image" Target="../media/image4.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2" name="TextBox 1" title=""/>
          <p:cNvSpPr txBox="1"/>
          <p:nvPr/>
        </p:nvSpPr>
        <p:spPr>
          <a:xfrm>
            <a:off x="255757" y="2007212"/>
            <a:ext cx="11701662" cy="1938020"/>
          </a:xfrm>
          <a:prstGeom prst="rect">
            <a:avLst/>
          </a:prstGeom>
          <a:noFill/>
        </p:spPr>
        <p:txBody>
          <a:bodyPr wrap="square" rtlCol="0">
            <a:spAutoFit/>
          </a:bodyPr>
          <a:lstStyle/>
          <a:p>
            <a:pPr algn="ctr">
              <a:lnSpc>
                <a:spcPct val="150000"/>
              </a:lnSpc>
              <a:spcAft>
                <a:spcPct val="0"/>
              </a:spcAft>
            </a:pPr>
            <a:r>
              <a:rPr lang="zh-CN" altLang="zh-CN" sz="4000" kern="100">
                <a:latin typeface="Times New Roman" panose="02020603050405020304" pitchFamily="18" charset="0"/>
                <a:ea typeface="宋体" panose="02010600030101010101" pitchFamily="2" charset="-122"/>
              </a:rPr>
              <a:t>征文</a:t>
            </a:r>
            <a:r>
              <a:rPr lang="en-US" altLang="zh-CN" sz="4000" kern="100">
                <a:latin typeface="Times New Roman" panose="02020603050405020304" pitchFamily="18" charset="0"/>
                <a:ea typeface="宋体" panose="02010600030101010101" pitchFamily="2" charset="-122"/>
              </a:rPr>
              <a:t>(</a:t>
            </a:r>
            <a:r>
              <a:rPr lang="zh-CN" altLang="zh-CN" sz="4000" kern="100">
                <a:latin typeface="Times New Roman" panose="02020603050405020304" pitchFamily="18" charset="0"/>
                <a:ea typeface="宋体" panose="02010600030101010101" pitchFamily="2" charset="-122"/>
              </a:rPr>
              <a:t>投稿</a:t>
            </a:r>
            <a:r>
              <a:rPr lang="en-US" altLang="zh-CN" sz="4000" kern="100">
                <a:latin typeface="Times New Roman" panose="02020603050405020304" pitchFamily="18" charset="0"/>
                <a:ea typeface="宋体" panose="02010600030101010101" pitchFamily="2" charset="-122"/>
              </a:rPr>
              <a:t>)</a:t>
            </a:r>
            <a:endParaRPr lang="zh-CN" altLang="zh-CN" sz="4000" kern="100">
              <a:latin typeface="Times New Roman" panose="02020603050405020304" pitchFamily="18" charset="0"/>
              <a:ea typeface="宋体" panose="02010600030101010101" pitchFamily="2" charset="-122"/>
            </a:endParaRPr>
          </a:p>
          <a:p>
            <a:pPr algn="ctr">
              <a:lnSpc>
                <a:spcPct val="150000"/>
              </a:lnSpc>
              <a:spcAft>
                <a:spcPct val="0"/>
              </a:spcAft>
            </a:pPr>
            <a:endParaRPr lang="zh-CN" altLang="zh-CN" sz="40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894692"/>
            <a:ext cx="11701662" cy="297688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【真题再现】</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(2023· </a:t>
            </a:r>
            <a:r>
              <a:rPr lang="zh-CN" altLang="zh-CN" sz="2500" kern="100">
                <a:latin typeface="Times New Roman" panose="02020603050405020304" pitchFamily="18" charset="0"/>
                <a:ea typeface="宋体" panose="02010600030101010101" pitchFamily="2" charset="-122"/>
              </a:rPr>
              <a:t>全国乙卷改编</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学校英文报组织同学们分享自己在假期中学到的新技能</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请你以</a:t>
            </a:r>
            <a:r>
              <a:rPr lang="en-US" altLang="zh-CN" sz="2500" kern="100">
                <a:latin typeface="Times New Roman" panose="02020603050405020304" pitchFamily="18" charset="0"/>
                <a:ea typeface="宋体" panose="02010600030101010101" pitchFamily="2" charset="-122"/>
              </a:rPr>
              <a:t>“Learning a new skill”</a:t>
            </a:r>
            <a:r>
              <a:rPr lang="zh-CN" altLang="zh-CN" sz="2500" kern="100">
                <a:latin typeface="Times New Roman" panose="02020603050405020304" pitchFamily="18" charset="0"/>
                <a:ea typeface="宋体" panose="02010600030101010101" pitchFamily="2" charset="-122"/>
              </a:rPr>
              <a:t>为题写一篇短文投稿。内容包括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简要描述</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体验和感受。</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6680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审题布局</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1375457" y="1509950"/>
          <a:ext cx="9146540" cy="3669665"/>
        </p:xfrm>
        <a:graphic>
          <a:graphicData uri="http://schemas.openxmlformats.org/drawingml/2006/table">
            <a:tbl>
              <a:tblPr firstRow="1" firstCol="1" bandRow="1"/>
              <a:tblGrid>
                <a:gridCol w="1548130"/>
                <a:gridCol w="7598410"/>
              </a:tblGrid>
              <a:tr h="5873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类 型</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投稿</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73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人 称</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第一人称</a:t>
                      </a:r>
                      <a:r>
                        <a:rPr lang="en-US" sz="2500" kern="100">
                          <a:effectLst/>
                          <a:latin typeface="Times New Roman" panose="02020603050405020304" pitchFamily="18" charset="0"/>
                          <a:ea typeface="宋体" panose="02010600030101010101" pitchFamily="2" charset="-122"/>
                        </a:rPr>
                        <a:t>(I)</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73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时 态</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一般现在时</a:t>
                      </a:r>
                      <a:r>
                        <a:rPr lang="en-US" sz="2500" kern="100">
                          <a:effectLst/>
                          <a:latin typeface="Times New Roman" panose="02020603050405020304" pitchFamily="18" charset="0"/>
                          <a:ea typeface="宋体" panose="02010600030101010101" pitchFamily="2" charset="-122"/>
                        </a:rPr>
                        <a:t>; </a:t>
                      </a:r>
                      <a:r>
                        <a:rPr lang="zh-CN" sz="2500" kern="100">
                          <a:effectLst/>
                          <a:latin typeface="Times New Roman" panose="02020603050405020304" pitchFamily="18" charset="0"/>
                          <a:ea typeface="宋体" panose="02010600030101010101" pitchFamily="2" charset="-122"/>
                        </a:rPr>
                        <a:t>一般过去时</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754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要 点</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1. </a:t>
                      </a:r>
                      <a:r>
                        <a:rPr lang="zh-CN" sz="2500" kern="100">
                          <a:effectLst/>
                          <a:latin typeface="Times New Roman" panose="02020603050405020304" pitchFamily="18" charset="0"/>
                          <a:ea typeface="宋体" panose="02010600030101010101" pitchFamily="2" charset="-122"/>
                        </a:rPr>
                        <a:t>描述学到的新技能</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2. </a:t>
                      </a:r>
                      <a:r>
                        <a:rPr lang="zh-CN" sz="2500" kern="100">
                          <a:effectLst/>
                          <a:latin typeface="Times New Roman" panose="02020603050405020304" pitchFamily="18" charset="0"/>
                          <a:ea typeface="宋体" panose="02010600030101010101" pitchFamily="2" charset="-122"/>
                        </a:rPr>
                        <a:t>过程与体验</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3. </a:t>
                      </a:r>
                      <a:r>
                        <a:rPr lang="zh-CN" sz="2500" kern="100">
                          <a:effectLst/>
                          <a:latin typeface="Times New Roman" panose="02020603050405020304" pitchFamily="18" charset="0"/>
                          <a:ea typeface="宋体" panose="02010600030101010101" pitchFamily="2" charset="-122"/>
                        </a:rPr>
                        <a:t>感受和收获</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6" y="641470"/>
            <a:ext cx="12591825" cy="355346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巧饰亮点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1</a:t>
            </a:r>
            <a:r>
              <a:rPr lang="en-US" altLang="zh-CN" sz="2500" kern="100">
                <a:solidFill>
                  <a:srgbClr val="0000FF"/>
                </a:solidFill>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一开始</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读五线谱上的音符是相当困难的。</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一般表达</a:t>
            </a:r>
            <a:r>
              <a:rPr lang="en-US" altLang="zh-CN" sz="2500" kern="100">
                <a:latin typeface="Times New Roman" panose="02020603050405020304" pitchFamily="18" charset="0"/>
                <a:ea typeface="宋体" panose="02010600030101010101" pitchFamily="2" charset="-122"/>
              </a:rPr>
              <a:t>: In the beginning, reading the notes on the stave was quite hard.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一开始</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读五线谱上的音符是相当困难的</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但是我没有放弃。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高级表达</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In the beginning,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a:t>
            </a:r>
            <a:r>
              <a:rPr lang="en-US" altLang="zh-CN" sz="2500" kern="100" smtClean="0">
                <a:latin typeface="Times New Roman" panose="02020603050405020304" pitchFamily="18" charset="0"/>
                <a:ea typeface="宋体" panose="02010600030101010101" pitchFamily="2" charset="-122"/>
              </a:rPr>
              <a:t>on </a:t>
            </a:r>
            <a:r>
              <a:rPr lang="en-US" altLang="zh-CN" sz="2500" kern="100">
                <a:latin typeface="Times New Roman" panose="02020603050405020304" pitchFamily="18" charset="0"/>
                <a:ea typeface="宋体" panose="02010600030101010101" pitchFamily="2" charset="-122"/>
              </a:rPr>
              <a:t>the stave, but I didn’t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give up</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1790290" y="3022350"/>
            <a:ext cx="723091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it was quite difficult to read the notes</a:t>
            </a:r>
            <a:r>
              <a:rPr lang="en-US" altLang="zh-CN" sz="2500" b="1" kern="100">
                <a:solidFill>
                  <a:srgbClr val="FF0000"/>
                </a:solidFill>
                <a:latin typeface="Times New Roman" panose="02020603050405020304" pitchFamily="18" charset="0"/>
                <a:ea typeface="宋体" panose="02010600030101010101" pitchFamily="2" charset="-122"/>
              </a:rPr>
              <a:t> </a:t>
            </a:r>
            <a:endParaRPr lang="zh-CN" altLang="en-US" sz="2500" b="1">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6" y="654756"/>
            <a:ext cx="13030264"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虽然经过几个小时的练习</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我的手指会感到疼痛</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但如果我能完整地演奏</a:t>
            </a:r>
            <a:r>
              <a:rPr lang="zh-CN" altLang="zh-CN" sz="2500" kern="100" smtClean="0">
                <a:latin typeface="Times New Roman" panose="02020603050405020304" pitchFamily="18" charset="0"/>
                <a:ea typeface="宋体" panose="02010600030101010101" pitchFamily="2" charset="-122"/>
              </a:rPr>
              <a:t>一</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首</a:t>
            </a:r>
            <a:r>
              <a:rPr lang="zh-CN" altLang="zh-CN" sz="2500" kern="100">
                <a:latin typeface="Times New Roman" panose="02020603050405020304" pitchFamily="18" charset="0"/>
                <a:ea typeface="宋体" panose="02010600030101010101" pitchFamily="2" charset="-122"/>
              </a:rPr>
              <a:t>曲子</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我就会感到满足。</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 felt satisfied if I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could </a:t>
            </a:r>
            <a:r>
              <a:rPr lang="en-US" altLang="zh-CN" sz="2500" kern="100">
                <a:latin typeface="Times New Roman" panose="02020603050405020304" pitchFamily="18" charset="0"/>
                <a:ea typeface="宋体" panose="02010600030101010101" pitchFamily="2" charset="-122"/>
              </a:rPr>
              <a:t>play a music piece completely.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即使我不会把弹钢琴作为我的终身职业</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我仍然会把它作为我最大的爱好。</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_______________________________________________________</a:t>
            </a:r>
            <a:r>
              <a:rPr lang="en-US" altLang="zh-CN" sz="2500" kern="100" smtClean="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 will still regard it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as </a:t>
            </a:r>
            <a:r>
              <a:rPr lang="en-US" altLang="zh-CN" sz="2500" kern="100">
                <a:latin typeface="Times New Roman" panose="02020603050405020304" pitchFamily="18" charset="0"/>
                <a:ea typeface="宋体" panose="02010600030101010101" pitchFamily="2" charset="-122"/>
              </a:rPr>
              <a:t>my first hobby. </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77558" y="1884734"/>
            <a:ext cx="9455332"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Although my fingers were painful after a few hours’ practice</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126217" y="3640150"/>
            <a:ext cx="9878157"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Even though I will not make playing the piano as my life career</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衔接成篇</a:t>
            </a:r>
            <a:endParaRPr lang="zh-CN" altLang="zh-CN" sz="2500" kern="100">
              <a:latin typeface="Times New Roman" panose="02020603050405020304" pitchFamily="18" charset="0"/>
              <a:ea typeface="宋体" panose="02010600030101010101" pitchFamily="2" charset="-122"/>
            </a:endParaRPr>
          </a:p>
          <a:p>
            <a:pPr algn="ctr">
              <a:lnSpc>
                <a:spcPct val="150000"/>
              </a:lnSpc>
              <a:spcAft>
                <a:spcPct val="0"/>
              </a:spcAft>
            </a:pPr>
            <a:r>
              <a:rPr lang="en-US" altLang="zh-CN" sz="2500" b="1" kern="100">
                <a:latin typeface="Times New Roman" panose="02020603050405020304" pitchFamily="18" charset="0"/>
                <a:ea typeface="宋体" panose="02010600030101010101" pitchFamily="2" charset="-122"/>
              </a:rPr>
              <a:t>Learning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new</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skill</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When I was in my primary school, I had an opportunity to attend a musical contest held in my school. That was the first time I had watched a live musical performance. The fantastic players touched me deeply.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 asked my parents to allow me to take up a piano lesson as a beginner. In the beginning, it was quite difficult to read the notes on the stave, but I didn’t give up. I spent most of my leisure hours practicing the piano. Although my fingers were painful after a few hours’ practice, I felt satisfied if I could play a music piece completely.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Even though I will not make playing the piano as my life career, I will still regard it as my first hobby.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130675"/>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【句式构储】</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篇头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开篇表意</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引出话题</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Nowadays, more and more foreigners are becoming increasingly interested in traditional Chinese culture. The reasons why there exists this phenomenon can be listed as follows.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如今</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越来越多的外国人逐渐对中国传统文化感兴趣。存在这种现象的原因可以列举如下</a:t>
            </a:r>
            <a:r>
              <a:rPr lang="zh-CN" altLang="zh-CN" sz="2500" kern="100" smtClean="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I’m Li Hua, an editor of English newspaper of our school. Knowing you are familiar with the culture in your country, I’m writing to invite you to contribute an essay to share something with us.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是我们学校英文报的编辑。我知道你对你的国家的文化很熟悉</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所以我写信邀请你写一篇文章与我们分享一些东西。</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0655300" y="12661900"/>
            <a:ext cx="0" cy="0"/>
          </a:xfrm>
          <a:prstGeom prst="rect">
            <a:avLst/>
          </a:prstGeom>
          <a:ln>
            <a:noFill/>
          </a:ln>
        </p:spPr>
      </p:pic>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13067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篇中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详细描述</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讲清理由</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Among the many symbols that represent China and its unique culture, the Great Wall is on the top of my recommendation list. </a:t>
            </a:r>
            <a:r>
              <a:rPr lang="zh-CN" altLang="zh-CN" sz="2500" kern="100">
                <a:latin typeface="Times New Roman" panose="02020603050405020304" pitchFamily="18" charset="0"/>
                <a:ea typeface="宋体" panose="02010600030101010101" pitchFamily="2" charset="-122"/>
              </a:rPr>
              <a:t>在代表中国及其独特文化的众多象征中</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长城是我的首选推荐。</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Originally built by Emperor Qinshihuang and expanded and strengthened in the Ming Dynasty, it became the world’s largest military structure.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它最初由秦始皇建造</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并在明朝扩建和加强</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成为世界上最大的军事建筑。</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结尾</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再次总结全文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In my view, it’s our country’s being strong that has made the cultural aspect of our country more appealing and charming. </a:t>
            </a:r>
            <a:r>
              <a:rPr lang="zh-CN" altLang="zh-CN" sz="2500" kern="100">
                <a:latin typeface="Times New Roman" panose="02020603050405020304" pitchFamily="18" charset="0"/>
                <a:ea typeface="宋体" panose="02010600030101010101" pitchFamily="2" charset="-122"/>
              </a:rPr>
              <a:t>在我看来</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正是我们国家的强大使我们国家的文化方面更具吸引力和魅力。</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I appreciate it because it is unique in the world. Besides, it makes drinking tea more enjoyable, and also gives us an insight into people’s lifestyle in the Song Dynasty. </a:t>
            </a:r>
            <a:r>
              <a:rPr lang="zh-CN" altLang="zh-CN" sz="2500" kern="100">
                <a:latin typeface="Times New Roman" panose="02020603050405020304" pitchFamily="18" charset="0"/>
                <a:ea typeface="宋体" panose="02010600030101010101" pitchFamily="2" charset="-122"/>
              </a:rPr>
              <a:t>我欣赏它</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因为它在世界上是独一无二的。此外</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它使喝茶变得更加愉快</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也让我们了解了宋代人们的生活方式。</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285105"/>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【拓展训练】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21st Century Teens</a:t>
            </a:r>
            <a:r>
              <a:rPr lang="zh-CN" altLang="zh-CN" sz="2500" kern="100">
                <a:latin typeface="Times New Roman" panose="02020603050405020304" pitchFamily="18" charset="0"/>
                <a:ea typeface="宋体" panose="02010600030101010101" pitchFamily="2" charset="-122"/>
              </a:rPr>
              <a:t>英文报正在就</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越来越多的外国人爱上中国传统文化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这一现象举办征文活动</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请你写一篇英语短文投稿</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内容要点如下</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分析原因</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你的看法。</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写作词数应为</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个左右</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可以适当增加细节</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以使行文连贯</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【参考范文】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Nowadays, more and more foreigners are becoming increasingly interested in traditional Chinese culture. The reasons why there exists this phenomenon can be listed as follows.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For one thing, China has a long history and evolves colorful, mysterious and unique cultures in its development, which makes it more attractive. For another, our country’s economy has been developing at a good pace. During their stay, they are also exposed to and fascinated by our diverse traditional cultures.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1822450"/>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And I think every one of us should take responsibility to spread our excellent traditional culture to the world. Only in this way can our country go further and be more stable on the way to realizing the Chinese Dream.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4_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等线 Light"/>
        <a:ea typeface="宋体"/>
        <a:cs typeface="Arial"/>
      </a:majorFont>
      <a:minorFont>
        <a:latin typeface="等线"/>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spDef>
    <a:ln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52</Paragraphs>
  <Slides>14</Slides>
  <Notes>14</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14</vt:i4>
      </vt:variant>
    </vt:vector>
  </HeadingPairs>
  <TitlesOfParts>
    <vt:vector baseType="lpstr" size="22">
      <vt:lpstr>Arial</vt:lpstr>
      <vt:lpstr>等线 Light</vt:lpstr>
      <vt:lpstr>宋体</vt:lpstr>
      <vt:lpstr>等线</vt:lpstr>
      <vt:lpstr>Calibri Light</vt:lpstr>
      <vt:lpstr>Calibri</vt:lpstr>
      <vt:lpstr>Times New Roman</vt:lpstr>
      <vt:lpstr>4_Office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2024-05-28T18:06:05.836</cp:lastPrinted>
  <dcterms:created xsi:type="dcterms:W3CDTF">2024-05-28T18:06:05Z</dcterms:created>
  <dcterms:modified xsi:type="dcterms:W3CDTF">2024-05-28T10:06:05Z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