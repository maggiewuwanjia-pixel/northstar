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5"/>
  </p:notesMasterIdLst>
  <p:sldIdLst>
    <p:sldId id="280" r:id="rId3"/>
    <p:sldId id="380" r:id="rId4"/>
    <p:sldId id="381" r:id="rId5"/>
    <p:sldId id="324" r:id="rId6"/>
    <p:sldId id="287" r:id="rId7"/>
    <p:sldId id="323" r:id="rId8"/>
    <p:sldId id="281" r:id="rId9"/>
    <p:sldId id="389" r:id="rId10"/>
    <p:sldId id="321" r:id="rId11"/>
    <p:sldId id="286" r:id="rId12"/>
    <p:sldId id="428" r:id="rId13"/>
    <p:sldId id="429" r:id="rId14"/>
    <p:sldId id="322" r:id="rId15"/>
    <p:sldId id="259" r:id="rId16"/>
    <p:sldId id="430" r:id="rId17"/>
    <p:sldId id="367" r:id="rId18"/>
    <p:sldId id="397" r:id="rId19"/>
    <p:sldId id="431" r:id="rId20"/>
    <p:sldId id="434" r:id="rId21"/>
    <p:sldId id="435" r:id="rId22"/>
    <p:sldId id="436" r:id="rId23"/>
    <p:sldId id="437" r:id="rId24"/>
    <p:sldId id="438" r:id="rId25"/>
    <p:sldId id="439" r:id="rId26"/>
    <p:sldId id="320" r:id="rId27"/>
    <p:sldId id="405" r:id="rId28"/>
    <p:sldId id="315" r:id="rId29"/>
    <p:sldId id="432" r:id="rId30"/>
    <p:sldId id="433" r:id="rId31"/>
    <p:sldId id="440" r:id="rId32"/>
    <p:sldId id="277" r:id="rId33"/>
    <p:sldId id="444" r:id="rId34"/>
    <p:sldId id="445" r:id="rId35"/>
    <p:sldId id="407" r:id="rId36"/>
    <p:sldId id="443" r:id="rId37"/>
    <p:sldId id="442" r:id="rId38"/>
    <p:sldId id="408" r:id="rId39"/>
    <p:sldId id="447" r:id="rId40"/>
    <p:sldId id="448" r:id="rId41"/>
    <p:sldId id="449" r:id="rId42"/>
    <p:sldId id="316" r:id="rId43"/>
    <p:sldId id="456" r:id="rId44"/>
    <p:sldId id="457" r:id="rId45"/>
    <p:sldId id="458" r:id="rId46"/>
    <p:sldId id="459" r:id="rId47"/>
    <p:sldId id="460" r:id="rId48"/>
    <p:sldId id="461" r:id="rId49"/>
    <p:sldId id="462" r:id="rId50"/>
    <p:sldId id="463" r:id="rId51"/>
    <p:sldId id="464" r:id="rId52"/>
    <p:sldId id="465" r:id="rId53"/>
    <p:sldId id="466" r:id="rId54"/>
    <p:sldId id="467" r:id="rId55"/>
    <p:sldId id="468" r:id="rId56"/>
    <p:sldId id="469" r:id="rId57"/>
    <p:sldId id="317" r:id="rId58"/>
    <p:sldId id="450" r:id="rId59"/>
    <p:sldId id="451" r:id="rId60"/>
    <p:sldId id="452" r:id="rId61"/>
    <p:sldId id="453" r:id="rId62"/>
    <p:sldId id="454" r:id="rId63"/>
    <p:sldId id="455" r:id="rId64"/>
    <p:sldId id="470" r:id="rId65"/>
    <p:sldId id="472" r:id="rId66"/>
    <p:sldId id="415" r:id="rId67"/>
    <p:sldId id="471" r:id="rId68"/>
    <p:sldId id="318" r:id="rId69"/>
    <p:sldId id="423" r:id="rId70"/>
    <p:sldId id="424" r:id="rId71"/>
    <p:sldId id="425" r:id="rId72"/>
    <p:sldId id="319" r:id="rId73"/>
    <p:sldId id="426" r:id="rId74"/>
  </p:sldIdLst>
  <p:sldSz cx="12192000" cy="6858000"/>
  <p:notesSz cx="6858000" cy="9144000"/>
  <p:custDataLst>
    <p:tags r:id="rId7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优优学姐数学学科分享" id="{889DCCC6-9B3A-4A89-A5ED-0DE8BB60518E}">
          <p14:sldIdLst>
            <p14:sldId id="280"/>
            <p14:sldId id="380"/>
            <p14:sldId id="381"/>
          </p14:sldIdLst>
        </p14:section>
        <p14:section name="个人介绍" id="{690AC3DB-B94A-9348-8614-96E2E012C06E}">
          <p14:sldIdLst>
            <p14:sldId id="324"/>
            <p14:sldId id="287"/>
          </p14:sldIdLst>
        </p14:section>
        <p14:section name="初高中数学学习规划" id="{DE82F6A1-7AD9-BA4B-A65B-A9028622FA3D}">
          <p14:sldIdLst>
            <p14:sldId id="323"/>
            <p14:sldId id="281"/>
            <p14:sldId id="389"/>
          </p14:sldIdLst>
        </p14:section>
        <p14:section name="数学如何开窍" id="{417724FA-F574-4674-B888-AE0D5D91146F}">
          <p14:sldIdLst>
            <p14:sldId id="321"/>
            <p14:sldId id="286"/>
            <p14:sldId id="428"/>
            <p14:sldId id="429"/>
          </p14:sldIdLst>
        </p14:section>
        <p14:section name="计算问题如何解决" id="{3E6FC1AD-C380-4330-A8FF-4A46BC075D83}">
          <p14:sldIdLst>
            <p14:sldId id="322"/>
            <p14:sldId id="259"/>
            <p14:sldId id="430"/>
          </p14:sldIdLst>
        </p14:section>
        <p14:section name="数学的思维导图" id="{3B3F165B-6EDB-4428-92E5-8E8C9317E625}">
          <p14:sldIdLst>
            <p14:sldId id="367"/>
            <p14:sldId id="397"/>
            <p14:sldId id="431"/>
            <p14:sldId id="434"/>
            <p14:sldId id="435"/>
            <p14:sldId id="436"/>
            <p14:sldId id="437"/>
            <p14:sldId id="438"/>
            <p14:sldId id="439"/>
          </p14:sldIdLst>
        </p14:section>
        <p14:section name="提分重点" id="{A7E51EDC-8683-4639-BC3C-90E0501D1A01}">
          <p14:sldIdLst>
            <p14:sldId id="320"/>
            <p14:sldId id="405"/>
            <p14:sldId id="315"/>
            <p14:sldId id="432"/>
            <p14:sldId id="433"/>
            <p14:sldId id="440"/>
          </p14:sldIdLst>
        </p14:section>
        <p14:section name="如何刷基础题" id="{68619436-E17A-4A95-B6F7-BB92DFC132BD}">
          <p14:sldIdLst>
            <p14:sldId id="277"/>
            <p14:sldId id="444"/>
            <p14:sldId id="445"/>
            <p14:sldId id="407"/>
            <p14:sldId id="443"/>
            <p14:sldId id="442"/>
            <p14:sldId id="408"/>
            <p14:sldId id="447"/>
            <p14:sldId id="448"/>
            <p14:sldId id="449"/>
          </p14:sldIdLst>
        </p14:section>
        <p14:section name="如何刷中档题与压轴题" id="{8AFE43BF-1887-4A52-9484-48A601D61BE5}">
          <p14:sldIdLst>
            <p14:sldId id="316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</p14:sldIdLst>
        </p14:section>
        <p14:section name="考试心态与时间分配" id="{C75DA1AF-60E7-4BE7-A1CB-CB079AE0A22F}">
          <p14:sldIdLst>
            <p14:sldId id="317"/>
            <p14:sldId id="450"/>
            <p14:sldId id="451"/>
            <p14:sldId id="452"/>
            <p14:sldId id="453"/>
            <p14:sldId id="454"/>
            <p14:sldId id="455"/>
            <p14:sldId id="470"/>
            <p14:sldId id="472"/>
            <p14:sldId id="415"/>
            <p14:sldId id="471"/>
          </p14:sldIdLst>
        </p14:section>
        <p14:section name="错题本" id="{446DAA72-6DC4-4F98-8750-383F251C792E}">
          <p14:sldIdLst>
            <p14:sldId id="318"/>
            <p14:sldId id="423"/>
            <p14:sldId id="424"/>
            <p14:sldId id="425"/>
          </p14:sldIdLst>
        </p14:section>
        <p14:section name="总结" id="{67F1B555-D565-42A5-9D35-727ED07D9EE7}">
          <p14:sldIdLst>
            <p14:sldId id="319"/>
            <p14:sldId id="4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41AD4"/>
    <a:srgbClr val="223AAC"/>
    <a:srgbClr val="F9CDCC"/>
    <a:srgbClr val="FFFEFE"/>
    <a:srgbClr val="FDF5D6"/>
    <a:srgbClr val="FCEDEB"/>
    <a:srgbClr val="E8F0FE"/>
    <a:srgbClr val="E9F1FF"/>
    <a:srgbClr val="FDF4D5"/>
    <a:srgbClr val="EBF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77" autoAdjust="0"/>
    <p:restoredTop sz="94132"/>
  </p:normalViewPr>
  <p:slideViewPr>
    <p:cSldViewPr snapToGrid="0">
      <p:cViewPr varScale="1">
        <p:scale>
          <a:sx n="97" d="100"/>
          <a:sy n="97" d="100"/>
        </p:scale>
        <p:origin x="1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gs" Target="tags/tag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02:41:33.7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4840 4773 24575,'41'0'0,"1"0"0,-1 0 0,9 0 0,5 0 0,1 0 0,-4 0 0,3 0 0,-3 0 0,3 0-479,-3 0 0,4 0 0,-1 0 0,-6 0 479,-5 0 0,-4 0 0,-2 0 0,15 0 0,-1 0 309,-3 0 0,-2 0-309,-6 0 0,-3 0 158,-6 0 0,-2 0-158,15 0 0,-15 0 0,-11 0 982,-7 0-982,-7-4 0,-1 3 0,-4-3 0</inkml:trace>
  <inkml:trace contextRef="#ctx0" brushRef="#br0" timeOffset="31778">8432 4838 24575,'16'0'0,"8"0"0,7 0 0,2 0 0,-5 0 0,-2 0 0,1 0 0,3 0 0,6 0 0,3 0 0,0 0 0,0 0 0,-1 0 0,1 0 0,0 0 0,2 0 0,-2 0 0,0 0 0,2 0 0,0 0 0,1 0 0,3 0 0,5 0 0,4 0 0,0 1 0,-4 3 0,-6 0 0,-7-1 0,-3-1 0,0-2 0,1 0 0,2 0 0,2 0 0,0 0 0,2 0 0,4 0 0,-1 0 0,-2 0 0,-5 0 0,-6 0 0,-2 0 0,0 0 0,-1 0 0,1 0 0,3 0 0,5 0 0,4 0 0,0 0 0,-5 0 0,-6 0 0,-7 0 0,-7 0 0,-4 0 0,-8-11 0,-1 9 0,-5-8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299 1352,'2'0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280 543,'13'0,"1"0,-1 0,0 0,0 0,1 0,-1 0,14 0,-14 0,0 0,0 0,1 0,-1 0,0 0,14 0,-14 0,0 0,1 0,-1 0,0 0,27 0,-27 0,1 0,-1 0,0 0,0 0,1 0,26 0,-27 0,13 0,1 0,-14 0,1 0,-1 0,0 0,0 0,27 0,-27 0,14 0,39 0,-52 0,12 0,-12 0,-1 0,0 0,14 0,-14 0,14 0,-14 0,0 0,14 0,-14 0,13 0,14 0,-13 0,-14 0,14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4-01-07T07:50: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286 564,'13'0,"1"0,-1 0,0 0,0 0,1 0,26 0,-14 0,-13 0,27 0,-26 0,12 0,-13 0,80 0,-53 0,13 0,27 0,-40 0,-14 0,1 0,0 0,-14 0,13 0,14 0,-26 0,-1 0,0 0,0 0,1 0,12 0,-12 0,-1 0,13 0,-12 0,12-9,-13 9,14 0,13 0,-27 0,0 0,14 0,-14 0,14 0,-14 0,0-10,1 10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11T03:08:41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5264 7734 24575,'-5'0'0,"-1"0"0,1 0 0,-5 0 0,-8 0 0,-9 0 0,-8 0 0,-7 0 0,-2 5 0,-1 10 0,1 8 0,4 5 0,6 0 0,8-4 0,7-3 0,6 0 0,0-1 0,-2 4 0,-6 2 0,-4 4 0,-6 3 0,0 0 0,3-1 0,6-5 0,9-6 0,7-6 0,4-4 0,2-1 0,0-1 0,1 3 0,3 0 0,4 2 0,2 1 0,1-2 0,0-1 0,1-2 0,-1-1 0,3 1 0,4 1 0,3 1 0,1 1 0,1-1 0,-2 0 0,-3 0 0,0-1 0,-1-2 0,2-3 0,3-1 0,2 0 0,2-2 0,-1 0 0,-1 0 0,0-1 0,0 1 0,0 0 0,5-1 0,2 1 0,3 1 0,0 0 0,-4 0 0,-2-1 0,0-1 0,3-1 0,1-1 0,2 0 0,0 0 0,0 0 0,3 0 0,4 0 0,4 0 0,3-3 0,-1-3 0,-4-5 0,0-6 0,-2-4 0,0-1 0,-5-2 0,-3 2 0,-5-1 0,-2 0 0,-1-1 0,1-2 0,-1 0 0,-4 2 0,-6-1 0,-6-1 0,-5-5 0,-4-6 0,-5-4 0,-7-2 0,-5 1 0,-3 1 0,1 2 0,2 2 0,2 2 0,0 2 0,2 3 0,-2 4 0,0 4 0,-6 0 0,-5 1 0,-7 1 0,-3 3 0,-1 3 0,3 6 0,3 4 0,-1 3 0,-3 1 0,-9 0 0,-5 0 0,-2 0 0,2 0 0,9 0 0,8 1 0,8 3 0,4 2 0,2 3 0,-2 1 0,-1 1 0,2-1 0,2-2 0,6-2 0,4-3 0,4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E41FF1-9F3F-0E40-9843-E28C0A016924}" type="datetimeFigureOut">
              <a:rPr kumimoji="1" lang="zh-CN" altLang="en-US" smtClean="0"/>
              <a:t>2025/3/11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2DE8C-B653-9D41-B4D4-760D8F8C7F9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78553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893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3668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23612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1245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4184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5037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78157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2153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403954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520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817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8846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9536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9156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29769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706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571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2DE8C-B653-9D41-B4D4-760D8F8C7F92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356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7D1E6-9662-4091-9FAD-318FA6A43B9A}" type="datetimeFigureOut">
              <a:rPr lang="zh-CN" altLang="en-US" smtClean="0"/>
              <a:t>2025/3/11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B6242B-6AD1-4151-A227-C04B0AF019A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4" Type="http://schemas.openxmlformats.org/officeDocument/2006/relationships/customXml" Target="../ink/ink2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5" Type="http://schemas.openxmlformats.org/officeDocument/2006/relationships/image" Target="../media/image3.png"/><Relationship Id="rId4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.xml"/><Relationship Id="rId5" Type="http://schemas.openxmlformats.org/officeDocument/2006/relationships/image" Target="../media/image3.png"/><Relationship Id="rId4" Type="http://schemas.openxmlformats.org/officeDocument/2006/relationships/customXml" Target="../ink/ink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3966519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689——{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分数与分数背后的故事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数学分数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——{142}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17335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973692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506958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3.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数学如何开窍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5352609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学习的核心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「问题」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听课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做题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E97267-87E9-1A4D-99C1-E744BAF9E7CC}"/>
              </a:ext>
            </a:extLst>
          </p:cNvPr>
          <p:cNvSpPr txBox="1"/>
          <p:nvPr/>
        </p:nvSpPr>
        <p:spPr>
          <a:xfrm>
            <a:off x="1056821" y="3341790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初高中数学时间规划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8817AB8-4FF7-A74C-AD60-DD12D44C8FDB}"/>
              </a:ext>
            </a:extLst>
          </p:cNvPr>
          <p:cNvSpPr txBox="1"/>
          <p:nvPr/>
        </p:nvSpPr>
        <p:spPr>
          <a:xfrm>
            <a:off x="1137158" y="3624813"/>
            <a:ext cx="4942702" cy="115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初中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学什么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高中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学什么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初中学习重点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高中学习重点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B53F552C-604E-3241-8E16-AD018298CDCA}"/>
                  </a:ext>
                </a:extLst>
              </p14:cNvPr>
              <p14:cNvContentPartPr/>
              <p14:nvPr/>
            </p14:nvContentPartPr>
            <p14:xfrm>
              <a:off x="1742400" y="1715040"/>
              <a:ext cx="1980720" cy="320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B53F552C-604E-3241-8E16-AD018298CD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33040" y="1705680"/>
                <a:ext cx="1999440" cy="50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3966519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计算问题如何解决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计算的核心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算得慢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算错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算得慢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限时训练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算错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计算习惯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429000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973692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75B38-9C69-1F44-B536-F91DB69FE9A1}"/>
              </a:ext>
            </a:extLst>
          </p:cNvPr>
          <p:cNvSpPr txBox="1"/>
          <p:nvPr/>
        </p:nvSpPr>
        <p:spPr>
          <a:xfrm>
            <a:off x="1056821" y="355909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5.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数学的思维导图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D546B-98D0-7545-AE97-3A212842BB3F}"/>
              </a:ext>
            </a:extLst>
          </p:cNvPr>
          <p:cNvSpPr txBox="1"/>
          <p:nvPr/>
        </p:nvSpPr>
        <p:spPr>
          <a:xfrm>
            <a:off x="1137158" y="3842119"/>
            <a:ext cx="4942702" cy="8800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思维导图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网状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思维导图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5069586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6.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提分重点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5352609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必拿分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题目类型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如何应对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争取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不同分数段提分策略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——{&lt;90/90~120/120+}</a:t>
            </a:r>
          </a:p>
        </p:txBody>
      </p:sp>
    </p:spTree>
    <p:extLst>
      <p:ext uri="{BB962C8B-B14F-4D97-AF65-F5344CB8AC3E}">
        <p14:creationId xmlns:p14="http://schemas.microsoft.com/office/powerpoint/2010/main" val="422814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2729EBD-3BFC-6940-B1FB-F9A3C532AC84}"/>
              </a:ext>
            </a:extLst>
          </p:cNvPr>
          <p:cNvSpPr/>
          <p:nvPr/>
        </p:nvSpPr>
        <p:spPr>
          <a:xfrm>
            <a:off x="654908" y="2075935"/>
            <a:ext cx="11034584" cy="4169175"/>
          </a:xfrm>
          <a:prstGeom prst="rect">
            <a:avLst/>
          </a:prstGeom>
          <a:solidFill>
            <a:srgbClr val="FDF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/>
              <p14:cNvContentPartPr/>
              <p14:nvPr/>
            </p14:nvContentPartPr>
            <p14:xfrm>
              <a:off x="1446530" y="6547485"/>
              <a:ext cx="9525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3"/>
            </p:blipFill>
            <p:spPr>
              <a:xfrm>
                <a:off x="1446530" y="6547485"/>
                <a:ext cx="952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墨迹 3"/>
              <p14:cNvContentPartPr/>
              <p14:nvPr/>
            </p14:nvContentPartPr>
            <p14:xfrm>
              <a:off x="1354455" y="2629535"/>
              <a:ext cx="391795" cy="360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5"/>
            </p:blipFill>
            <p:spPr>
              <a:xfrm>
                <a:off x="1354455" y="2629535"/>
                <a:ext cx="39179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墨迹 4"/>
              <p14:cNvContentPartPr/>
              <p14:nvPr/>
            </p14:nvContentPartPr>
            <p14:xfrm>
              <a:off x="1383665" y="2639060"/>
              <a:ext cx="406400" cy="10160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7"/>
            </p:blipFill>
            <p:spPr>
              <a:xfrm>
                <a:off x="1383665" y="2639060"/>
                <a:ext cx="406400" cy="10160"/>
              </a:xfrm>
              <a:prstGeom prst="rect"/>
            </p:spPr>
          </p:pic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65B7D58-6AD6-3A4C-AF11-19B24B0CB86B}"/>
              </a:ext>
            </a:extLst>
          </p:cNvPr>
          <p:cNvSpPr txBox="1"/>
          <p:nvPr/>
        </p:nvSpPr>
        <p:spPr>
          <a:xfrm>
            <a:off x="548562" y="687582"/>
            <a:ext cx="4942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课程内容介绍</a:t>
            </a:r>
            <a:r>
              <a:rPr kumimoji="1" lang="en-US" altLang="zh-CN" b="1" u="sng" dirty="0">
                <a:solidFill>
                  <a:srgbClr val="C00000"/>
                </a:solidFill>
                <a:highlight>
                  <a:srgbClr val="FDF4D5"/>
                </a:highlight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Introduction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960286-31E5-6340-BE94-2321392F7153}"/>
              </a:ext>
            </a:extLst>
          </p:cNvPr>
          <p:cNvSpPr txBox="1"/>
          <p:nvPr/>
        </p:nvSpPr>
        <p:spPr>
          <a:xfrm>
            <a:off x="548562" y="1066845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努力也是一种天赋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zh-CN" altLang="en-US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E5AA5B-A8DA-E248-81EF-5B17443DBB89}"/>
              </a:ext>
            </a:extLst>
          </p:cNvPr>
          <p:cNvSpPr txBox="1"/>
          <p:nvPr/>
        </p:nvSpPr>
        <p:spPr>
          <a:xfrm>
            <a:off x="548562" y="1461727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高考还远没有到拼天赋的程度，只有足够努力，才能不给自己找借口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361100D-6883-DF45-A9BF-EF04AF407EB1}"/>
              </a:ext>
            </a:extLst>
          </p:cNvPr>
          <p:cNvSpPr txBox="1"/>
          <p:nvPr/>
        </p:nvSpPr>
        <p:spPr>
          <a:xfrm>
            <a:off x="1056821" y="2167992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7.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如何刷题、如何训练基础题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1EEB8-EF34-B943-ACC6-C1C45823AA16}"/>
              </a:ext>
            </a:extLst>
          </p:cNvPr>
          <p:cNvSpPr/>
          <p:nvPr/>
        </p:nvSpPr>
        <p:spPr>
          <a:xfrm>
            <a:off x="721660" y="219296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E5151AE-C029-9A4B-94B6-B9F8A583EED9}"/>
              </a:ext>
            </a:extLst>
          </p:cNvPr>
          <p:cNvSpPr txBox="1"/>
          <p:nvPr/>
        </p:nvSpPr>
        <p:spPr>
          <a:xfrm>
            <a:off x="1137158" y="2451015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题型分类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基础、中档、压轴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如何刷基础题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方法、策略、时间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A1420F53-7472-B44C-B926-7DAD850C5A03}"/>
              </a:ext>
            </a:extLst>
          </p:cNvPr>
          <p:cNvCxnSpPr>
            <a:cxnSpLocks/>
          </p:cNvCxnSpPr>
          <p:nvPr/>
        </p:nvCxnSpPr>
        <p:spPr>
          <a:xfrm>
            <a:off x="1137158" y="3166865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55C9EC5C-6C88-2D4F-ADC0-6AB13E703F0A}"/>
              </a:ext>
            </a:extLst>
          </p:cNvPr>
          <p:cNvCxnSpPr>
            <a:cxnSpLocks/>
          </p:cNvCxnSpPr>
          <p:nvPr/>
        </p:nvCxnSpPr>
        <p:spPr>
          <a:xfrm>
            <a:off x="1137158" y="4295921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75B38-9C69-1F44-B536-F91DB69FE9A1}"/>
              </a:ext>
            </a:extLst>
          </p:cNvPr>
          <p:cNvSpPr txBox="1"/>
          <p:nvPr/>
        </p:nvSpPr>
        <p:spPr>
          <a:xfrm>
            <a:off x="1056821" y="3296961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8.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如何刷中档题、压轴题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9D546B-98D0-7545-AE97-3A212842BB3F}"/>
              </a:ext>
            </a:extLst>
          </p:cNvPr>
          <p:cNvSpPr txBox="1"/>
          <p:nvPr/>
        </p:nvSpPr>
        <p:spPr>
          <a:xfrm>
            <a:off x="1137158" y="3524564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中档题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方法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压轴题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怎么练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考试策略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92FD49A-C081-834E-9656-AA93177FAF46}"/>
              </a:ext>
            </a:extLst>
          </p:cNvPr>
          <p:cNvSpPr txBox="1"/>
          <p:nvPr/>
        </p:nvSpPr>
        <p:spPr>
          <a:xfrm>
            <a:off x="1056821" y="4381431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9.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刷题计划表与备考策略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309476-125C-0C42-8C73-AA44EDB741CA}"/>
              </a:ext>
            </a:extLst>
          </p:cNvPr>
          <p:cNvSpPr txBox="1"/>
          <p:nvPr/>
        </p:nvSpPr>
        <p:spPr>
          <a:xfrm>
            <a:off x="1137158" y="4609034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刷题计划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不同年级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每周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寒暑假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平时测试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大考的心态与时间分配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DB2BC6-5038-E042-9F67-06081AA0AEAB}"/>
              </a:ext>
            </a:extLst>
          </p:cNvPr>
          <p:cNvSpPr txBox="1"/>
          <p:nvPr/>
        </p:nvSpPr>
        <p:spPr>
          <a:xfrm>
            <a:off x="1056821" y="5359037"/>
            <a:ext cx="49427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10.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错题本</a:t>
            </a:r>
            <a:endParaRPr kumimoji="1" lang="zh-CN" altLang="en-US" sz="12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F8AC1DF-68C5-054E-BD40-390502FAD553}"/>
              </a:ext>
            </a:extLst>
          </p:cNvPr>
          <p:cNvSpPr txBox="1"/>
          <p:nvPr/>
        </p:nvSpPr>
        <p:spPr>
          <a:xfrm>
            <a:off x="1137158" y="5642060"/>
            <a:ext cx="494270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手把手教你整理错题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题型怎么做？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按板块梳理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怎么针对自己的问题总结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一句话易错点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</p:txBody>
      </p: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D2386F2B-85FD-C24C-9EDB-DA2A7A842B49}"/>
              </a:ext>
            </a:extLst>
          </p:cNvPr>
          <p:cNvCxnSpPr>
            <a:cxnSpLocks/>
          </p:cNvCxnSpPr>
          <p:nvPr/>
        </p:nvCxnSpPr>
        <p:spPr>
          <a:xfrm>
            <a:off x="1137158" y="5261174"/>
            <a:ext cx="10379339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56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优优学姐个人介绍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689/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数学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142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数学的分数是「熬」来的，刷题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理解才能不断进步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高考数学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B71FF2-C302-6B4B-AF9D-9226A572F805}"/>
              </a:ext>
            </a:extLst>
          </p:cNvPr>
          <p:cNvSpPr txBox="1"/>
          <p:nvPr/>
        </p:nvSpPr>
        <p:spPr>
          <a:xfrm>
            <a:off x="1029994" y="2169137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清华本硕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高考四川省前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物理满分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58F83F-8A07-FE4A-B8B2-A38BA9F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8" b="11438"/>
          <a:stretch/>
        </p:blipFill>
        <p:spPr>
          <a:xfrm>
            <a:off x="8764171" y="1735282"/>
            <a:ext cx="2813333" cy="43999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A2E667D-F69D-FC4A-B398-F591C4958312}"/>
              </a:ext>
            </a:extLst>
          </p:cNvPr>
          <p:cNvSpPr/>
          <p:nvPr/>
        </p:nvSpPr>
        <p:spPr>
          <a:xfrm>
            <a:off x="9045526" y="5064369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A861DF-0412-1044-9A3A-C08379846D43}"/>
              </a:ext>
            </a:extLst>
          </p:cNvPr>
          <p:cNvSpPr/>
          <p:nvPr/>
        </p:nvSpPr>
        <p:spPr>
          <a:xfrm>
            <a:off x="9045525" y="3236467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73179E-710F-2744-AE28-66102F6B7763}"/>
              </a:ext>
            </a:extLst>
          </p:cNvPr>
          <p:cNvSpPr/>
          <p:nvPr/>
        </p:nvSpPr>
        <p:spPr>
          <a:xfrm>
            <a:off x="1029994" y="3060148"/>
            <a:ext cx="4427223" cy="11377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62121B-E71F-164E-AB7F-D2ED96C904AA}"/>
              </a:ext>
            </a:extLst>
          </p:cNvPr>
          <p:cNvSpPr/>
          <p:nvPr/>
        </p:nvSpPr>
        <p:spPr>
          <a:xfrm>
            <a:off x="1029994" y="4746052"/>
            <a:ext cx="4427223" cy="645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5215806-7293-0744-A6B0-0E868DAAA474}"/>
              </a:ext>
            </a:extLst>
          </p:cNvPr>
          <p:cNvSpPr txBox="1"/>
          <p:nvPr/>
        </p:nvSpPr>
        <p:spPr>
          <a:xfrm>
            <a:off x="1029994" y="2713079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数学要掌握什么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60726E-BBA5-E84D-B945-C137CBD6137E}"/>
              </a:ext>
            </a:extLst>
          </p:cNvPr>
          <p:cNvSpPr txBox="1"/>
          <p:nvPr/>
        </p:nvSpPr>
        <p:spPr>
          <a:xfrm>
            <a:off x="949657" y="5558458"/>
            <a:ext cx="873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可以看出：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（数学的问题性</a:t>
            </a:r>
            <a:r>
              <a: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解题思维）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是我们学习的重点，需要注意数学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掌握什么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考什么</a:t>
            </a:r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想像优优学姐一样拥有好成绩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「抓住学习方法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备考方法」才能百战百胜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71A509C-079E-2746-B3B6-0336A5BDFC25}"/>
              </a:ext>
            </a:extLst>
          </p:cNvPr>
          <p:cNvSpPr txBox="1"/>
          <p:nvPr/>
        </p:nvSpPr>
        <p:spPr>
          <a:xfrm>
            <a:off x="1029994" y="4398983"/>
            <a:ext cx="1553537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②数学怎么学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EA3C46-DF57-9E45-AAD0-A6DAAD32EC14}"/>
              </a:ext>
            </a:extLst>
          </p:cNvPr>
          <p:cNvSpPr txBox="1"/>
          <p:nvPr/>
        </p:nvSpPr>
        <p:spPr>
          <a:xfrm>
            <a:off x="2583531" y="3115391"/>
            <a:ext cx="13237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基本概念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公式推导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知识点联系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题型解法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计算能力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</a:p>
          <a:p>
            <a:pPr algn="ctr"/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带着问题学习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思维导图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42A6F2-992D-284E-8F18-F87EDEA91C75}"/>
              </a:ext>
            </a:extLst>
          </p:cNvPr>
          <p:cNvSpPr txBox="1"/>
          <p:nvPr/>
        </p:nvSpPr>
        <p:spPr>
          <a:xfrm>
            <a:off x="8764171" y="6269985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清华学姐高考成绩查询页面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希望你也能收到这样的喜讯！</a:t>
            </a:r>
          </a:p>
        </p:txBody>
      </p:sp>
      <p:pic>
        <p:nvPicPr>
          <p:cNvPr id="21" name="图片 20" descr="图片包含 草, 人, 户外, 女孩&#10;&#10;描述已自动生成">
            <a:extLst>
              <a:ext uri="{FF2B5EF4-FFF2-40B4-BE49-F238E27FC236}">
                <a16:creationId xmlns:a16="http://schemas.microsoft.com/office/drawing/2014/main" id="{E3386503-24EF-5F4B-9853-9E2C0137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15" y="1903926"/>
            <a:ext cx="2608122" cy="34767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82320" y="1590675"/>
            <a:ext cx="1062799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Chapter-2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初高中数学学习规划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776961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1108530" y="523239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代数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几何的重点：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代数：方程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函数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带参数的思维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几何：定理的推导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平行、相交、全等、相似等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从中考角度看初中数学？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阶段性学习？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个重点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5477800" cy="953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初一</a:t>
            </a:r>
            <a:r>
              <a:rPr kumimoji="1"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直线、方程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平行线、相交线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方程解法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AFFA163-5461-5B42-8AEE-277B8BB1899D}"/>
              </a:ext>
            </a:extLst>
          </p:cNvPr>
          <p:cNvSpPr/>
          <p:nvPr/>
        </p:nvSpPr>
        <p:spPr>
          <a:xfrm>
            <a:off x="1108530" y="2976000"/>
            <a:ext cx="5477800" cy="11803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F4228B-5AC5-464E-8F3F-BB984938497F}"/>
              </a:ext>
            </a:extLst>
          </p:cNvPr>
          <p:cNvSpPr txBox="1"/>
          <p:nvPr/>
        </p:nvSpPr>
        <p:spPr>
          <a:xfrm>
            <a:off x="1108530" y="2975999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②初二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二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三四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一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016F543-32CB-B645-9929-6B8A22B037ED}"/>
              </a:ext>
            </a:extLst>
          </p:cNvPr>
          <p:cNvSpPr txBox="1"/>
          <p:nvPr/>
        </p:nvSpPr>
        <p:spPr>
          <a:xfrm>
            <a:off x="1108530" y="3314685"/>
            <a:ext cx="72669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二次根式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三角形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四边形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一次函数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97A454B-8D40-0D46-80AA-C3A964AD0177}"/>
              </a:ext>
            </a:extLst>
          </p:cNvPr>
          <p:cNvSpPr/>
          <p:nvPr/>
        </p:nvSpPr>
        <p:spPr>
          <a:xfrm>
            <a:off x="1108530" y="4363865"/>
            <a:ext cx="5477800" cy="847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63CFB2-7CAC-D943-A950-4FEC198EDD86}"/>
              </a:ext>
            </a:extLst>
          </p:cNvPr>
          <p:cNvSpPr txBox="1"/>
          <p:nvPr/>
        </p:nvSpPr>
        <p:spPr>
          <a:xfrm>
            <a:off x="1108530" y="4363865"/>
            <a:ext cx="2151505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②初三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二</a:t>
            </a:r>
            <a:r>
              <a:rPr lang="en-US" altLang="zh-CN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</a:rPr>
              <a:t>总</a:t>
            </a:r>
            <a:endParaRPr kumimoji="1" lang="zh-CN" altLang="en-US" sz="1200" b="1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C625933-C6D9-E446-AF9F-850A2EF95287}"/>
              </a:ext>
            </a:extLst>
          </p:cNvPr>
          <p:cNvSpPr txBox="1"/>
          <p:nvPr/>
        </p:nvSpPr>
        <p:spPr>
          <a:xfrm>
            <a:off x="1108530" y="4729055"/>
            <a:ext cx="7266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二次函数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总复习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FEA63BF-65C6-F742-8E6D-10C8F82EC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488" y="795858"/>
            <a:ext cx="4052957" cy="52316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49D920B-504F-E443-80E1-E5362C526C17}"/>
              </a:ext>
            </a:extLst>
          </p:cNvPr>
          <p:cNvSpPr/>
          <p:nvPr/>
        </p:nvSpPr>
        <p:spPr>
          <a:xfrm>
            <a:off x="683229" y="1271599"/>
            <a:ext cx="11043316" cy="4478037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AAE971C-D36F-5C4F-AF63-A1FA3771E6E8}"/>
              </a:ext>
            </a:extLst>
          </p:cNvPr>
          <p:cNvSpPr txBox="1"/>
          <p:nvPr/>
        </p:nvSpPr>
        <p:spPr>
          <a:xfrm>
            <a:off x="6051232" y="2809720"/>
            <a:ext cx="5483851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可以看到，每一个新课阶段，我们的重点是不同的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高一：注重函数的学习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高二：数形结合的思维、复习函数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高三：策略与针对性提分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442722-D24F-7342-BAAE-C1A2206C9DEA}"/>
              </a:ext>
            </a:extLst>
          </p:cNvPr>
          <p:cNvSpPr txBox="1"/>
          <p:nvPr/>
        </p:nvSpPr>
        <p:spPr>
          <a:xfrm>
            <a:off x="683229" y="809436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从高考角度看高中数学？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6CAE0A-BEF6-744D-BE73-9E3D9A7309B4}"/>
              </a:ext>
            </a:extLst>
          </p:cNvPr>
          <p:cNvSpPr/>
          <p:nvPr/>
        </p:nvSpPr>
        <p:spPr>
          <a:xfrm>
            <a:off x="721660" y="134734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64E578-38D6-3944-8EAE-E6CD67EF4259}"/>
              </a:ext>
            </a:extLst>
          </p:cNvPr>
          <p:cNvSpPr txBox="1"/>
          <p:nvPr/>
        </p:nvSpPr>
        <p:spPr>
          <a:xfrm>
            <a:off x="1108530" y="1295247"/>
            <a:ext cx="4942702" cy="364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分阶段？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个新课阶段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498107-496C-D649-9C0A-5336781AB0CF}"/>
              </a:ext>
            </a:extLst>
          </p:cNvPr>
          <p:cNvSpPr/>
          <p:nvPr/>
        </p:nvSpPr>
        <p:spPr>
          <a:xfrm>
            <a:off x="1108530" y="1748411"/>
            <a:ext cx="4636113" cy="839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AFF280-8639-1645-ADBA-D45414D78FF8}"/>
              </a:ext>
            </a:extLst>
          </p:cNvPr>
          <p:cNvSpPr txBox="1"/>
          <p:nvPr/>
        </p:nvSpPr>
        <p:spPr>
          <a:xfrm>
            <a:off x="1108530" y="1748410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高一上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E8CE9DD-BE0A-B243-A2AA-1AF7E2132388}"/>
              </a:ext>
            </a:extLst>
          </p:cNvPr>
          <p:cNvSpPr txBox="1"/>
          <p:nvPr/>
        </p:nvSpPr>
        <p:spPr>
          <a:xfrm>
            <a:off x="1108530" y="2113600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集合、不等式、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（指对幂、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392AD85F-F15E-4849-A856-23B99721F21F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4660D11D-A19F-8744-8DBC-B04157B3D03C}"/>
              </a:ext>
            </a:extLst>
          </p:cNvPr>
          <p:cNvCxnSpPr>
            <a:cxnSpLocks/>
          </p:cNvCxnSpPr>
          <p:nvPr/>
        </p:nvCxnSpPr>
        <p:spPr>
          <a:xfrm>
            <a:off x="582977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7FE1559-6801-0248-A2A7-8476143DCE1D}"/>
              </a:ext>
            </a:extLst>
          </p:cNvPr>
          <p:cNvSpPr/>
          <p:nvPr/>
        </p:nvSpPr>
        <p:spPr>
          <a:xfrm>
            <a:off x="1137158" y="2765608"/>
            <a:ext cx="4636113" cy="839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4A1E52-E937-3540-9CBE-F5153F561142}"/>
              </a:ext>
            </a:extLst>
          </p:cNvPr>
          <p:cNvSpPr txBox="1"/>
          <p:nvPr/>
        </p:nvSpPr>
        <p:spPr>
          <a:xfrm>
            <a:off x="1137158" y="2765607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高一下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C6A5B5-2A6B-CF42-8F24-F6DE6D972375}"/>
              </a:ext>
            </a:extLst>
          </p:cNvPr>
          <p:cNvSpPr txBox="1"/>
          <p:nvPr/>
        </p:nvSpPr>
        <p:spPr>
          <a:xfrm>
            <a:off x="1137158" y="3130797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平面向量、复数、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立体几何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、统计概率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F98991-3C81-AC4D-A771-8C13FFF3E22A}"/>
              </a:ext>
            </a:extLst>
          </p:cNvPr>
          <p:cNvSpPr/>
          <p:nvPr/>
        </p:nvSpPr>
        <p:spPr>
          <a:xfrm>
            <a:off x="1137158" y="3782805"/>
            <a:ext cx="4636113" cy="839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085C5A-22D9-284B-A2AA-48A29853B0FF}"/>
              </a:ext>
            </a:extLst>
          </p:cNvPr>
          <p:cNvSpPr txBox="1"/>
          <p:nvPr/>
        </p:nvSpPr>
        <p:spPr>
          <a:xfrm>
            <a:off x="1137158" y="3782804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高二上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5919091-E07F-E546-A382-81A0B47711D6}"/>
              </a:ext>
            </a:extLst>
          </p:cNvPr>
          <p:cNvSpPr txBox="1"/>
          <p:nvPr/>
        </p:nvSpPr>
        <p:spPr>
          <a:xfrm>
            <a:off x="1137158" y="4147994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空间向量、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圆锥曲线</a:t>
            </a:r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、数列</a:t>
            </a:r>
            <a:endParaRPr kumimoji="1" lang="en-US" altLang="zh-CN" sz="12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33EB548-756E-8741-9D98-A08843312ECC}"/>
              </a:ext>
            </a:extLst>
          </p:cNvPr>
          <p:cNvSpPr/>
          <p:nvPr/>
        </p:nvSpPr>
        <p:spPr>
          <a:xfrm>
            <a:off x="1137158" y="4790182"/>
            <a:ext cx="4636113" cy="8399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1798700-BFAE-BA41-AC8D-55007C2F0B6C}"/>
              </a:ext>
            </a:extLst>
          </p:cNvPr>
          <p:cNvSpPr txBox="1"/>
          <p:nvPr/>
        </p:nvSpPr>
        <p:spPr>
          <a:xfrm>
            <a:off x="1137158" y="4790181"/>
            <a:ext cx="1032743" cy="276999"/>
          </a:xfrm>
          <a:prstGeom prst="rect">
            <a:avLst/>
          </a:prstGeom>
          <a:solidFill>
            <a:srgbClr val="F9CDCC"/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① </a:t>
            </a:r>
            <a:r>
              <a:rPr kumimoji="1" lang="zh-CN" altLang="en-US" sz="12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高二下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5788B77-410E-8A40-8A44-2D3002E7E364}"/>
              </a:ext>
            </a:extLst>
          </p:cNvPr>
          <p:cNvSpPr txBox="1"/>
          <p:nvPr/>
        </p:nvSpPr>
        <p:spPr>
          <a:xfrm>
            <a:off x="1137158" y="5155371"/>
            <a:ext cx="5757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计数原理、随机变量分布、数据统计分析、</a:t>
            </a:r>
            <a:r>
              <a:rPr kumimoji="1" lang="zh-CN" altLang="en-US" sz="12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导数</a:t>
            </a:r>
            <a:endParaRPr kumimoji="1" lang="en-US" altLang="zh-CN" sz="1200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40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Chapter-3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数学如何开窍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57220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数学开窍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核心、方法、高分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50672"/>
            <a:ext cx="4942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Part1.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核心：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「问题」带着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去学习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「策略」目标：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带着问题</a:t>
            </a:r>
            <a:r>
              <a:rPr kumimoji="1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吃透：教材</a:t>
            </a:r>
            <a:r>
              <a:rPr kumimoji="1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熟练：例题</a:t>
            </a:r>
            <a:endParaRPr kumimoji="1"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49427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数学的学习要从</a:t>
            </a:r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「听课」转移到「做题」</a:t>
            </a:r>
            <a:endParaRPr kumimoji="1"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解决问题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的思维是学习数学的核心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Part1.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核心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653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57220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数学开窍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核心、方法、高分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50672"/>
            <a:ext cx="49427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Part2.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「预习」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学什么：公式、定理、概念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「听课」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不把今天的问题留到明天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「例题」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公式、定理如何在题目中使用、解出问题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126076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例如：</a:t>
            </a:r>
            <a:b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学习「函数」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问题：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函数的定义？用来表示什么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?</a:t>
            </a: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听课：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定义域、值域、周期性、单调性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表示「函数」的什么性质、如何解决问题？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例题：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一个具体的函数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怎么求解值域、极值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Part2.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238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F08A445-F599-A64E-AFD7-C533675FF370}"/>
              </a:ext>
            </a:extLst>
          </p:cNvPr>
          <p:cNvSpPr/>
          <p:nvPr/>
        </p:nvSpPr>
        <p:spPr>
          <a:xfrm>
            <a:off x="609559" y="2192625"/>
            <a:ext cx="11129686" cy="1977265"/>
          </a:xfrm>
          <a:prstGeom prst="rect">
            <a:avLst/>
          </a:prstGeom>
          <a:solidFill>
            <a:srgbClr val="E9F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61C28-0FB1-ED4E-A5EC-867C764EA975}"/>
              </a:ext>
            </a:extLst>
          </p:cNvPr>
          <p:cNvSpPr/>
          <p:nvPr/>
        </p:nvSpPr>
        <p:spPr>
          <a:xfrm>
            <a:off x="609559" y="4574950"/>
            <a:ext cx="11129686" cy="157220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A75455-2377-8449-9C6F-C4E808CA9100}"/>
              </a:ext>
            </a:extLst>
          </p:cNvPr>
          <p:cNvSpPr txBox="1"/>
          <p:nvPr/>
        </p:nvSpPr>
        <p:spPr>
          <a:xfrm>
            <a:off x="452120" y="69977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数学开窍</a:t>
            </a:r>
            <a:r>
              <a:rPr kumimoji="1" lang="en-US" altLang="zh-CN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核心、方法、高分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40DFC1D-CC36-1044-BA2D-1847D0A38696}"/>
              </a:ext>
            </a:extLst>
          </p:cNvPr>
          <p:cNvSpPr txBox="1"/>
          <p:nvPr/>
        </p:nvSpPr>
        <p:spPr>
          <a:xfrm>
            <a:off x="1048341" y="2250672"/>
            <a:ext cx="49427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Part3.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高分：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「思维导图」</a:t>
            </a:r>
            <a:endParaRPr kumimoji="1"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公式推导、知识联系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「刷题」</a:t>
            </a:r>
            <a:endParaRPr kumimoji="1" lang="en-US" altLang="zh-CN" sz="16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基础题：中档题：压轴难题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en-US" altLang="zh-CN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3:5:2</a:t>
            </a:r>
            <a:endParaRPr kumimoji="1" lang="zh-CN" altLang="en-US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BB11D0-7FE4-1543-8451-2D20873F4588}"/>
              </a:ext>
            </a:extLst>
          </p:cNvPr>
          <p:cNvSpPr txBox="1"/>
          <p:nvPr/>
        </p:nvSpPr>
        <p:spPr>
          <a:xfrm>
            <a:off x="1048341" y="4618077"/>
            <a:ext cx="494270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「思维导图」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列表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网状图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「刷题」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重在“精”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一道题</a:t>
            </a:r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一类题</a:t>
            </a:r>
            <a:endParaRPr kumimoji="1"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AC93CE-4BC5-FA48-8A02-20CA02AE75E0}"/>
              </a:ext>
            </a:extLst>
          </p:cNvPr>
          <p:cNvSpPr txBox="1"/>
          <p:nvPr/>
        </p:nvSpPr>
        <p:spPr>
          <a:xfrm>
            <a:off x="609559" y="1430114"/>
            <a:ext cx="49427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Part3. 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高分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59CDA4-58FB-6C4C-940B-183B61651EE0}"/>
              </a:ext>
            </a:extLst>
          </p:cNvPr>
          <p:cNvSpPr/>
          <p:nvPr/>
        </p:nvSpPr>
        <p:spPr>
          <a:xfrm>
            <a:off x="634049" y="227419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4C05DA-6A5C-B740-AE62-43E4B122CE61}"/>
              </a:ext>
            </a:extLst>
          </p:cNvPr>
          <p:cNvSpPr/>
          <p:nvPr/>
        </p:nvSpPr>
        <p:spPr>
          <a:xfrm>
            <a:off x="634049" y="461919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263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Chapter-4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计算问题如何解决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44665"/>
            <a:ext cx="11004232" cy="52129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计算问题：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注意「计算习惯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计算速度」同样重要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44233-82F4-CE4A-8CCA-D646FFF28422}"/>
              </a:ext>
            </a:extLst>
          </p:cNvPr>
          <p:cNvSpPr txBox="1"/>
          <p:nvPr/>
        </p:nvSpPr>
        <p:spPr>
          <a:xfrm>
            <a:off x="952507" y="1444665"/>
            <a:ext cx="9354349" cy="703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计算习惯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计算习惯是「算得准」的基础！！！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2643342"/>
            <a:ext cx="9354349" cy="3738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注重草稿管理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平时计算：用专门「草稿纸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草稿本」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考试计算：把草稿纸折成「四象限」分区使用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*靠谁能够有时间检查时，迅速定位题目</a:t>
            </a:r>
            <a:r>
              <a:rPr kumimoji="1" lang="en-US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草稿位置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*计算步骤</a:t>
            </a:r>
            <a:r>
              <a:rPr kumimoji="1" lang="en-US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竖式计算不省略</a:t>
            </a:r>
            <a:r>
              <a:rPr kumimoji="1" lang="en-US" altLang="zh-CN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有效杜绝看错、抄错、写错的疏漏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熟练之后加快速度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*：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不要在试卷上打草稿！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不要分散凌乱打草稿！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23846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461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0AA3AF4-0FB6-CC44-BC81-7C2324E34F6B}"/>
              </a:ext>
            </a:extLst>
          </p:cNvPr>
          <p:cNvSpPr/>
          <p:nvPr/>
        </p:nvSpPr>
        <p:spPr>
          <a:xfrm>
            <a:off x="473535" y="1444665"/>
            <a:ext cx="11004232" cy="5212992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5813FD-F670-0541-A189-8575FD6E6004}"/>
              </a:ext>
            </a:extLst>
          </p:cNvPr>
          <p:cNvSpPr txBox="1"/>
          <p:nvPr/>
        </p:nvSpPr>
        <p:spPr>
          <a:xfrm>
            <a:off x="473535" y="355774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计算问题：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1FD399-1222-574D-A538-12F5D4CA656F}"/>
              </a:ext>
            </a:extLst>
          </p:cNvPr>
          <p:cNvSpPr txBox="1"/>
          <p:nvPr/>
        </p:nvSpPr>
        <p:spPr>
          <a:xfrm>
            <a:off x="342860" y="634087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注意「计算习惯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计算速度」同样重要</a:t>
            </a:r>
            <a:endParaRPr kumimoji="1" lang="en-US" altLang="zh-CN" sz="1400" b="1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7A5BADC-33FC-E246-9FEE-FC425A5D8254}"/>
              </a:ext>
            </a:extLst>
          </p:cNvPr>
          <p:cNvSpPr txBox="1"/>
          <p:nvPr/>
        </p:nvSpPr>
        <p:spPr>
          <a:xfrm>
            <a:off x="473535" y="943330"/>
            <a:ext cx="9354349" cy="376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2: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C44233-82F4-CE4A-8CCA-D646FFF28422}"/>
              </a:ext>
            </a:extLst>
          </p:cNvPr>
          <p:cNvSpPr txBox="1"/>
          <p:nvPr/>
        </p:nvSpPr>
        <p:spPr>
          <a:xfrm>
            <a:off x="952507" y="1444665"/>
            <a:ext cx="9354349" cy="703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计算速度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计算速度是「算得快」的保证！！！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FEC2B9-1CD0-9442-8204-4225AF92BF4A}"/>
              </a:ext>
            </a:extLst>
          </p:cNvPr>
          <p:cNvSpPr txBox="1"/>
          <p:nvPr/>
        </p:nvSpPr>
        <p:spPr>
          <a:xfrm>
            <a:off x="952507" y="2643342"/>
            <a:ext cx="9354349" cy="3738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注重限时训练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平时计算：尽量不反复检查，保证一道题目连续算到结果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考试计算：善用排除法、特殊值法等，加快计算速度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*平常做到限时训练，考试才能游刃有余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*考试会更紧张，对于自己的易错点平常要加强「刻意训练」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prstClr val="black">
                    <a:lumMod val="50000"/>
                    <a:lumOff val="50000"/>
                  </a:prst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*：</a:t>
            </a:r>
            <a:endParaRPr kumimoji="1" lang="en-US" altLang="zh-CN" sz="1600" dirty="0">
              <a:solidFill>
                <a:prstClr val="black">
                  <a:lumMod val="50000"/>
                  <a:lumOff val="50000"/>
                </a:prst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平常要养成专注计算的习惯！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每一次平时计算都当成考试</a:t>
            </a:r>
            <a:r>
              <a:rPr kumimoji="1"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限时！</a:t>
            </a:r>
            <a:endParaRPr kumimoji="1" lang="en-US" altLang="zh-CN" sz="16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732A8165-633C-BD42-AEA6-88E0AD10AAF7}"/>
              </a:ext>
            </a:extLst>
          </p:cNvPr>
          <p:cNvCxnSpPr>
            <a:cxnSpLocks/>
          </p:cNvCxnSpPr>
          <p:nvPr/>
        </p:nvCxnSpPr>
        <p:spPr>
          <a:xfrm>
            <a:off x="952507" y="23846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92E2AF84-01CC-2F46-95FA-E2F0F25BE755}"/>
              </a:ext>
            </a:extLst>
          </p:cNvPr>
          <p:cNvCxnSpPr>
            <a:cxnSpLocks/>
          </p:cNvCxnSpPr>
          <p:nvPr/>
        </p:nvCxnSpPr>
        <p:spPr>
          <a:xfrm>
            <a:off x="952507" y="6522974"/>
            <a:ext cx="1023256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2A70E441-72B8-2040-86D0-1AA98C92DC26}"/>
                  </a:ext>
                </a:extLst>
              </p14:cNvPr>
              <p14:cNvContentPartPr/>
              <p14:nvPr/>
            </p14:nvContentPartPr>
            <p14:xfrm>
              <a:off x="1671840" y="2720880"/>
              <a:ext cx="527760" cy="319680"/>
            </p14:xfrm>
          </p:contentPart>
        </mc:Choice>
        <mc:Fallback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2A70E441-72B8-2040-86D0-1AA98C92DC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62480" y="2711520"/>
                <a:ext cx="546480" cy="33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0267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Chapter-5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数学的思维导图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437175-892E-3F4C-AC0F-E093B6867A88}"/>
              </a:ext>
            </a:extLst>
          </p:cNvPr>
          <p:cNvSpPr/>
          <p:nvPr/>
        </p:nvSpPr>
        <p:spPr>
          <a:xfrm>
            <a:off x="574024" y="1347341"/>
            <a:ext cx="11043316" cy="3353553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FA99D3-4736-A246-A135-8AE4C99273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思维导图：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0E6817-B62F-4E44-80B3-EAE331DC2CB9}"/>
              </a:ext>
            </a:extLst>
          </p:cNvPr>
          <p:cNvSpPr/>
          <p:nvPr/>
        </p:nvSpPr>
        <p:spPr>
          <a:xfrm>
            <a:off x="633528" y="13933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A4B85-B5BE-C24B-94A2-47ED81E37822}"/>
              </a:ext>
            </a:extLst>
          </p:cNvPr>
          <p:cNvSpPr txBox="1"/>
          <p:nvPr/>
        </p:nvSpPr>
        <p:spPr>
          <a:xfrm>
            <a:off x="968747" y="1381367"/>
            <a:ext cx="9354349" cy="16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网状思维导图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适用于知识点分散、有逻辑联系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用好教材！！！</a:t>
            </a: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0E9FAD-86FB-6444-A3D8-9DEBA4E38E22}"/>
              </a:ext>
            </a:extLst>
          </p:cNvPr>
          <p:cNvSpPr txBox="1"/>
          <p:nvPr/>
        </p:nvSpPr>
        <p:spPr>
          <a:xfrm>
            <a:off x="582977" y="5145112"/>
            <a:ext cx="1014893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强调！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先理解分立知识点「概念、定义、图像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…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再把握知识点的联系「形成知识网」，善用「箭头」在自己头脑中推导！！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482DC0-3144-024F-BF25-1A61FFF454A7}"/>
              </a:ext>
            </a:extLst>
          </p:cNvPr>
          <p:cNvCxnSpPr>
            <a:cxnSpLocks/>
          </p:cNvCxnSpPr>
          <p:nvPr/>
        </p:nvCxnSpPr>
        <p:spPr>
          <a:xfrm>
            <a:off x="582977" y="4980918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A01DCFA-C36E-8142-A5D9-0C121720ED2B}"/>
              </a:ext>
            </a:extLst>
          </p:cNvPr>
          <p:cNvCxnSpPr>
            <a:cxnSpLocks/>
          </p:cNvCxnSpPr>
          <p:nvPr/>
        </p:nvCxnSpPr>
        <p:spPr>
          <a:xfrm>
            <a:off x="582977" y="6163794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2B59DB83-8B7F-DD47-90DC-0478654B1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503" y="327525"/>
            <a:ext cx="5854593" cy="4455646"/>
          </a:xfrm>
          <a:prstGeom prst="rect">
            <a:avLst/>
          </a:prstGeom>
        </p:spPr>
      </p:pic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BEA2B101-3A33-FF43-B5A4-FCADEBAFF170}"/>
              </a:ext>
            </a:extLst>
          </p:cNvPr>
          <p:cNvCxnSpPr>
            <a:cxnSpLocks/>
          </p:cNvCxnSpPr>
          <p:nvPr/>
        </p:nvCxnSpPr>
        <p:spPr>
          <a:xfrm flipV="1">
            <a:off x="5481552" y="1265065"/>
            <a:ext cx="4426946" cy="3435829"/>
          </a:xfrm>
          <a:prstGeom prst="line">
            <a:avLst/>
          </a:prstGeom>
          <a:ln>
            <a:solidFill>
              <a:srgbClr val="A41A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456D3C5-9C20-4548-9151-F910B1F18F59}"/>
              </a:ext>
            </a:extLst>
          </p:cNvPr>
          <p:cNvSpPr txBox="1"/>
          <p:nvPr/>
        </p:nvSpPr>
        <p:spPr>
          <a:xfrm>
            <a:off x="7684043" y="221611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630CEA-54CA-484A-8A7D-B4BABB1C899C}"/>
              </a:ext>
            </a:extLst>
          </p:cNvPr>
          <p:cNvSpPr txBox="1"/>
          <p:nvPr/>
        </p:nvSpPr>
        <p:spPr>
          <a:xfrm>
            <a:off x="8267150" y="274001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形</a:t>
            </a:r>
          </a:p>
        </p:txBody>
      </p:sp>
    </p:spTree>
    <p:extLst>
      <p:ext uri="{BB962C8B-B14F-4D97-AF65-F5344CB8AC3E}">
        <p14:creationId xmlns:p14="http://schemas.microsoft.com/office/powerpoint/2010/main" val="2155937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8437175-892E-3F4C-AC0F-E093B6867A88}"/>
              </a:ext>
            </a:extLst>
          </p:cNvPr>
          <p:cNvSpPr/>
          <p:nvPr/>
        </p:nvSpPr>
        <p:spPr>
          <a:xfrm>
            <a:off x="574024" y="1347341"/>
            <a:ext cx="11043316" cy="3353553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FA99D3-4736-A246-A135-8AE4C9927328}"/>
              </a:ext>
            </a:extLst>
          </p:cNvPr>
          <p:cNvSpPr txBox="1"/>
          <p:nvPr/>
        </p:nvSpPr>
        <p:spPr>
          <a:xfrm>
            <a:off x="538850" y="459740"/>
            <a:ext cx="4942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思维导图：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0E6817-B62F-4E44-80B3-EAE331DC2CB9}"/>
              </a:ext>
            </a:extLst>
          </p:cNvPr>
          <p:cNvSpPr/>
          <p:nvPr/>
        </p:nvSpPr>
        <p:spPr>
          <a:xfrm>
            <a:off x="633528" y="139339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CA4B85-B5BE-C24B-94A2-47ED81E37822}"/>
              </a:ext>
            </a:extLst>
          </p:cNvPr>
          <p:cNvSpPr txBox="1"/>
          <p:nvPr/>
        </p:nvSpPr>
        <p:spPr>
          <a:xfrm>
            <a:off x="968747" y="1381367"/>
            <a:ext cx="9354349" cy="32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400" b="1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表格状思维导图</a:t>
            </a:r>
            <a:endParaRPr kumimoji="1" lang="en-US" altLang="zh-CN" sz="1400" b="1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适用于知识点需要对比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归纳总结！！！</a:t>
            </a: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例如：</a:t>
            </a:r>
            <a:endParaRPr kumimoji="1" lang="en-US" altLang="zh-CN" sz="1400" u="sng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学习三角函数时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将「图像」与「性质」对应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系统性列表总结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0E9FAD-86FB-6444-A3D8-9DEBA4E38E22}"/>
              </a:ext>
            </a:extLst>
          </p:cNvPr>
          <p:cNvSpPr txBox="1"/>
          <p:nvPr/>
        </p:nvSpPr>
        <p:spPr>
          <a:xfrm>
            <a:off x="582977" y="5145112"/>
            <a:ext cx="35958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强调！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先理解概念的「共性」，通过「归纳」找出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相似点、易混点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明确差异、共同记忆！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1482DC0-3144-024F-BF25-1A61FFF454A7}"/>
              </a:ext>
            </a:extLst>
          </p:cNvPr>
          <p:cNvCxnSpPr>
            <a:cxnSpLocks/>
          </p:cNvCxnSpPr>
          <p:nvPr/>
        </p:nvCxnSpPr>
        <p:spPr>
          <a:xfrm>
            <a:off x="582977" y="4980918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9A01DCFA-C36E-8142-A5D9-0C121720ED2B}"/>
              </a:ext>
            </a:extLst>
          </p:cNvPr>
          <p:cNvCxnSpPr>
            <a:cxnSpLocks/>
          </p:cNvCxnSpPr>
          <p:nvPr/>
        </p:nvCxnSpPr>
        <p:spPr>
          <a:xfrm>
            <a:off x="582977" y="6163794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表格&#10;&#10;描述已自动生成">
            <a:extLst>
              <a:ext uri="{FF2B5EF4-FFF2-40B4-BE49-F238E27FC236}">
                <a16:creationId xmlns:a16="http://schemas.microsoft.com/office/drawing/2014/main" id="{697384B0-9C5D-A745-A3F2-167911F60E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564" y="237865"/>
            <a:ext cx="7872988" cy="631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159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函数与导数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函数、「解答」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导数综合运用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函数的基本性质、利用导数研究函数极值与最值、导数的几何意义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初等函数、不等式恒成立及存在性、函数与导数单调性、用导数解决函数与方程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327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抽象函数基本性质：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奇偶性、单调性、图像对称性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函数零点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利用导数研究函数最值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构造函数证明不等式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导数的几何意义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导数研究不等式恒成立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根据不等式恒成立求参数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667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定义域优先原则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基本性质与结论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求导公式要牢记，细心求导、分类讨论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赋值法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数形结合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特殊与一般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031304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三角函数、解三角形与平面向量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诱导公式、三角恒等变换、平面向量，「解答」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正余弦定理、三角形面积公式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三角恒等变换公式、解三角形、平面向量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三角函数的图象与性质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三角函数基础、平面向量的几何与代数形式：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三角函数的图象与性质（单调性、奇偶行、对称性、周期性）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正余弦定理解三角形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平面向量的数量积、模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三角恒等变换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根据三角函数的性质（单调性、零点个数）求参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9904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两角和与差的三角函数公式、平面向量公式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正余弦定理、三角形面积公式要牢记！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常用角的代换与公式变形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多方观察选择合适方法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平面向量解决数量、位置关系的应用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022774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数列基本项计算，「解答」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递推公式、证明、通项公式等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等差数列、数列的递推与求和公式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等比数列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数列递推公式、前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项和公式及性质：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数列的性质在应用时的限制（公比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取值、项数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取值）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错位相减法、裂项相消法（项数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的范围和对称性）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基本量计算（首项、公差、公比）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数列新定义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数列与不等式的结合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99041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规律性，记牢公式，注意限制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新定义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不等式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函数结合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构造等差与等比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注意总结快速解题法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新定义信息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4140587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立体几何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表面积和体积，「解答」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判定位置关系、空间角、向量方法与几何方法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空间几何体的结构特征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表面积与体积、空间中位置关系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二面角、线面角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295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简单几何体结构特征、向量法与几何法：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点、直线、平面的位置关系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线面平行与垂直的判定、空间角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空间动态问题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二面角最值、外接球、翻折问题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667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牢记定理与转化条件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灵活选择向量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几何方法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线面关系判定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轨迹问题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最值与范围问题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4674784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解析几何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直线与圆，「解答」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数形结合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椭圆、双曲线、抛物线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直线与圆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327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圆锥曲线代数及几何及性质：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直线与圆的位置关系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圆锥曲线的离心率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圆锥曲线中的定值、定点、最值、范围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椭圆与定点问题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双曲线的渐近线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抛物线与直线</a:t>
            </a:r>
            <a:r>
              <a:rPr kumimoji="1"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线段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5" y="4542834"/>
            <a:ext cx="4536999" cy="1667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定义、标准方程、几何性质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综合性、计算能力、二级结论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运算量大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与向量、解三角形、不等式综合应用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841901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6123750" cy="306486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针对性重难点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模块分析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备考建议</a:t>
            </a:r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10584984" cy="2303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命题模块分析：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6.【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概率与统计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lvl="1"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考察题型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——【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「选填」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排列组合、二项式定理、样本、条件概率，「解答」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经验回归方程、独立性检验、期望与方差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高频考点：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排列组合、二项式定理、离散型随机变量、相互独立事件的概率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次高频考点：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古典概型、独立性检验、正态分布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991404" y="3220407"/>
            <a:ext cx="5547941" cy="3273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学姐建议</a:t>
            </a:r>
            <a:r>
              <a:rPr kumimoji="1" lang="en-US" altLang="zh-CN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重点做思维导图内容：</a:t>
            </a: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基础概念</a:t>
            </a:r>
            <a:r>
              <a:rPr kumimoji="1" lang="en-US" altLang="zh-CN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相互独立事件的概率、条件概率：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排列组合、二项式定理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样本的数字特征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条件概率、相互独立事件概率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随机变量的分布与期望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223AAC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*重难题型：</a:t>
            </a:r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与数列、几何的结合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kumimoji="1"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组合与二项式定理的结合</a:t>
            </a:r>
            <a:endParaRPr kumimoji="1"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359630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D0138B-3C41-FB47-B597-7A7FFE72E6D8}"/>
              </a:ext>
            </a:extLst>
          </p:cNvPr>
          <p:cNvSpPr txBox="1"/>
          <p:nvPr/>
        </p:nvSpPr>
        <p:spPr>
          <a:xfrm>
            <a:off x="7517626" y="4542834"/>
            <a:ext cx="4203360" cy="166725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原则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选填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牢记基础概念，理解到位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与：导数、数列、集合结合，交叉运用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掌握模块内容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kumimoji="1" lang="zh-CN" altLang="en-US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多板块灵活理解运用</a:t>
            </a:r>
            <a:r>
              <a:rPr kumimoji="1" lang="en-US" altLang="zh-CN" sz="1400" dirty="0">
                <a:solidFill>
                  <a:srgbClr val="A41AD4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802258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Chapter-6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提分重点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数学如何提分？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）必拿分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题目类型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如何应对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题目类型：「必须拿到手的分数」，以总题数为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道的高考数学为例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1-8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15-17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endParaRPr kumimoji="1" lang="en-US" altLang="zh-CN" sz="1600" dirty="0">
              <a:solidFill>
                <a:srgbClr val="C00000"/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*：会做的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5D6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一道都不要错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！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应对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平时就做限时训练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0569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1D35ACD-135F-314A-9F1E-FE71E76D5812}"/>
              </a:ext>
            </a:extLst>
          </p:cNvPr>
          <p:cNvSpPr txBox="1"/>
          <p:nvPr/>
        </p:nvSpPr>
        <p:spPr>
          <a:xfrm>
            <a:off x="417830" y="3705874"/>
            <a:ext cx="9503133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）争取分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题型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题目类型：「争取拿到手的分数」，以总题数为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道的高考数学为例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多选题的一个选项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填空（考察思维） </a:t>
            </a:r>
            <a:r>
              <a:rPr kumimoji="1" lang="en-US" altLang="zh-CN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最后两大题步骤分</a:t>
            </a:r>
            <a:endParaRPr kumimoji="1" lang="en-US" altLang="zh-CN" sz="1600" dirty="0">
              <a:solidFill>
                <a:srgbClr val="C00000"/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*：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保证读题与思考时间！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——{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策略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不放过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尽量</a:t>
            </a:r>
            <a:r>
              <a:rPr kumimoji="1" lang="zh-CN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多写步骤</a:t>
            </a:r>
            <a:endParaRPr kumimoji="1" lang="en-US" altLang="zh-CN" sz="1600" b="1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685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提分策略？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不同分数段提分策略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 &lt; 90 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根据自己的分数段针对性刷题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关键：明确当下问题，进行「刻意训练」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8" y="3251717"/>
            <a:ext cx="67732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当下分数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低于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分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这一分数段没有达到及格线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基础有问题、基本概念不清晰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（做题的“砖”尚未扎实，无法进行数学体系的搭建）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｜｜牢固基础：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将书上的知识点画出「思维导图」</a:t>
            </a:r>
            <a:endParaRPr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只练基础题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*：进行限时训练！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检验：直到前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道选择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前两道多选能够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限时全对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，蒙住答案迅速反应思路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8B5E83-1BEC-344A-8BBA-AEAAE34E6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30"/>
          <a:stretch/>
        </p:blipFill>
        <p:spPr>
          <a:xfrm>
            <a:off x="7077509" y="206392"/>
            <a:ext cx="4036415" cy="584609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1F0FFDF-C4B1-6947-867F-EDB5A56A99AF}"/>
              </a:ext>
            </a:extLst>
          </p:cNvPr>
          <p:cNvSpPr/>
          <p:nvPr/>
        </p:nvSpPr>
        <p:spPr>
          <a:xfrm>
            <a:off x="7573212" y="371061"/>
            <a:ext cx="2299658" cy="37696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5607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提分策略？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不同分数段提分策略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 90 ~ 120 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根据自己的分数段针对性刷题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关键：明确当下问题，进行「刻意训练」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7179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【2024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河南省普通高中毕业班高考适应性测试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.17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8" y="3251717"/>
            <a:ext cx="6773286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当下分数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～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分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这一分数段达到及格线，但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题型不熟练</a:t>
            </a:r>
            <a:r>
              <a:rPr kumimoji="1" lang="en-US" altLang="zh-CN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考试速度上不去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1" dirty="0"/>
              <a:t>√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基础没问题、基本概念清晰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b="1" dirty="0"/>
              <a:t>×</a:t>
            </a:r>
            <a:r>
              <a:rPr lang="zh-CN" altLang="en-US" b="1" dirty="0"/>
              <a:t>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题型掌握不熟练，考试时间分配不当，成绩不稳定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（做题的“砖”积累足够，数学体系的搭建方法不明确）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｜｜熟练题型：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基础题进一步强化「限时」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缩短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5-10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分钟训练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将中档题、压轴题做「熟」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蒙住答案迅速反应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*压轴题往往：中档题的「组合」，更加复杂、计算更大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拆解！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中档题型熟练之后，留更多时间给压轴题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往往事半功倍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A8B5E83-1BEC-344A-8BBA-AEAAE34E67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2512" y="328671"/>
            <a:ext cx="3674106" cy="584609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1F0FFDF-C4B1-6947-867F-EDB5A56A99AF}"/>
              </a:ext>
            </a:extLst>
          </p:cNvPr>
          <p:cNvSpPr/>
          <p:nvPr/>
        </p:nvSpPr>
        <p:spPr>
          <a:xfrm>
            <a:off x="6911044" y="564504"/>
            <a:ext cx="881676" cy="2652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417C88-FA81-B844-96A3-35A92B32E8EB}"/>
              </a:ext>
            </a:extLst>
          </p:cNvPr>
          <p:cNvSpPr/>
          <p:nvPr/>
        </p:nvSpPr>
        <p:spPr>
          <a:xfrm>
            <a:off x="7351881" y="1754165"/>
            <a:ext cx="1540767" cy="2163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AFAC4F-5AA4-D64C-9E7C-24CF88475436}"/>
              </a:ext>
            </a:extLst>
          </p:cNvPr>
          <p:cNvSpPr/>
          <p:nvPr/>
        </p:nvSpPr>
        <p:spPr>
          <a:xfrm>
            <a:off x="7351880" y="2435614"/>
            <a:ext cx="2667204" cy="32264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51B7A3-7E77-3742-A904-BE1F6BD2F925}"/>
              </a:ext>
            </a:extLst>
          </p:cNvPr>
          <p:cNvSpPr/>
          <p:nvPr/>
        </p:nvSpPr>
        <p:spPr>
          <a:xfrm>
            <a:off x="7351880" y="3415587"/>
            <a:ext cx="2507721" cy="2420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5342CA-B0AA-8D49-B959-7BFF457A6A1D}"/>
              </a:ext>
            </a:extLst>
          </p:cNvPr>
          <p:cNvSpPr/>
          <p:nvPr/>
        </p:nvSpPr>
        <p:spPr>
          <a:xfrm>
            <a:off x="6992822" y="5453585"/>
            <a:ext cx="3331412" cy="5742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C12217-8887-8549-B7C5-D9D1568E3402}"/>
              </a:ext>
            </a:extLst>
          </p:cNvPr>
          <p:cNvSpPr/>
          <p:nvPr/>
        </p:nvSpPr>
        <p:spPr>
          <a:xfrm>
            <a:off x="7149355" y="4010004"/>
            <a:ext cx="1112674" cy="1981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11969B56-7DC0-9B45-8BDD-F64505F04B93}"/>
              </a:ext>
            </a:extLst>
          </p:cNvPr>
          <p:cNvCxnSpPr/>
          <p:nvPr/>
        </p:nvCxnSpPr>
        <p:spPr>
          <a:xfrm>
            <a:off x="7969663" y="1970469"/>
            <a:ext cx="0" cy="46514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CC4AA667-7951-644D-A772-838E3301BE29}"/>
              </a:ext>
            </a:extLst>
          </p:cNvPr>
          <p:cNvCxnSpPr>
            <a:cxnSpLocks/>
          </p:cNvCxnSpPr>
          <p:nvPr/>
        </p:nvCxnSpPr>
        <p:spPr>
          <a:xfrm>
            <a:off x="7969663" y="2758259"/>
            <a:ext cx="0" cy="65732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83664331-2B28-E84F-A7DF-1E31D6CCC93A}"/>
              </a:ext>
            </a:extLst>
          </p:cNvPr>
          <p:cNvCxnSpPr>
            <a:cxnSpLocks/>
          </p:cNvCxnSpPr>
          <p:nvPr/>
        </p:nvCxnSpPr>
        <p:spPr>
          <a:xfrm>
            <a:off x="7969663" y="3657600"/>
            <a:ext cx="0" cy="35240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25EBB103-E8C2-0B4F-92B6-A8F6BE35D0C7}"/>
              </a:ext>
            </a:extLst>
          </p:cNvPr>
          <p:cNvCxnSpPr>
            <a:cxnSpLocks/>
          </p:cNvCxnSpPr>
          <p:nvPr/>
        </p:nvCxnSpPr>
        <p:spPr>
          <a:xfrm>
            <a:off x="7967516" y="4208175"/>
            <a:ext cx="2147" cy="127153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D7979F0A-482A-764F-AA27-77350D1E1B23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1282335" y="1172200"/>
            <a:ext cx="42704" cy="42295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EFB968DB-4673-C540-B421-6A3643DC0B85}"/>
              </a:ext>
            </a:extLst>
          </p:cNvPr>
          <p:cNvSpPr/>
          <p:nvPr/>
        </p:nvSpPr>
        <p:spPr>
          <a:xfrm>
            <a:off x="10554655" y="5401711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Step6: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验证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其他取值范围排除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0F089E-AF62-9A49-87F3-062D795BA4A9}"/>
              </a:ext>
            </a:extLst>
          </p:cNvPr>
          <p:cNvSpPr/>
          <p:nvPr/>
        </p:nvSpPr>
        <p:spPr>
          <a:xfrm>
            <a:off x="10542220" y="657762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Step1: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明确问题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导数求函数最值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2D87D4-292E-2447-8E3B-47AF2669951F}"/>
              </a:ext>
            </a:extLst>
          </p:cNvPr>
          <p:cNvSpPr/>
          <p:nvPr/>
        </p:nvSpPr>
        <p:spPr>
          <a:xfrm>
            <a:off x="10542219" y="173899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Step2: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求导数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900206-0451-5A46-AB2D-1C579B567DE7}"/>
              </a:ext>
            </a:extLst>
          </p:cNvPr>
          <p:cNvSpPr/>
          <p:nvPr/>
        </p:nvSpPr>
        <p:spPr>
          <a:xfrm>
            <a:off x="10542218" y="233191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Step3: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明确单调性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7373B2-69E5-2140-B5BE-5B711A8BAB56}"/>
              </a:ext>
            </a:extLst>
          </p:cNvPr>
          <p:cNvSpPr/>
          <p:nvPr/>
        </p:nvSpPr>
        <p:spPr>
          <a:xfrm>
            <a:off x="10542217" y="3345490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Step4: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明确最值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96E805-93D3-834B-BBCB-12B555C4AF02}"/>
              </a:ext>
            </a:extLst>
          </p:cNvPr>
          <p:cNvSpPr/>
          <p:nvPr/>
        </p:nvSpPr>
        <p:spPr>
          <a:xfrm>
            <a:off x="10542216" y="4098672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Step5: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步骤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新设函数，</a:t>
            </a:r>
            <a:b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解出参数</a:t>
            </a:r>
          </a:p>
        </p:txBody>
      </p:sp>
      <p:sp>
        <p:nvSpPr>
          <p:cNvPr id="35" name="上弧形箭头 34">
            <a:extLst>
              <a:ext uri="{FF2B5EF4-FFF2-40B4-BE49-F238E27FC236}">
                <a16:creationId xmlns:a16="http://schemas.microsoft.com/office/drawing/2014/main" id="{65C123CB-34B3-0041-AF68-E0B30F97EDCE}"/>
              </a:ext>
            </a:extLst>
          </p:cNvPr>
          <p:cNvSpPr/>
          <p:nvPr/>
        </p:nvSpPr>
        <p:spPr>
          <a:xfrm>
            <a:off x="9871277" y="6178721"/>
            <a:ext cx="1188720" cy="436184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46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提分策略？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不同分数段提分策略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——{ 120+ }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核心方法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根据自己的分数段针对性刷题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关键：明确当下问题，进行「刻意训练」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93629" y="2882386"/>
            <a:ext cx="4358886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【2024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广州市普通高中毕业班综合测试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.11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93908" y="3251717"/>
            <a:ext cx="677328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当下分数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120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分以上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这一分数段基础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中档常规</a:t>
            </a:r>
            <a:r>
              <a:rPr kumimoji="1" lang="zh-CN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题型可以处理，但是压轴没思路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b="1" dirty="0"/>
              <a:t>√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题型熟练、考试速度尚可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b="1" dirty="0"/>
              <a:t>×</a:t>
            </a:r>
            <a:r>
              <a:rPr lang="zh-CN" altLang="en-US" b="1" dirty="0"/>
              <a:t> 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题型未能找到最优解，压轴题吃力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（数学体系的搭建完成，解题策略需要提升）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｜｜题型精进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找最优解：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将题型做「精」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从考试错题积累思路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*：与老师沟通，针对性应对「最容易失分」的问题！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不满足于「做出来」</a:t>
            </a:r>
            <a:r>
              <a:rPr kumimoji="1"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寻找多种解法、最优解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B968DB-4673-C540-B421-6A3643DC0B85}"/>
              </a:ext>
            </a:extLst>
          </p:cNvPr>
          <p:cNvSpPr/>
          <p:nvPr/>
        </p:nvSpPr>
        <p:spPr>
          <a:xfrm>
            <a:off x="10465637" y="3703933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直接求导、求交点？</a:t>
            </a:r>
          </a:p>
        </p:txBody>
      </p:sp>
      <p:sp>
        <p:nvSpPr>
          <p:cNvPr id="35" name="上弧形箭头 34">
            <a:extLst>
              <a:ext uri="{FF2B5EF4-FFF2-40B4-BE49-F238E27FC236}">
                <a16:creationId xmlns:a16="http://schemas.microsoft.com/office/drawing/2014/main" id="{65C123CB-34B3-0041-AF68-E0B30F97EDCE}"/>
              </a:ext>
            </a:extLst>
          </p:cNvPr>
          <p:cNvSpPr/>
          <p:nvPr/>
        </p:nvSpPr>
        <p:spPr>
          <a:xfrm>
            <a:off x="9871277" y="6178721"/>
            <a:ext cx="1188720" cy="436184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477C27F-B004-7544-921C-722A991F3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447" y="3429000"/>
            <a:ext cx="3314700" cy="246380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6B17F6F-B847-2945-A9FF-5F2D83E6EF90}"/>
              </a:ext>
            </a:extLst>
          </p:cNvPr>
          <p:cNvSpPr/>
          <p:nvPr/>
        </p:nvSpPr>
        <p:spPr>
          <a:xfrm>
            <a:off x="10485991" y="4896967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是否有更简便的方法？</a:t>
            </a:r>
          </a:p>
        </p:txBody>
      </p:sp>
    </p:spTree>
    <p:extLst>
      <p:ext uri="{BB962C8B-B14F-4D97-AF65-F5344CB8AC3E}">
        <p14:creationId xmlns:p14="http://schemas.microsoft.com/office/powerpoint/2010/main" val="26775709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提分策略？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0F089E-AF62-9A49-87F3-062D795BA4A9}"/>
              </a:ext>
            </a:extLst>
          </p:cNvPr>
          <p:cNvSpPr/>
          <p:nvPr/>
        </p:nvSpPr>
        <p:spPr>
          <a:xfrm>
            <a:off x="858872" y="173899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1: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求切线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2D87D4-292E-2447-8E3B-47AF2669951F}"/>
              </a:ext>
            </a:extLst>
          </p:cNvPr>
          <p:cNvSpPr/>
          <p:nvPr/>
        </p:nvSpPr>
        <p:spPr>
          <a:xfrm>
            <a:off x="858871" y="2891620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思路：联立求解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900206-0451-5A46-AB2D-1C579B567DE7}"/>
              </a:ext>
            </a:extLst>
          </p:cNvPr>
          <p:cNvSpPr/>
          <p:nvPr/>
        </p:nvSpPr>
        <p:spPr>
          <a:xfrm>
            <a:off x="10327919" y="1739104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：将参数转为未知常数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7373B2-69E5-2140-B5BE-5B711A8BAB56}"/>
              </a:ext>
            </a:extLst>
          </p:cNvPr>
          <p:cNvSpPr/>
          <p:nvPr/>
        </p:nvSpPr>
        <p:spPr>
          <a:xfrm>
            <a:off x="10327918" y="2891620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思路：构造新函数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化为‘方程的解’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96E805-93D3-834B-BBCB-12B555C4AF02}"/>
              </a:ext>
            </a:extLst>
          </p:cNvPr>
          <p:cNvSpPr/>
          <p:nvPr/>
        </p:nvSpPr>
        <p:spPr>
          <a:xfrm>
            <a:off x="10335161" y="3859849"/>
            <a:ext cx="1540767" cy="621721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计算简单</a:t>
            </a:r>
            <a:b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数形结合</a:t>
            </a:r>
            <a:b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</a:b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大大提升做题速度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4D00FE4-B956-5D45-8CB8-A93D544A2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710" y="97620"/>
            <a:ext cx="3180795" cy="602343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1F0B113-DD7A-E44B-9600-E1B7C4168E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562" y="97620"/>
            <a:ext cx="3670300" cy="2794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CD7F91F-06D7-DC49-8CFD-594E601E23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1067" y="2820226"/>
            <a:ext cx="3751983" cy="2714944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EB18D90E-DB7F-8A4D-8152-ED6243135487}"/>
              </a:ext>
            </a:extLst>
          </p:cNvPr>
          <p:cNvSpPr/>
          <p:nvPr/>
        </p:nvSpPr>
        <p:spPr>
          <a:xfrm>
            <a:off x="858870" y="3993258"/>
            <a:ext cx="1540767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计算量略大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4BD947F-94F8-3E49-B0A6-207CB67AE6F0}"/>
              </a:ext>
            </a:extLst>
          </p:cNvPr>
          <p:cNvSpPr/>
          <p:nvPr/>
        </p:nvSpPr>
        <p:spPr>
          <a:xfrm>
            <a:off x="4050175" y="6347635"/>
            <a:ext cx="3866543" cy="488312"/>
          </a:xfrm>
          <a:prstGeom prst="rect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）积累思路！多观察、思考题目的变形</a:t>
            </a:r>
            <a:endParaRPr kumimoji="1" lang="en-US" altLang="zh-CN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kumimoji="1" lang="en-US" altLang="zh-CN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）牢记二级结论，大大简化做题步骤</a:t>
            </a:r>
          </a:p>
        </p:txBody>
      </p:sp>
      <p:sp>
        <p:nvSpPr>
          <p:cNvPr id="35" name="上弧形箭头 34">
            <a:extLst>
              <a:ext uri="{FF2B5EF4-FFF2-40B4-BE49-F238E27FC236}">
                <a16:creationId xmlns:a16="http://schemas.microsoft.com/office/drawing/2014/main" id="{65C123CB-34B3-0041-AF68-E0B30F97EDCE}"/>
              </a:ext>
            </a:extLst>
          </p:cNvPr>
          <p:cNvSpPr/>
          <p:nvPr/>
        </p:nvSpPr>
        <p:spPr>
          <a:xfrm>
            <a:off x="5389087" y="5854921"/>
            <a:ext cx="1188720" cy="448614"/>
          </a:xfrm>
          <a:prstGeom prst="curved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4A3B7D-8842-4E43-AF29-E4A3CDCB6969}"/>
              </a:ext>
            </a:extLst>
          </p:cNvPr>
          <p:cNvSpPr/>
          <p:nvPr/>
        </p:nvSpPr>
        <p:spPr>
          <a:xfrm>
            <a:off x="7058790" y="1563549"/>
            <a:ext cx="1518540" cy="48831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E0E1D3-7295-8541-801D-DFCC988071B7}"/>
              </a:ext>
            </a:extLst>
          </p:cNvPr>
          <p:cNvSpPr/>
          <p:nvPr/>
        </p:nvSpPr>
        <p:spPr>
          <a:xfrm>
            <a:off x="3180102" y="5189139"/>
            <a:ext cx="2180429" cy="4389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ED9500C-3F36-5B45-8CE8-7DF5E3B1D6F8}"/>
              </a:ext>
            </a:extLst>
          </p:cNvPr>
          <p:cNvSpPr/>
          <p:nvPr/>
        </p:nvSpPr>
        <p:spPr>
          <a:xfrm>
            <a:off x="6616444" y="4806266"/>
            <a:ext cx="3055483" cy="43892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6594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1605" y="1590675"/>
            <a:ext cx="10088789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Chapter-7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如何刷题与训练基础题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题型难度分布？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96905" y="1959695"/>
            <a:ext cx="2529249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基础题占比最大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中档题分值较大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压轴题难度较大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656C88-99C7-BB4F-ABAD-011FC625B240}"/>
              </a:ext>
            </a:extLst>
          </p:cNvPr>
          <p:cNvGrpSpPr/>
          <p:nvPr/>
        </p:nvGrpSpPr>
        <p:grpSpPr>
          <a:xfrm>
            <a:off x="2947079" y="748030"/>
            <a:ext cx="8871275" cy="6109967"/>
            <a:chOff x="2788931" y="778425"/>
            <a:chExt cx="8827090" cy="607953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81CD597-A358-2841-AAC3-0EC66DCC544F}"/>
                </a:ext>
              </a:extLst>
            </p:cNvPr>
            <p:cNvGrpSpPr/>
            <p:nvPr/>
          </p:nvGrpSpPr>
          <p:grpSpPr>
            <a:xfrm>
              <a:off x="2788931" y="778425"/>
              <a:ext cx="8827090" cy="6079535"/>
              <a:chOff x="3287421" y="778426"/>
              <a:chExt cx="8328599" cy="573620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8175BDC-4911-D34C-B4EA-ABF582B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287421" y="778426"/>
                <a:ext cx="8328599" cy="5736206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1B7EE2-5372-0B44-AC64-6A14AEE824CF}"/>
                  </a:ext>
                </a:extLst>
              </p:cNvPr>
              <p:cNvSpPr/>
              <p:nvPr/>
            </p:nvSpPr>
            <p:spPr>
              <a:xfrm>
                <a:off x="3300550" y="778427"/>
                <a:ext cx="1098945" cy="554762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634F18-3A32-6D44-8D67-DA787407CBCE}"/>
                  </a:ext>
                </a:extLst>
              </p:cNvPr>
              <p:cNvSpPr/>
              <p:nvPr/>
            </p:nvSpPr>
            <p:spPr>
              <a:xfrm>
                <a:off x="7038359" y="2252666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FD6EEE4-BF2D-0444-9103-A5ABD091D26B}"/>
                  </a:ext>
                </a:extLst>
              </p:cNvPr>
              <p:cNvSpPr/>
              <p:nvPr/>
            </p:nvSpPr>
            <p:spPr>
              <a:xfrm>
                <a:off x="8995495" y="978138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6E88BB-466C-7149-9D45-175F3983BB15}"/>
                  </a:ext>
                </a:extLst>
              </p:cNvPr>
              <p:cNvSpPr/>
              <p:nvPr/>
            </p:nvSpPr>
            <p:spPr>
              <a:xfrm>
                <a:off x="6625159" y="5269831"/>
                <a:ext cx="433595" cy="41186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BF2059E-F8DA-EF4D-B65E-80D9601ED312}"/>
                  </a:ext>
                </a:extLst>
              </p:cNvPr>
              <p:cNvSpPr/>
              <p:nvPr/>
            </p:nvSpPr>
            <p:spPr>
              <a:xfrm>
                <a:off x="7038359" y="5107250"/>
                <a:ext cx="1239367" cy="69494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4447E7B-3288-8D43-9529-5C4C2037D9EE}"/>
                </a:ext>
              </a:extLst>
            </p:cNvPr>
            <p:cNvSpPr/>
            <p:nvPr/>
          </p:nvSpPr>
          <p:spPr>
            <a:xfrm>
              <a:off x="6517231" y="834110"/>
              <a:ext cx="706690" cy="58796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780C21C1-B9D2-3546-9830-67174465034B}"/>
              </a:ext>
            </a:extLst>
          </p:cNvPr>
          <p:cNvSpPr/>
          <p:nvPr/>
        </p:nvSpPr>
        <p:spPr>
          <a:xfrm>
            <a:off x="2971134" y="1996106"/>
            <a:ext cx="2174170" cy="4745645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8F39CC-DF11-8047-8823-148728D60E4C}"/>
              </a:ext>
            </a:extLst>
          </p:cNvPr>
          <p:cNvSpPr/>
          <p:nvPr/>
        </p:nvSpPr>
        <p:spPr>
          <a:xfrm>
            <a:off x="5189487" y="1450868"/>
            <a:ext cx="2214782" cy="923384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E59C7D-7D9A-3849-B6B2-ABB9D1B2765A}"/>
              </a:ext>
            </a:extLst>
          </p:cNvPr>
          <p:cNvSpPr/>
          <p:nvPr/>
        </p:nvSpPr>
        <p:spPr>
          <a:xfrm>
            <a:off x="5189487" y="4235043"/>
            <a:ext cx="2214781" cy="1786237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32278B-53A3-4246-9ACD-D3DE3907D4ED}"/>
              </a:ext>
            </a:extLst>
          </p:cNvPr>
          <p:cNvSpPr/>
          <p:nvPr/>
        </p:nvSpPr>
        <p:spPr>
          <a:xfrm>
            <a:off x="7516403" y="2917938"/>
            <a:ext cx="2065928" cy="740224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112D7F-B8E0-9444-9169-0C897F1E8D4D}"/>
              </a:ext>
            </a:extLst>
          </p:cNvPr>
          <p:cNvSpPr/>
          <p:nvPr/>
        </p:nvSpPr>
        <p:spPr>
          <a:xfrm>
            <a:off x="9527404" y="1055806"/>
            <a:ext cx="2214781" cy="923379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EF893B-920F-8740-9ECA-D484FC6FC476}"/>
              </a:ext>
            </a:extLst>
          </p:cNvPr>
          <p:cNvSpPr/>
          <p:nvPr/>
        </p:nvSpPr>
        <p:spPr>
          <a:xfrm>
            <a:off x="608623" y="2741376"/>
            <a:ext cx="1301820" cy="380793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1D6419E-B839-534D-98F5-1C12D6611438}"/>
              </a:ext>
            </a:extLst>
          </p:cNvPr>
          <p:cNvSpPr/>
          <p:nvPr/>
        </p:nvSpPr>
        <p:spPr>
          <a:xfrm>
            <a:off x="608623" y="3466650"/>
            <a:ext cx="1301820" cy="380793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16D8A2-D0A5-BE4F-A632-6E65829B8AB3}"/>
              </a:ext>
            </a:extLst>
          </p:cNvPr>
          <p:cNvSpPr/>
          <p:nvPr/>
        </p:nvSpPr>
        <p:spPr>
          <a:xfrm>
            <a:off x="608623" y="4193741"/>
            <a:ext cx="1301820" cy="380793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151E6D-F4EF-E343-BE4A-3A91F09BA8BB}"/>
              </a:ext>
            </a:extLst>
          </p:cNvPr>
          <p:cNvSpPr/>
          <p:nvPr/>
        </p:nvSpPr>
        <p:spPr>
          <a:xfrm>
            <a:off x="5169358" y="2430217"/>
            <a:ext cx="2214781" cy="1386086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11622D7-5089-1D49-85AE-26BAC4A5D32D}"/>
              </a:ext>
            </a:extLst>
          </p:cNvPr>
          <p:cNvSpPr/>
          <p:nvPr/>
        </p:nvSpPr>
        <p:spPr>
          <a:xfrm>
            <a:off x="5861957" y="6118515"/>
            <a:ext cx="1542311" cy="740224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7ECC0B-4D21-104B-AD08-7C301209461C}"/>
              </a:ext>
            </a:extLst>
          </p:cNvPr>
          <p:cNvSpPr/>
          <p:nvPr/>
        </p:nvSpPr>
        <p:spPr>
          <a:xfrm>
            <a:off x="8060389" y="748028"/>
            <a:ext cx="1507214" cy="1993321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A177706-CE1A-BF4C-89E8-1CABAF0C3AA3}"/>
              </a:ext>
            </a:extLst>
          </p:cNvPr>
          <p:cNvSpPr/>
          <p:nvPr/>
        </p:nvSpPr>
        <p:spPr>
          <a:xfrm>
            <a:off x="7549662" y="3768810"/>
            <a:ext cx="2017940" cy="740224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E81CAD7-6A5B-E240-85FF-9384105EE73E}"/>
              </a:ext>
            </a:extLst>
          </p:cNvPr>
          <p:cNvSpPr/>
          <p:nvPr/>
        </p:nvSpPr>
        <p:spPr>
          <a:xfrm>
            <a:off x="5177578" y="6118513"/>
            <a:ext cx="684379" cy="740225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3E5CB6F-F5C6-984C-88E6-1B3B742B771C}"/>
              </a:ext>
            </a:extLst>
          </p:cNvPr>
          <p:cNvSpPr/>
          <p:nvPr/>
        </p:nvSpPr>
        <p:spPr>
          <a:xfrm>
            <a:off x="7516403" y="733671"/>
            <a:ext cx="571823" cy="2007678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429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8175BDC-4911-D34C-B4EA-ABF582BC6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7079" y="778426"/>
            <a:ext cx="8871275" cy="38019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1B7EE2-5372-0B44-AC64-6A14AEE824CF}"/>
              </a:ext>
            </a:extLst>
          </p:cNvPr>
          <p:cNvSpPr/>
          <p:nvPr/>
        </p:nvSpPr>
        <p:spPr>
          <a:xfrm>
            <a:off x="8616110" y="2009581"/>
            <a:ext cx="1170550" cy="690265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34F18-3A32-6D44-8D67-DA787407CBCE}"/>
              </a:ext>
            </a:extLst>
          </p:cNvPr>
          <p:cNvSpPr/>
          <p:nvPr/>
        </p:nvSpPr>
        <p:spPr>
          <a:xfrm>
            <a:off x="6942421" y="2318329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EEE4-BF2D-0444-9103-A5ABD091D26B}"/>
              </a:ext>
            </a:extLst>
          </p:cNvPr>
          <p:cNvSpPr/>
          <p:nvPr/>
        </p:nvSpPr>
        <p:spPr>
          <a:xfrm>
            <a:off x="9027080" y="960755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E88BB-466C-7149-9D45-175F3983BB15}"/>
              </a:ext>
            </a:extLst>
          </p:cNvPr>
          <p:cNvSpPr/>
          <p:nvPr/>
        </p:nvSpPr>
        <p:spPr>
          <a:xfrm>
            <a:off x="6502298" y="5532087"/>
            <a:ext cx="461847" cy="43869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47E7B-3288-8D43-9529-5C4C2037D9EE}"/>
              </a:ext>
            </a:extLst>
          </p:cNvPr>
          <p:cNvSpPr/>
          <p:nvPr/>
        </p:nvSpPr>
        <p:spPr>
          <a:xfrm>
            <a:off x="10967353" y="1714126"/>
            <a:ext cx="710227" cy="719190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0C21C1-B9D2-3546-9830-67174465034B}"/>
              </a:ext>
            </a:extLst>
          </p:cNvPr>
          <p:cNvSpPr/>
          <p:nvPr/>
        </p:nvSpPr>
        <p:spPr>
          <a:xfrm>
            <a:off x="2939356" y="748031"/>
            <a:ext cx="2174170" cy="3801976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927B9D-16C9-D94E-AFE5-F5DEE13C1441}"/>
              </a:ext>
            </a:extLst>
          </p:cNvPr>
          <p:cNvSpPr txBox="1"/>
          <p:nvPr/>
        </p:nvSpPr>
        <p:spPr>
          <a:xfrm>
            <a:off x="496905" y="1959695"/>
            <a:ext cx="2529249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基础题占比最大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中档题分值较大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压轴题难度较大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038209A-2E6C-8842-9177-08EB35597DF8}"/>
              </a:ext>
            </a:extLst>
          </p:cNvPr>
          <p:cNvSpPr/>
          <p:nvPr/>
        </p:nvSpPr>
        <p:spPr>
          <a:xfrm>
            <a:off x="608623" y="2741376"/>
            <a:ext cx="1301820" cy="380793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DC7914-25DE-624B-809D-B1CDED65F045}"/>
              </a:ext>
            </a:extLst>
          </p:cNvPr>
          <p:cNvSpPr/>
          <p:nvPr/>
        </p:nvSpPr>
        <p:spPr>
          <a:xfrm>
            <a:off x="608623" y="3466650"/>
            <a:ext cx="1301820" cy="380793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393869-D2C0-DA4B-891F-64C3607AFA88}"/>
              </a:ext>
            </a:extLst>
          </p:cNvPr>
          <p:cNvSpPr/>
          <p:nvPr/>
        </p:nvSpPr>
        <p:spPr>
          <a:xfrm>
            <a:off x="608623" y="4193741"/>
            <a:ext cx="1301820" cy="380793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89CF1C-4EF6-5C41-B159-5CDE23B6F1E2}"/>
              </a:ext>
            </a:extLst>
          </p:cNvPr>
          <p:cNvSpPr/>
          <p:nvPr/>
        </p:nvSpPr>
        <p:spPr>
          <a:xfrm>
            <a:off x="5169358" y="1371600"/>
            <a:ext cx="2048955" cy="3178406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55C6052-1296-9D4E-8E21-8AE41BFB78E1}"/>
              </a:ext>
            </a:extLst>
          </p:cNvPr>
          <p:cNvSpPr/>
          <p:nvPr/>
        </p:nvSpPr>
        <p:spPr>
          <a:xfrm>
            <a:off x="7439971" y="792623"/>
            <a:ext cx="2048956" cy="835801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3B80DD6-7559-3C45-89A8-F948F55300CA}"/>
              </a:ext>
            </a:extLst>
          </p:cNvPr>
          <p:cNvSpPr/>
          <p:nvPr/>
        </p:nvSpPr>
        <p:spPr>
          <a:xfrm>
            <a:off x="9581665" y="800658"/>
            <a:ext cx="2048956" cy="690266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1B7A5C-8509-264B-B15B-2F035F36FED8}"/>
              </a:ext>
            </a:extLst>
          </p:cNvPr>
          <p:cNvSpPr/>
          <p:nvPr/>
        </p:nvSpPr>
        <p:spPr>
          <a:xfrm>
            <a:off x="7435416" y="1685811"/>
            <a:ext cx="2048955" cy="2864195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3F62C9-81F8-8A44-A2CD-D69CBDC1E122}"/>
              </a:ext>
            </a:extLst>
          </p:cNvPr>
          <p:cNvSpPr/>
          <p:nvPr/>
        </p:nvSpPr>
        <p:spPr>
          <a:xfrm>
            <a:off x="9599008" y="1521319"/>
            <a:ext cx="2048955" cy="3028687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064072B-6C8A-E54D-9832-A40FA353E3B8}"/>
              </a:ext>
            </a:extLst>
          </p:cNvPr>
          <p:cNvSpPr txBox="1"/>
          <p:nvPr/>
        </p:nvSpPr>
        <p:spPr>
          <a:xfrm>
            <a:off x="582977" y="4743480"/>
            <a:ext cx="1109460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牢记一个比例！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3:5:2——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「基础题」、「中档题」、「压轴题」 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比例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分数低于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，先「只」刷基础；分数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以上，仍然要重视基础题「速度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正确率」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基础题是搞定数学分数的基础！！！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680604-C605-6341-A81B-56B12DF7A910}"/>
              </a:ext>
            </a:extLst>
          </p:cNvPr>
          <p:cNvSpPr/>
          <p:nvPr/>
        </p:nvSpPr>
        <p:spPr>
          <a:xfrm>
            <a:off x="5198739" y="809545"/>
            <a:ext cx="2048956" cy="481373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9740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656C88-99C7-BB4F-ABAD-011FC625B240}"/>
              </a:ext>
            </a:extLst>
          </p:cNvPr>
          <p:cNvGrpSpPr/>
          <p:nvPr/>
        </p:nvGrpSpPr>
        <p:grpSpPr>
          <a:xfrm>
            <a:off x="2947079" y="748030"/>
            <a:ext cx="8871275" cy="6109967"/>
            <a:chOff x="2788931" y="778425"/>
            <a:chExt cx="8827090" cy="607953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81CD597-A358-2841-AAC3-0EC66DCC544F}"/>
                </a:ext>
              </a:extLst>
            </p:cNvPr>
            <p:cNvGrpSpPr/>
            <p:nvPr/>
          </p:nvGrpSpPr>
          <p:grpSpPr>
            <a:xfrm>
              <a:off x="2788931" y="778425"/>
              <a:ext cx="8827090" cy="6079535"/>
              <a:chOff x="3287421" y="778426"/>
              <a:chExt cx="8328599" cy="573620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8175BDC-4911-D34C-B4EA-ABF582B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287421" y="778426"/>
                <a:ext cx="8328599" cy="5736206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1B7EE2-5372-0B44-AC64-6A14AEE824CF}"/>
                  </a:ext>
                </a:extLst>
              </p:cNvPr>
              <p:cNvSpPr/>
              <p:nvPr/>
            </p:nvSpPr>
            <p:spPr>
              <a:xfrm>
                <a:off x="3300550" y="778427"/>
                <a:ext cx="1098945" cy="554762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634F18-3A32-6D44-8D67-DA787407CBCE}"/>
                  </a:ext>
                </a:extLst>
              </p:cNvPr>
              <p:cNvSpPr/>
              <p:nvPr/>
            </p:nvSpPr>
            <p:spPr>
              <a:xfrm>
                <a:off x="7038359" y="2252666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FD6EEE4-BF2D-0444-9103-A5ABD091D26B}"/>
                  </a:ext>
                </a:extLst>
              </p:cNvPr>
              <p:cNvSpPr/>
              <p:nvPr/>
            </p:nvSpPr>
            <p:spPr>
              <a:xfrm>
                <a:off x="8995495" y="978138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6E88BB-466C-7149-9D45-175F3983BB15}"/>
                  </a:ext>
                </a:extLst>
              </p:cNvPr>
              <p:cNvSpPr/>
              <p:nvPr/>
            </p:nvSpPr>
            <p:spPr>
              <a:xfrm>
                <a:off x="6625159" y="5269831"/>
                <a:ext cx="433595" cy="41186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BF2059E-F8DA-EF4D-B65E-80D9601ED312}"/>
                  </a:ext>
                </a:extLst>
              </p:cNvPr>
              <p:cNvSpPr/>
              <p:nvPr/>
            </p:nvSpPr>
            <p:spPr>
              <a:xfrm>
                <a:off x="7038359" y="5107250"/>
                <a:ext cx="1239367" cy="69494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4447E7B-3288-8D43-9529-5C4C2037D9EE}"/>
                </a:ext>
              </a:extLst>
            </p:cNvPr>
            <p:cNvSpPr/>
            <p:nvPr/>
          </p:nvSpPr>
          <p:spPr>
            <a:xfrm>
              <a:off x="6517231" y="834110"/>
              <a:ext cx="706690" cy="58796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780C21C1-B9D2-3546-9830-67174465034B}"/>
              </a:ext>
            </a:extLst>
          </p:cNvPr>
          <p:cNvSpPr/>
          <p:nvPr/>
        </p:nvSpPr>
        <p:spPr>
          <a:xfrm>
            <a:off x="2971134" y="1996106"/>
            <a:ext cx="2174170" cy="4745645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8F39CC-DF11-8047-8823-148728D60E4C}"/>
              </a:ext>
            </a:extLst>
          </p:cNvPr>
          <p:cNvSpPr/>
          <p:nvPr/>
        </p:nvSpPr>
        <p:spPr>
          <a:xfrm>
            <a:off x="5189487" y="1450868"/>
            <a:ext cx="2214782" cy="923384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E59C7D-7D9A-3849-B6B2-ABB9D1B2765A}"/>
              </a:ext>
            </a:extLst>
          </p:cNvPr>
          <p:cNvSpPr/>
          <p:nvPr/>
        </p:nvSpPr>
        <p:spPr>
          <a:xfrm>
            <a:off x="5189487" y="4235043"/>
            <a:ext cx="2214781" cy="1844530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32278B-53A3-4246-9ACD-D3DE3907D4ED}"/>
              </a:ext>
            </a:extLst>
          </p:cNvPr>
          <p:cNvSpPr/>
          <p:nvPr/>
        </p:nvSpPr>
        <p:spPr>
          <a:xfrm>
            <a:off x="7367550" y="2917938"/>
            <a:ext cx="2214781" cy="740224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112D7F-B8E0-9444-9169-0C897F1E8D4D}"/>
              </a:ext>
            </a:extLst>
          </p:cNvPr>
          <p:cNvSpPr/>
          <p:nvPr/>
        </p:nvSpPr>
        <p:spPr>
          <a:xfrm>
            <a:off x="9527404" y="1055806"/>
            <a:ext cx="2214781" cy="923379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E590413-C86E-DF43-B50B-C2DDEE09A66C}"/>
              </a:ext>
            </a:extLst>
          </p:cNvPr>
          <p:cNvSpPr txBox="1"/>
          <p:nvPr/>
        </p:nvSpPr>
        <p:spPr>
          <a:xfrm>
            <a:off x="496905" y="1877462"/>
            <a:ext cx="2529249" cy="261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1-7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15-16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（第一小问）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是基础题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0372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96905" y="1877462"/>
            <a:ext cx="2529249" cy="2619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1-7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15-16</a:t>
            </a: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（第一小问）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是基础题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8175BDC-4911-D34C-B4EA-ABF582BC6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7079" y="778426"/>
            <a:ext cx="8871275" cy="38019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1B7EE2-5372-0B44-AC64-6A14AEE824CF}"/>
              </a:ext>
            </a:extLst>
          </p:cNvPr>
          <p:cNvSpPr/>
          <p:nvPr/>
        </p:nvSpPr>
        <p:spPr>
          <a:xfrm>
            <a:off x="8616110" y="2009581"/>
            <a:ext cx="1170550" cy="690265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34F18-3A32-6D44-8D67-DA787407CBCE}"/>
              </a:ext>
            </a:extLst>
          </p:cNvPr>
          <p:cNvSpPr/>
          <p:nvPr/>
        </p:nvSpPr>
        <p:spPr>
          <a:xfrm>
            <a:off x="6942421" y="2318329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EEE4-BF2D-0444-9103-A5ABD091D26B}"/>
              </a:ext>
            </a:extLst>
          </p:cNvPr>
          <p:cNvSpPr/>
          <p:nvPr/>
        </p:nvSpPr>
        <p:spPr>
          <a:xfrm>
            <a:off x="9027080" y="960755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E88BB-466C-7149-9D45-175F3983BB15}"/>
              </a:ext>
            </a:extLst>
          </p:cNvPr>
          <p:cNvSpPr/>
          <p:nvPr/>
        </p:nvSpPr>
        <p:spPr>
          <a:xfrm>
            <a:off x="6502298" y="5532087"/>
            <a:ext cx="461847" cy="43869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47E7B-3288-8D43-9529-5C4C2037D9EE}"/>
              </a:ext>
            </a:extLst>
          </p:cNvPr>
          <p:cNvSpPr/>
          <p:nvPr/>
        </p:nvSpPr>
        <p:spPr>
          <a:xfrm>
            <a:off x="10967353" y="1714126"/>
            <a:ext cx="710227" cy="719190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0C21C1-B9D2-3546-9830-67174465034B}"/>
              </a:ext>
            </a:extLst>
          </p:cNvPr>
          <p:cNvSpPr/>
          <p:nvPr/>
        </p:nvSpPr>
        <p:spPr>
          <a:xfrm>
            <a:off x="2939356" y="748031"/>
            <a:ext cx="2174170" cy="3801976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339330-576B-FA4F-8E6D-1ED20D5929E8}"/>
              </a:ext>
            </a:extLst>
          </p:cNvPr>
          <p:cNvSpPr/>
          <p:nvPr/>
        </p:nvSpPr>
        <p:spPr>
          <a:xfrm>
            <a:off x="7439971" y="792623"/>
            <a:ext cx="2048956" cy="835801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74B1DB-EB7E-0642-9269-3BEE43AA9A4D}"/>
              </a:ext>
            </a:extLst>
          </p:cNvPr>
          <p:cNvSpPr/>
          <p:nvPr/>
        </p:nvSpPr>
        <p:spPr>
          <a:xfrm>
            <a:off x="9581665" y="800658"/>
            <a:ext cx="2048956" cy="690266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C9680B-DD43-3848-B870-EFFADB9C37AD}"/>
              </a:ext>
            </a:extLst>
          </p:cNvPr>
          <p:cNvSpPr/>
          <p:nvPr/>
        </p:nvSpPr>
        <p:spPr>
          <a:xfrm>
            <a:off x="5198739" y="809545"/>
            <a:ext cx="2048956" cy="481373"/>
          </a:xfrm>
          <a:prstGeom prst="rect">
            <a:avLst/>
          </a:prstGeom>
          <a:solidFill>
            <a:srgbClr val="F9CDC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292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哪些是基础题？基础题怎么刷？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1-7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15-16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（第一小问）是基础题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*学姐经验：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刷题计划的核心是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限时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高频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复盘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总结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”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对于成绩暂时在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分以下的同学来说，只有不断地在基础题上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夯实概念、熟悉方法、提高速度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，才能在后期应对更综合或难度更高的题目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314550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595FB0F-0207-784E-B7B9-01EB66CBE041}"/>
              </a:ext>
            </a:extLst>
          </p:cNvPr>
          <p:cNvSpPr/>
          <p:nvPr/>
        </p:nvSpPr>
        <p:spPr>
          <a:xfrm>
            <a:off x="582977" y="3882525"/>
            <a:ext cx="10151891" cy="1527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刷题训练：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①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选择题与填空题的限时训练｜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大题（解答题）的限时训练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每日、每周、每月刷题 ｜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表格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④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一个学期的规划 ｜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⑤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寒暑假｜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⑥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刷题打卡表（示例模板）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110AC2-CAA8-1A49-BE39-8A87D8140E51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9673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以单选、填空题为例：单选题：平均每题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1~1.5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分钟左右。</a:t>
            </a: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填空题：平均每题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2~3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分钟左右。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举例：如果一次选取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道单选题和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道填空题，总时长可控制在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15~20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分钟内。可以进行计时，一旦时间到就停止作答，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未完成的题先标记出来。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9" y="1866415"/>
            <a:ext cx="55905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先从基础题（如新高考卷中的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1-7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单选题、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9-10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多选题、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12-13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填空题）入手。</a:t>
            </a: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*建议一次选取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【5~10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此类基础题，难度以自己稍感吃力但经过努力能解决的题目为佳。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79418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682297"/>
            <a:ext cx="11177270" cy="26931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866415"/>
            <a:ext cx="55905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建议每天进行一次小规模的选择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填空组合限时训练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(5~10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可以安排一次集中训练（例如周末），选择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15-20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道题，限时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40-50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分钟完成，模拟考试环境。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905464"/>
            <a:ext cx="10457015" cy="22467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及时回顾：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训练结束后，先对照答案，找出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错题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不会的题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超时的题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*先搞清楚“错在哪里”与“正确思路是什么”，再着重查漏补缺。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错题本或错题卡：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将错误题目、解题思路、正确答案写在错题本上。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二次做题：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复盘后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第二天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再重新做一遍这些错题，巩固记忆。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同一类型题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】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反复出错，要深入分析是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概念不熟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还是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解题方法不熟练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，及时补强相关知识点。</a:t>
            </a:r>
          </a:p>
        </p:txBody>
      </p:sp>
    </p:spTree>
    <p:extLst>
      <p:ext uri="{BB962C8B-B14F-4D97-AF65-F5344CB8AC3E}">
        <p14:creationId xmlns:p14="http://schemas.microsoft.com/office/powerpoint/2010/main" val="34639469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对于一道基础解答题，建议先给自己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10~15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分钟的思考和书写时间。若是两道基础解答题，整体控制在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分钟内完成。同样建议使用计时，严格在时间到后收笔，做标记。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9" y="1866415"/>
            <a:ext cx="55905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从基础题或中档题开始，先确保自己能写全过程、能掌握常规解题方法。以新高考卷中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15-16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题为例（若这两题属于较基础或中档题），再慢慢延伸到更高难度的题目。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8714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可每天选取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道大题进行限时训练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(10~15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，先保量不求多。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可在周末做一次集中强化，选择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2-3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道解答题，控制在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40-60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分钟内完成，模拟考试。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500684"/>
            <a:ext cx="10457015" cy="2893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过程检查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*训练后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立即回顾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自己的解题过程：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是否看懂了题意？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是否使用了恰当的方法？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哪一步耗时最多？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关键步骤是否缺乏明确的思路？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思路对比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*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与标准答案或老师讲解的思路对比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，看看自己漏了哪些关键步骤，或者有没有多余的步骤。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记录与回看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错题本上要写明：该题考查的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知识点、自己的思路、正确思路、典型解法或技巧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定期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如每周或每月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翻看错题本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，进行二次或三次巩固。</a:t>
            </a:r>
          </a:p>
        </p:txBody>
      </p:sp>
    </p:spTree>
    <p:extLst>
      <p:ext uri="{BB962C8B-B14F-4D97-AF65-F5344CB8AC3E}">
        <p14:creationId xmlns:p14="http://schemas.microsoft.com/office/powerpoint/2010/main" val="39623849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45243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Chapter-8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如何刷中档题</a:t>
            </a:r>
            <a:endParaRPr lang="en-US" altLang="zh-CN" sz="7200" b="1" dirty="0">
              <a:solidFill>
                <a:srgbClr val="7030A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与压轴题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哪些是中档题？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96905" y="1959695"/>
            <a:ext cx="2529249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一个选项，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是中档题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656C88-99C7-BB4F-ABAD-011FC625B240}"/>
              </a:ext>
            </a:extLst>
          </p:cNvPr>
          <p:cNvGrpSpPr/>
          <p:nvPr/>
        </p:nvGrpSpPr>
        <p:grpSpPr>
          <a:xfrm>
            <a:off x="2947079" y="748030"/>
            <a:ext cx="8871275" cy="6109967"/>
            <a:chOff x="2788931" y="778425"/>
            <a:chExt cx="8827090" cy="607953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81CD597-A358-2841-AAC3-0EC66DCC544F}"/>
                </a:ext>
              </a:extLst>
            </p:cNvPr>
            <p:cNvGrpSpPr/>
            <p:nvPr/>
          </p:nvGrpSpPr>
          <p:grpSpPr>
            <a:xfrm>
              <a:off x="2788931" y="778425"/>
              <a:ext cx="8827090" cy="6079535"/>
              <a:chOff x="3287421" y="778426"/>
              <a:chExt cx="8328599" cy="573620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8175BDC-4911-D34C-B4EA-ABF582B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287421" y="778426"/>
                <a:ext cx="8328599" cy="5736206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1B7EE2-5372-0B44-AC64-6A14AEE824CF}"/>
                  </a:ext>
                </a:extLst>
              </p:cNvPr>
              <p:cNvSpPr/>
              <p:nvPr/>
            </p:nvSpPr>
            <p:spPr>
              <a:xfrm>
                <a:off x="3300550" y="778427"/>
                <a:ext cx="1098945" cy="554762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634F18-3A32-6D44-8D67-DA787407CBCE}"/>
                  </a:ext>
                </a:extLst>
              </p:cNvPr>
              <p:cNvSpPr/>
              <p:nvPr/>
            </p:nvSpPr>
            <p:spPr>
              <a:xfrm>
                <a:off x="7038359" y="2252666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FD6EEE4-BF2D-0444-9103-A5ABD091D26B}"/>
                  </a:ext>
                </a:extLst>
              </p:cNvPr>
              <p:cNvSpPr/>
              <p:nvPr/>
            </p:nvSpPr>
            <p:spPr>
              <a:xfrm>
                <a:off x="8995495" y="978138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6E88BB-466C-7149-9D45-175F3983BB15}"/>
                  </a:ext>
                </a:extLst>
              </p:cNvPr>
              <p:cNvSpPr/>
              <p:nvPr/>
            </p:nvSpPr>
            <p:spPr>
              <a:xfrm>
                <a:off x="6625159" y="5269831"/>
                <a:ext cx="433595" cy="41186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BF2059E-F8DA-EF4D-B65E-80D9601ED312}"/>
                  </a:ext>
                </a:extLst>
              </p:cNvPr>
              <p:cNvSpPr/>
              <p:nvPr/>
            </p:nvSpPr>
            <p:spPr>
              <a:xfrm>
                <a:off x="7038359" y="5107250"/>
                <a:ext cx="1239367" cy="69494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4447E7B-3288-8D43-9529-5C4C2037D9EE}"/>
                </a:ext>
              </a:extLst>
            </p:cNvPr>
            <p:cNvSpPr/>
            <p:nvPr/>
          </p:nvSpPr>
          <p:spPr>
            <a:xfrm>
              <a:off x="6517231" y="834110"/>
              <a:ext cx="706690" cy="58796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9E1A1C65-8AE9-204C-968C-3EC0535A9273}"/>
              </a:ext>
            </a:extLst>
          </p:cNvPr>
          <p:cNvSpPr/>
          <p:nvPr/>
        </p:nvSpPr>
        <p:spPr>
          <a:xfrm>
            <a:off x="5169358" y="2430217"/>
            <a:ext cx="2214781" cy="1386086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818C3E4-F103-DD4B-B6C9-6DA9FC7EF330}"/>
              </a:ext>
            </a:extLst>
          </p:cNvPr>
          <p:cNvSpPr/>
          <p:nvPr/>
        </p:nvSpPr>
        <p:spPr>
          <a:xfrm>
            <a:off x="5177578" y="6118513"/>
            <a:ext cx="684379" cy="740225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CC1D90-5C58-F045-9993-CCB24A01917D}"/>
              </a:ext>
            </a:extLst>
          </p:cNvPr>
          <p:cNvSpPr/>
          <p:nvPr/>
        </p:nvSpPr>
        <p:spPr>
          <a:xfrm>
            <a:off x="7516403" y="733671"/>
            <a:ext cx="571823" cy="2007678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2954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哪些是基础题？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8175BDC-4911-D34C-B4EA-ABF582BC6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7079" y="778426"/>
            <a:ext cx="8871275" cy="38019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1B7EE2-5372-0B44-AC64-6A14AEE824CF}"/>
              </a:ext>
            </a:extLst>
          </p:cNvPr>
          <p:cNvSpPr/>
          <p:nvPr/>
        </p:nvSpPr>
        <p:spPr>
          <a:xfrm>
            <a:off x="8616110" y="2009581"/>
            <a:ext cx="1170550" cy="690265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34F18-3A32-6D44-8D67-DA787407CBCE}"/>
              </a:ext>
            </a:extLst>
          </p:cNvPr>
          <p:cNvSpPr/>
          <p:nvPr/>
        </p:nvSpPr>
        <p:spPr>
          <a:xfrm>
            <a:off x="6942421" y="2318329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EEE4-BF2D-0444-9103-A5ABD091D26B}"/>
              </a:ext>
            </a:extLst>
          </p:cNvPr>
          <p:cNvSpPr/>
          <p:nvPr/>
        </p:nvSpPr>
        <p:spPr>
          <a:xfrm>
            <a:off x="9027080" y="960755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E88BB-466C-7149-9D45-175F3983BB15}"/>
              </a:ext>
            </a:extLst>
          </p:cNvPr>
          <p:cNvSpPr/>
          <p:nvPr/>
        </p:nvSpPr>
        <p:spPr>
          <a:xfrm>
            <a:off x="6502298" y="5532087"/>
            <a:ext cx="461847" cy="43869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47E7B-3288-8D43-9529-5C4C2037D9EE}"/>
              </a:ext>
            </a:extLst>
          </p:cNvPr>
          <p:cNvSpPr/>
          <p:nvPr/>
        </p:nvSpPr>
        <p:spPr>
          <a:xfrm>
            <a:off x="10967353" y="1714126"/>
            <a:ext cx="710227" cy="719190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CCE4F7-9161-7C41-879D-9CFF8B6850AC}"/>
              </a:ext>
            </a:extLst>
          </p:cNvPr>
          <p:cNvSpPr/>
          <p:nvPr/>
        </p:nvSpPr>
        <p:spPr>
          <a:xfrm>
            <a:off x="5169358" y="1316182"/>
            <a:ext cx="2214781" cy="3233824"/>
          </a:xfrm>
          <a:prstGeom prst="rect">
            <a:avLst/>
          </a:prstGeom>
          <a:solidFill>
            <a:srgbClr val="FFFF00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8E5F69-E202-0441-B060-978E38E8BDFF}"/>
              </a:ext>
            </a:extLst>
          </p:cNvPr>
          <p:cNvSpPr txBox="1"/>
          <p:nvPr/>
        </p:nvSpPr>
        <p:spPr>
          <a:xfrm>
            <a:off x="496905" y="1959695"/>
            <a:ext cx="2529249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一个选项，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是中档题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593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哪些是中档题？中档题怎么刷？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1927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一个选项，大题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17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是中档题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*学姐经验：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刷题计划的核心是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限时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思路拆解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”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对于成绩当前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90~120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分段最主要的提分点在于稳定基础分，同时提高中档题的正确率。保持解题速度，遇到中档题要多反思方法是否最优，灵活应用各类知识点。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314550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595FB0F-0207-784E-B7B9-01EB66CBE041}"/>
              </a:ext>
            </a:extLst>
          </p:cNvPr>
          <p:cNvSpPr/>
          <p:nvPr/>
        </p:nvSpPr>
        <p:spPr>
          <a:xfrm>
            <a:off x="582977" y="3882525"/>
            <a:ext cx="10151891" cy="1158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刷题训练：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①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选择题与填空题的限时训练｜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大题（解答题）的限时训练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每日、每周、每月刷题 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110AC2-CAA8-1A49-BE39-8A87D8140E51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45111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7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对于基础题，平均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单选题、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填空题。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对于中档题（例如单选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、多选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部分），可适当增加到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3.5~5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题，但不宜过长，以保持一定压力和速度感。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zh-CN" altLang="en-US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举例：一次训练：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道单选（含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道中档题）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+ 2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道多选（含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道中档题）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+ 1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道填空，共耗时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9" y="1866415"/>
            <a:ext cx="55905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基础题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：单选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7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，多选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中档题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：单选第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8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题，多选第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的一个选项。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一次训练可以组合“基础题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中档题”一起做，让自己在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熟悉的环境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下不断适应稍高难度的题。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2037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682297"/>
            <a:ext cx="11177270" cy="26931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8" y="1866415"/>
            <a:ext cx="7507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：进行一次选择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填空的限时训练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约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10~12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每周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：安排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次大规模的限时训练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(15~20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题，耗时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40~50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，模拟考试氛围。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905464"/>
            <a:ext cx="10457015" cy="203132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及时回顾：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训练后立即核对答案，区分：哪些是“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熟悉但粗心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”导致的错误？哪些是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“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概念或方法不熟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导致的错误？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尤其关注中档题的错因，是否是解题思路不清晰、运算不熟练或知识点不牢固。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错题本：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对于中档题，除了记录正确解法外，也要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多角度思考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：是否有其他简洁的方法？能否用坐标法、几何法、函数法等替代思路？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二次做题：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一周后或数天后再重新做错题，检验是否真正掌握。若同一类型的题多次出错，务必进行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专题复习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（如函数、数列、三角、几何等）</a:t>
            </a:r>
          </a:p>
        </p:txBody>
      </p:sp>
    </p:spTree>
    <p:extLst>
      <p:ext uri="{BB962C8B-B14F-4D97-AF65-F5344CB8AC3E}">
        <p14:creationId xmlns:p14="http://schemas.microsoft.com/office/powerpoint/2010/main" val="9517314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基础解答题：每题控制在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分钟以内。中档解答题：每题可适当放宽到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12~15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分钟，但仍要计时。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示例：一次训练做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道大题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道基础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道中档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，总用时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25~30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8" y="1866415"/>
            <a:ext cx="104797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基础解答题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：如卷子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15-16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若相对容易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，可继续保持熟练。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中档解答题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17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18-19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题的第一问。先从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17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题、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题的前半部分入手，保证思路清晰；再慢慢触及后半部分或更综合的问法。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20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道大题限时训练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含中档题或基础题混合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集中做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2~3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(1~2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道中档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道基础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，模拟考试节奏，耗时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40~50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500684"/>
            <a:ext cx="10457015" cy="22467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过程检查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*检查思路：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读题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是否准确，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列式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是否完整，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关键步骤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是否清晰。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*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检查方法：对于中档题，常见的解题思路包括：方程法、几何法、函数法、向量法、数列递推等，要看自己是否熟练调用。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思路对比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看标准答案或老师的讲解，比较自己的思路是否更繁琐、是否有更优解。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若有较大差异，要记录在错题本上，并尝试“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再做一遍”或“换个方法做”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记录与回看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定期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如周末或月底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翻看错题，关注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中档大题中反复出现的问题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（如不等式求解、三角函数综合、圆锥曲线等），集中强化。</a:t>
            </a:r>
          </a:p>
        </p:txBody>
      </p:sp>
    </p:spTree>
    <p:extLst>
      <p:ext uri="{BB962C8B-B14F-4D97-AF65-F5344CB8AC3E}">
        <p14:creationId xmlns:p14="http://schemas.microsoft.com/office/powerpoint/2010/main" val="2759998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哪些是压轴题？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96905" y="1959695"/>
            <a:ext cx="2529249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（全部选项），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（除了第一问）是压轴题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656C88-99C7-BB4F-ABAD-011FC625B240}"/>
              </a:ext>
            </a:extLst>
          </p:cNvPr>
          <p:cNvGrpSpPr/>
          <p:nvPr/>
        </p:nvGrpSpPr>
        <p:grpSpPr>
          <a:xfrm>
            <a:off x="2947079" y="748030"/>
            <a:ext cx="8871275" cy="6109967"/>
            <a:chOff x="2788931" y="778425"/>
            <a:chExt cx="8827090" cy="6079535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281CD597-A358-2841-AAC3-0EC66DCC544F}"/>
                </a:ext>
              </a:extLst>
            </p:cNvPr>
            <p:cNvGrpSpPr/>
            <p:nvPr/>
          </p:nvGrpSpPr>
          <p:grpSpPr>
            <a:xfrm>
              <a:off x="2788931" y="778425"/>
              <a:ext cx="8827090" cy="6079535"/>
              <a:chOff x="3287421" y="778426"/>
              <a:chExt cx="8328599" cy="5736206"/>
            </a:xfrm>
          </p:grpSpPr>
          <p:pic>
            <p:nvPicPr>
              <p:cNvPr id="2" name="图片 1">
                <a:extLst>
                  <a:ext uri="{FF2B5EF4-FFF2-40B4-BE49-F238E27FC236}">
                    <a16:creationId xmlns:a16="http://schemas.microsoft.com/office/drawing/2014/main" id="{48175BDC-4911-D34C-B4EA-ABF582BC6F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0"/>
                        </a14:imgEffect>
                        <a14:imgEffect>
                          <a14:brightnessContrast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287421" y="778426"/>
                <a:ext cx="8328599" cy="5736206"/>
              </a:xfrm>
              <a:prstGeom prst="rect">
                <a:avLst/>
              </a:prstGeom>
              <a:ln w="9525">
                <a:solidFill>
                  <a:schemeClr val="tx1"/>
                </a:solidFill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61B7EE2-5372-0B44-AC64-6A14AEE824CF}"/>
                  </a:ext>
                </a:extLst>
              </p:cNvPr>
              <p:cNvSpPr/>
              <p:nvPr/>
            </p:nvSpPr>
            <p:spPr>
              <a:xfrm>
                <a:off x="3300550" y="778427"/>
                <a:ext cx="1098945" cy="554762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0634F18-3A32-6D44-8D67-DA787407CBCE}"/>
                  </a:ext>
                </a:extLst>
              </p:cNvPr>
              <p:cNvSpPr/>
              <p:nvPr/>
            </p:nvSpPr>
            <p:spPr>
              <a:xfrm>
                <a:off x="7038359" y="2252666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EFD6EEE4-BF2D-0444-9103-A5ABD091D26B}"/>
                  </a:ext>
                </a:extLst>
              </p:cNvPr>
              <p:cNvSpPr/>
              <p:nvPr/>
            </p:nvSpPr>
            <p:spPr>
              <a:xfrm>
                <a:off x="8995495" y="978138"/>
                <a:ext cx="433595" cy="626826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6E88BB-466C-7149-9D45-175F3983BB15}"/>
                  </a:ext>
                </a:extLst>
              </p:cNvPr>
              <p:cNvSpPr/>
              <p:nvPr/>
            </p:nvSpPr>
            <p:spPr>
              <a:xfrm>
                <a:off x="6625159" y="5269831"/>
                <a:ext cx="433595" cy="41186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BF2059E-F8DA-EF4D-B65E-80D9601ED312}"/>
                  </a:ext>
                </a:extLst>
              </p:cNvPr>
              <p:cNvSpPr/>
              <p:nvPr/>
            </p:nvSpPr>
            <p:spPr>
              <a:xfrm>
                <a:off x="7038359" y="5107250"/>
                <a:ext cx="1239367" cy="694943"/>
              </a:xfrm>
              <a:prstGeom prst="rect">
                <a:avLst/>
              </a:prstGeom>
              <a:solidFill>
                <a:srgbClr val="FFFE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F4447E7B-3288-8D43-9529-5C4C2037D9EE}"/>
                </a:ext>
              </a:extLst>
            </p:cNvPr>
            <p:cNvSpPr/>
            <p:nvPr/>
          </p:nvSpPr>
          <p:spPr>
            <a:xfrm>
              <a:off x="6517231" y="834110"/>
              <a:ext cx="706690" cy="587966"/>
            </a:xfrm>
            <a:prstGeom prst="rect">
              <a:avLst/>
            </a:prstGeom>
            <a:solidFill>
              <a:srgbClr val="FFFE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3164D9CF-1CF5-F74F-A0D4-8D553D436C7A}"/>
              </a:ext>
            </a:extLst>
          </p:cNvPr>
          <p:cNvSpPr/>
          <p:nvPr/>
        </p:nvSpPr>
        <p:spPr>
          <a:xfrm>
            <a:off x="5861957" y="6118515"/>
            <a:ext cx="1542311" cy="740224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C16FEE-9AB8-B548-9E47-418D4F8B729B}"/>
              </a:ext>
            </a:extLst>
          </p:cNvPr>
          <p:cNvSpPr/>
          <p:nvPr/>
        </p:nvSpPr>
        <p:spPr>
          <a:xfrm>
            <a:off x="8060389" y="748028"/>
            <a:ext cx="1507214" cy="1993321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604BAE6-B057-AB4A-9590-3D5B07A271E8}"/>
              </a:ext>
            </a:extLst>
          </p:cNvPr>
          <p:cNvSpPr/>
          <p:nvPr/>
        </p:nvSpPr>
        <p:spPr>
          <a:xfrm>
            <a:off x="7549662" y="3768810"/>
            <a:ext cx="2017940" cy="740224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366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哪些是压轴题？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>
            <a:extLst>
              <a:ext uri="{FF2B5EF4-FFF2-40B4-BE49-F238E27FC236}">
                <a16:creationId xmlns:a16="http://schemas.microsoft.com/office/drawing/2014/main" id="{48175BDC-4911-D34C-B4EA-ABF582BC6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47079" y="778426"/>
            <a:ext cx="8871275" cy="3801975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61B7EE2-5372-0B44-AC64-6A14AEE824CF}"/>
              </a:ext>
            </a:extLst>
          </p:cNvPr>
          <p:cNvSpPr/>
          <p:nvPr/>
        </p:nvSpPr>
        <p:spPr>
          <a:xfrm>
            <a:off x="8616110" y="2009581"/>
            <a:ext cx="1170550" cy="690265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634F18-3A32-6D44-8D67-DA787407CBCE}"/>
              </a:ext>
            </a:extLst>
          </p:cNvPr>
          <p:cNvSpPr/>
          <p:nvPr/>
        </p:nvSpPr>
        <p:spPr>
          <a:xfrm>
            <a:off x="6942421" y="2318329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D6EEE4-BF2D-0444-9103-A5ABD091D26B}"/>
              </a:ext>
            </a:extLst>
          </p:cNvPr>
          <p:cNvSpPr/>
          <p:nvPr/>
        </p:nvSpPr>
        <p:spPr>
          <a:xfrm>
            <a:off x="9027080" y="960755"/>
            <a:ext cx="461847" cy="66766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6E88BB-466C-7149-9D45-175F3983BB15}"/>
              </a:ext>
            </a:extLst>
          </p:cNvPr>
          <p:cNvSpPr/>
          <p:nvPr/>
        </p:nvSpPr>
        <p:spPr>
          <a:xfrm>
            <a:off x="6502298" y="5532087"/>
            <a:ext cx="461847" cy="438699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4447E7B-3288-8D43-9529-5C4C2037D9EE}"/>
              </a:ext>
            </a:extLst>
          </p:cNvPr>
          <p:cNvSpPr/>
          <p:nvPr/>
        </p:nvSpPr>
        <p:spPr>
          <a:xfrm>
            <a:off x="10967353" y="1714126"/>
            <a:ext cx="710227" cy="719190"/>
          </a:xfrm>
          <a:prstGeom prst="rect">
            <a:avLst/>
          </a:prstGeom>
          <a:solidFill>
            <a:srgbClr val="FFFE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37C2F5-14AD-8C4C-AF45-F7A6AD973C04}"/>
              </a:ext>
            </a:extLst>
          </p:cNvPr>
          <p:cNvSpPr/>
          <p:nvPr/>
        </p:nvSpPr>
        <p:spPr>
          <a:xfrm>
            <a:off x="7435416" y="1628425"/>
            <a:ext cx="2048955" cy="2921582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4ABCA6F-EF67-9142-9169-EE3273250ED7}"/>
              </a:ext>
            </a:extLst>
          </p:cNvPr>
          <p:cNvSpPr/>
          <p:nvPr/>
        </p:nvSpPr>
        <p:spPr>
          <a:xfrm>
            <a:off x="9599008" y="1521319"/>
            <a:ext cx="2048955" cy="3028687"/>
          </a:xfrm>
          <a:prstGeom prst="rect">
            <a:avLst/>
          </a:prstGeom>
          <a:solidFill>
            <a:srgbClr val="223AAC">
              <a:alpha val="32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rgbClr val="C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A0D794A-ABBF-8E41-87FC-34118D6739E7}"/>
              </a:ext>
            </a:extLst>
          </p:cNvPr>
          <p:cNvSpPr txBox="1"/>
          <p:nvPr/>
        </p:nvSpPr>
        <p:spPr>
          <a:xfrm>
            <a:off x="496905" y="1959695"/>
            <a:ext cx="2529249" cy="1881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（全部选项），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（除了第一问）是压轴题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796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EA399C-7DF0-2640-8EAD-1D6AA1817B54}"/>
              </a:ext>
            </a:extLst>
          </p:cNvPr>
          <p:cNvSpPr/>
          <p:nvPr/>
        </p:nvSpPr>
        <p:spPr>
          <a:xfrm>
            <a:off x="417830" y="3445362"/>
            <a:ext cx="11356340" cy="2402308"/>
          </a:xfrm>
          <a:prstGeom prst="rect">
            <a:avLst/>
          </a:prstGeom>
          <a:solidFill>
            <a:srgbClr val="EBFF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F150AB8-D8D1-1542-AD12-C7B5ACDB517E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哪些是压轴题？压轴题怎么刷？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995DB2-C901-AD41-8949-4826090408EB}"/>
              </a:ext>
            </a:extLst>
          </p:cNvPr>
          <p:cNvSpPr txBox="1"/>
          <p:nvPr/>
        </p:nvSpPr>
        <p:spPr>
          <a:xfrm>
            <a:off x="417830" y="1055807"/>
            <a:ext cx="9503133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以：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题的高考试卷为例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（全部选项），填空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，大题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18-19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（除了第一问）是压轴题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*学姐经验：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刷题计划的核心是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高效限时</a:t>
            </a:r>
            <a:r>
              <a:rPr kumimoji="1" lang="en-US" altLang="zh-CN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b="1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多解思路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”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分数在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120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分以上，说明基础题和中档题大部分能拿下。目标是冲击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140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分乃至更高分。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必须熟练掌握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“考场时间分配”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策略：先稳拿前面分数，再根据难度和自身情况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合理安排解题顺序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，力争多拿压轴题分数。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B47786F8-6C85-3C46-95ED-567BE89F2562}"/>
              </a:ext>
            </a:extLst>
          </p:cNvPr>
          <p:cNvCxnSpPr>
            <a:cxnSpLocks/>
          </p:cNvCxnSpPr>
          <p:nvPr/>
        </p:nvCxnSpPr>
        <p:spPr>
          <a:xfrm>
            <a:off x="582977" y="700757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2587DEE8-447E-D04E-98FA-D7B7A6720502}"/>
              </a:ext>
            </a:extLst>
          </p:cNvPr>
          <p:cNvCxnSpPr>
            <a:cxnSpLocks/>
          </p:cNvCxnSpPr>
          <p:nvPr/>
        </p:nvCxnSpPr>
        <p:spPr>
          <a:xfrm>
            <a:off x="575980" y="6079573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CED2EFBB-D731-FB45-B41D-D90FE0FB084E}"/>
              </a:ext>
            </a:extLst>
          </p:cNvPr>
          <p:cNvCxnSpPr>
            <a:cxnSpLocks/>
          </p:cNvCxnSpPr>
          <p:nvPr/>
        </p:nvCxnSpPr>
        <p:spPr>
          <a:xfrm>
            <a:off x="575980" y="3314550"/>
            <a:ext cx="1105403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595FB0F-0207-784E-B7B9-01EB66CBE041}"/>
              </a:ext>
            </a:extLst>
          </p:cNvPr>
          <p:cNvSpPr/>
          <p:nvPr/>
        </p:nvSpPr>
        <p:spPr>
          <a:xfrm>
            <a:off x="582977" y="3882525"/>
            <a:ext cx="10151891" cy="1158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刷题训练：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方法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①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选择题与填空题的限时训练｜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②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大题（解答题）的限时训练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③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每日、每周、每月刷题 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D110AC2-CAA8-1A49-BE39-8A87D8140E51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34405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6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基础题：单选平均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分钟内完成，填空题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分钟左右。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多选第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（难选项）和填空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（难度较高）：适当放宽到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题，但仍要控制总时长。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示例：一次训练可选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道题（含基础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道难度较高的多选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填空），耗时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20~25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8" y="1866415"/>
            <a:ext cx="957859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基础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中档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：单选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8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，多选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等，确保不失分或少失分。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压轴题涉及的多选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：多选第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题可能存在较难的选项，要把它当成“中高难度”来做，进行针对性训练。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压轴填空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14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404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①选择题与填空题的限时训练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682297"/>
            <a:ext cx="11177270" cy="2693103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8" y="1866415"/>
            <a:ext cx="75070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次快速限时训练（约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题），包括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道难度较高的多选或填空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14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每周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次大规模限时训练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(15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，耗时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分钟，严格模拟考试节奏。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876888"/>
            <a:ext cx="10457015" cy="24622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快速核对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精细分析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对于基础和中档题，错题要立即找出概念或运算失误；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对于难度较高的多选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14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等，要深入分析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解题思路、可能的多种解法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，以及在哪一步出现思路卡顿或运算困难。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思维拓展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复盘时多问自己：“能否用其他方法？”“是否有更简洁的思路？”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特别是压轴多选题，可能存在不同的思维路径，要将这些方法记录在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错题本或思维导图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中，培养发散思维。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错题回炉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针对难度较高的错题，要在</a:t>
            </a:r>
            <a:r>
              <a:rPr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天后或一周后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再次做一遍，确保理解彻底。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若是同一知识点反复出错，务必进行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专题复习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（如圆锥曲线综合、导数与函数综合、三角与向量综合等）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198446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4083644"/>
            <a:ext cx="11177270" cy="229175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86641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4194863"/>
            <a:ext cx="10180922" cy="177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限时方法：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基础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中档题：每题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8~10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分钟左右。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压轴题：每道题（特别是后半部分）预留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15~20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分钟，但要注意整体效率，不可陷入无休止的“卡壳”。</a:t>
            </a: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示例：一次训练做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道大题（含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道压轴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18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19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），总用时</a:t>
            </a:r>
            <a:r>
              <a:rPr kumimoji="1" lang="en-US" altLang="zh-CN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30~35</a:t>
            </a:r>
            <a:r>
              <a:rPr kumimoji="1"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分钟。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0F5445A-6263-E04E-AE89-1B04B3690CAC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F71050-B3D0-5F41-BED3-C5AF0063C947}"/>
              </a:ext>
            </a:extLst>
          </p:cNvPr>
          <p:cNvSpPr txBox="1"/>
          <p:nvPr/>
        </p:nvSpPr>
        <p:spPr>
          <a:xfrm>
            <a:off x="625578" y="1866415"/>
            <a:ext cx="87504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选题范围</a:t>
            </a:r>
          </a:p>
          <a:p>
            <a:endParaRPr kumimoji="1" lang="en-US" altLang="zh-CN" sz="1400" dirty="0">
              <a:solidFill>
                <a:srgbClr val="223AAC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基础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中档解答题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15~17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题，仍需保持稳定拿分。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压轴题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：大题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，其中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前面问法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可能是中档，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后面问法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往往是压轴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难度最高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在日常训练时，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将后续问法或变形题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也纳入练习范畴。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8000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②大题（解答题）的限时训练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如何定时训练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训练频率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道大题（可以是中档或压轴），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10~20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分钟限时完成。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每周：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道大题强化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其中至少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道压轴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，耗时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40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60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分钟，模拟正式考场节奏。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418796"/>
            <a:ext cx="10457015" cy="31085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深度拆解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对于压轴题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18-19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，先把整道题分成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若干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小模块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分析题意、列出条件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</a:p>
          <a:p>
            <a:pPr lvl="1"/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可能使用的数学工具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（函数、几何、向量、导数等）；</a:t>
            </a:r>
          </a:p>
          <a:p>
            <a:pPr lvl="1"/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关键转折或技巧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（如定义新函数、巧用几何变换、引入参数等）。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逐步排查每个模块是否掌握清楚。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比较多种解法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压轴题往往有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多解思路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：如向量法</a:t>
            </a:r>
            <a:r>
              <a:rPr lang="fr-FR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vs.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坐标法，函数法</a:t>
            </a:r>
            <a:r>
              <a:rPr lang="fr-FR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vs.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不等式法。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复盘时可查看参考资料或讨论与老师、同学的不同解法，并记录在案。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总结规律</a:t>
            </a:r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高考压轴题常有一定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“套路”或“命题热点”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（如圆锥曲线与数列结合、三角函数的最值、导数与不等式结合等）。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做完后要总结：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“本题考察了哪些综合知识点？涉及哪种常用技巧？”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，并与历年真题或类似题进行对比，形成知识网络。</a:t>
            </a:r>
          </a:p>
        </p:txBody>
      </p:sp>
    </p:spTree>
    <p:extLst>
      <p:ext uri="{BB962C8B-B14F-4D97-AF65-F5344CB8AC3E}">
        <p14:creationId xmlns:p14="http://schemas.microsoft.com/office/powerpoint/2010/main" val="20253992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71588" y="1590675"/>
            <a:ext cx="9772650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Chapter-9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刷题计划表与备考策略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每日、每周、每月刷题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096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学姐推荐：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按照周期刷题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及时总结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不断复盘！！！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376588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AB2D02-ABB8-FB49-8086-48B0841E691C}"/>
              </a:ext>
            </a:extLst>
          </p:cNvPr>
          <p:cNvSpPr txBox="1"/>
          <p:nvPr/>
        </p:nvSpPr>
        <p:spPr>
          <a:xfrm>
            <a:off x="792086" y="291607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每日计划：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AAC3DA-0228-864E-A963-595AD77AC694}"/>
              </a:ext>
            </a:extLst>
          </p:cNvPr>
          <p:cNvSpPr txBox="1"/>
          <p:nvPr/>
        </p:nvSpPr>
        <p:spPr>
          <a:xfrm>
            <a:off x="778880" y="3200396"/>
            <a:ext cx="259680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早读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课间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：快速回顾前一天的错题或难点。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放学后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自习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选择填空限时训练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5-10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15-20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立即对答案、标记错题，简要记下错因。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晚自习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回家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大题限时训练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(10~15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训练后快速对答案或参照解答思路，整理错题。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睡前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：用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分钟回想当天的错题或易错点，做好知识点巩固。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893CAE-41FA-5244-9AF4-39185648DF76}"/>
              </a:ext>
            </a:extLst>
          </p:cNvPr>
          <p:cNvSpPr/>
          <p:nvPr/>
        </p:nvSpPr>
        <p:spPr>
          <a:xfrm>
            <a:off x="4351199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B61291-66C0-D04D-A655-29745A6FDE1F}"/>
              </a:ext>
            </a:extLst>
          </p:cNvPr>
          <p:cNvSpPr/>
          <p:nvPr/>
        </p:nvSpPr>
        <p:spPr>
          <a:xfrm>
            <a:off x="8284568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D2B4EA-7B5C-FA4D-81D8-F5DA6534D691}"/>
              </a:ext>
            </a:extLst>
          </p:cNvPr>
          <p:cNvSpPr/>
          <p:nvPr/>
        </p:nvSpPr>
        <p:spPr>
          <a:xfrm>
            <a:off x="4329791" y="28847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552333-94B6-114B-97D7-E96462E17FC0}"/>
              </a:ext>
            </a:extLst>
          </p:cNvPr>
          <p:cNvSpPr txBox="1"/>
          <p:nvPr/>
        </p:nvSpPr>
        <p:spPr>
          <a:xfrm>
            <a:off x="4745289" y="291842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每周计划：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6D4956-2D32-0C4E-AA1C-CBAE618E5AC3}"/>
              </a:ext>
            </a:extLst>
          </p:cNvPr>
          <p:cNvSpPr txBox="1"/>
          <p:nvPr/>
        </p:nvSpPr>
        <p:spPr>
          <a:xfrm>
            <a:off x="4745290" y="3202752"/>
            <a:ext cx="248826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周中（周三或周四）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：安排一次稍大规模的选择填空训练：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15-20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题，限时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40-50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分钟。训练后深度复盘。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周末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：集中做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2-3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道大题，限时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40-60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分钟，模拟考试环境。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进行错题整理，对一周内反复出现的知识点进行查缺补漏。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可以做一份小测或阶段性测试卷（只做选择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填空或只做部分大题），检验一周学习效果。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BF8056-68E8-E54F-AD45-56562ACE5652}"/>
              </a:ext>
            </a:extLst>
          </p:cNvPr>
          <p:cNvSpPr/>
          <p:nvPr/>
        </p:nvSpPr>
        <p:spPr>
          <a:xfrm>
            <a:off x="8332545" y="28901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A7C714-225B-E140-8959-47592DEAEBFD}"/>
              </a:ext>
            </a:extLst>
          </p:cNvPr>
          <p:cNvSpPr txBox="1"/>
          <p:nvPr/>
        </p:nvSpPr>
        <p:spPr>
          <a:xfrm>
            <a:off x="8748043" y="292387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每月计划：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90877F-7634-6142-91F4-5B035ABA3430}"/>
              </a:ext>
            </a:extLst>
          </p:cNvPr>
          <p:cNvSpPr txBox="1"/>
          <p:nvPr/>
        </p:nvSpPr>
        <p:spPr>
          <a:xfrm>
            <a:off x="8748044" y="3208195"/>
            <a:ext cx="248826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月初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月底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：做一份完整的模拟卷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全卷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，限时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分钟，严格按照考试要求执行。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考后深度总结：对薄弱环节做专项补强。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月度错题整理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：将本月的错题再做一遍，并且将错题按知识点分类，形成专题整理。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针对薄弱章节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函数、三角、立体几何、解析几何等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，进行针对性的“回炉”训练。</a:t>
            </a:r>
          </a:p>
        </p:txBody>
      </p:sp>
    </p:spTree>
    <p:extLst>
      <p:ext uri="{BB962C8B-B14F-4D97-AF65-F5344CB8AC3E}">
        <p14:creationId xmlns:p14="http://schemas.microsoft.com/office/powerpoint/2010/main" val="39468486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①一个学期的规划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734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学姐经验：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不同年级侧重点不同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376588" y="288238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AB2D02-ABB8-FB49-8086-48B0841E691C}"/>
              </a:ext>
            </a:extLst>
          </p:cNvPr>
          <p:cNvSpPr txBox="1"/>
          <p:nvPr/>
        </p:nvSpPr>
        <p:spPr>
          <a:xfrm>
            <a:off x="792086" y="291607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高一阶段：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3AAC3DA-0228-864E-A963-595AD77AC694}"/>
              </a:ext>
            </a:extLst>
          </p:cNvPr>
          <p:cNvSpPr txBox="1"/>
          <p:nvPr/>
        </p:nvSpPr>
        <p:spPr>
          <a:xfrm>
            <a:off x="634536" y="3233054"/>
            <a:ext cx="292691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：打牢代数与函数基础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一次函数、二次函数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、基本几何知识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三角形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、不等式等。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训练节奏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5~10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 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+ 1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道基础大题。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每周小测巩固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填空或少量大题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每月做一次完整测评，关注函数与代数的熟练度。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：多花时间在概念理解、公式记忆、基础运算与规范书写上。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E893CAE-41FA-5244-9AF4-39185648DF76}"/>
              </a:ext>
            </a:extLst>
          </p:cNvPr>
          <p:cNvSpPr/>
          <p:nvPr/>
        </p:nvSpPr>
        <p:spPr>
          <a:xfrm>
            <a:off x="4351199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9B61291-66C0-D04D-A655-29745A6FDE1F}"/>
              </a:ext>
            </a:extLst>
          </p:cNvPr>
          <p:cNvSpPr/>
          <p:nvPr/>
        </p:nvSpPr>
        <p:spPr>
          <a:xfrm>
            <a:off x="8284568" y="2821759"/>
            <a:ext cx="3449737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4D2B4EA-7B5C-FA4D-81D8-F5DA6534D691}"/>
              </a:ext>
            </a:extLst>
          </p:cNvPr>
          <p:cNvSpPr/>
          <p:nvPr/>
        </p:nvSpPr>
        <p:spPr>
          <a:xfrm>
            <a:off x="4329791" y="28847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552333-94B6-114B-97D7-E96462E17FC0}"/>
              </a:ext>
            </a:extLst>
          </p:cNvPr>
          <p:cNvSpPr txBox="1"/>
          <p:nvPr/>
        </p:nvSpPr>
        <p:spPr>
          <a:xfrm>
            <a:off x="4745289" y="2918429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高二阶段：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6D4956-2D32-0C4E-AA1C-CBAE618E5AC3}"/>
              </a:ext>
            </a:extLst>
          </p:cNvPr>
          <p:cNvSpPr txBox="1"/>
          <p:nvPr/>
        </p:nvSpPr>
        <p:spPr>
          <a:xfrm>
            <a:off x="4566858" y="3235410"/>
            <a:ext cx="30728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：函数综合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指数、对数、三角函数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、解析几何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直线与圆锥曲线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、立体几何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空间向量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、数列等。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训练节奏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每日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5~10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 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+ 1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道中档大题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含综合知识点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每周专项训练：解析几何或立体几何等较难板块，进行集中练习。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每月一套综合模拟题，全面检测。</a:t>
            </a: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：在高一打牢基础的前提下，开始练习多知识点综合题，并留意解题方法的灵活运用。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BBF8056-68E8-E54F-AD45-56562ACE5652}"/>
              </a:ext>
            </a:extLst>
          </p:cNvPr>
          <p:cNvSpPr/>
          <p:nvPr/>
        </p:nvSpPr>
        <p:spPr>
          <a:xfrm>
            <a:off x="8332545" y="28901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2A7C714-225B-E140-8959-47592DEAEBFD}"/>
              </a:ext>
            </a:extLst>
          </p:cNvPr>
          <p:cNvSpPr txBox="1"/>
          <p:nvPr/>
        </p:nvSpPr>
        <p:spPr>
          <a:xfrm>
            <a:off x="8748043" y="292387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KaiTi" panose="02010609060101010101" pitchFamily="49" charset="-122"/>
                <a:ea typeface="KaiTi" panose="02010609060101010101" pitchFamily="49" charset="-122"/>
              </a:rPr>
              <a:t>高三阶段：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F90877F-7634-6142-91F4-5B035ABA3430}"/>
              </a:ext>
            </a:extLst>
          </p:cNvPr>
          <p:cNvSpPr txBox="1"/>
          <p:nvPr/>
        </p:nvSpPr>
        <p:spPr>
          <a:xfrm>
            <a:off x="8593805" y="3240853"/>
            <a:ext cx="2903767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重点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：真题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模拟题综合演练，提升解题速度和准确率。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训练节奏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每日限时训练：选择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(10~15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 + 2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道大题，严格计时。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每周或每半周进行一次全真模拟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完整卷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不断复盘错题，按专题强化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函数、数列、几何、导数、概率统计等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策略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：加强考场节奏把控、错题回炉、强化综合解题思路。</a:t>
            </a:r>
          </a:p>
        </p:txBody>
      </p:sp>
    </p:spTree>
    <p:extLst>
      <p:ext uri="{BB962C8B-B14F-4D97-AF65-F5344CB8AC3E}">
        <p14:creationId xmlns:p14="http://schemas.microsoft.com/office/powerpoint/2010/main" val="21243666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②寒暑假规划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寒假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不同年级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高一：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预习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70%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，复习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30%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高二：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当作“小高三”，练习真题。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高三：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提分效率是关键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找到自己最薄弱处，专项训练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770868"/>
            <a:ext cx="10457015" cy="273921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寒假</a:t>
            </a: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时间长度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：一般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2~3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周左右的复习时间。</a:t>
            </a: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目标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：查漏补缺 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+ 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提前预习下学期关键知识点。</a:t>
            </a:r>
            <a:endParaRPr lang="en-US" altLang="zh-CN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计划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每日：做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小时基础题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 + 1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小时大题专项训练。</a:t>
            </a:r>
          </a:p>
          <a:p>
            <a:pPr lvl="1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每周：做一套模拟题或阶段测试卷。</a:t>
            </a:r>
          </a:p>
          <a:p>
            <a:pPr lvl="1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重点复习：上一学期薄弱章节和错题集中区。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581117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②寒暑假规划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寒假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不同年级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高一：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预习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70%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，复习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30%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高二：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当作“小高三”，联系真题。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高三：</a:t>
            </a:r>
            <a:endParaRPr kumimoji="1"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   提分效率是关键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找到自己最薄弱处，专项训练</a:t>
            </a:r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6E01200-CB6E-074E-BD06-0F2E69E2060D}"/>
              </a:ext>
            </a:extLst>
          </p:cNvPr>
          <p:cNvSpPr/>
          <p:nvPr/>
        </p:nvSpPr>
        <p:spPr>
          <a:xfrm>
            <a:off x="777957" y="3770868"/>
            <a:ext cx="10457015" cy="25237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暑假</a:t>
            </a: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时间长度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：通常约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4~6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周可自主安排。</a:t>
            </a:r>
          </a:p>
          <a:p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目标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：提前预习新学期重点内容 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 系统复习已学知识 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特别是高二升高三的暑假极为关键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endParaRPr lang="zh-CN" altLang="en-US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/>
            <a:r>
              <a:rPr lang="zh-CN" altLang="en-US" b="1" dirty="0">
                <a:latin typeface="KaiTi" panose="02010609060101010101" pitchFamily="49" charset="-122"/>
                <a:ea typeface="KaiTi" panose="02010609060101010101" pitchFamily="49" charset="-122"/>
              </a:rPr>
              <a:t>分阶段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2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第一阶段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前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：全面梳理上一学年的知识点，每日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小时左右刷题，兼顾复盘。</a:t>
            </a:r>
          </a:p>
          <a:p>
            <a:pPr lvl="2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第二阶段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中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：专项突破薄弱环节，每日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小时左右做专题训练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函数、几何等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pPr lvl="2"/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第三阶段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后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周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：做综合模拟卷，每周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2~3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套，计时</a:t>
            </a:r>
            <a:r>
              <a:rPr lang="en-US" altLang="zh-CN" dirty="0">
                <a:latin typeface="KaiTi" panose="02010609060101010101" pitchFamily="49" charset="-122"/>
                <a:ea typeface="KaiTi" panose="02010609060101010101" pitchFamily="49" charset="-122"/>
              </a:rPr>
              <a:t>+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总结。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18011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刷题打卡表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建议打印出来贴在书桌或用电子表格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3270907"/>
            <a:ext cx="11177270" cy="3342164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使用方式：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每日填写当天训练的题目数量、用时、正确率。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将错题对应到知识点，方便后续针对性复习。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记录当天复盘情况和心得，及时总结。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BDFC390-914B-7048-A2E4-2FD938DADCFE}"/>
              </a:ext>
            </a:extLst>
          </p:cNvPr>
          <p:cNvGraphicFramePr>
            <a:graphicFrameLocks noGrp="1"/>
          </p:cNvGraphicFramePr>
          <p:nvPr/>
        </p:nvGraphicFramePr>
        <p:xfrm>
          <a:off x="748665" y="3661829"/>
          <a:ext cx="10515600" cy="225406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30382">
                  <a:extLst>
                    <a:ext uri="{9D8B030D-6E8A-4147-A177-3AD203B41FA5}">
                      <a16:colId xmlns:a16="http://schemas.microsoft.com/office/drawing/2014/main" val="3596969758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1426238440"/>
                    </a:ext>
                  </a:extLst>
                </a:gridCol>
                <a:gridCol w="706581">
                  <a:extLst>
                    <a:ext uri="{9D8B030D-6E8A-4147-A177-3AD203B41FA5}">
                      <a16:colId xmlns:a16="http://schemas.microsoft.com/office/drawing/2014/main" val="94130994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623943375"/>
                    </a:ext>
                  </a:extLst>
                </a:gridCol>
                <a:gridCol w="1785505">
                  <a:extLst>
                    <a:ext uri="{9D8B030D-6E8A-4147-A177-3AD203B41FA5}">
                      <a16:colId xmlns:a16="http://schemas.microsoft.com/office/drawing/2014/main" val="121340279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511989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901909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03004684"/>
                    </a:ext>
                  </a:extLst>
                </a:gridCol>
              </a:tblGrid>
              <a:tr h="815299"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日期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选择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填空 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数量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用时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大题 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数量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用时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解题情况（耗时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正确率）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错题知识点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复盘完成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是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否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备注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感想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01221"/>
                  </a:ext>
                </a:extLst>
              </a:tr>
              <a:tr h="479588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8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/15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分钟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6/8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/12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分钟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1/1 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二次函数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需复习配方法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914235"/>
                  </a:ext>
                </a:extLst>
              </a:tr>
              <a:tr h="479588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3/11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5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/10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分钟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4/5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/10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分钟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0/1 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空间向量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否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待明日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思路不熟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1701346"/>
                  </a:ext>
                </a:extLst>
              </a:tr>
              <a:tr h="479588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93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5731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刷题打卡表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7000035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建议打印出来贴在书桌或用电子表格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923725"/>
            <a:ext cx="11177270" cy="368934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210081" y="1670469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625579" y="1670469"/>
            <a:ext cx="90082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使用方式：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周日或下周一汇总本周所有刷题情况，统计正确率、主要错题分布。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根据周测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模拟成绩检验复习效果，明确下周的改进重点。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433EDF3-4F95-7B42-8B9A-06E5D588C1BF}"/>
              </a:ext>
            </a:extLst>
          </p:cNvPr>
          <p:cNvGraphicFramePr>
            <a:graphicFrameLocks noGrp="1"/>
          </p:cNvGraphicFramePr>
          <p:nvPr/>
        </p:nvGraphicFramePr>
        <p:xfrm>
          <a:off x="748665" y="3319398"/>
          <a:ext cx="10515600" cy="2633473"/>
        </p:xfrm>
        <a:graphic>
          <a:graphicData uri="http://schemas.openxmlformats.org/drawingml/2006/table">
            <a:tbl>
              <a:tblPr/>
              <a:tblGrid>
                <a:gridCol w="773730">
                  <a:extLst>
                    <a:ext uri="{9D8B030D-6E8A-4147-A177-3AD203B41FA5}">
                      <a16:colId xmlns:a16="http://schemas.microsoft.com/office/drawing/2014/main" val="4192220302"/>
                    </a:ext>
                  </a:extLst>
                </a:gridCol>
                <a:gridCol w="2507673">
                  <a:extLst>
                    <a:ext uri="{9D8B030D-6E8A-4147-A177-3AD203B41FA5}">
                      <a16:colId xmlns:a16="http://schemas.microsoft.com/office/drawing/2014/main" val="2695774844"/>
                    </a:ext>
                  </a:extLst>
                </a:gridCol>
                <a:gridCol w="2272145">
                  <a:extLst>
                    <a:ext uri="{9D8B030D-6E8A-4147-A177-3AD203B41FA5}">
                      <a16:colId xmlns:a16="http://schemas.microsoft.com/office/drawing/2014/main" val="1900601062"/>
                    </a:ext>
                  </a:extLst>
                </a:gridCol>
                <a:gridCol w="1456852">
                  <a:extLst>
                    <a:ext uri="{9D8B030D-6E8A-4147-A177-3AD203B41FA5}">
                      <a16:colId xmlns:a16="http://schemas.microsoft.com/office/drawing/2014/main" val="325620293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4202079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42699097"/>
                    </a:ext>
                  </a:extLst>
                </a:gridCol>
              </a:tblGrid>
              <a:tr h="656857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选择填空合计 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数量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正确率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大题合计 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(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数量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正确率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周测</a:t>
                      </a:r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</a:t>
                      </a:r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模拟成绩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主要错题知识点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下周改进方向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8323397"/>
                  </a:ext>
                </a:extLst>
              </a:tr>
              <a:tr h="658872"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第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1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40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 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 70%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5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 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 60%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85/150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函数、数列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加强函数基础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7554887"/>
                  </a:ext>
                </a:extLst>
              </a:tr>
              <a:tr h="658872"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第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2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45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 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 75%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6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题 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/ 66%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90/150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三角函数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三角公式巩固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1551501"/>
                  </a:ext>
                </a:extLst>
              </a:tr>
              <a:tr h="658872">
                <a:tc>
                  <a:txBody>
                    <a:bodyPr/>
                    <a:lstStyle/>
                    <a:p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第</a:t>
                      </a:r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3</a:t>
                      </a:r>
                      <a:r>
                        <a:rPr lang="zh-CN" altLang="en-US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...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22756"/>
                  </a:ext>
                </a:extLst>
              </a:tr>
            </a:tbl>
          </a:graphicData>
        </a:graphic>
      </p:graphicFrame>
      <p:sp>
        <p:nvSpPr>
          <p:cNvPr id="13" name="Rectangle 1">
            <a:extLst>
              <a:ext uri="{FF2B5EF4-FFF2-40B4-BE49-F238E27FC236}">
                <a16:creationId xmlns:a16="http://schemas.microsoft.com/office/drawing/2014/main" id="{4CD902CA-5B56-F04D-B41C-9DD24066F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579" y="33189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6738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79929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平时测试的心态与时间分配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心态准备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目标明确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：平时测试的主要目的是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检查阶段性学习成果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、发现知识盲点、积累解题经验。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适度紧张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：保持一定的紧张感有助于提升专注度，但不必过度焦虑。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培养考试习惯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：平时测试要尽量模拟大考状态（限时、专注、答题顺序等），为大考做准备。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560620"/>
            <a:ext cx="9503133" cy="321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时间分配策略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#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快速浏览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   开考前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分钟，快速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浏览试卷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结构，了解题型和题量。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填空：先易后难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平均分配给每道选择题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1.5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分钟、填空题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分钟（视科目和难度略有调整）。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    先做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容易、熟悉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的题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，保证基础分数，留下相对较难的题最后处理。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261833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21020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79929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平时测试的心态与时间分配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心态准备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目标明确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：平时测试的主要目的是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检查阶段性学习成果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、发现知识盲点、积累解题经验。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适度紧张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：保持一定的紧张感有助于提升专注度，但不必过度焦虑。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培养考试习惯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：平时测试要尽量模拟大考状态（限时、专注、答题顺序等），为大考做准备。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560620"/>
            <a:ext cx="950313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时间分配策略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400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大题部分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对大题进行快速定位：看清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题干、分值和难度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，合理分配时间。</a:t>
            </a:r>
          </a:p>
          <a:p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   每道大题根据难度可预设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8~15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分钟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不等的时间上限，时间到后若仍未解出，也要先标记并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暂时放下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，确保整体进度。</a:t>
            </a: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留出检查时间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   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在平时测试中，最好预留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分钟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进行检查，尤其关注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计算题、填空题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是否有漏写或简单算错。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261833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99166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428999"/>
            <a:ext cx="11129686" cy="2940685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大考（如期末考、中考、高考）的心态与时间分配</a:t>
            </a:r>
            <a:endParaRPr kumimoji="1" lang="zh-CN" altLang="en-US" sz="1400" u="sng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FF5F1A-A7B6-724D-99FD-327E9E5829F2}"/>
              </a:ext>
            </a:extLst>
          </p:cNvPr>
          <p:cNvSpPr txBox="1"/>
          <p:nvPr/>
        </p:nvSpPr>
        <p:spPr>
          <a:xfrm>
            <a:off x="413574" y="808747"/>
            <a:ext cx="95031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考前准备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调整作息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：尽量在考前两天保持规律睡眠，避免熬夜刷题。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知识梳理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：在最后阶段更注重查漏补缺和巩固主干知识，不要盲目海量刷新题。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心理暗示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：适度给自己积极的心理暗示，如“我已经尽力准备”“只要稳住就能拿到理想成绩”。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物质准备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：考试文具、准考证等提前检查。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774156"/>
            <a:ext cx="950313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考中策略</a:t>
            </a:r>
            <a:endParaRPr kumimoji="1" lang="en-US" altLang="zh-CN" sz="14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400" u="sng" dirty="0">
              <a:solidFill>
                <a:schemeClr val="tx1">
                  <a:lumMod val="75000"/>
                  <a:lumOff val="2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整体时间分配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选择</a:t>
            </a:r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填空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快速扫题，先挑自己最有把握的题，稳拿分数。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对较难题目要合理分配时间，不可在单一题目上“死磕”太久。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/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大题部分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一般按分值高低及难度顺序分配时间。若总共有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道大题，可大致为每题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分钟，具体视难度、分值而定。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遇到卡壳时，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先记录已知条件、尝试列式或画图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，若思路仍不清晰，就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先跳过并在末尾时间回头再攻克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28485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29505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60DF424D-BFBA-CB46-B712-34609529CD49}"/>
              </a:ext>
            </a:extLst>
          </p:cNvPr>
          <p:cNvSpPr/>
          <p:nvPr/>
        </p:nvSpPr>
        <p:spPr>
          <a:xfrm>
            <a:off x="609559" y="3292347"/>
            <a:ext cx="11129686" cy="3422778"/>
          </a:xfrm>
          <a:prstGeom prst="rect">
            <a:avLst/>
          </a:prstGeom>
          <a:solidFill>
            <a:srgbClr val="FDF5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E89F494-C652-6141-9C75-FA5D64779B05}"/>
              </a:ext>
            </a:extLst>
          </p:cNvPr>
          <p:cNvSpPr txBox="1"/>
          <p:nvPr/>
        </p:nvSpPr>
        <p:spPr>
          <a:xfrm>
            <a:off x="413574" y="50097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大考（如期末考、中考、高考）的心态与时间分配</a:t>
            </a:r>
            <a:endParaRPr kumimoji="1" lang="zh-CN" altLang="en-US" sz="1400" u="sng" dirty="0">
              <a:solidFill>
                <a:srgbClr val="C00000"/>
              </a:solidFill>
              <a:highlight>
                <a:srgbClr val="FDF5D6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082232-C9C1-BC40-9C11-F2AD67B0E1F5}"/>
              </a:ext>
            </a:extLst>
          </p:cNvPr>
          <p:cNvSpPr txBox="1"/>
          <p:nvPr/>
        </p:nvSpPr>
        <p:spPr>
          <a:xfrm>
            <a:off x="1088106" y="2774156"/>
            <a:ext cx="9503133" cy="4078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考中策略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en-US" altLang="zh-CN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先易后难、理性取舍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先易后难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先做能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拿稳分数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的题，确保基本分；</a:t>
            </a:r>
          </a:p>
          <a:p>
            <a:pPr lvl="1"/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难题或不确定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的题留到后面。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/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遇到不会的题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先看是否能从已知条件中推导部分结论，哪怕只能写出一部分过程，也可能拿到步骤分；</a:t>
            </a:r>
          </a:p>
          <a:p>
            <a:pPr lvl="1"/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切忌“钻牛角尖”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浪费过多时间。</a:t>
            </a:r>
            <a:endParaRPr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lvl="1"/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分段限时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可以在试卷上</a:t>
            </a:r>
            <a:r>
              <a:rPr lang="zh-CN" altLang="en-US" sz="14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标注各部分</a:t>
            </a:r>
            <a:r>
              <a:rPr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完成时间节点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，如：</a:t>
            </a:r>
          </a:p>
          <a:p>
            <a:pPr lvl="2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选择填空尽量在前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30~40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分钟完成；大题第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1~2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道在随后后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20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分钟完成；</a:t>
            </a:r>
          </a:p>
          <a:p>
            <a:pPr lvl="2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整场考试结束前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～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分钟检查漏写、抄错。</a:t>
            </a:r>
          </a:p>
          <a:p>
            <a:pPr lvl="1"/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若某道题超过了预设时间上限，要果断先跳过或做标记，避免影响后续所有题目。</a:t>
            </a:r>
          </a:p>
          <a:p>
            <a:endParaRPr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24B9FA-4710-EC46-A651-C8E2E46BCB54}"/>
              </a:ext>
            </a:extLst>
          </p:cNvPr>
          <p:cNvSpPr/>
          <p:nvPr/>
        </p:nvSpPr>
        <p:spPr>
          <a:xfrm>
            <a:off x="672608" y="284858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B13F2D8-9A7C-CA45-99BC-C8ABE5D1736E}"/>
              </a:ext>
            </a:extLst>
          </p:cNvPr>
          <p:cNvSpPr txBox="1"/>
          <p:nvPr/>
        </p:nvSpPr>
        <p:spPr>
          <a:xfrm>
            <a:off x="413574" y="808747"/>
            <a:ext cx="95031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考前准备</a:t>
            </a:r>
            <a:endParaRPr lang="en-US" altLang="zh-CN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1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调整作息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：尽量在考前两天保持规律睡眠，避免熬夜刷题。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知识梳理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：在最后阶段更注重查漏补缺和巩固主干知识，不要盲目海量刷新题。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心理暗示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：适度给自己积极的心理暗示，如“我已经尽力准备”“只要稳住就能拿到理想成绩”。</a:t>
            </a:r>
          </a:p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物质准备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：考试文具、准考证等提前检查。</a:t>
            </a:r>
          </a:p>
        </p:txBody>
      </p:sp>
    </p:spTree>
    <p:extLst>
      <p:ext uri="{BB962C8B-B14F-4D97-AF65-F5344CB8AC3E}">
        <p14:creationId xmlns:p14="http://schemas.microsoft.com/office/powerpoint/2010/main" val="26669779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Chapter-10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错题本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数学错题本怎么做？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2250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两个方面分别积累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①按照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专题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】——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知识点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②按照自己的易错点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一句话易错点</a:t>
            </a:r>
            <a:r>
              <a:rPr kumimoji="1" lang="en-US" altLang="zh-CN" sz="1600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学姐数学错题本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详见附赠笔记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一共十个方面</a:t>
            </a:r>
            <a:r>
              <a:rPr kumimoji="1"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*把错题</a:t>
            </a:r>
            <a:r>
              <a:rPr kumimoji="1"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✂️</a:t>
            </a:r>
            <a:r>
              <a:rPr kumimoji="1"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剪下来，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黑笔写：解题步骤，红笔写：错因</a:t>
            </a:r>
            <a:r>
              <a:rPr kumimoji="1" lang="en-US" altLang="zh-CN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知识点</a:t>
            </a:r>
            <a:endParaRPr kumimoji="1"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｜｜订正一张卷子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一个练习：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及时总结！绝不把今天的错题拖到明天！！！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4AE5F1-C14E-0746-8138-723660CD2B7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9608" y="1055807"/>
            <a:ext cx="3007338" cy="507405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02BFDFB-5C05-9841-AFAF-A90975C277C3}"/>
              </a:ext>
            </a:extLst>
          </p:cNvPr>
          <p:cNvSpPr txBox="1"/>
          <p:nvPr/>
        </p:nvSpPr>
        <p:spPr>
          <a:xfrm>
            <a:off x="11115628" y="1273201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11115628" y="3874154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</a:t>
            </a:r>
            <a:r>
              <a:rPr kumimoji="1"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AAAD71-719E-7C43-9259-B5878F0BD1C4}"/>
              </a:ext>
            </a:extLst>
          </p:cNvPr>
          <p:cNvSpPr/>
          <p:nvPr/>
        </p:nvSpPr>
        <p:spPr>
          <a:xfrm>
            <a:off x="8038421" y="1182807"/>
            <a:ext cx="2849712" cy="45972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E58E2C-D894-9244-9064-2253B8C0CDDF}"/>
              </a:ext>
            </a:extLst>
          </p:cNvPr>
          <p:cNvSpPr/>
          <p:nvPr/>
        </p:nvSpPr>
        <p:spPr>
          <a:xfrm>
            <a:off x="8038421" y="1769533"/>
            <a:ext cx="2849712" cy="364913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429528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Part1: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数学错题题型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1142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剪下题目</a:t>
            </a: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简略抄写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黑笔写题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红笔总结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1037640" y="3230899"/>
            <a:ext cx="67732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写出错误原因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①画图分析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②详细写出解题过程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③对比多解法</a:t>
            </a:r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每一步都要做到清晰！</a:t>
            </a:r>
            <a:endParaRPr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做完复盘后：能够蒙住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解题过程反应解题思路</a:t>
            </a:r>
            <a:endParaRPr kumimoji="1"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9993383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55"/>
          <a:stretch/>
        </p:blipFill>
        <p:spPr>
          <a:xfrm>
            <a:off x="4009893" y="1493666"/>
            <a:ext cx="3868091" cy="4592559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D5B5BA0-8B31-7F4C-9084-275D4DBB6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984" y="1517411"/>
            <a:ext cx="3396234" cy="459255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29F399E-D66E-2240-B399-104F5904552E}"/>
              </a:ext>
            </a:extLst>
          </p:cNvPr>
          <p:cNvSpPr/>
          <p:nvPr/>
        </p:nvSpPr>
        <p:spPr>
          <a:xfrm>
            <a:off x="4244436" y="4674741"/>
            <a:ext cx="625515" cy="22529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297601-CBFB-D243-B090-422703AA7906}"/>
              </a:ext>
            </a:extLst>
          </p:cNvPr>
          <p:cNvSpPr/>
          <p:nvPr/>
        </p:nvSpPr>
        <p:spPr>
          <a:xfrm>
            <a:off x="7810927" y="2821759"/>
            <a:ext cx="439222" cy="21540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9786B1-49D1-0948-A3B5-84419544653F}"/>
              </a:ext>
            </a:extLst>
          </p:cNvPr>
          <p:cNvSpPr/>
          <p:nvPr/>
        </p:nvSpPr>
        <p:spPr>
          <a:xfrm>
            <a:off x="7803359" y="3348019"/>
            <a:ext cx="439222" cy="21540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757329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F595439-DC2D-814E-A9B9-7FC87B21C31C}"/>
              </a:ext>
            </a:extLst>
          </p:cNvPr>
          <p:cNvSpPr txBox="1"/>
          <p:nvPr/>
        </p:nvSpPr>
        <p:spPr>
          <a:xfrm>
            <a:off x="417830" y="7480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Part2: 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按照易错点积累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怎么做？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94ED3DE-6190-BC48-90C9-6C82B154923E}"/>
              </a:ext>
            </a:extLst>
          </p:cNvPr>
          <p:cNvSpPr txBox="1"/>
          <p:nvPr/>
        </p:nvSpPr>
        <p:spPr>
          <a:xfrm>
            <a:off x="489045" y="1182807"/>
            <a:ext cx="9503133" cy="773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e.g.</a:t>
            </a:r>
            <a:r>
              <a:rPr kumimoji="1"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一句话易错点！</a:t>
            </a:r>
            <a:endParaRPr kumimoji="1"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highlight>
                <a:srgbClr val="FDF4D5"/>
              </a:highlight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A01008-C526-154C-9A89-2460719D1A35}"/>
              </a:ext>
            </a:extLst>
          </p:cNvPr>
          <p:cNvSpPr/>
          <p:nvPr/>
        </p:nvSpPr>
        <p:spPr>
          <a:xfrm>
            <a:off x="417830" y="2821759"/>
            <a:ext cx="11177270" cy="3553641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B27CFF8-40B3-3A40-9872-17E184753673}"/>
              </a:ext>
            </a:extLst>
          </p:cNvPr>
          <p:cNvSpPr/>
          <p:nvPr/>
        </p:nvSpPr>
        <p:spPr>
          <a:xfrm>
            <a:off x="672230" y="320744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3DF6B-D1C2-994B-83B9-DB30AB109901}"/>
              </a:ext>
            </a:extLst>
          </p:cNvPr>
          <p:cNvSpPr txBox="1"/>
          <p:nvPr/>
        </p:nvSpPr>
        <p:spPr>
          <a:xfrm>
            <a:off x="997000" y="3193642"/>
            <a:ext cx="6773286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当在考试中遇到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【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自己容易错的地方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】</a:t>
            </a:r>
          </a:p>
          <a:p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按照题型整理完之后</a:t>
            </a:r>
            <a:r>
              <a:rPr kumimoji="1" lang="en-US" altLang="zh-CN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14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「精」减成一句话！</a:t>
            </a:r>
            <a:endParaRPr kumimoji="1" lang="en-US" altLang="zh-CN" sz="14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①“注意”***</a:t>
            </a:r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②“不要忘”***</a:t>
            </a:r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200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rgbClr val="223AAC"/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③“要看”***</a:t>
            </a:r>
            <a:endParaRPr kumimoji="1" lang="en-US" altLang="zh-CN" sz="12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en-US" altLang="zh-CN" sz="1400" b="1" dirty="0">
              <a:solidFill>
                <a:srgbClr val="223AAC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考试易错点总结</a:t>
            </a:r>
            <a:r>
              <a:rPr lang="en-US" altLang="zh-CN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en-US" sz="16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重在精字！</a:t>
            </a:r>
            <a:endParaRPr lang="en-US" altLang="zh-CN" sz="16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kumimoji="1"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限制自己用一句话写出核心易错点，每一次考试之前不必翻阅完整错题，</a:t>
            </a:r>
            <a:endParaRPr kumimoji="1" lang="en-US" altLang="zh-CN" sz="12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直接反复看一句话易错点部分，将自己最容易错的点牢记</a:t>
            </a:r>
            <a:r>
              <a:rPr kumimoji="1" lang="en-US" altLang="zh-CN" sz="12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E9A6471-777A-D549-B8CA-746ED6E7C3A1}"/>
              </a:ext>
            </a:extLst>
          </p:cNvPr>
          <p:cNvSpPr txBox="1"/>
          <p:nvPr/>
        </p:nvSpPr>
        <p:spPr>
          <a:xfrm>
            <a:off x="9993383" y="46908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使用活页本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1A3E27-4EED-A94A-B22D-B370EEF83A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37684" y="905255"/>
            <a:ext cx="4222263" cy="560440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231074E6-F29E-C34D-88DE-F8BE4C225DFA}"/>
              </a:ext>
            </a:extLst>
          </p:cNvPr>
          <p:cNvSpPr/>
          <p:nvPr/>
        </p:nvSpPr>
        <p:spPr>
          <a:xfrm>
            <a:off x="6811873" y="1989558"/>
            <a:ext cx="3327447" cy="1703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B2DE05B5-6108-F44F-8AF0-1AE508AEE983}"/>
              </a:ext>
            </a:extLst>
          </p:cNvPr>
          <p:cNvSpPr/>
          <p:nvPr/>
        </p:nvSpPr>
        <p:spPr>
          <a:xfrm>
            <a:off x="8194827" y="2186651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B3B474C3-2496-E649-A5CD-2DF5164D85AA}"/>
              </a:ext>
            </a:extLst>
          </p:cNvPr>
          <p:cNvSpPr/>
          <p:nvPr/>
        </p:nvSpPr>
        <p:spPr>
          <a:xfrm>
            <a:off x="8315628" y="2186651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53B27A-CD04-A144-A0B6-C9DF0972DF62}"/>
              </a:ext>
            </a:extLst>
          </p:cNvPr>
          <p:cNvSpPr/>
          <p:nvPr/>
        </p:nvSpPr>
        <p:spPr>
          <a:xfrm>
            <a:off x="6811874" y="2817831"/>
            <a:ext cx="2397832" cy="20768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三角形 15">
            <a:extLst>
              <a:ext uri="{FF2B5EF4-FFF2-40B4-BE49-F238E27FC236}">
                <a16:creationId xmlns:a16="http://schemas.microsoft.com/office/drawing/2014/main" id="{41B8D421-573F-CA4E-A422-92A7901122A0}"/>
              </a:ext>
            </a:extLst>
          </p:cNvPr>
          <p:cNvSpPr/>
          <p:nvPr/>
        </p:nvSpPr>
        <p:spPr>
          <a:xfrm>
            <a:off x="8618310" y="3032196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三角形 16">
            <a:extLst>
              <a:ext uri="{FF2B5EF4-FFF2-40B4-BE49-F238E27FC236}">
                <a16:creationId xmlns:a16="http://schemas.microsoft.com/office/drawing/2014/main" id="{369F9E64-4C47-514F-934D-C4CD20C68FF9}"/>
              </a:ext>
            </a:extLst>
          </p:cNvPr>
          <p:cNvSpPr/>
          <p:nvPr/>
        </p:nvSpPr>
        <p:spPr>
          <a:xfrm>
            <a:off x="8718881" y="3036242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FA66E09D-9919-1E4F-99D2-ED9439AA9088}"/>
              </a:ext>
            </a:extLst>
          </p:cNvPr>
          <p:cNvSpPr/>
          <p:nvPr/>
        </p:nvSpPr>
        <p:spPr>
          <a:xfrm>
            <a:off x="8834335" y="3035192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1C2FD4C-F6C1-7B48-88C0-86058667B0E2}"/>
              </a:ext>
            </a:extLst>
          </p:cNvPr>
          <p:cNvSpPr/>
          <p:nvPr/>
        </p:nvSpPr>
        <p:spPr>
          <a:xfrm>
            <a:off x="6811874" y="4006391"/>
            <a:ext cx="2146931" cy="20768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三角形 19">
            <a:extLst>
              <a:ext uri="{FF2B5EF4-FFF2-40B4-BE49-F238E27FC236}">
                <a16:creationId xmlns:a16="http://schemas.microsoft.com/office/drawing/2014/main" id="{9E5149FC-435B-3742-B33C-2AEC37623C4A}"/>
              </a:ext>
            </a:extLst>
          </p:cNvPr>
          <p:cNvSpPr/>
          <p:nvPr/>
        </p:nvSpPr>
        <p:spPr>
          <a:xfrm>
            <a:off x="7974255" y="4234109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三角形 20">
            <a:extLst>
              <a:ext uri="{FF2B5EF4-FFF2-40B4-BE49-F238E27FC236}">
                <a16:creationId xmlns:a16="http://schemas.microsoft.com/office/drawing/2014/main" id="{B3E5C848-3F2E-7646-8755-C7FA4A37EC2D}"/>
              </a:ext>
            </a:extLst>
          </p:cNvPr>
          <p:cNvSpPr/>
          <p:nvPr/>
        </p:nvSpPr>
        <p:spPr>
          <a:xfrm>
            <a:off x="8095056" y="4234109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02A10C-F852-5D41-A3B9-E45D508694B4}"/>
              </a:ext>
            </a:extLst>
          </p:cNvPr>
          <p:cNvSpPr/>
          <p:nvPr/>
        </p:nvSpPr>
        <p:spPr>
          <a:xfrm>
            <a:off x="6798805" y="5370903"/>
            <a:ext cx="2690753" cy="20768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三角形 22">
            <a:extLst>
              <a:ext uri="{FF2B5EF4-FFF2-40B4-BE49-F238E27FC236}">
                <a16:creationId xmlns:a16="http://schemas.microsoft.com/office/drawing/2014/main" id="{6B7554E0-B9A0-F44D-8B46-19B9ED3234A1}"/>
              </a:ext>
            </a:extLst>
          </p:cNvPr>
          <p:cNvSpPr/>
          <p:nvPr/>
        </p:nvSpPr>
        <p:spPr>
          <a:xfrm>
            <a:off x="8090791" y="5582520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三角形 23">
            <a:extLst>
              <a:ext uri="{FF2B5EF4-FFF2-40B4-BE49-F238E27FC236}">
                <a16:creationId xmlns:a16="http://schemas.microsoft.com/office/drawing/2014/main" id="{F5C7F33E-FA5D-E040-9BB0-EE73587E2D2B}"/>
              </a:ext>
            </a:extLst>
          </p:cNvPr>
          <p:cNvSpPr/>
          <p:nvPr/>
        </p:nvSpPr>
        <p:spPr>
          <a:xfrm>
            <a:off x="8211592" y="5582520"/>
            <a:ext cx="83671" cy="53788"/>
          </a:xfrm>
          <a:prstGeom prst="triangl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344370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863725" y="1590675"/>
            <a:ext cx="823912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Chapter-11</a:t>
            </a:r>
          </a:p>
          <a:p>
            <a:pPr algn="ctr"/>
            <a:r>
              <a:rPr lang="en-US" altLang="zh-CN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rgbClr val="7030A0"/>
                </a:solidFill>
                <a:effectLst>
                  <a:reflection blurRad="6350" stA="53000" endA="300" endPos="35500" dir="5400000" sy="-90000" algn="bl" rotWithShape="0"/>
                </a:effectLst>
              </a:rPr>
              <a:t>总结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E3D6CC2-8A05-5B47-A742-B4491F95D9E2}"/>
              </a:ext>
            </a:extLst>
          </p:cNvPr>
          <p:cNvSpPr/>
          <p:nvPr/>
        </p:nvSpPr>
        <p:spPr>
          <a:xfrm>
            <a:off x="574342" y="1670305"/>
            <a:ext cx="11043316" cy="4589165"/>
          </a:xfrm>
          <a:prstGeom prst="rect">
            <a:avLst/>
          </a:prstGeom>
          <a:solidFill>
            <a:schemeClr val="bg1">
              <a:lumMod val="95000"/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DD756EB-006D-E140-B0ED-4D6A4DDBA6A5}"/>
              </a:ext>
            </a:extLst>
          </p:cNvPr>
          <p:cNvSpPr txBox="1"/>
          <p:nvPr/>
        </p:nvSpPr>
        <p:spPr>
          <a:xfrm>
            <a:off x="476209" y="598530"/>
            <a:ext cx="5730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【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优优学姐个人介绍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】——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高考裸分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689/</a:t>
            </a:r>
            <a:r>
              <a:rPr kumimoji="1" lang="zh-CN" altLang="en-US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数学</a:t>
            </a:r>
            <a:r>
              <a:rPr kumimoji="1" lang="en-US" altLang="zh-CN" u="sng" dirty="0">
                <a:solidFill>
                  <a:srgbClr val="C00000"/>
                </a:solidFill>
                <a:highlight>
                  <a:srgbClr val="FDF4D5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142</a:t>
            </a:r>
            <a:endParaRPr kumimoji="1" lang="zh-CN" altLang="en-US" b="1" u="sng" dirty="0">
              <a:solidFill>
                <a:srgbClr val="C00000"/>
              </a:solidFill>
              <a:highlight>
                <a:srgbClr val="FDF4D5"/>
              </a:highlight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70449C-7FFA-0B4D-AC26-490DE87A4544}"/>
              </a:ext>
            </a:extLst>
          </p:cNvPr>
          <p:cNvSpPr txBox="1"/>
          <p:nvPr/>
        </p:nvSpPr>
        <p:spPr>
          <a:xfrm>
            <a:off x="476209" y="1004438"/>
            <a:ext cx="666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数学的分数是「熬」来的，刷题</a:t>
            </a:r>
            <a:r>
              <a:rPr kumimoji="1" lang="en-US" altLang="zh-CN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2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理解才能不断进步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27909EC-8147-EC41-BFBC-C213B3862135}"/>
              </a:ext>
            </a:extLst>
          </p:cNvPr>
          <p:cNvSpPr txBox="1"/>
          <p:nvPr/>
        </p:nvSpPr>
        <p:spPr>
          <a:xfrm>
            <a:off x="949657" y="1774830"/>
            <a:ext cx="49427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高考数学</a:t>
            </a:r>
            <a:r>
              <a:rPr kumimoji="1" lang="en-US" altLang="zh-CN" sz="1400" b="1" u="sng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</a:t>
            </a:r>
            <a:endParaRPr kumimoji="1" lang="zh-CN" altLang="en-US" sz="1400" b="1" u="sng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A127D9-EE3A-B04F-8FED-54C0EB914063}"/>
              </a:ext>
            </a:extLst>
          </p:cNvPr>
          <p:cNvSpPr/>
          <p:nvPr/>
        </p:nvSpPr>
        <p:spPr>
          <a:xfrm>
            <a:off x="614496" y="179980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💡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B71FF2-C302-6B4B-AF9D-9226A572F805}"/>
              </a:ext>
            </a:extLst>
          </p:cNvPr>
          <p:cNvSpPr txBox="1"/>
          <p:nvPr/>
        </p:nvSpPr>
        <p:spPr>
          <a:xfrm>
            <a:off x="1029994" y="2169137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清华本硕 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高考四川省前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50</a:t>
            </a: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英语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146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142 </a:t>
            </a:r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物理满分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658F83F-8A07-FE4A-B8B2-A38BA9FDE5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388" b="11438"/>
          <a:stretch/>
        </p:blipFill>
        <p:spPr>
          <a:xfrm>
            <a:off x="8764171" y="1735282"/>
            <a:ext cx="2813333" cy="439996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A2E667D-F69D-FC4A-B398-F591C4958312}"/>
              </a:ext>
            </a:extLst>
          </p:cNvPr>
          <p:cNvSpPr/>
          <p:nvPr/>
        </p:nvSpPr>
        <p:spPr>
          <a:xfrm>
            <a:off x="9045526" y="5064369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A861DF-0412-1044-9A3A-C08379846D43}"/>
              </a:ext>
            </a:extLst>
          </p:cNvPr>
          <p:cNvSpPr/>
          <p:nvPr/>
        </p:nvSpPr>
        <p:spPr>
          <a:xfrm>
            <a:off x="9045525" y="3240293"/>
            <a:ext cx="1406769" cy="22508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960726E-BBA5-E84D-B945-C137CBD6137E}"/>
              </a:ext>
            </a:extLst>
          </p:cNvPr>
          <p:cNvSpPr txBox="1"/>
          <p:nvPr/>
        </p:nvSpPr>
        <p:spPr>
          <a:xfrm>
            <a:off x="747878" y="3458208"/>
            <a:ext cx="47501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可以看出：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（数学的问题性</a:t>
            </a:r>
            <a:r>
              <a:rPr kumimoji="1"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解题思维）</a:t>
            </a:r>
            <a:r>
              <a:rPr kumimoji="1"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是我们学习的重点，需要注意数学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掌握什么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考什么</a:t>
            </a:r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想像优优学姐一样拥有好成绩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——</a:t>
            </a:r>
          </a:p>
          <a:p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「抓住学习方法</a:t>
            </a:r>
            <a:r>
              <a:rPr kumimoji="1" lang="en-US" altLang="zh-CN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sz="1400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备考方法」才能百战百胜</a:t>
            </a:r>
          </a:p>
          <a:p>
            <a:endParaRPr kumimoji="1" lang="en-US" altLang="zh-CN" sz="1400" b="1" dirty="0">
              <a:solidFill>
                <a:srgbClr val="A41AD4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EE2122-CB11-EF49-A323-DC1EBEE820D5}"/>
              </a:ext>
            </a:extLst>
          </p:cNvPr>
          <p:cNvSpPr txBox="1"/>
          <p:nvPr/>
        </p:nvSpPr>
        <p:spPr>
          <a:xfrm>
            <a:off x="249103" y="-986751"/>
            <a:ext cx="965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①、②、③、④、⑤、⑥、⑦、⑧、⑨、⑩、⑪、⑫、⑬、⑭、⑮、⑯、⑰、⑱、⑲、⑳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42A6F2-992D-284E-8F18-F87EDEA91C75}"/>
              </a:ext>
            </a:extLst>
          </p:cNvPr>
          <p:cNvSpPr txBox="1"/>
          <p:nvPr/>
        </p:nvSpPr>
        <p:spPr>
          <a:xfrm>
            <a:off x="8764171" y="6269985"/>
            <a:ext cx="4942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优优 清华学姐高考成绩查询页面</a:t>
            </a:r>
            <a:endParaRPr kumimoji="1" lang="en-US" altLang="zh-CN" sz="1200" dirty="0">
              <a:solidFill>
                <a:schemeClr val="tx1">
                  <a:lumMod val="50000"/>
                  <a:lumOff val="50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kumimoji="1"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希望你也能收到这样的喜讯！</a:t>
            </a:r>
          </a:p>
        </p:txBody>
      </p:sp>
      <p:pic>
        <p:nvPicPr>
          <p:cNvPr id="21" name="图片 20" descr="图片包含 草, 人, 户外, 女孩&#10;&#10;描述已自动生成">
            <a:extLst>
              <a:ext uri="{FF2B5EF4-FFF2-40B4-BE49-F238E27FC236}">
                <a16:creationId xmlns:a16="http://schemas.microsoft.com/office/drawing/2014/main" id="{E3386503-24EF-5F4B-9853-9E2C01371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015" y="1903926"/>
            <a:ext cx="2608122" cy="347674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6323D53-D1F4-AA40-8F3F-1ED0BAC4E9E4}"/>
              </a:ext>
            </a:extLst>
          </p:cNvPr>
          <p:cNvSpPr/>
          <p:nvPr/>
        </p:nvSpPr>
        <p:spPr>
          <a:xfrm>
            <a:off x="822245" y="5163667"/>
            <a:ext cx="47179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「带着问题学习</a:t>
            </a:r>
            <a:r>
              <a:rPr kumimoji="1" lang="en-US" altLang="zh-CN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kumimoji="1" lang="zh-CN" altLang="en-US" b="1" dirty="0">
                <a:solidFill>
                  <a:srgbClr val="A41AD4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学会刷题」才能不断进步！</a:t>
            </a:r>
          </a:p>
        </p:txBody>
      </p:sp>
    </p:spTree>
    <p:extLst>
      <p:ext uri="{BB962C8B-B14F-4D97-AF65-F5344CB8AC3E}">
        <p14:creationId xmlns:p14="http://schemas.microsoft.com/office/powerpoint/2010/main" val="113768604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RkMDVjMzAzNmQ3MmQ0M2VhODM2ZTcyYjc4Y2UwNT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15764</TotalTime>
  <Words>8850</Words>
  <Application>Microsoft Macintosh PowerPoint</Application>
  <PresentationFormat>宽屏</PresentationFormat>
  <Paragraphs>1080</Paragraphs>
  <Slides>72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79" baseType="lpstr">
      <vt:lpstr>等线</vt:lpstr>
      <vt:lpstr>等线 Light</vt:lpstr>
      <vt:lpstr>KaiTi</vt:lpstr>
      <vt:lpstr>Arial</vt:lpstr>
      <vt:lpstr>Times New Roman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yufei zhang</dc:creator>
  <cp:lastModifiedBy>charlotte wu</cp:lastModifiedBy>
  <cp:revision>139</cp:revision>
  <dcterms:created xsi:type="dcterms:W3CDTF">2024-01-01T22:59:00Z</dcterms:created>
  <dcterms:modified xsi:type="dcterms:W3CDTF">2025-03-11T05:48:50Z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0AB5E3226DEF47F5B09FD4CBAD1E6851_12</vt:lpwstr>
  </property>
  <property fmtid="{D5CDD505-2E9C-101B-9397-08002B2CF9AE}" pid="3" name="KSOProductBuildVer">
    <vt:lpwstr>2052-12.1.0.16388</vt:lpwstr>
  </property>
</Properties>
</file>